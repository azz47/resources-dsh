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3.xml" ContentType="application/vnd.openxmlformats-officedocument.presentationml.tags+xml"/>
  <Override PartName="/ppt/notesSlides/notesSlide1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handoutMasterIdLst>
    <p:handoutMasterId r:id="rId43"/>
  </p:handoutMasterIdLst>
  <p:sldIdLst>
    <p:sldId id="259" r:id="rId2"/>
    <p:sldId id="317" r:id="rId3"/>
    <p:sldId id="279" r:id="rId4"/>
    <p:sldId id="298" r:id="rId5"/>
    <p:sldId id="299" r:id="rId6"/>
    <p:sldId id="300" r:id="rId7"/>
    <p:sldId id="286" r:id="rId8"/>
    <p:sldId id="318" r:id="rId9"/>
    <p:sldId id="288" r:id="rId10"/>
    <p:sldId id="320" r:id="rId11"/>
    <p:sldId id="276" r:id="rId12"/>
    <p:sldId id="283" r:id="rId13"/>
    <p:sldId id="321" r:id="rId14"/>
    <p:sldId id="322" r:id="rId15"/>
    <p:sldId id="323" r:id="rId16"/>
    <p:sldId id="324" r:id="rId17"/>
    <p:sldId id="290" r:id="rId18"/>
    <p:sldId id="329" r:id="rId19"/>
    <p:sldId id="330" r:id="rId20"/>
    <p:sldId id="327" r:id="rId21"/>
    <p:sldId id="292" r:id="rId22"/>
    <p:sldId id="306" r:id="rId23"/>
    <p:sldId id="326" r:id="rId24"/>
    <p:sldId id="328" r:id="rId25"/>
    <p:sldId id="307" r:id="rId26"/>
    <p:sldId id="332" r:id="rId27"/>
    <p:sldId id="284" r:id="rId28"/>
    <p:sldId id="305" r:id="rId29"/>
    <p:sldId id="293" r:id="rId30"/>
    <p:sldId id="308" r:id="rId31"/>
    <p:sldId id="309" r:id="rId32"/>
    <p:sldId id="295" r:id="rId33"/>
    <p:sldId id="310" r:id="rId34"/>
    <p:sldId id="311" r:id="rId35"/>
    <p:sldId id="312" r:id="rId36"/>
    <p:sldId id="331" r:id="rId37"/>
    <p:sldId id="313" r:id="rId38"/>
    <p:sldId id="314" r:id="rId39"/>
    <p:sldId id="315" r:id="rId40"/>
    <p:sldId id="316" r:id="rId41"/>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52" userDrawn="1">
          <p15:clr>
            <a:srgbClr val="A4A3A4"/>
          </p15:clr>
        </p15:guide>
        <p15:guide id="2" pos="535" userDrawn="1">
          <p15:clr>
            <a:srgbClr val="A4A3A4"/>
          </p15:clr>
        </p15:guide>
        <p15:guide id="3" pos="5110" userDrawn="1">
          <p15:clr>
            <a:srgbClr val="A4A3A4"/>
          </p15:clr>
        </p15:guide>
        <p15:guide id="4" orient="horz" pos="350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FAFA"/>
    <a:srgbClr val="E6E6E6"/>
    <a:srgbClr val="1784AD"/>
    <a:srgbClr val="014E6A"/>
    <a:srgbClr val="AE0203"/>
    <a:srgbClr val="711000"/>
    <a:srgbClr val="01431D"/>
    <a:srgbClr val="01621F"/>
    <a:srgbClr val="AF0000"/>
    <a:srgbClr val="DCE7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8298" autoAdjust="0"/>
  </p:normalViewPr>
  <p:slideViewPr>
    <p:cSldViewPr snapToGrid="0" showGuides="1">
      <p:cViewPr varScale="1">
        <p:scale>
          <a:sx n="75" d="100"/>
          <a:sy n="75" d="100"/>
        </p:scale>
        <p:origin x="60" y="189"/>
      </p:cViewPr>
      <p:guideLst>
        <p:guide orient="horz" pos="3952"/>
        <p:guide pos="535"/>
        <p:guide pos="5110"/>
        <p:guide orient="horz" pos="3501"/>
      </p:guideLst>
    </p:cSldViewPr>
  </p:slideViewPr>
  <p:notesTextViewPr>
    <p:cViewPr>
      <p:scale>
        <a:sx n="1" d="1"/>
        <a:sy n="1" d="1"/>
      </p:scale>
      <p:origin x="0" y="0"/>
    </p:cViewPr>
  </p:notesTextViewPr>
  <p:notesViewPr>
    <p:cSldViewPr snapToGrid="0">
      <p:cViewPr varScale="1">
        <p:scale>
          <a:sx n="57" d="100"/>
          <a:sy n="57" d="100"/>
        </p:scale>
        <p:origin x="283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75FAC0-4E78-4B4A-9ADA-EE7413CBA2A2}" type="datetimeFigureOut">
              <a:rPr lang="zh-CN" altLang="en-US" smtClean="0"/>
              <a:t>2026/10/12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38E8FE-40DA-41DC-AE77-8790382988AD}"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A302A-66E2-45C0-9113-4E5747328F9F}" type="datetimeFigureOut">
              <a:rPr lang="zh-CN" altLang="en-US" smtClean="0"/>
              <a:t>2026/10/12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40E3B-F9C0-48B6-A129-4D327DD3065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页面</a:t>
            </a:r>
            <a:r>
              <a:rPr lang="zh-CN" altLang="zh-CN" sz="1200" kern="1200" dirty="0">
                <a:solidFill>
                  <a:schemeClr val="tx1"/>
                </a:solidFill>
                <a:effectLst/>
                <a:latin typeface="+mn-lt"/>
                <a:ea typeface="+mn-ea"/>
                <a:cs typeface="+mn-cs"/>
              </a:rPr>
              <a:t>统一为</a:t>
            </a:r>
            <a:r>
              <a:rPr lang="en-US" altLang="zh-CN" sz="1200" kern="1200" dirty="0">
                <a:solidFill>
                  <a:schemeClr val="tx1"/>
                </a:solidFill>
                <a:effectLst/>
                <a:latin typeface="+mn-lt"/>
                <a:ea typeface="+mn-ea"/>
                <a:cs typeface="+mn-cs"/>
              </a:rPr>
              <a:t>16:9</a:t>
            </a:r>
            <a:r>
              <a:rPr lang="zh-CN" altLang="zh-CN" sz="1200" kern="1200" dirty="0">
                <a:solidFill>
                  <a:schemeClr val="tx1"/>
                </a:solidFill>
                <a:effectLst/>
                <a:latin typeface="+mn-lt"/>
                <a:ea typeface="+mn-ea"/>
                <a:cs typeface="+mn-cs"/>
              </a:rPr>
              <a:t>宽幅画面比例尺寸；</a:t>
            </a:r>
            <a:r>
              <a:rPr lang="en-US" altLang="zh-CN" sz="1200" kern="1200" dirty="0">
                <a:solidFill>
                  <a:schemeClr val="tx1"/>
                </a:solidFill>
                <a:effectLst/>
                <a:latin typeface="+mn-lt"/>
                <a:ea typeface="+mn-ea"/>
                <a:cs typeface="+mn-cs"/>
              </a:rPr>
              <a:t>PPT</a:t>
            </a:r>
            <a:r>
              <a:rPr lang="zh-CN" altLang="zh-CN" sz="1200" kern="1200" dirty="0">
                <a:solidFill>
                  <a:schemeClr val="tx1"/>
                </a:solidFill>
                <a:effectLst/>
                <a:latin typeface="+mn-lt"/>
                <a:ea typeface="+mn-ea"/>
                <a:cs typeface="+mn-cs"/>
              </a:rPr>
              <a:t>统一格式为</a:t>
            </a:r>
            <a:r>
              <a:rPr lang="en-US" altLang="zh-CN" sz="1200" kern="1200" dirty="0">
                <a:solidFill>
                  <a:schemeClr val="tx1"/>
                </a:solidFill>
                <a:effectLst/>
                <a:latin typeface="+mn-lt"/>
                <a:ea typeface="+mn-ea"/>
                <a:cs typeface="+mn-cs"/>
              </a:rPr>
              <a:t>PPT</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PPTX</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dirty="0"/>
              <a:t>中文：</a:t>
            </a:r>
            <a:endParaRPr lang="en-US" altLang="zh-CN" sz="1200" kern="1200" dirty="0">
              <a:solidFill>
                <a:schemeClr val="tx1"/>
              </a:solidFill>
              <a:effectLst/>
              <a:latin typeface="+mn-lt"/>
              <a:ea typeface="+mn-ea"/>
              <a:cs typeface="+mn-cs"/>
            </a:endParaRPr>
          </a:p>
          <a:p>
            <a:r>
              <a:rPr lang="en-US" altLang="zh-CN" dirty="0"/>
              <a:t>1. </a:t>
            </a:r>
            <a:r>
              <a:rPr lang="zh-CN" altLang="en-US" dirty="0"/>
              <a:t>课名：微软雅黑</a:t>
            </a:r>
            <a:r>
              <a:rPr lang="en-US" altLang="zh-CN" dirty="0"/>
              <a:t>48</a:t>
            </a:r>
            <a:r>
              <a:rPr lang="zh-CN" altLang="en-US" dirty="0"/>
              <a:t>号字；</a:t>
            </a:r>
            <a:endParaRPr lang="en-US" altLang="zh-CN" dirty="0"/>
          </a:p>
          <a:p>
            <a:r>
              <a:rPr lang="en-US" altLang="zh-CN" dirty="0"/>
              <a:t>2.</a:t>
            </a:r>
            <a:r>
              <a:rPr lang="zh-CN" altLang="en-US" sz="1200" b="0" dirty="0"/>
              <a:t>（第一课时）</a:t>
            </a:r>
            <a:r>
              <a:rPr lang="zh-CN" altLang="en-US" dirty="0"/>
              <a:t>：微软雅黑</a:t>
            </a:r>
            <a:r>
              <a:rPr lang="en-US" altLang="zh-CN" dirty="0"/>
              <a:t>32</a:t>
            </a:r>
            <a:r>
              <a:rPr lang="zh-CN" altLang="en-US" dirty="0"/>
              <a:t>号字；</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3.</a:t>
            </a:r>
            <a:r>
              <a:rPr lang="zh-CN" altLang="en-US" dirty="0"/>
              <a:t>学校名称：请填写全称；</a:t>
            </a:r>
            <a:endParaRPr lang="en-US" altLang="zh-CN" b="1" dirty="0"/>
          </a:p>
          <a:p>
            <a:r>
              <a:rPr lang="en-US" altLang="zh-CN" dirty="0"/>
              <a:t>4.</a:t>
            </a:r>
            <a:r>
              <a:rPr lang="zh-CN" altLang="en-US" dirty="0"/>
              <a:t>学科、年级、主讲人、学校：华文楷体</a:t>
            </a:r>
            <a:r>
              <a:rPr lang="en-US" altLang="zh-CN" dirty="0"/>
              <a:t>28</a:t>
            </a:r>
            <a:r>
              <a:rPr lang="zh-CN" altLang="en-US" dirty="0"/>
              <a:t>号字（具体根据文字量可适当调整）。</a:t>
            </a:r>
            <a:endParaRPr lang="en-US" altLang="zh-CN" dirty="0"/>
          </a:p>
          <a:p>
            <a:endParaRPr lang="en-US" altLang="zh-CN" dirty="0"/>
          </a:p>
          <a:p>
            <a:r>
              <a:rPr lang="zh-CN" altLang="en-US" dirty="0"/>
              <a:t>英文</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课名：字体以</a:t>
            </a:r>
            <a:r>
              <a:rPr lang="en-US" altLang="zh-CN" dirty="0"/>
              <a:t>Times New Roman</a:t>
            </a:r>
            <a:r>
              <a:rPr lang="zh-CN" altLang="en-US" dirty="0"/>
              <a:t>为主，字号一般使用</a:t>
            </a:r>
            <a:r>
              <a:rPr lang="en-US" altLang="zh-CN" dirty="0"/>
              <a:t>32—36</a:t>
            </a:r>
            <a:r>
              <a:rPr lang="zh-CN" altLang="en-US" dirty="0"/>
              <a:t>号，特别强调可以用</a:t>
            </a:r>
            <a:r>
              <a:rPr lang="en-US" altLang="zh-CN" dirty="0"/>
              <a:t>40</a:t>
            </a:r>
            <a:r>
              <a:rPr lang="zh-CN" altLang="en-US" dirty="0"/>
              <a:t>号；</a:t>
            </a:r>
            <a:endParaRPr lang="en-US" altLang="zh-CN" dirty="0"/>
          </a:p>
          <a:p>
            <a:r>
              <a:rPr lang="en-US" altLang="zh-CN" dirty="0"/>
              <a:t>2.</a:t>
            </a:r>
            <a:r>
              <a:rPr lang="zh-CN" altLang="en-US" dirty="0"/>
              <a:t>（</a:t>
            </a:r>
            <a:r>
              <a:rPr lang="en-US" altLang="zh-CN" dirty="0"/>
              <a:t>Period</a:t>
            </a:r>
            <a:r>
              <a:rPr lang="en-US" altLang="zh-CN" baseline="0" dirty="0"/>
              <a:t> 1</a:t>
            </a:r>
            <a:r>
              <a:rPr lang="zh-CN" altLang="en-US" dirty="0"/>
              <a:t>）：字体使用</a:t>
            </a:r>
            <a:r>
              <a:rPr lang="en-US" altLang="zh-CN" dirty="0"/>
              <a:t>Arial</a:t>
            </a:r>
            <a:r>
              <a:rPr lang="zh-CN" altLang="en-US" dirty="0"/>
              <a:t>，字号为</a:t>
            </a:r>
            <a:r>
              <a:rPr lang="en-US" altLang="zh-CN" dirty="0"/>
              <a:t>28</a:t>
            </a:r>
            <a:r>
              <a:rPr lang="zh-CN" altLang="en-US" dirty="0"/>
              <a:t>；</a:t>
            </a:r>
            <a:endParaRPr lang="en-US" altLang="zh-CN" dirty="0"/>
          </a:p>
          <a:p>
            <a:r>
              <a:rPr lang="en-US" altLang="zh-CN" dirty="0"/>
              <a:t>3.</a:t>
            </a:r>
            <a:r>
              <a:rPr lang="zh-CN" altLang="en-US" dirty="0"/>
              <a:t>正文一般用</a:t>
            </a:r>
            <a:r>
              <a:rPr lang="en-US" altLang="zh-CN" dirty="0"/>
              <a:t>24—28</a:t>
            </a:r>
            <a:r>
              <a:rPr lang="zh-CN" altLang="en-US" dirty="0"/>
              <a:t>号，特别强调可用</a:t>
            </a:r>
            <a:r>
              <a:rPr lang="en-US" altLang="zh-CN" dirty="0"/>
              <a:t>32</a:t>
            </a:r>
            <a:r>
              <a:rPr lang="zh-CN" altLang="en-US" dirty="0"/>
              <a:t>号。</a:t>
            </a:r>
            <a:endParaRPr lang="en-US" altLang="zh-CN" dirty="0"/>
          </a:p>
          <a:p>
            <a:endParaRPr lang="en-US" altLang="zh-CN" dirty="0"/>
          </a:p>
          <a:p>
            <a:r>
              <a:rPr lang="zh-CN" altLang="zh-CN" sz="1200" kern="1200" dirty="0">
                <a:solidFill>
                  <a:schemeClr val="tx1"/>
                </a:solidFill>
                <a:effectLst/>
                <a:latin typeface="+mn-lt"/>
                <a:ea typeface="+mn-ea"/>
                <a:cs typeface="+mn-cs"/>
              </a:rPr>
              <a:t>注意标点的规范（例如：中文省略号</a:t>
            </a:r>
            <a:r>
              <a:rPr lang="zh-CN" altLang="en-US" sz="1200" kern="1200" dirty="0">
                <a:solidFill>
                  <a:schemeClr val="tx1"/>
                </a:solidFill>
                <a:effectLst/>
                <a:latin typeface="+mn-lt"/>
                <a:ea typeface="+mn-ea"/>
                <a:cs typeface="+mn-cs"/>
              </a:rPr>
              <a:t>为</a:t>
            </a:r>
            <a:r>
              <a:rPr lang="zh-CN" altLang="zh-CN" sz="1200" kern="1200" dirty="0">
                <a:solidFill>
                  <a:schemeClr val="tx1"/>
                </a:solidFill>
                <a:effectLst/>
                <a:latin typeface="+mn-lt"/>
                <a:ea typeface="+mn-ea"/>
                <a:cs typeface="+mn-cs"/>
              </a:rPr>
              <a:t>……，可用</a:t>
            </a:r>
            <a:r>
              <a:rPr lang="en-US" altLang="zh-CN" sz="1200" kern="1200" dirty="0">
                <a:solidFill>
                  <a:schemeClr val="tx1"/>
                </a:solidFill>
                <a:effectLst/>
                <a:latin typeface="+mn-lt"/>
                <a:ea typeface="+mn-ea"/>
                <a:cs typeface="+mn-cs"/>
              </a:rPr>
              <a:t>Shift+</a:t>
            </a:r>
            <a:r>
              <a:rPr lang="zh-CN" altLang="zh-CN" sz="1200" kern="1200" dirty="0">
                <a:solidFill>
                  <a:schemeClr val="tx1"/>
                </a:solidFill>
                <a:effectLst/>
                <a:latin typeface="+mn-lt"/>
                <a:ea typeface="+mn-ea"/>
                <a:cs typeface="+mn-cs"/>
              </a:rPr>
              <a:t>数字键</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打出中文省略号，英文省略号</a:t>
            </a:r>
            <a:r>
              <a:rPr lang="zh-CN" altLang="en-US"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请注意：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正文标题为：黑体，</a:t>
            </a:r>
            <a:r>
              <a:rPr lang="en-US" altLang="zh-CN" dirty="0"/>
              <a:t>30</a:t>
            </a:r>
            <a:r>
              <a:rPr lang="zh-CN" altLang="en-US" dirty="0"/>
              <a:t>号字；</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正文内容为：华文楷体，尽量不小于</a:t>
            </a:r>
            <a:r>
              <a:rPr lang="en-US" altLang="zh-CN" dirty="0"/>
              <a:t>24</a:t>
            </a:r>
            <a:r>
              <a:rPr lang="zh-CN" altLang="en-US" dirty="0"/>
              <a:t>号，</a:t>
            </a:r>
            <a:r>
              <a:rPr lang="zh-CN" altLang="zh-CN" sz="1200" kern="1200" dirty="0">
                <a:solidFill>
                  <a:schemeClr val="tx1"/>
                </a:solidFill>
                <a:effectLst/>
                <a:latin typeface="+mn-lt"/>
                <a:ea typeface="+mn-ea"/>
                <a:cs typeface="+mn-cs"/>
              </a:rPr>
              <a:t>特殊辅助性文字不低于</a:t>
            </a:r>
            <a:r>
              <a:rPr lang="en-US" altLang="zh-CN" sz="1200" kern="1200" dirty="0">
                <a:solidFill>
                  <a:schemeClr val="tx1"/>
                </a:solidFill>
                <a:effectLst/>
                <a:latin typeface="+mn-lt"/>
                <a:ea typeface="+mn-ea"/>
                <a:cs typeface="+mn-cs"/>
              </a:rPr>
              <a:t>18</a:t>
            </a:r>
            <a:r>
              <a:rPr lang="zh-CN" altLang="zh-CN" sz="1200" kern="1200" dirty="0">
                <a:solidFill>
                  <a:schemeClr val="tx1"/>
                </a:solidFill>
                <a:effectLst/>
                <a:latin typeface="+mn-lt"/>
                <a:ea typeface="+mn-ea"/>
                <a:cs typeface="+mn-cs"/>
              </a:rPr>
              <a:t>；</a:t>
            </a:r>
            <a:r>
              <a:rPr lang="zh-CN" altLang="en-US" dirty="0"/>
              <a:t>根据文字量可适当调整。</a:t>
            </a:r>
            <a:r>
              <a:rPr lang="zh-CN" altLang="zh-CN" sz="1200" kern="1200" dirty="0">
                <a:solidFill>
                  <a:schemeClr val="tx1"/>
                </a:solidFill>
                <a:effectLst/>
                <a:latin typeface="+mn-lt"/>
                <a:ea typeface="+mn-ea"/>
                <a:cs typeface="+mn-cs"/>
              </a:rPr>
              <a:t>内容文字一行一般</a:t>
            </a:r>
            <a:r>
              <a:rPr lang="zh-CN" altLang="zh-CN" sz="1200" b="1" kern="1200" dirty="0">
                <a:solidFill>
                  <a:schemeClr val="tx1"/>
                </a:solidFill>
                <a:effectLst/>
                <a:latin typeface="+mn-lt"/>
                <a:ea typeface="+mn-ea"/>
                <a:cs typeface="+mn-cs"/>
              </a:rPr>
              <a:t>不能</a:t>
            </a:r>
            <a:r>
              <a:rPr lang="zh-CN" altLang="zh-CN" sz="1200" kern="1200" dirty="0">
                <a:solidFill>
                  <a:schemeClr val="tx1"/>
                </a:solidFill>
                <a:effectLst/>
                <a:latin typeface="+mn-lt"/>
                <a:ea typeface="+mn-ea"/>
                <a:cs typeface="+mn-cs"/>
              </a:rPr>
              <a:t>超过</a:t>
            </a:r>
            <a:r>
              <a:rPr lang="en-US" altLang="zh-CN" sz="1200" kern="1200" dirty="0">
                <a:solidFill>
                  <a:schemeClr val="tx1"/>
                </a:solidFill>
                <a:effectLst/>
                <a:latin typeface="+mn-lt"/>
                <a:ea typeface="+mn-ea"/>
                <a:cs typeface="+mn-cs"/>
              </a:rPr>
              <a:t>28</a:t>
            </a:r>
            <a:r>
              <a:rPr lang="zh-CN" altLang="zh-CN" sz="1200" kern="1200" dirty="0">
                <a:solidFill>
                  <a:schemeClr val="tx1"/>
                </a:solidFill>
                <a:effectLst/>
                <a:latin typeface="+mn-lt"/>
                <a:ea typeface="+mn-ea"/>
                <a:cs typeface="+mn-cs"/>
              </a:rPr>
              <a:t>个字</a:t>
            </a:r>
            <a:r>
              <a:rPr lang="zh-CN" altLang="en-US" sz="1200" kern="1200" dirty="0">
                <a:solidFill>
                  <a:schemeClr val="tx1"/>
                </a:solidFill>
                <a:effectLst/>
                <a:latin typeface="+mn-lt"/>
                <a:ea typeface="+mn-ea"/>
                <a:cs typeface="+mn-cs"/>
              </a:rPr>
              <a:t>，单页文字</a:t>
            </a:r>
            <a:r>
              <a:rPr lang="zh-CN" altLang="zh-CN" sz="1200" kern="1200" dirty="0">
                <a:solidFill>
                  <a:schemeClr val="tx1"/>
                </a:solidFill>
                <a:effectLst/>
                <a:latin typeface="+mn-lt"/>
                <a:ea typeface="+mn-ea"/>
                <a:cs typeface="+mn-cs"/>
              </a:rPr>
              <a:t>一般不能超过</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行</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拍摄版本呈现内容务必与上传版本呈现的内容完全一致。</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英文</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a:t>
            </a:r>
            <a:r>
              <a:rPr lang="zh-CN" altLang="en-US" dirty="0"/>
              <a:t>正文标题为：以</a:t>
            </a:r>
            <a:r>
              <a:rPr lang="en-US" altLang="zh-CN" dirty="0"/>
              <a:t>Times New Roman</a:t>
            </a:r>
            <a:r>
              <a:rPr lang="zh-CN" altLang="en-US" dirty="0"/>
              <a:t>为主</a:t>
            </a:r>
            <a:r>
              <a:rPr lang="en-US" altLang="zh-CN" dirty="0"/>
              <a:t>,</a:t>
            </a:r>
            <a:r>
              <a:rPr lang="zh-CN" altLang="en-US" dirty="0"/>
              <a:t>可搭配使用</a:t>
            </a:r>
            <a:r>
              <a:rPr lang="en-US" altLang="zh-CN" dirty="0"/>
              <a:t>Arial</a:t>
            </a:r>
            <a:r>
              <a:rPr lang="zh-CN" altLang="en-US" dirty="0"/>
              <a:t>。字号为</a:t>
            </a:r>
            <a:r>
              <a:rPr lang="en-US" altLang="zh-CN" dirty="0"/>
              <a:t>32—36</a:t>
            </a:r>
            <a:r>
              <a:rPr lang="zh-CN" altLang="en-US" dirty="0"/>
              <a:t>号，特别强调可以用</a:t>
            </a:r>
            <a:r>
              <a:rPr lang="en-US" altLang="zh-CN" dirty="0"/>
              <a:t>40</a:t>
            </a:r>
            <a:r>
              <a:rPr lang="zh-CN" altLang="en-US" dirty="0"/>
              <a:t>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正文内容为：以</a:t>
            </a:r>
            <a:r>
              <a:rPr lang="en-US" altLang="zh-CN" dirty="0"/>
              <a:t>Times New Roman</a:t>
            </a:r>
            <a:r>
              <a:rPr lang="zh-CN" altLang="en-US" dirty="0"/>
              <a:t>为主</a:t>
            </a:r>
            <a:r>
              <a:rPr lang="en-US" altLang="zh-CN" dirty="0"/>
              <a:t>,</a:t>
            </a:r>
            <a:r>
              <a:rPr lang="zh-CN" altLang="en-US" dirty="0"/>
              <a:t>可搭配使用</a:t>
            </a:r>
            <a:r>
              <a:rPr lang="en-US" altLang="zh-CN" dirty="0"/>
              <a:t>Arial</a:t>
            </a:r>
            <a:r>
              <a:rPr lang="zh-CN" altLang="en-US" dirty="0"/>
              <a:t>。字号为</a:t>
            </a:r>
            <a:r>
              <a:rPr lang="en-US" altLang="zh-CN" dirty="0"/>
              <a:t>24—28</a:t>
            </a:r>
            <a:r>
              <a:rPr lang="zh-CN" altLang="en-US" dirty="0"/>
              <a:t>号，特别强调可用</a:t>
            </a:r>
            <a:r>
              <a:rPr lang="en-US" altLang="zh-CN" dirty="0"/>
              <a:t>32</a:t>
            </a:r>
            <a:r>
              <a:rPr lang="zh-CN" altLang="en-US" dirty="0"/>
              <a:t>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英文每行一般</a:t>
            </a:r>
            <a:r>
              <a:rPr lang="zh-CN" altLang="zh-CN" sz="1200" b="0" kern="1200" dirty="0">
                <a:solidFill>
                  <a:schemeClr val="tx1"/>
                </a:solidFill>
                <a:effectLst/>
                <a:latin typeface="+mn-lt"/>
                <a:ea typeface="+mn-ea"/>
                <a:cs typeface="+mn-cs"/>
              </a:rPr>
              <a:t>不能超过</a:t>
            </a:r>
            <a:r>
              <a:rPr lang="en-US" altLang="zh-CN" sz="1200" b="0" kern="1200" dirty="0">
                <a:solidFill>
                  <a:schemeClr val="tx1"/>
                </a:solidFill>
                <a:effectLst/>
                <a:latin typeface="+mn-lt"/>
                <a:ea typeface="+mn-ea"/>
                <a:cs typeface="+mn-cs"/>
              </a:rPr>
              <a:t>15</a:t>
            </a:r>
            <a:r>
              <a:rPr lang="zh-CN" altLang="zh-CN" sz="1200" b="0" kern="1200" dirty="0">
                <a:solidFill>
                  <a:schemeClr val="tx1"/>
                </a:solidFill>
                <a:effectLst/>
                <a:latin typeface="+mn-lt"/>
                <a:ea typeface="+mn-ea"/>
                <a:cs typeface="+mn-cs"/>
              </a:rPr>
              <a:t>个单词</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单页文字</a:t>
            </a:r>
            <a:r>
              <a:rPr lang="zh-CN" altLang="zh-CN" sz="1200" kern="1200" dirty="0">
                <a:solidFill>
                  <a:schemeClr val="tx1"/>
                </a:solidFill>
                <a:effectLst/>
                <a:latin typeface="+mn-lt"/>
                <a:ea typeface="+mn-ea"/>
                <a:cs typeface="+mn-cs"/>
              </a:rPr>
              <a:t>一般不能超过</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行。</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800" kern="1200" dirty="0">
              <a:solidFill>
                <a:prstClr val="black"/>
              </a:solidFill>
              <a:latin typeface="华文楷体" panose="02010600040101010101" pitchFamily="2" charset="-122"/>
              <a:ea typeface="华文楷体" panose="02010600040101010101" pitchFamily="2" charset="-122"/>
              <a:cs typeface="+mn-cs"/>
            </a:endParaRPr>
          </a:p>
        </p:txBody>
      </p:sp>
      <p:sp>
        <p:nvSpPr>
          <p:cNvPr id="4" name="灯片编号占位符 3"/>
          <p:cNvSpPr>
            <a:spLocks noGrp="1"/>
          </p:cNvSpPr>
          <p:nvPr>
            <p:ph type="sldNum" sz="quarter" idx="10"/>
          </p:nvPr>
        </p:nvSpPr>
        <p:spPr/>
        <p:txBody>
          <a:bodyPr/>
          <a:lstStyle/>
          <a:p>
            <a:fld id="{EA540E3B-F9C0-48B6-A129-4D327DD30658}"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800" kern="1200" dirty="0">
              <a:solidFill>
                <a:prstClr val="black"/>
              </a:solidFill>
              <a:latin typeface="华文楷体" panose="02010600040101010101" pitchFamily="2" charset="-122"/>
              <a:ea typeface="华文楷体" panose="02010600040101010101" pitchFamily="2" charset="-122"/>
              <a:cs typeface="+mn-cs"/>
            </a:endParaRPr>
          </a:p>
        </p:txBody>
      </p:sp>
      <p:sp>
        <p:nvSpPr>
          <p:cNvPr id="4" name="灯片编号占位符 3"/>
          <p:cNvSpPr>
            <a:spLocks noGrp="1"/>
          </p:cNvSpPr>
          <p:nvPr>
            <p:ph type="sldNum" sz="quarter" idx="10"/>
          </p:nvPr>
        </p:nvSpPr>
        <p:spPr/>
        <p:txBody>
          <a:bodyPr/>
          <a:lstStyle/>
          <a:p>
            <a:fld id="{EA540E3B-F9C0-48B6-A129-4D327DD30658}"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800" kern="1200" dirty="0">
              <a:solidFill>
                <a:prstClr val="black"/>
              </a:solidFill>
              <a:latin typeface="华文楷体" panose="02010600040101010101" pitchFamily="2" charset="-122"/>
              <a:ea typeface="华文楷体" panose="02010600040101010101" pitchFamily="2" charset="-122"/>
              <a:cs typeface="+mn-cs"/>
            </a:endParaRPr>
          </a:p>
        </p:txBody>
      </p:sp>
      <p:sp>
        <p:nvSpPr>
          <p:cNvPr id="4" name="灯片编号占位符 3"/>
          <p:cNvSpPr>
            <a:spLocks noGrp="1"/>
          </p:cNvSpPr>
          <p:nvPr>
            <p:ph type="sldNum" sz="quarter" idx="10"/>
          </p:nvPr>
        </p:nvSpPr>
        <p:spPr/>
        <p:txBody>
          <a:bodyPr/>
          <a:lstStyle/>
          <a:p>
            <a:fld id="{EA540E3B-F9C0-48B6-A129-4D327DD30658}"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C47F-7920-1D70-0C98-A3ED7EC6C0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DD622F-3108-4456-8D8A-1E68C6FA66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DAB8F0-8278-6D22-8734-D8659C46481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08DA09A-E4C2-E27E-4BEC-D508C5E10751}"/>
              </a:ext>
            </a:extLst>
          </p:cNvPr>
          <p:cNvSpPr>
            <a:spLocks noGrp="1"/>
          </p:cNvSpPr>
          <p:nvPr>
            <p:ph type="sldNum" sz="quarter" idx="10"/>
          </p:nvPr>
        </p:nvSpPr>
        <p:spPr/>
        <p:txBody>
          <a:bodyPr/>
          <a:lstStyle/>
          <a:p>
            <a:fld id="{EA540E3B-F9C0-48B6-A129-4D327DD30658}" type="slidenum">
              <a:rPr lang="zh-CN" altLang="en-US" smtClean="0"/>
              <a:t>26</a:t>
            </a:fld>
            <a:endParaRPr lang="zh-CN" altLang="en-US"/>
          </a:p>
        </p:txBody>
      </p:sp>
    </p:spTree>
    <p:extLst>
      <p:ext uri="{BB962C8B-B14F-4D97-AF65-F5344CB8AC3E}">
        <p14:creationId xmlns:p14="http://schemas.microsoft.com/office/powerpoint/2010/main" val="1222804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0CB16-0338-051F-3E0B-F3DB2DA9C9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80709E-57ED-C2E6-EB08-AC1931E04F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C035F8-46B2-929C-FE11-542305CAC56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E5765C4-76F3-A5B8-DED1-F7DB0464E1C5}"/>
              </a:ext>
            </a:extLst>
          </p:cNvPr>
          <p:cNvSpPr>
            <a:spLocks noGrp="1"/>
          </p:cNvSpPr>
          <p:nvPr>
            <p:ph type="sldNum" sz="quarter" idx="10"/>
          </p:nvPr>
        </p:nvSpPr>
        <p:spPr/>
        <p:txBody>
          <a:bodyPr/>
          <a:lstStyle/>
          <a:p>
            <a:fld id="{EA540E3B-F9C0-48B6-A129-4D327DD30658}" type="slidenum">
              <a:rPr lang="zh-CN" altLang="en-US" smtClean="0"/>
              <a:t>36</a:t>
            </a:fld>
            <a:endParaRPr lang="zh-CN" altLang="en-US"/>
          </a:p>
        </p:txBody>
      </p:sp>
    </p:spTree>
    <p:extLst>
      <p:ext uri="{BB962C8B-B14F-4D97-AF65-F5344CB8AC3E}">
        <p14:creationId xmlns:p14="http://schemas.microsoft.com/office/powerpoint/2010/main" val="7471791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540E3B-F9C0-48B6-A129-4D327DD30658}" type="slidenum">
              <a:rPr lang="zh-CN" altLang="en-US" smtClean="0"/>
              <a:t>40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685A6CA-0CF8-4C0F-A4EF-5C6C0D45FAAD}"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7E8A902-E013-4FF5-9CBD-78113C784026}" type="slidenum">
              <a:rPr lang="zh-CN" altLang="en-US" smtClean="0"/>
              <a:t>‹#›</a:t>
            </a:fld>
            <a:endParaRPr lang="zh-CN" altLang="en-US" dirty="0"/>
          </a:p>
        </p:txBody>
      </p:sp>
      <p:sp>
        <p:nvSpPr>
          <p:cNvPr id="10" name="标题 1"/>
          <p:cNvSpPr txBox="1"/>
          <p:nvPr userDrawn="1"/>
        </p:nvSpPr>
        <p:spPr>
          <a:xfrm>
            <a:off x="1162578" y="728664"/>
            <a:ext cx="6682317" cy="770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b="1"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3200" dirty="0">
                <a:solidFill>
                  <a:schemeClr val="bg1"/>
                </a:solidFill>
              </a:rPr>
              <a:t>基础教育精品课</a:t>
            </a:r>
          </a:p>
        </p:txBody>
      </p:sp>
      <p:pic>
        <p:nvPicPr>
          <p:cNvPr id="7" name="图片 6"/>
          <p:cNvPicPr>
            <a:picLocks noChangeAspect="1"/>
          </p:cNvPicPr>
          <p:nvPr userDrawn="1"/>
        </p:nvPicPr>
        <p:blipFill>
          <a:blip r:embed="rId3"/>
          <a:stretch>
            <a:fillRect/>
          </a:stretch>
        </p:blipFill>
        <p:spPr>
          <a:xfrm>
            <a:off x="1353079" y="2830103"/>
            <a:ext cx="409575" cy="4667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userDrawn="1"/>
        </p:nvSpPr>
        <p:spPr>
          <a:xfrm>
            <a:off x="431800" y="365125"/>
            <a:ext cx="2133600" cy="714375"/>
          </a:xfrm>
          <a:prstGeom prst="rect">
            <a:avLst/>
          </a:prstGeom>
          <a:noFill/>
        </p:spPr>
        <p:txBody>
          <a:bodyPr wrap="square" rtlCol="0">
            <a:spAutoFit/>
          </a:bodyPr>
          <a:lstStyle/>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5A6CA-0CF8-4C0F-A4EF-5C6C0D45FAAD}" type="datetimeFigureOut">
              <a:rPr lang="zh-CN" altLang="en-US" smtClean="0"/>
              <a:t>2026/10/12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E8A902-E013-4FF5-9CBD-78113C78402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lnSpc>
          <a:spcPct val="90000"/>
        </a:lnSpc>
        <a:spcBef>
          <a:spcPct val="0"/>
        </a:spcBef>
        <a:buNone/>
        <a:defRPr sz="3400" kern="1200">
          <a:solidFill>
            <a:schemeClr val="tx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楷体" panose="02010600040101010101" pitchFamily="2" charset="-122"/>
          <a:ea typeface="华文楷体" panose="020106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楷体" panose="02010600040101010101" pitchFamily="2" charset="-122"/>
          <a:ea typeface="华文楷体"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楷体" panose="02010600040101010101" pitchFamily="2" charset="-122"/>
          <a:ea typeface="华文楷体" panose="020106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华文楷体" panose="02010600040101010101" pitchFamily="2" charset="-122"/>
          <a:ea typeface="华文楷体" panose="020106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notesSlide" Target="../notesSlides/notesSlide3.xml"/><Relationship Id="rId2" Type="http://schemas.openxmlformats.org/officeDocument/2006/relationships/tags" Target="../tags/tag3.xml"/><Relationship Id="rId16"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19.xml"/><Relationship Id="rId7"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5.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10" Type="http://schemas.openxmlformats.org/officeDocument/2006/relationships/notesSlide" Target="../notesSlides/notesSlide15.xml"/><Relationship Id="rId4" Type="http://schemas.openxmlformats.org/officeDocument/2006/relationships/tags" Target="../tags/tag27.xml"/><Relationship Id="rId9"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1055688" y="2044237"/>
            <a:ext cx="10080625" cy="1006475"/>
          </a:xfrm>
          <a:prstGeom prst="rect">
            <a:avLst/>
          </a:prstGeom>
        </p:spPr>
        <p:txBody>
          <a:bodyPr/>
          <a:lstStyle/>
          <a:p>
            <a:r>
              <a:rPr lang="zh-CN" altLang="en-US" sz="4800" b="1" dirty="0">
                <a:solidFill>
                  <a:schemeClr val="bg1"/>
                </a:solidFill>
                <a:latin typeface="微软雅黑" panose="020B0503020204020204" pitchFamily="34" charset="-122"/>
                <a:ea typeface="微软雅黑" panose="020B0503020204020204" pitchFamily="34" charset="-122"/>
              </a:rPr>
              <a:t>第二单元 进入新时代</a:t>
            </a:r>
            <a:br>
              <a:rPr lang="en-US" altLang="zh-CN" sz="4800" b="1" dirty="0">
                <a:solidFill>
                  <a:schemeClr val="bg1"/>
                </a:solidFill>
                <a:latin typeface="微软雅黑" panose="020B0503020204020204" pitchFamily="34" charset="-122"/>
                <a:ea typeface="微软雅黑" panose="020B0503020204020204" pitchFamily="34" charset="-122"/>
              </a:rPr>
            </a:br>
            <a:r>
              <a:rPr lang="zh-CN" altLang="en-US" sz="3200" b="1" dirty="0">
                <a:solidFill>
                  <a:schemeClr val="bg1"/>
                </a:solidFill>
                <a:latin typeface="微软雅黑" panose="020B0503020204020204" pitchFamily="34" charset="-122"/>
                <a:ea typeface="微软雅黑" panose="020B0503020204020204" pitchFamily="34" charset="-122"/>
              </a:rPr>
              <a:t>单元思考与行动</a:t>
            </a:r>
          </a:p>
        </p:txBody>
      </p:sp>
      <p:sp>
        <p:nvSpPr>
          <p:cNvPr id="6" name="副标题 2"/>
          <p:cNvSpPr txBox="1"/>
          <p:nvPr/>
        </p:nvSpPr>
        <p:spPr>
          <a:xfrm>
            <a:off x="1395663" y="3771491"/>
            <a:ext cx="9496946" cy="99432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华文楷体" panose="02010600040101010101" pitchFamily="2" charset="-122"/>
                <a:ea typeface="华文楷体"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楷体" panose="02010600040101010101" pitchFamily="2" charset="-122"/>
                <a:ea typeface="华文楷体"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楷体" panose="02010600040101010101" pitchFamily="2" charset="-122"/>
                <a:ea typeface="华文楷体"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楷体" panose="02010600040101010101" pitchFamily="2" charset="-122"/>
                <a:ea typeface="华文楷体"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楷体" panose="02010600040101010101" pitchFamily="2" charset="-122"/>
                <a:ea typeface="华文楷体"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t>年    级：九年级            学    科：道德与法治（统编版）</a:t>
            </a:r>
          </a:p>
          <a:p>
            <a:r>
              <a:rPr lang="zh-CN" altLang="en-US" sz="2800" dirty="0"/>
              <a:t>主讲人：张紫璇            学    校：运城市盐湖区北城初级中学</a:t>
            </a:r>
            <a:endParaRPr lang="en-US" altLang="zh-C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2024816" y="1920925"/>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462105" y="1662328"/>
            <a:ext cx="445481" cy="469613"/>
            <a:chOff x="2121873" y="1511588"/>
            <a:chExt cx="445481" cy="469613"/>
          </a:xfrm>
        </p:grpSpPr>
        <p:sp>
          <p:nvSpPr>
            <p:cNvPr id="7" name="矩形 6"/>
            <p:cNvSpPr/>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矩形 7"/>
            <p:cNvSpPr/>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0" name="文本框 9"/>
          <p:cNvSpPr txBox="1"/>
          <p:nvPr/>
        </p:nvSpPr>
        <p:spPr>
          <a:xfrm>
            <a:off x="2024817" y="1276759"/>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新课导入</a:t>
            </a:r>
          </a:p>
        </p:txBody>
      </p:sp>
      <p:sp>
        <p:nvSpPr>
          <p:cNvPr id="14" name="文本框 13"/>
          <p:cNvSpPr txBox="1"/>
          <p:nvPr/>
        </p:nvSpPr>
        <p:spPr>
          <a:xfrm>
            <a:off x="1036708" y="2249173"/>
            <a:ext cx="6958933" cy="953659"/>
          </a:xfrm>
          <a:prstGeom prst="rect">
            <a:avLst/>
          </a:prstGeom>
          <a:noFill/>
        </p:spPr>
        <p:txBody>
          <a:bodyPr wrap="square" rtlCol="0">
            <a:spAutoFit/>
          </a:bodyPr>
          <a:lstStyle/>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本单元以“中国特色社会主义进入新时代”为主题，围绕“新时代新在哪里”展开。</a:t>
            </a:r>
          </a:p>
        </p:txBody>
      </p:sp>
      <p:sp>
        <p:nvSpPr>
          <p:cNvPr id="23" name="矩形: 圆角 22"/>
          <p:cNvSpPr/>
          <p:nvPr/>
        </p:nvSpPr>
        <p:spPr>
          <a:xfrm>
            <a:off x="653640" y="4254834"/>
            <a:ext cx="1814492"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华文楷体" panose="02010600040101010101" pitchFamily="2" charset="-122"/>
                <a:ea typeface="华文楷体" panose="02010600040101010101" pitchFamily="2" charset="-122"/>
              </a:rPr>
              <a:t>第二单元</a:t>
            </a:r>
            <a:endParaRPr lang="en-US" altLang="zh-CN" sz="2400" dirty="0">
              <a:solidFill>
                <a:schemeClr val="tx1"/>
              </a:solidFill>
              <a:latin typeface="华文楷体" panose="02010600040101010101" pitchFamily="2" charset="-122"/>
              <a:ea typeface="华文楷体" panose="02010600040101010101" pitchFamily="2" charset="-122"/>
            </a:endParaRPr>
          </a:p>
          <a:p>
            <a:pPr algn="ctr"/>
            <a:r>
              <a:rPr lang="zh-CN" altLang="en-US" sz="2400" dirty="0">
                <a:solidFill>
                  <a:schemeClr val="tx1"/>
                </a:solidFill>
                <a:latin typeface="华文楷体" panose="02010600040101010101" pitchFamily="2" charset="-122"/>
                <a:ea typeface="华文楷体" panose="02010600040101010101" pitchFamily="2" charset="-122"/>
              </a:rPr>
              <a:t>进入新时代</a:t>
            </a:r>
          </a:p>
        </p:txBody>
      </p:sp>
      <p:sp>
        <p:nvSpPr>
          <p:cNvPr id="24" name="矩形: 圆角 23"/>
          <p:cNvSpPr/>
          <p:nvPr/>
        </p:nvSpPr>
        <p:spPr>
          <a:xfrm>
            <a:off x="2979772" y="3534834"/>
            <a:ext cx="2304000" cy="72000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第四课</a:t>
            </a:r>
            <a:endParaRPr lang="en-US" altLang="zh-CN" sz="2000" dirty="0">
              <a:solidFill>
                <a:schemeClr val="tx1"/>
              </a:solidFill>
              <a:latin typeface="华文楷体" panose="02010600040101010101" pitchFamily="2" charset="-122"/>
              <a:ea typeface="华文楷体" panose="02010600040101010101" pitchFamily="2" charset="-122"/>
            </a:endParaRPr>
          </a:p>
          <a:p>
            <a:pPr algn="ctr"/>
            <a:r>
              <a:rPr lang="zh-CN" altLang="en-US" sz="2000" dirty="0">
                <a:solidFill>
                  <a:schemeClr val="tx1"/>
                </a:solidFill>
                <a:latin typeface="华文楷体" panose="02010600040101010101" pitchFamily="2" charset="-122"/>
                <a:ea typeface="华文楷体" panose="02010600040101010101" pitchFamily="2" charset="-122"/>
              </a:rPr>
              <a:t>新的历史方位</a:t>
            </a:r>
          </a:p>
        </p:txBody>
      </p:sp>
      <p:sp>
        <p:nvSpPr>
          <p:cNvPr id="25" name="矩形: 圆角 24"/>
          <p:cNvSpPr/>
          <p:nvPr/>
        </p:nvSpPr>
        <p:spPr>
          <a:xfrm>
            <a:off x="2979772" y="4563383"/>
            <a:ext cx="2304000" cy="72000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第五课</a:t>
            </a:r>
            <a:endParaRPr lang="en-US" altLang="zh-CN" sz="2000" dirty="0">
              <a:solidFill>
                <a:schemeClr val="tx1"/>
              </a:solidFill>
              <a:latin typeface="华文楷体" panose="02010600040101010101" pitchFamily="2" charset="-122"/>
              <a:ea typeface="华文楷体" panose="02010600040101010101" pitchFamily="2" charset="-122"/>
            </a:endParaRPr>
          </a:p>
          <a:p>
            <a:pPr algn="ctr"/>
            <a:r>
              <a:rPr lang="zh-CN" altLang="en-US" sz="2000" dirty="0">
                <a:solidFill>
                  <a:schemeClr val="tx1"/>
                </a:solidFill>
                <a:latin typeface="华文楷体" panose="02010600040101010101" pitchFamily="2" charset="-122"/>
                <a:ea typeface="华文楷体" panose="02010600040101010101" pitchFamily="2" charset="-122"/>
              </a:rPr>
              <a:t>新时代的思想旗帜</a:t>
            </a:r>
          </a:p>
        </p:txBody>
      </p:sp>
      <p:sp>
        <p:nvSpPr>
          <p:cNvPr id="26" name="矩形: 圆角 25"/>
          <p:cNvSpPr/>
          <p:nvPr/>
        </p:nvSpPr>
        <p:spPr>
          <a:xfrm>
            <a:off x="2979772" y="5507965"/>
            <a:ext cx="2304000" cy="72000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第六课</a:t>
            </a:r>
            <a:endParaRPr lang="en-US" altLang="zh-CN" sz="2000" dirty="0">
              <a:solidFill>
                <a:schemeClr val="tx1"/>
              </a:solidFill>
              <a:latin typeface="华文楷体" panose="02010600040101010101" pitchFamily="2" charset="-122"/>
              <a:ea typeface="华文楷体" panose="02010600040101010101" pitchFamily="2" charset="-122"/>
            </a:endParaRPr>
          </a:p>
          <a:p>
            <a:pPr algn="ctr"/>
            <a:r>
              <a:rPr lang="zh-CN" altLang="en-US" sz="2000" dirty="0">
                <a:solidFill>
                  <a:schemeClr val="tx1"/>
                </a:solidFill>
                <a:latin typeface="华文楷体" panose="02010600040101010101" pitchFamily="2" charset="-122"/>
                <a:ea typeface="华文楷体" panose="02010600040101010101" pitchFamily="2" charset="-122"/>
              </a:rPr>
              <a:t>中国腾飞谱新篇</a:t>
            </a:r>
          </a:p>
        </p:txBody>
      </p:sp>
      <p:sp>
        <p:nvSpPr>
          <p:cNvPr id="27" name="左大括号 26"/>
          <p:cNvSpPr/>
          <p:nvPr/>
        </p:nvSpPr>
        <p:spPr>
          <a:xfrm>
            <a:off x="2575221" y="3327300"/>
            <a:ext cx="219953" cy="264110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
        <p:nvSpPr>
          <p:cNvPr id="28" name="矩形: 圆角 27"/>
          <p:cNvSpPr/>
          <p:nvPr/>
        </p:nvSpPr>
        <p:spPr>
          <a:xfrm>
            <a:off x="6225652" y="3172875"/>
            <a:ext cx="1886469"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矛盾新变化</a:t>
            </a:r>
          </a:p>
        </p:txBody>
      </p:sp>
      <p:sp>
        <p:nvSpPr>
          <p:cNvPr id="29" name="箭头: 右 28"/>
          <p:cNvSpPr/>
          <p:nvPr/>
        </p:nvSpPr>
        <p:spPr>
          <a:xfrm>
            <a:off x="5339384" y="4831440"/>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
        <p:nvSpPr>
          <p:cNvPr id="30" name="箭头: 右 29"/>
          <p:cNvSpPr/>
          <p:nvPr/>
        </p:nvSpPr>
        <p:spPr>
          <a:xfrm>
            <a:off x="5339384" y="5707326"/>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
        <p:nvSpPr>
          <p:cNvPr id="31" name="矩形: 圆角 30"/>
          <p:cNvSpPr/>
          <p:nvPr/>
        </p:nvSpPr>
        <p:spPr>
          <a:xfrm>
            <a:off x="6218841" y="3964086"/>
            <a:ext cx="1886469"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历史新方位</a:t>
            </a:r>
          </a:p>
        </p:txBody>
      </p:sp>
      <p:sp>
        <p:nvSpPr>
          <p:cNvPr id="32" name="矩形: 圆角 31"/>
          <p:cNvSpPr/>
          <p:nvPr/>
        </p:nvSpPr>
        <p:spPr>
          <a:xfrm>
            <a:off x="6225656" y="4684086"/>
            <a:ext cx="1886469"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理论新飞跃</a:t>
            </a:r>
          </a:p>
        </p:txBody>
      </p:sp>
      <p:sp>
        <p:nvSpPr>
          <p:cNvPr id="33" name="矩形: 圆角 32"/>
          <p:cNvSpPr/>
          <p:nvPr/>
        </p:nvSpPr>
        <p:spPr>
          <a:xfrm>
            <a:off x="6225653" y="5553075"/>
            <a:ext cx="1886469"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华文楷体" panose="02010600040101010101" pitchFamily="2" charset="-122"/>
                <a:ea typeface="华文楷体" panose="02010600040101010101" pitchFamily="2" charset="-122"/>
              </a:rPr>
              <a:t>发展新成就</a:t>
            </a:r>
          </a:p>
        </p:txBody>
      </p:sp>
      <p:sp>
        <p:nvSpPr>
          <p:cNvPr id="34" name="左大括号 33"/>
          <p:cNvSpPr/>
          <p:nvPr/>
        </p:nvSpPr>
        <p:spPr>
          <a:xfrm>
            <a:off x="6011956" y="3266300"/>
            <a:ext cx="205474" cy="1233615"/>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
        <p:nvSpPr>
          <p:cNvPr id="35" name="箭头: 右 34"/>
          <p:cNvSpPr/>
          <p:nvPr/>
        </p:nvSpPr>
        <p:spPr>
          <a:xfrm>
            <a:off x="5351302" y="3757441"/>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1802600" y="2354419"/>
            <a:ext cx="7259861" cy="540000"/>
            <a:chOff x="996173" y="2188583"/>
            <a:chExt cx="5954627" cy="540000"/>
          </a:xfrm>
        </p:grpSpPr>
        <p:grpSp>
          <p:nvGrpSpPr>
            <p:cNvPr id="18" name="组合 17"/>
            <p:cNvGrpSpPr/>
            <p:nvPr/>
          </p:nvGrpSpPr>
          <p:grpSpPr>
            <a:xfrm>
              <a:off x="996173" y="2188583"/>
              <a:ext cx="3287795" cy="540000"/>
              <a:chOff x="1635964" y="1686127"/>
              <a:chExt cx="3662867" cy="601602"/>
            </a:xfrm>
          </p:grpSpPr>
          <p:sp>
            <p:nvSpPr>
              <p:cNvPr id="19" name="圆角矩形 18"/>
              <p:cNvSpPr/>
              <p:nvPr>
                <p:custDataLst>
                  <p:tags r:id="rId14"/>
                </p:custDataLst>
              </p:nvPr>
            </p:nvSpPr>
            <p:spPr>
              <a:xfrm>
                <a:off x="1852333" y="1729911"/>
                <a:ext cx="3446498" cy="528105"/>
              </a:xfrm>
              <a:prstGeom prst="roundRect">
                <a:avLst/>
              </a:prstGeom>
              <a:solidFill>
                <a:srgbClr val="0143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矩形 19"/>
              <p:cNvSpPr/>
              <p:nvPr>
                <p:custDataLst>
                  <p:tags r:id="rId15"/>
                </p:custDataLst>
              </p:nvPr>
            </p:nvSpPr>
            <p:spPr>
              <a:xfrm rot="18614181">
                <a:off x="1635965" y="1686126"/>
                <a:ext cx="601602" cy="601603"/>
              </a:xfrm>
              <a:prstGeom prst="rect">
                <a:avLst/>
              </a:prstGeom>
              <a:solidFill>
                <a:srgbClr val="01621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sp>
          <p:nvSpPr>
            <p:cNvPr id="21" name="文本框 20"/>
            <p:cNvSpPr txBox="1"/>
            <p:nvPr>
              <p:custDataLst>
                <p:tags r:id="rId13"/>
              </p:custDataLst>
            </p:nvPr>
          </p:nvSpPr>
          <p:spPr>
            <a:xfrm>
              <a:off x="1060994" y="2238645"/>
              <a:ext cx="5889806" cy="461665"/>
            </a:xfrm>
            <a:prstGeom prst="rect">
              <a:avLst/>
            </a:prstGeom>
            <a:noFill/>
          </p:spPr>
          <p:txBody>
            <a:bodyPr wrap="square" rtlCol="0">
              <a:spAutoFit/>
            </a:bodyPr>
            <a:lstStyle/>
            <a:p>
              <a:r>
                <a:rPr lang="en-US" altLang="zh-CN" sz="2400" dirty="0">
                  <a:solidFill>
                    <a:prstClr val="white"/>
                  </a:solidFill>
                  <a:latin typeface="华文楷体" panose="02010600040101010101" pitchFamily="2" charset="-122"/>
                  <a:ea typeface="华文楷体" panose="02010600040101010101" pitchFamily="2" charset="-122"/>
                </a:rPr>
                <a:t>1    </a:t>
              </a:r>
              <a:r>
                <a:rPr lang="zh-CN" altLang="en-US" sz="2400" dirty="0">
                  <a:solidFill>
                    <a:prstClr val="white"/>
                  </a:solidFill>
                  <a:latin typeface="华文楷体" panose="02010600040101010101" pitchFamily="2" charset="-122"/>
                  <a:ea typeface="华文楷体" panose="02010600040101010101" pitchFamily="2" charset="-122"/>
                </a:rPr>
                <a:t>观展选品</a:t>
              </a:r>
              <a:r>
                <a:rPr lang="en-US" altLang="zh-CN" sz="2400" dirty="0">
                  <a:solidFill>
                    <a:prstClr val="white"/>
                  </a:solidFill>
                  <a:latin typeface="华文楷体" panose="02010600040101010101" pitchFamily="2" charset="-122"/>
                  <a:ea typeface="华文楷体" panose="02010600040101010101" pitchFamily="2" charset="-122"/>
                </a:rPr>
                <a:t>——</a:t>
              </a:r>
              <a:r>
                <a:rPr lang="zh-CN" altLang="en-US" sz="2400" dirty="0">
                  <a:solidFill>
                    <a:prstClr val="white"/>
                  </a:solidFill>
                  <a:latin typeface="华文楷体" panose="02010600040101010101" pitchFamily="2" charset="-122"/>
                  <a:ea typeface="华文楷体" panose="02010600040101010101" pitchFamily="2" charset="-122"/>
                </a:rPr>
                <a:t>感悟新时代</a:t>
              </a:r>
            </a:p>
          </p:txBody>
        </p:sp>
      </p:grpSp>
      <p:sp>
        <p:nvSpPr>
          <p:cNvPr id="22" name="文本框 21"/>
          <p:cNvSpPr txBox="1"/>
          <p:nvPr>
            <p:custDataLst>
              <p:tags r:id="rId2"/>
            </p:custDataLst>
          </p:nvPr>
        </p:nvSpPr>
        <p:spPr>
          <a:xfrm>
            <a:off x="2270760" y="3001010"/>
            <a:ext cx="5773420" cy="460375"/>
          </a:xfrm>
          <a:prstGeom prst="rect">
            <a:avLst/>
          </a:prstGeom>
          <a:noFill/>
        </p:spPr>
        <p:txBody>
          <a:bodyPr wrap="square" rtlCol="0">
            <a:spAutoFit/>
          </a:bodyPr>
          <a:lstStyle/>
          <a:p>
            <a:r>
              <a:rPr lang="zh-CN" altLang="en-US" sz="2400" dirty="0">
                <a:solidFill>
                  <a:prstClr val="black"/>
                </a:solidFill>
                <a:latin typeface="华文楷体" panose="02010600040101010101" pitchFamily="2" charset="-122"/>
                <a:ea typeface="华文楷体" panose="02010600040101010101" pitchFamily="2" charset="-122"/>
              </a:rPr>
              <a:t>梳理国家发展成就，补充完善展览展品</a:t>
            </a:r>
          </a:p>
        </p:txBody>
      </p:sp>
      <p:grpSp>
        <p:nvGrpSpPr>
          <p:cNvPr id="4" name="组合 3"/>
          <p:cNvGrpSpPr/>
          <p:nvPr>
            <p:custDataLst>
              <p:tags r:id="rId3"/>
            </p:custDataLst>
          </p:nvPr>
        </p:nvGrpSpPr>
        <p:grpSpPr>
          <a:xfrm>
            <a:off x="1802599" y="4799461"/>
            <a:ext cx="5867876" cy="540000"/>
            <a:chOff x="996172" y="4633625"/>
            <a:chExt cx="4803810" cy="540000"/>
          </a:xfrm>
        </p:grpSpPr>
        <p:grpSp>
          <p:nvGrpSpPr>
            <p:cNvPr id="23" name="组合 22"/>
            <p:cNvGrpSpPr/>
            <p:nvPr/>
          </p:nvGrpSpPr>
          <p:grpSpPr>
            <a:xfrm>
              <a:off x="996172" y="4633625"/>
              <a:ext cx="3287795" cy="540000"/>
              <a:chOff x="1635964" y="1686127"/>
              <a:chExt cx="3662867" cy="601602"/>
            </a:xfrm>
          </p:grpSpPr>
          <p:sp>
            <p:nvSpPr>
              <p:cNvPr id="24" name="圆角矩形 23"/>
              <p:cNvSpPr/>
              <p:nvPr>
                <p:custDataLst>
                  <p:tags r:id="rId11"/>
                </p:custDataLst>
              </p:nvPr>
            </p:nvSpPr>
            <p:spPr>
              <a:xfrm>
                <a:off x="1852333" y="1729911"/>
                <a:ext cx="3446498" cy="528105"/>
              </a:xfrm>
              <a:prstGeom prst="roundRect">
                <a:avLst/>
              </a:prstGeom>
              <a:solidFill>
                <a:srgbClr val="711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矩形 24"/>
              <p:cNvSpPr/>
              <p:nvPr>
                <p:custDataLst>
                  <p:tags r:id="rId12"/>
                </p:custDataLst>
              </p:nvPr>
            </p:nvSpPr>
            <p:spPr>
              <a:xfrm rot="18614181">
                <a:off x="1635965" y="1686126"/>
                <a:ext cx="601602" cy="601603"/>
              </a:xfrm>
              <a:prstGeom prst="rect">
                <a:avLst/>
              </a:prstGeom>
              <a:solidFill>
                <a:srgbClr val="A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sp>
          <p:nvSpPr>
            <p:cNvPr id="26" name="文本框 25"/>
            <p:cNvSpPr txBox="1"/>
            <p:nvPr>
              <p:custDataLst>
                <p:tags r:id="rId10"/>
              </p:custDataLst>
            </p:nvPr>
          </p:nvSpPr>
          <p:spPr>
            <a:xfrm>
              <a:off x="1084861" y="4677005"/>
              <a:ext cx="4715121" cy="461665"/>
            </a:xfrm>
            <a:prstGeom prst="rect">
              <a:avLst/>
            </a:prstGeom>
            <a:noFill/>
          </p:spPr>
          <p:txBody>
            <a:bodyPr wrap="square" rtlCol="0">
              <a:spAutoFit/>
            </a:bodyPr>
            <a:lstStyle/>
            <a:p>
              <a:r>
                <a:rPr lang="en-US" altLang="zh-CN" sz="2400" dirty="0">
                  <a:solidFill>
                    <a:prstClr val="white"/>
                  </a:solidFill>
                  <a:latin typeface="华文楷体" panose="02010600040101010101" pitchFamily="2" charset="-122"/>
                  <a:ea typeface="华文楷体" panose="02010600040101010101" pitchFamily="2" charset="-122"/>
                </a:rPr>
                <a:t>3    </a:t>
              </a:r>
              <a:r>
                <a:rPr lang="zh-CN" altLang="en-US" sz="2400" dirty="0">
                  <a:solidFill>
                    <a:prstClr val="white"/>
                  </a:solidFill>
                  <a:latin typeface="华文楷体" panose="02010600040101010101" pitchFamily="2" charset="-122"/>
                  <a:ea typeface="华文楷体" panose="02010600040101010101" pitchFamily="2" charset="-122"/>
                </a:rPr>
                <a:t>拓展策展</a:t>
              </a:r>
              <a:r>
                <a:rPr lang="en-US" altLang="zh-CN" sz="2400" dirty="0">
                  <a:solidFill>
                    <a:prstClr val="white"/>
                  </a:solidFill>
                  <a:latin typeface="华文楷体" panose="02010600040101010101" pitchFamily="2" charset="-122"/>
                  <a:ea typeface="华文楷体" panose="02010600040101010101" pitchFamily="2" charset="-122"/>
                </a:rPr>
                <a:t>——</a:t>
              </a:r>
              <a:r>
                <a:rPr lang="zh-CN" altLang="en-US" sz="2400" dirty="0">
                  <a:solidFill>
                    <a:prstClr val="white"/>
                  </a:solidFill>
                  <a:latin typeface="华文楷体" panose="02010600040101010101" pitchFamily="2" charset="-122"/>
                  <a:ea typeface="华文楷体" panose="02010600040101010101" pitchFamily="2" charset="-122"/>
                </a:rPr>
                <a:t>循迹盐湖行</a:t>
              </a:r>
            </a:p>
          </p:txBody>
        </p:sp>
      </p:grpSp>
      <p:sp>
        <p:nvSpPr>
          <p:cNvPr id="27" name="文本框 26"/>
          <p:cNvSpPr txBox="1"/>
          <p:nvPr>
            <p:custDataLst>
              <p:tags r:id="rId4"/>
            </p:custDataLst>
          </p:nvPr>
        </p:nvSpPr>
        <p:spPr>
          <a:xfrm>
            <a:off x="2270760" y="5436870"/>
            <a:ext cx="5709285" cy="460375"/>
          </a:xfrm>
          <a:prstGeom prst="rect">
            <a:avLst/>
          </a:prstGeom>
          <a:noFill/>
        </p:spPr>
        <p:txBody>
          <a:bodyPr wrap="square" rtlCol="0">
            <a:spAutoFit/>
          </a:bodyPr>
          <a:lstStyle/>
          <a:p>
            <a:r>
              <a:rPr lang="zh-CN" altLang="en-US" sz="2400" dirty="0">
                <a:solidFill>
                  <a:prstClr val="black"/>
                </a:solidFill>
                <a:latin typeface="华文楷体" panose="02010600040101010101" pitchFamily="2" charset="-122"/>
                <a:ea typeface="华文楷体" panose="02010600040101010101" pitchFamily="2" charset="-122"/>
              </a:rPr>
              <a:t>立足盐湖调研，设计家乡研学活动方案</a:t>
            </a:r>
          </a:p>
        </p:txBody>
      </p:sp>
      <p:sp>
        <p:nvSpPr>
          <p:cNvPr id="31" name="标题 27"/>
          <p:cNvSpPr>
            <a:spLocks noGrp="1"/>
          </p:cNvSpPr>
          <p:nvPr>
            <p:ph type="title" idx="4294967295"/>
          </p:nvPr>
        </p:nvSpPr>
        <p:spPr>
          <a:xfrm>
            <a:off x="753359" y="1198368"/>
            <a:ext cx="10559281" cy="574368"/>
          </a:xfrm>
          <a:prstGeom prst="rect">
            <a:avLst/>
          </a:prstGeom>
        </p:spPr>
        <p:txBody>
          <a:bodyPr>
            <a:normAutofit fontScale="90000"/>
          </a:bodyPr>
          <a:lstStyle/>
          <a:p>
            <a:r>
              <a:rPr lang="zh-CN" altLang="en-US" sz="3000" dirty="0"/>
              <a:t>时代答卷人</a:t>
            </a:r>
            <a:r>
              <a:rPr lang="en-US" altLang="zh-CN" sz="3000" dirty="0"/>
              <a:t>——</a:t>
            </a:r>
            <a:r>
              <a:rPr lang="zh-CN" altLang="en-US" sz="3000" dirty="0"/>
              <a:t>策展探悟</a:t>
            </a:r>
            <a:r>
              <a:rPr lang="zh-CN" altLang="en-US" sz="3000"/>
              <a:t>新时代：成就何以铸就，青年何以担当？</a:t>
            </a:r>
            <a:endParaRPr lang="zh-CN" altLang="en-US" sz="3000" dirty="0"/>
          </a:p>
        </p:txBody>
      </p:sp>
      <p:grpSp>
        <p:nvGrpSpPr>
          <p:cNvPr id="2" name="组合 1"/>
          <p:cNvGrpSpPr/>
          <p:nvPr>
            <p:custDataLst>
              <p:tags r:id="rId5"/>
            </p:custDataLst>
          </p:nvPr>
        </p:nvGrpSpPr>
        <p:grpSpPr>
          <a:xfrm>
            <a:off x="1802598" y="3589658"/>
            <a:ext cx="5867877" cy="540000"/>
            <a:chOff x="996172" y="3505024"/>
            <a:chExt cx="4803810" cy="540000"/>
          </a:xfrm>
        </p:grpSpPr>
        <p:grpSp>
          <p:nvGrpSpPr>
            <p:cNvPr id="28" name="组合 27"/>
            <p:cNvGrpSpPr/>
            <p:nvPr/>
          </p:nvGrpSpPr>
          <p:grpSpPr>
            <a:xfrm>
              <a:off x="996172" y="3505024"/>
              <a:ext cx="3287795" cy="540000"/>
              <a:chOff x="1635964" y="1686127"/>
              <a:chExt cx="3662867" cy="601602"/>
            </a:xfrm>
          </p:grpSpPr>
          <p:sp>
            <p:nvSpPr>
              <p:cNvPr id="29" name="圆角矩形 28"/>
              <p:cNvSpPr/>
              <p:nvPr>
                <p:custDataLst>
                  <p:tags r:id="rId8"/>
                </p:custDataLst>
              </p:nvPr>
            </p:nvSpPr>
            <p:spPr>
              <a:xfrm>
                <a:off x="1852333" y="1729911"/>
                <a:ext cx="3446498" cy="528105"/>
              </a:xfrm>
              <a:prstGeom prst="roundRect">
                <a:avLst/>
              </a:prstGeom>
              <a:solidFill>
                <a:srgbClr val="014E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矩形 29"/>
              <p:cNvSpPr/>
              <p:nvPr>
                <p:custDataLst>
                  <p:tags r:id="rId9"/>
                </p:custDataLst>
              </p:nvPr>
            </p:nvSpPr>
            <p:spPr>
              <a:xfrm rot="18614181">
                <a:off x="1635965" y="1686126"/>
                <a:ext cx="601602" cy="601603"/>
              </a:xfrm>
              <a:prstGeom prst="rect">
                <a:avLst/>
              </a:prstGeom>
              <a:solidFill>
                <a:srgbClr val="1784A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sp>
          <p:nvSpPr>
            <p:cNvPr id="32" name="文本框 31"/>
            <p:cNvSpPr txBox="1"/>
            <p:nvPr>
              <p:custDataLst>
                <p:tags r:id="rId7"/>
              </p:custDataLst>
            </p:nvPr>
          </p:nvSpPr>
          <p:spPr>
            <a:xfrm>
              <a:off x="1084861" y="3548404"/>
              <a:ext cx="4715121" cy="461665"/>
            </a:xfrm>
            <a:prstGeom prst="rect">
              <a:avLst/>
            </a:prstGeom>
            <a:noFill/>
          </p:spPr>
          <p:txBody>
            <a:bodyPr wrap="square" rtlCol="0">
              <a:spAutoFit/>
            </a:bodyPr>
            <a:lstStyle/>
            <a:p>
              <a:r>
                <a:rPr lang="en-US" altLang="zh-CN" sz="2400" dirty="0">
                  <a:solidFill>
                    <a:prstClr val="white"/>
                  </a:solidFill>
                  <a:latin typeface="华文楷体" panose="02010600040101010101" pitchFamily="2" charset="-122"/>
                  <a:ea typeface="华文楷体" panose="02010600040101010101" pitchFamily="2" charset="-122"/>
                </a:rPr>
                <a:t>2    </a:t>
              </a:r>
              <a:r>
                <a:rPr lang="zh-CN" altLang="en-US" sz="2400" dirty="0">
                  <a:solidFill>
                    <a:prstClr val="white"/>
                  </a:solidFill>
                  <a:latin typeface="华文楷体" panose="02010600040101010101" pitchFamily="2" charset="-122"/>
                  <a:ea typeface="华文楷体" panose="02010600040101010101" pitchFamily="2" charset="-122"/>
                </a:rPr>
                <a:t>撰写解说</a:t>
              </a:r>
              <a:r>
                <a:rPr lang="en-US" altLang="zh-CN" sz="2400" dirty="0">
                  <a:solidFill>
                    <a:prstClr val="white"/>
                  </a:solidFill>
                  <a:latin typeface="华文楷体" panose="02010600040101010101" pitchFamily="2" charset="-122"/>
                  <a:ea typeface="华文楷体" panose="02010600040101010101" pitchFamily="2" charset="-122"/>
                </a:rPr>
                <a:t>——</a:t>
              </a:r>
              <a:r>
                <a:rPr lang="zh-CN" altLang="en-US" sz="2400" dirty="0">
                  <a:solidFill>
                    <a:prstClr val="white"/>
                  </a:solidFill>
                  <a:latin typeface="华文楷体" panose="02010600040101010101" pitchFamily="2" charset="-122"/>
                  <a:ea typeface="华文楷体" panose="02010600040101010101" pitchFamily="2" charset="-122"/>
                </a:rPr>
                <a:t>解码新成就</a:t>
              </a:r>
            </a:p>
          </p:txBody>
        </p:sp>
      </p:grpSp>
      <p:sp>
        <p:nvSpPr>
          <p:cNvPr id="33" name="文本框 32"/>
          <p:cNvSpPr txBox="1"/>
          <p:nvPr>
            <p:custDataLst>
              <p:tags r:id="rId6"/>
            </p:custDataLst>
          </p:nvPr>
        </p:nvSpPr>
        <p:spPr>
          <a:xfrm>
            <a:off x="2270760" y="4264660"/>
            <a:ext cx="6263640" cy="460375"/>
          </a:xfrm>
          <a:prstGeom prst="rect">
            <a:avLst/>
          </a:prstGeom>
          <a:noFill/>
        </p:spPr>
        <p:txBody>
          <a:bodyPr wrap="square" rtlCol="0">
            <a:spAutoFit/>
          </a:bodyPr>
          <a:lstStyle/>
          <a:p>
            <a:r>
              <a:rPr lang="zh-CN" altLang="en-US" sz="2400" dirty="0">
                <a:solidFill>
                  <a:prstClr val="black"/>
                </a:solidFill>
                <a:latin typeface="华文楷体" panose="02010600040101010101" pitchFamily="2" charset="-122"/>
                <a:ea typeface="华文楷体" panose="02010600040101010101" pitchFamily="2" charset="-122"/>
              </a:rPr>
              <a:t>结合展板撰写解说词，解码成就背后的密码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839788" y="2841109"/>
            <a:ext cx="7226734" cy="1569660"/>
          </a:xfrm>
          <a:prstGeom prst="rect">
            <a:avLst/>
          </a:prstGeom>
          <a:noFill/>
        </p:spPr>
        <p:txBody>
          <a:bodyPr wrap="square" rtlCol="0">
            <a:spAutoFit/>
          </a:bodyPr>
          <a:lstStyle/>
          <a:p>
            <a:pPr indent="612140"/>
            <a:r>
              <a:rPr lang="zh-CN" altLang="en-US" sz="2400" dirty="0">
                <a:solidFill>
                  <a:prstClr val="black"/>
                </a:solidFill>
                <a:latin typeface="华文楷体" panose="02010600040101010101" pitchFamily="2" charset="-122"/>
                <a:ea typeface="华文楷体" panose="02010600040101010101" pitchFamily="2" charset="-122"/>
              </a:rPr>
              <a:t>为引导学生深入了解新时代党和国家事业的发展历程及取得的辉煌成就，学校以“感悟新时代，解码新成就”为主题举办展览活动。同学们广泛搜集资料，并制作展板。</a:t>
            </a:r>
          </a:p>
        </p:txBody>
      </p:sp>
      <p:sp>
        <p:nvSpPr>
          <p:cNvPr id="14" name="矩形: 圆角 13"/>
          <p:cNvSpPr/>
          <p:nvPr/>
        </p:nvSpPr>
        <p:spPr>
          <a:xfrm>
            <a:off x="839788" y="2025320"/>
            <a:ext cx="3557486" cy="49381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情境思考</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小组展示</a:t>
            </a:r>
          </a:p>
        </p:txBody>
      </p:sp>
      <p:cxnSp>
        <p:nvCxnSpPr>
          <p:cNvPr id="2" name="直接连接符 1"/>
          <p:cNvCxnSpPr/>
          <p:nvPr/>
        </p:nvCxnSpPr>
        <p:spPr>
          <a:xfrm flipV="1">
            <a:off x="1851673" y="1598523"/>
            <a:ext cx="5556738" cy="23447"/>
          </a:xfrm>
          <a:prstGeom prst="line">
            <a:avLst/>
          </a:prstGeom>
          <a:ln w="12700">
            <a:solidFill>
              <a:srgbClr val="01431D"/>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288962" y="1339926"/>
            <a:ext cx="445481" cy="469613"/>
            <a:chOff x="2121873" y="1511588"/>
            <a:chExt cx="445481" cy="469613"/>
          </a:xfrm>
        </p:grpSpPr>
        <p:sp>
          <p:nvSpPr>
            <p:cNvPr id="4" name="矩形 3"/>
            <p:cNvSpPr/>
            <p:nvPr/>
          </p:nvSpPr>
          <p:spPr>
            <a:xfrm>
              <a:off x="2121873" y="1511588"/>
              <a:ext cx="363415" cy="363415"/>
            </a:xfrm>
            <a:prstGeom prst="rect">
              <a:avLst/>
            </a:prstGeom>
            <a:solidFill>
              <a:srgbClr val="0143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矩形 4"/>
            <p:cNvSpPr/>
            <p:nvPr/>
          </p:nvSpPr>
          <p:spPr>
            <a:xfrm>
              <a:off x="2321171" y="1735018"/>
              <a:ext cx="246183" cy="246183"/>
            </a:xfrm>
            <a:prstGeom prst="rect">
              <a:avLst/>
            </a:prstGeom>
            <a:solidFill>
              <a:srgbClr val="016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1560686" y="955037"/>
            <a:ext cx="6138711"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子任务</a:t>
            </a:r>
            <a:r>
              <a:rPr lang="en-US" altLang="zh-CN" sz="3000" dirty="0">
                <a:solidFill>
                  <a:prstClr val="black"/>
                </a:solidFill>
                <a:latin typeface="黑体" panose="02010609060101010101" pitchFamily="49" charset="-122"/>
                <a:ea typeface="黑体" panose="02010609060101010101" pitchFamily="49" charset="-122"/>
              </a:rPr>
              <a:t>1</a:t>
            </a:r>
            <a:r>
              <a:rPr lang="zh-CN" altLang="en-US" sz="3000" dirty="0">
                <a:solidFill>
                  <a:prstClr val="black"/>
                </a:solidFill>
                <a:latin typeface="黑体" panose="02010609060101010101" pitchFamily="49" charset="-122"/>
                <a:ea typeface="黑体" panose="02010609060101010101" pitchFamily="49" charset="-122"/>
              </a:rPr>
              <a:t>：观展选品</a:t>
            </a:r>
            <a:r>
              <a:rPr lang="en-US" altLang="zh-CN" sz="3000" dirty="0">
                <a:solidFill>
                  <a:prstClr val="black"/>
                </a:solidFill>
                <a:latin typeface="黑体" panose="02010609060101010101" pitchFamily="49" charset="-122"/>
                <a:ea typeface="黑体" panose="02010609060101010101" pitchFamily="49" charset="-122"/>
              </a:rPr>
              <a:t>——</a:t>
            </a:r>
            <a:r>
              <a:rPr lang="zh-CN" altLang="en-US" sz="3000" dirty="0">
                <a:solidFill>
                  <a:prstClr val="black"/>
                </a:solidFill>
                <a:latin typeface="黑体" panose="02010609060101010101" pitchFamily="49" charset="-122"/>
                <a:ea typeface="黑体" panose="02010609060101010101" pitchFamily="49" charset="-122"/>
              </a:rPr>
              <a:t>感悟新时代</a:t>
            </a:r>
          </a:p>
        </p:txBody>
      </p:sp>
      <p:sp>
        <p:nvSpPr>
          <p:cNvPr id="7" name="矩形: 圆角 6"/>
          <p:cNvSpPr/>
          <p:nvPr/>
        </p:nvSpPr>
        <p:spPr>
          <a:xfrm>
            <a:off x="839787" y="4682127"/>
            <a:ext cx="7272337" cy="1008120"/>
          </a:xfrm>
          <a:prstGeom prst="roundRect">
            <a:avLst/>
          </a:prstGeom>
          <a:solidFill>
            <a:schemeClr val="accent5">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720090"/>
            <a:r>
              <a:rPr lang="zh-CN" altLang="en-US" sz="2800" dirty="0">
                <a:solidFill>
                  <a:schemeClr val="tx1"/>
                </a:solidFill>
                <a:latin typeface="华文楷体" panose="02010600040101010101" pitchFamily="2" charset="-122"/>
                <a:ea typeface="华文楷体" panose="02010600040101010101" pitchFamily="2" charset="-122"/>
              </a:rPr>
              <a:t>查阅资料，进一步从“五位一体”总体布局丰富展览内容。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586420" y="1288413"/>
            <a:ext cx="2906278" cy="580159"/>
          </a:xfrm>
          <a:prstGeom prst="rect">
            <a:avLst/>
          </a:prstGeom>
          <a:noFill/>
        </p:spPr>
        <p:txBody>
          <a:bodyPr wrap="square" rtlCol="0">
            <a:spAutoFit/>
          </a:bodyPr>
          <a:lstStyle/>
          <a:p>
            <a:pPr indent="0" fontAlgn="auto">
              <a:lnSpc>
                <a:spcPct val="120000"/>
              </a:lnSpc>
            </a:pPr>
            <a:r>
              <a:rPr lang="zh-CN" altLang="en-US" sz="2800" dirty="0">
                <a:solidFill>
                  <a:srgbClr val="C00000"/>
                </a:solidFill>
                <a:latin typeface="华文楷体" panose="02010600040101010101" pitchFamily="2" charset="-122"/>
                <a:ea typeface="华文楷体" panose="02010600040101010101" pitchFamily="2" charset="-122"/>
              </a:rPr>
              <a:t>展板一  科技发展</a:t>
            </a:r>
          </a:p>
        </p:txBody>
      </p:sp>
      <p:sp>
        <p:nvSpPr>
          <p:cNvPr id="14" name="文本框 13"/>
          <p:cNvSpPr txBox="1"/>
          <p:nvPr/>
        </p:nvSpPr>
        <p:spPr>
          <a:xfrm>
            <a:off x="3905314" y="2506558"/>
            <a:ext cx="4381372" cy="2726452"/>
          </a:xfrm>
          <a:prstGeom prst="rect">
            <a:avLst/>
          </a:prstGeom>
          <a:noFill/>
        </p:spPr>
        <p:txBody>
          <a:bodyPr wrap="square" rtlCol="0">
            <a:spAutoFit/>
          </a:bodyPr>
          <a:lstStyle/>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浩瀚太空，我国空间站已正式开启长期有人驻留模式；远程医疗、智慧物流等新业态蓬勃发展；工业互联网和人工智能融合赋能，为推进我国新型工业化注入强大动力。</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788" y="2553877"/>
            <a:ext cx="2694244" cy="2631814"/>
          </a:xfrm>
          <a:prstGeom prst="rect">
            <a:avLst/>
          </a:prstGeom>
        </p:spPr>
      </p:pic>
      <p:sp>
        <p:nvSpPr>
          <p:cNvPr id="12" name="文本框 11"/>
          <p:cNvSpPr txBox="1"/>
          <p:nvPr/>
        </p:nvSpPr>
        <p:spPr>
          <a:xfrm>
            <a:off x="934758" y="5444029"/>
            <a:ext cx="2504303" cy="440762"/>
          </a:xfrm>
          <a:prstGeom prst="rect">
            <a:avLst/>
          </a:prstGeom>
          <a:noFill/>
        </p:spPr>
        <p:txBody>
          <a:bodyPr wrap="square" rtlCol="0">
            <a:spAutoFit/>
          </a:bodyPr>
          <a:lstStyle/>
          <a:p>
            <a:pPr indent="0" algn="ctr" fontAlgn="auto">
              <a:lnSpc>
                <a:spcPct val="120000"/>
              </a:lnSpc>
            </a:pPr>
            <a:r>
              <a:rPr lang="zh-CN" altLang="en-US" sz="2000" dirty="0">
                <a:solidFill>
                  <a:prstClr val="black"/>
                </a:solidFill>
                <a:latin typeface="华文楷体" panose="02010600040101010101" pitchFamily="2" charset="-122"/>
                <a:ea typeface="华文楷体" panose="02010600040101010101" pitchFamily="2" charset="-122"/>
              </a:rPr>
              <a:t>图片来源：人民日报</a:t>
            </a:r>
          </a:p>
        </p:txBody>
      </p:sp>
      <p:sp>
        <p:nvSpPr>
          <p:cNvPr id="2" name="矩形: 圆角 1"/>
          <p:cNvSpPr/>
          <p:nvPr/>
        </p:nvSpPr>
        <p:spPr>
          <a:xfrm>
            <a:off x="6096000" y="1185478"/>
            <a:ext cx="1776382"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经济建设</a:t>
            </a:r>
          </a:p>
        </p:txBody>
      </p:sp>
      <p:sp>
        <p:nvSpPr>
          <p:cNvPr id="3" name="箭头: 右 2"/>
          <p:cNvSpPr/>
          <p:nvPr/>
        </p:nvSpPr>
        <p:spPr>
          <a:xfrm>
            <a:off x="5492698" y="1464350"/>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95932" y="1207514"/>
            <a:ext cx="2800135" cy="580159"/>
          </a:xfrm>
          <a:prstGeom prst="rect">
            <a:avLst/>
          </a:prstGeom>
          <a:noFill/>
        </p:spPr>
        <p:txBody>
          <a:bodyPr wrap="square" rtlCol="0">
            <a:spAutoFit/>
          </a:bodyPr>
          <a:lstStyle/>
          <a:p>
            <a:pPr indent="0" fontAlgn="auto">
              <a:lnSpc>
                <a:spcPct val="120000"/>
              </a:lnSpc>
            </a:pPr>
            <a:r>
              <a:rPr lang="zh-CN" altLang="en-US" sz="2800" dirty="0">
                <a:solidFill>
                  <a:srgbClr val="C00000"/>
                </a:solidFill>
                <a:latin typeface="华文楷体" panose="02010600040101010101" pitchFamily="2" charset="-122"/>
                <a:ea typeface="华文楷体" panose="02010600040101010101" pitchFamily="2" charset="-122"/>
              </a:rPr>
              <a:t>展板二 交通基建</a:t>
            </a:r>
          </a:p>
        </p:txBody>
      </p:sp>
      <p:sp>
        <p:nvSpPr>
          <p:cNvPr id="14" name="文本框 13"/>
          <p:cNvSpPr txBox="1"/>
          <p:nvPr/>
        </p:nvSpPr>
        <p:spPr>
          <a:xfrm>
            <a:off x="257810" y="4009390"/>
            <a:ext cx="3961130" cy="2306320"/>
          </a:xfrm>
          <a:prstGeom prst="rect">
            <a:avLst/>
          </a:prstGeom>
          <a:noFill/>
        </p:spPr>
        <p:txBody>
          <a:bodyPr wrap="square" rtlCol="0">
            <a:spAutoFit/>
          </a:bodyPr>
          <a:lstStyle/>
          <a:p>
            <a:pPr indent="50419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看中国路，我国已建成全球最大的高速铁路网、高速公路网，高铁营业里程突破</a:t>
            </a:r>
            <a:r>
              <a:rPr lang="en-US" altLang="zh-CN" sz="2400" dirty="0">
                <a:solidFill>
                  <a:prstClr val="black"/>
                </a:solidFill>
                <a:latin typeface="华文楷体" panose="02010600040101010101" pitchFamily="2" charset="-122"/>
                <a:ea typeface="华文楷体" panose="02010600040101010101" pitchFamily="2" charset="-122"/>
              </a:rPr>
              <a:t>5</a:t>
            </a:r>
            <a:r>
              <a:rPr lang="zh-CN" altLang="en-US" sz="2400" dirty="0">
                <a:solidFill>
                  <a:prstClr val="black"/>
                </a:solidFill>
                <a:latin typeface="华文楷体" panose="02010600040101010101" pitchFamily="2" charset="-122"/>
                <a:ea typeface="华文楷体" panose="02010600040101010101" pitchFamily="2" charset="-122"/>
              </a:rPr>
              <a:t>万公里，高速公路总里程超过</a:t>
            </a:r>
            <a:r>
              <a:rPr lang="en-US" altLang="zh-CN" sz="2400" dirty="0">
                <a:solidFill>
                  <a:prstClr val="black"/>
                </a:solidFill>
                <a:latin typeface="华文楷体" panose="02010600040101010101" pitchFamily="2" charset="-122"/>
                <a:ea typeface="华文楷体" panose="02010600040101010101" pitchFamily="2" charset="-122"/>
              </a:rPr>
              <a:t>19.1</a:t>
            </a:r>
            <a:r>
              <a:rPr lang="zh-CN" altLang="en-US" sz="2400" dirty="0">
                <a:solidFill>
                  <a:prstClr val="black"/>
                </a:solidFill>
                <a:latin typeface="华文楷体" panose="02010600040101010101" pitchFamily="2" charset="-122"/>
                <a:ea typeface="华文楷体" panose="02010600040101010101" pitchFamily="2" charset="-122"/>
              </a:rPr>
              <a:t>万公里。</a:t>
            </a:r>
          </a:p>
        </p:txBody>
      </p:sp>
      <p:sp>
        <p:nvSpPr>
          <p:cNvPr id="15" name="文本框 14"/>
          <p:cNvSpPr txBox="1"/>
          <p:nvPr/>
        </p:nvSpPr>
        <p:spPr>
          <a:xfrm>
            <a:off x="4169410" y="2588895"/>
            <a:ext cx="3860165" cy="1420495"/>
          </a:xfrm>
          <a:prstGeom prst="rect">
            <a:avLst/>
          </a:prstGeom>
          <a:noFill/>
        </p:spPr>
        <p:txBody>
          <a:bodyPr wrap="square" rtlCol="0">
            <a:spAutoFit/>
          </a:bodyPr>
          <a:lstStyle/>
          <a:p>
            <a:pPr indent="50419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看中国运河，平陆运河是新中国成立以来建设的第一条通江达海的大运河。</a:t>
            </a:r>
          </a:p>
        </p:txBody>
      </p:sp>
      <p:sp>
        <p:nvSpPr>
          <p:cNvPr id="16" name="文本框 15"/>
          <p:cNvSpPr txBox="1"/>
          <p:nvPr/>
        </p:nvSpPr>
        <p:spPr>
          <a:xfrm>
            <a:off x="8154035" y="4253865"/>
            <a:ext cx="3648075" cy="1863725"/>
          </a:xfrm>
          <a:prstGeom prst="rect">
            <a:avLst/>
          </a:prstGeom>
          <a:noFill/>
        </p:spPr>
        <p:txBody>
          <a:bodyPr wrap="square" rtlCol="0">
            <a:spAutoFit/>
          </a:bodyPr>
          <a:lstStyle/>
          <a:p>
            <a:pPr indent="50419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看中国港，在全球货运、集装箱吞吐量排名前十的港口中，中国港口分别占了六席和八席。</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406" y="2266085"/>
            <a:ext cx="3260892" cy="1743123"/>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0688" y="2341015"/>
            <a:ext cx="3171430" cy="1743123"/>
          </a:xfrm>
          <a:prstGeom prst="rect">
            <a:avLst/>
          </a:prstGeom>
        </p:spPr>
      </p:pic>
      <p:sp>
        <p:nvSpPr>
          <p:cNvPr id="21" name="文本框 20"/>
          <p:cNvSpPr txBox="1"/>
          <p:nvPr/>
        </p:nvSpPr>
        <p:spPr>
          <a:xfrm>
            <a:off x="4594176" y="5738530"/>
            <a:ext cx="3003648" cy="440762"/>
          </a:xfrm>
          <a:prstGeom prst="rect">
            <a:avLst/>
          </a:prstGeom>
          <a:noFill/>
        </p:spPr>
        <p:txBody>
          <a:bodyPr wrap="square" rtlCol="0">
            <a:spAutoFit/>
          </a:bodyPr>
          <a:lstStyle/>
          <a:p>
            <a:pPr indent="0" fontAlgn="auto">
              <a:lnSpc>
                <a:spcPct val="120000"/>
              </a:lnSpc>
            </a:pPr>
            <a:r>
              <a:rPr lang="zh-CN" altLang="en-US" sz="2000" dirty="0">
                <a:solidFill>
                  <a:prstClr val="black"/>
                </a:solidFill>
                <a:latin typeface="华文楷体" panose="02010600040101010101" pitchFamily="2" charset="-122"/>
                <a:ea typeface="华文楷体" panose="02010600040101010101" pitchFamily="2" charset="-122"/>
              </a:rPr>
              <a:t>图片均来源于：人民网</a:t>
            </a:r>
          </a:p>
        </p:txBody>
      </p:sp>
      <p:pic>
        <p:nvPicPr>
          <p:cNvPr id="2050" name="Picture 2" descr="平陆运河穿山入海。人民网记者 付华周摄"/>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8248" y="4136118"/>
            <a:ext cx="3636588" cy="160241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圆角 8"/>
          <p:cNvSpPr/>
          <p:nvPr/>
        </p:nvSpPr>
        <p:spPr>
          <a:xfrm>
            <a:off x="8112125" y="1114222"/>
            <a:ext cx="1776382"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经济建设</a:t>
            </a:r>
          </a:p>
        </p:txBody>
      </p:sp>
      <p:sp>
        <p:nvSpPr>
          <p:cNvPr id="11" name="箭头: 右 10"/>
          <p:cNvSpPr/>
          <p:nvPr/>
        </p:nvSpPr>
        <p:spPr>
          <a:xfrm>
            <a:off x="7508823" y="1393094"/>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355570" y="1334908"/>
            <a:ext cx="2857803" cy="580159"/>
          </a:xfrm>
          <a:prstGeom prst="rect">
            <a:avLst/>
          </a:prstGeom>
          <a:noFill/>
        </p:spPr>
        <p:txBody>
          <a:bodyPr wrap="square" rtlCol="0">
            <a:spAutoFit/>
          </a:bodyPr>
          <a:lstStyle/>
          <a:p>
            <a:pPr indent="0" fontAlgn="auto">
              <a:lnSpc>
                <a:spcPct val="120000"/>
              </a:lnSpc>
            </a:pPr>
            <a:r>
              <a:rPr lang="zh-CN" altLang="en-US" sz="2800" dirty="0">
                <a:solidFill>
                  <a:srgbClr val="C00000"/>
                </a:solidFill>
                <a:latin typeface="华文楷体" panose="02010600040101010101" pitchFamily="2" charset="-122"/>
                <a:ea typeface="华文楷体" panose="02010600040101010101" pitchFamily="2" charset="-122"/>
              </a:rPr>
              <a:t>展板三 平安中国</a:t>
            </a:r>
          </a:p>
        </p:txBody>
      </p:sp>
      <p:sp>
        <p:nvSpPr>
          <p:cNvPr id="16" name="文本框 15"/>
          <p:cNvSpPr txBox="1"/>
          <p:nvPr/>
        </p:nvSpPr>
        <p:spPr>
          <a:xfrm>
            <a:off x="839788" y="2458725"/>
            <a:ext cx="3877817" cy="3173279"/>
          </a:xfrm>
          <a:prstGeom prst="rect">
            <a:avLst/>
          </a:prstGeom>
          <a:noFill/>
        </p:spPr>
        <p:txBody>
          <a:bodyPr wrap="square" rtlCol="0">
            <a:spAutoFit/>
          </a:bodyPr>
          <a:lstStyle/>
          <a:p>
            <a:pPr indent="62992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随着平安中国建设深入推进，我国成为世界上最有安全感的国家之一。</a:t>
            </a:r>
            <a:endParaRPr lang="en-US" altLang="zh-CN" sz="2400" dirty="0">
              <a:solidFill>
                <a:prstClr val="black"/>
              </a:solidFill>
              <a:latin typeface="华文楷体" panose="02010600040101010101" pitchFamily="2" charset="-122"/>
              <a:ea typeface="华文楷体" panose="02010600040101010101" pitchFamily="2" charset="-122"/>
            </a:endParaRPr>
          </a:p>
          <a:p>
            <a:pPr marL="342900" indent="-34290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群众安全感连续多年保持</a:t>
            </a:r>
            <a:r>
              <a:rPr lang="en-US" altLang="zh-CN" sz="2400" dirty="0">
                <a:solidFill>
                  <a:prstClr val="black"/>
                </a:solidFill>
                <a:latin typeface="华文楷体" panose="02010600040101010101" pitchFamily="2" charset="-122"/>
                <a:ea typeface="华文楷体" panose="02010600040101010101" pitchFamily="2" charset="-122"/>
              </a:rPr>
              <a:t>98%</a:t>
            </a:r>
            <a:r>
              <a:rPr lang="zh-CN" altLang="en-US" sz="2400" dirty="0">
                <a:solidFill>
                  <a:prstClr val="black"/>
                </a:solidFill>
                <a:latin typeface="华文楷体" panose="02010600040101010101" pitchFamily="2" charset="-122"/>
                <a:ea typeface="华文楷体" panose="02010600040101010101" pitchFamily="2" charset="-122"/>
              </a:rPr>
              <a:t>以上</a:t>
            </a:r>
            <a:endParaRPr lang="en-US" altLang="zh-CN" sz="2400" dirty="0">
              <a:solidFill>
                <a:prstClr val="black"/>
              </a:solidFill>
              <a:latin typeface="华文楷体" panose="02010600040101010101" pitchFamily="2" charset="-122"/>
              <a:ea typeface="华文楷体" panose="02010600040101010101" pitchFamily="2" charset="-122"/>
            </a:endParaRPr>
          </a:p>
          <a:p>
            <a:pPr marL="342900" indent="-34290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世界上命案发生率最低的国家之一</a:t>
            </a:r>
            <a:endParaRPr lang="en-US" altLang="zh-CN" sz="2400" dirty="0">
              <a:solidFill>
                <a:prstClr val="black"/>
              </a:solidFill>
              <a:latin typeface="华文楷体" panose="02010600040101010101" pitchFamily="2" charset="-122"/>
              <a:ea typeface="华文楷体" panose="02010600040101010101" pitchFamily="2" charset="-122"/>
            </a:endParaRPr>
          </a:p>
        </p:txBody>
      </p:sp>
      <p:sp>
        <p:nvSpPr>
          <p:cNvPr id="5" name="文本框 4"/>
          <p:cNvSpPr txBox="1"/>
          <p:nvPr/>
        </p:nvSpPr>
        <p:spPr>
          <a:xfrm>
            <a:off x="5213373" y="5190747"/>
            <a:ext cx="2737501" cy="440762"/>
          </a:xfrm>
          <a:prstGeom prst="rect">
            <a:avLst/>
          </a:prstGeom>
          <a:noFill/>
        </p:spPr>
        <p:txBody>
          <a:bodyPr wrap="square" rtlCol="0">
            <a:spAutoFit/>
          </a:bodyPr>
          <a:lstStyle/>
          <a:p>
            <a:pPr indent="0" fontAlgn="auto">
              <a:lnSpc>
                <a:spcPct val="120000"/>
              </a:lnSpc>
            </a:pPr>
            <a:r>
              <a:rPr lang="zh-CN" altLang="en-US" sz="2000" dirty="0">
                <a:solidFill>
                  <a:prstClr val="black"/>
                </a:solidFill>
                <a:latin typeface="华文楷体" panose="02010600040101010101" pitchFamily="2" charset="-122"/>
                <a:ea typeface="华文楷体" panose="02010600040101010101" pitchFamily="2" charset="-122"/>
              </a:rPr>
              <a:t>图片来源：人民网</a:t>
            </a:r>
          </a:p>
        </p:txBody>
      </p:sp>
      <p:pic>
        <p:nvPicPr>
          <p:cNvPr id="2" name="Picture 4" descr="行进&lt;em&gt;中国&lt;/em&gt; | 红土地的“新长征”"/>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7928" y="2543676"/>
            <a:ext cx="3190673" cy="242924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圆角 8"/>
          <p:cNvSpPr/>
          <p:nvPr/>
        </p:nvSpPr>
        <p:spPr>
          <a:xfrm>
            <a:off x="6096000" y="1185478"/>
            <a:ext cx="1776382"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社会建设</a:t>
            </a:r>
          </a:p>
        </p:txBody>
      </p:sp>
      <p:sp>
        <p:nvSpPr>
          <p:cNvPr id="11" name="箭头: 右 10"/>
          <p:cNvSpPr/>
          <p:nvPr/>
        </p:nvSpPr>
        <p:spPr>
          <a:xfrm>
            <a:off x="5492698" y="1464350"/>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839788" y="1267017"/>
            <a:ext cx="2002424"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情境思考</a:t>
            </a:r>
          </a:p>
        </p:txBody>
      </p:sp>
      <p:sp>
        <p:nvSpPr>
          <p:cNvPr id="25" name="椭圆 24"/>
          <p:cNvSpPr/>
          <p:nvPr>
            <p:custDataLst>
              <p:tags r:id="rId1"/>
            </p:custDataLst>
          </p:nvPr>
        </p:nvSpPr>
        <p:spPr>
          <a:xfrm>
            <a:off x="1001536" y="2427402"/>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1</a:t>
            </a:r>
            <a:endParaRPr lang="zh-CN" altLang="en-US" sz="3600" dirty="0">
              <a:latin typeface="华文楷体" panose="02010600040101010101" pitchFamily="2" charset="-122"/>
              <a:ea typeface="华文楷体" panose="02010600040101010101" pitchFamily="2" charset="-122"/>
            </a:endParaRPr>
          </a:p>
        </p:txBody>
      </p:sp>
      <p:sp>
        <p:nvSpPr>
          <p:cNvPr id="26" name="矩形: 圆角 25"/>
          <p:cNvSpPr/>
          <p:nvPr>
            <p:custDataLst>
              <p:tags r:id="rId2"/>
            </p:custDataLst>
          </p:nvPr>
        </p:nvSpPr>
        <p:spPr>
          <a:xfrm>
            <a:off x="1851674" y="2548105"/>
            <a:ext cx="5970232"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华文楷体" panose="02010600040101010101" pitchFamily="2" charset="-122"/>
                <a:ea typeface="华文楷体" panose="02010600040101010101" pitchFamily="2" charset="-122"/>
              </a:rPr>
              <a:t>已有展板体现了“五位一体”总体布局的哪些方面？</a:t>
            </a:r>
          </a:p>
        </p:txBody>
      </p:sp>
      <p:sp>
        <p:nvSpPr>
          <p:cNvPr id="2" name="文本框 1"/>
          <p:cNvSpPr txBox="1"/>
          <p:nvPr>
            <p:custDataLst>
              <p:tags r:id="rId3"/>
            </p:custDataLst>
          </p:nvPr>
        </p:nvSpPr>
        <p:spPr>
          <a:xfrm>
            <a:off x="839788" y="3401054"/>
            <a:ext cx="7226734" cy="830997"/>
          </a:xfrm>
          <a:prstGeom prst="rect">
            <a:avLst/>
          </a:prstGeom>
          <a:noFill/>
        </p:spPr>
        <p:txBody>
          <a:bodyPr wrap="square" rtlCol="0">
            <a:spAutoFit/>
          </a:bodyPr>
          <a:lstStyle/>
          <a:p>
            <a:pPr indent="612140"/>
            <a:r>
              <a:rPr lang="zh-CN" altLang="en-US" sz="2400" dirty="0">
                <a:solidFill>
                  <a:prstClr val="black"/>
                </a:solidFill>
                <a:latin typeface="华文楷体" panose="02010600040101010101" pitchFamily="2" charset="-122"/>
                <a:ea typeface="华文楷体" panose="02010600040101010101" pitchFamily="2" charset="-122"/>
              </a:rPr>
              <a:t>我们党统筹推进</a:t>
            </a:r>
            <a:r>
              <a:rPr lang="zh-CN" altLang="en-US" sz="2400" dirty="0">
                <a:solidFill>
                  <a:srgbClr val="C00000"/>
                </a:solidFill>
                <a:latin typeface="华文楷体" panose="02010600040101010101" pitchFamily="2" charset="-122"/>
                <a:ea typeface="华文楷体" panose="02010600040101010101" pitchFamily="2" charset="-122"/>
              </a:rPr>
              <a:t>经济建设</a:t>
            </a:r>
            <a:r>
              <a:rPr lang="zh-CN" altLang="en-US" sz="2400" dirty="0">
                <a:solidFill>
                  <a:prstClr val="black"/>
                </a:solidFill>
                <a:latin typeface="华文楷体" panose="02010600040101010101" pitchFamily="2" charset="-122"/>
                <a:ea typeface="华文楷体" panose="02010600040101010101" pitchFamily="2" charset="-122"/>
              </a:rPr>
              <a:t>、政治建设、文化建设、</a:t>
            </a:r>
            <a:r>
              <a:rPr lang="zh-CN" altLang="en-US" sz="2400" dirty="0">
                <a:solidFill>
                  <a:srgbClr val="C00000"/>
                </a:solidFill>
                <a:latin typeface="华文楷体" panose="02010600040101010101" pitchFamily="2" charset="-122"/>
                <a:ea typeface="华文楷体" panose="02010600040101010101" pitchFamily="2" charset="-122"/>
              </a:rPr>
              <a:t>社会建设</a:t>
            </a:r>
            <a:r>
              <a:rPr lang="zh-CN" altLang="en-US" sz="2400" dirty="0">
                <a:solidFill>
                  <a:prstClr val="black"/>
                </a:solidFill>
                <a:latin typeface="华文楷体" panose="02010600040101010101" pitchFamily="2" charset="-122"/>
                <a:ea typeface="华文楷体" panose="02010600040101010101" pitchFamily="2" charset="-122"/>
              </a:rPr>
              <a:t>、生态文明建设“五位一体”总体布局。</a:t>
            </a:r>
          </a:p>
        </p:txBody>
      </p:sp>
      <p:sp>
        <p:nvSpPr>
          <p:cNvPr id="3" name="椭圆 2"/>
          <p:cNvSpPr/>
          <p:nvPr>
            <p:custDataLst>
              <p:tags r:id="rId4"/>
            </p:custDataLst>
          </p:nvPr>
        </p:nvSpPr>
        <p:spPr>
          <a:xfrm>
            <a:off x="1001536" y="4232051"/>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2</a:t>
            </a:r>
            <a:endParaRPr lang="zh-CN" altLang="en-US" sz="3600" dirty="0">
              <a:latin typeface="华文楷体" panose="02010600040101010101" pitchFamily="2" charset="-122"/>
              <a:ea typeface="华文楷体" panose="02010600040101010101" pitchFamily="2" charset="-122"/>
            </a:endParaRPr>
          </a:p>
        </p:txBody>
      </p:sp>
      <p:sp>
        <p:nvSpPr>
          <p:cNvPr id="4" name="矩形: 圆角 3"/>
          <p:cNvSpPr/>
          <p:nvPr>
            <p:custDataLst>
              <p:tags r:id="rId5"/>
            </p:custDataLst>
          </p:nvPr>
        </p:nvSpPr>
        <p:spPr>
          <a:xfrm>
            <a:off x="1851674" y="4352754"/>
            <a:ext cx="5970232"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华文楷体" panose="02010600040101010101" pitchFamily="2" charset="-122"/>
                <a:ea typeface="华文楷体" panose="02010600040101010101" pitchFamily="2" charset="-122"/>
              </a:rPr>
              <a:t>可以从剩余方面补充空白展板，请完善展板。</a:t>
            </a:r>
          </a:p>
        </p:txBody>
      </p:sp>
      <p:sp>
        <p:nvSpPr>
          <p:cNvPr id="5" name="文本框 4"/>
          <p:cNvSpPr txBox="1"/>
          <p:nvPr>
            <p:custDataLst>
              <p:tags r:id="rId6"/>
            </p:custDataLst>
          </p:nvPr>
        </p:nvSpPr>
        <p:spPr>
          <a:xfrm>
            <a:off x="729129" y="5072754"/>
            <a:ext cx="7226734" cy="830997"/>
          </a:xfrm>
          <a:prstGeom prst="rect">
            <a:avLst/>
          </a:prstGeom>
          <a:noFill/>
        </p:spPr>
        <p:txBody>
          <a:bodyPr wrap="square" rtlCol="0">
            <a:spAutoFit/>
          </a:bodyPr>
          <a:lstStyle/>
          <a:p>
            <a:pPr indent="612140"/>
            <a:r>
              <a:rPr lang="zh-CN" altLang="en-US" sz="2400" dirty="0">
                <a:solidFill>
                  <a:prstClr val="black"/>
                </a:solidFill>
                <a:latin typeface="华文楷体" panose="02010600040101010101" pitchFamily="2" charset="-122"/>
                <a:ea typeface="华文楷体" panose="02010600040101010101" pitchFamily="2" charset="-122"/>
              </a:rPr>
              <a:t>我们党统筹推进</a:t>
            </a:r>
            <a:r>
              <a:rPr lang="zh-CN" altLang="en-US" sz="2400" dirty="0">
                <a:latin typeface="华文楷体" panose="02010600040101010101" pitchFamily="2" charset="-122"/>
                <a:ea typeface="华文楷体" panose="02010600040101010101" pitchFamily="2" charset="-122"/>
              </a:rPr>
              <a:t>经济建设、</a:t>
            </a:r>
            <a:r>
              <a:rPr lang="zh-CN" altLang="en-US" sz="2400" dirty="0">
                <a:solidFill>
                  <a:srgbClr val="C00000"/>
                </a:solidFill>
                <a:latin typeface="华文楷体" panose="02010600040101010101" pitchFamily="2" charset="-122"/>
                <a:ea typeface="华文楷体" panose="02010600040101010101" pitchFamily="2" charset="-122"/>
              </a:rPr>
              <a:t>政治建设</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C00000"/>
                </a:solidFill>
                <a:latin typeface="华文楷体" panose="02010600040101010101" pitchFamily="2" charset="-122"/>
                <a:ea typeface="华文楷体" panose="02010600040101010101" pitchFamily="2" charset="-122"/>
              </a:rPr>
              <a:t>文化建设</a:t>
            </a:r>
            <a:r>
              <a:rPr lang="zh-CN" altLang="en-US" sz="2400" dirty="0">
                <a:latin typeface="华文楷体" panose="02010600040101010101" pitchFamily="2" charset="-122"/>
                <a:ea typeface="华文楷体" panose="02010600040101010101" pitchFamily="2" charset="-122"/>
              </a:rPr>
              <a:t>、社会建设、</a:t>
            </a:r>
            <a:r>
              <a:rPr lang="zh-CN" altLang="en-US" sz="2400" dirty="0">
                <a:solidFill>
                  <a:srgbClr val="C00000"/>
                </a:solidFill>
                <a:latin typeface="华文楷体" panose="02010600040101010101" pitchFamily="2" charset="-122"/>
                <a:ea typeface="华文楷体" panose="02010600040101010101" pitchFamily="2" charset="-122"/>
              </a:rPr>
              <a:t>生态文明建设</a:t>
            </a:r>
            <a:r>
              <a:rPr lang="zh-CN" altLang="en-US" sz="2400" dirty="0">
                <a:latin typeface="华文楷体" panose="02010600040101010101" pitchFamily="2" charset="-122"/>
                <a:ea typeface="华文楷体" panose="02010600040101010101" pitchFamily="2" charset="-122"/>
              </a:rPr>
              <a:t>“五位一体”总体布局</a:t>
            </a:r>
            <a:r>
              <a:rPr lang="zh-CN" altLang="en-US" sz="2400" dirty="0">
                <a:solidFill>
                  <a:prstClr val="black"/>
                </a:solidFill>
                <a:latin typeface="华文楷体" panose="02010600040101010101" pitchFamily="2" charset="-122"/>
                <a:ea typeface="华文楷体"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1101" y="1036041"/>
            <a:ext cx="4752550" cy="580159"/>
          </a:xfrm>
          <a:prstGeom prst="rect">
            <a:avLst/>
          </a:prstGeom>
          <a:noFill/>
        </p:spPr>
        <p:txBody>
          <a:bodyPr wrap="square" rtlCol="0">
            <a:spAutoFit/>
          </a:bodyPr>
          <a:lstStyle/>
          <a:p>
            <a:pPr indent="0" fontAlgn="auto">
              <a:lnSpc>
                <a:spcPct val="120000"/>
              </a:lnSpc>
            </a:pPr>
            <a:r>
              <a:rPr lang="zh-CN" altLang="en-US" sz="2800" dirty="0">
                <a:solidFill>
                  <a:srgbClr val="C00000"/>
                </a:solidFill>
                <a:latin typeface="华文楷体" panose="02010600040101010101" pitchFamily="2" charset="-122"/>
                <a:ea typeface="华文楷体" panose="02010600040101010101" pitchFamily="2" charset="-122"/>
              </a:rPr>
              <a:t>小组展示：展板四   民主法治</a:t>
            </a:r>
          </a:p>
        </p:txBody>
      </p:sp>
      <p:sp>
        <p:nvSpPr>
          <p:cNvPr id="3" name="矩形: 圆角 2"/>
          <p:cNvSpPr/>
          <p:nvPr/>
        </p:nvSpPr>
        <p:spPr>
          <a:xfrm>
            <a:off x="5826128" y="970299"/>
            <a:ext cx="1824918"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政治建设</a:t>
            </a:r>
          </a:p>
        </p:txBody>
      </p:sp>
      <p:sp>
        <p:nvSpPr>
          <p:cNvPr id="4" name="箭头: 右 3"/>
          <p:cNvSpPr/>
          <p:nvPr/>
        </p:nvSpPr>
        <p:spPr>
          <a:xfrm>
            <a:off x="5071648" y="1202677"/>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pic>
        <p:nvPicPr>
          <p:cNvPr id="2050" name="Picture 2" descr="建好&lt;em&gt;基&lt;/em&gt;&lt;em&gt;层&lt;/em&gt;&lt;em&gt;立&lt;/em&gt;&lt;em&gt;法&lt;/em&gt;&lt;em&gt;联&lt;/em&gt;&lt;em&gt;系&lt;/em&gt;&lt;em&gt;点&lt;/em&gt; 当好民情民意“传声筒”"/>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8" y="4228333"/>
            <a:ext cx="252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974115" y="3778797"/>
            <a:ext cx="2251346" cy="405945"/>
          </a:xfrm>
          <a:prstGeom prst="rect">
            <a:avLst/>
          </a:prstGeom>
          <a:noFill/>
        </p:spPr>
        <p:txBody>
          <a:bodyPr wrap="square" rtlCol="0">
            <a:spAutoFit/>
          </a:bodyPr>
          <a:lstStyle/>
          <a:p>
            <a:pPr indent="0" fontAlgn="auto">
              <a:lnSpc>
                <a:spcPct val="120000"/>
              </a:lnSpc>
            </a:pPr>
            <a:r>
              <a:rPr lang="zh-CN" altLang="en-US" dirty="0">
                <a:solidFill>
                  <a:prstClr val="black"/>
                </a:solidFill>
                <a:latin typeface="华文楷体" panose="02010600040101010101" pitchFamily="2" charset="-122"/>
                <a:ea typeface="华文楷体" panose="02010600040101010101" pitchFamily="2" charset="-122"/>
              </a:rPr>
              <a:t>图片来源：人民网</a:t>
            </a:r>
          </a:p>
        </p:txBody>
      </p:sp>
      <p:sp>
        <p:nvSpPr>
          <p:cNvPr id="7" name="文本框 6"/>
          <p:cNvSpPr txBox="1"/>
          <p:nvPr/>
        </p:nvSpPr>
        <p:spPr>
          <a:xfrm>
            <a:off x="974115" y="5662196"/>
            <a:ext cx="2251346" cy="405945"/>
          </a:xfrm>
          <a:prstGeom prst="rect">
            <a:avLst/>
          </a:prstGeom>
          <a:noFill/>
        </p:spPr>
        <p:txBody>
          <a:bodyPr wrap="square" rtlCol="0">
            <a:spAutoFit/>
          </a:bodyPr>
          <a:lstStyle/>
          <a:p>
            <a:pPr indent="0" fontAlgn="auto">
              <a:lnSpc>
                <a:spcPct val="120000"/>
              </a:lnSpc>
            </a:pPr>
            <a:r>
              <a:rPr lang="zh-CN" altLang="en-US" dirty="0">
                <a:solidFill>
                  <a:prstClr val="black"/>
                </a:solidFill>
                <a:latin typeface="华文楷体" panose="02010600040101010101" pitchFamily="2" charset="-122"/>
                <a:ea typeface="华文楷体" panose="02010600040101010101" pitchFamily="2" charset="-122"/>
              </a:rPr>
              <a:t>图片来源：人民日报</a:t>
            </a:r>
          </a:p>
        </p:txBody>
      </p:sp>
      <p:sp>
        <p:nvSpPr>
          <p:cNvPr id="8" name="文本框 7"/>
          <p:cNvSpPr txBox="1"/>
          <p:nvPr/>
        </p:nvSpPr>
        <p:spPr>
          <a:xfrm>
            <a:off x="3633052" y="1918274"/>
            <a:ext cx="4479073" cy="4232910"/>
          </a:xfrm>
          <a:prstGeom prst="rect">
            <a:avLst/>
          </a:prstGeom>
          <a:noFill/>
        </p:spPr>
        <p:txBody>
          <a:bodyPr wrap="square" rtlCol="0">
            <a:spAutoFit/>
          </a:bodyPr>
          <a:lstStyle/>
          <a:p>
            <a:pPr indent="612140">
              <a:lnSpc>
                <a:spcPct val="120000"/>
              </a:lnSpc>
              <a:spcAft>
                <a:spcPts val="1200"/>
              </a:spcAft>
            </a:pPr>
            <a:r>
              <a:rPr lang="zh-CN" altLang="en-US" sz="2400" dirty="0">
                <a:solidFill>
                  <a:prstClr val="black"/>
                </a:solidFill>
                <a:latin typeface="华文楷体" panose="02010600040101010101" pitchFamily="2" charset="-122"/>
                <a:ea typeface="华文楷体" panose="02010600040101010101" pitchFamily="2" charset="-122"/>
              </a:rPr>
              <a:t>发展全过程人民民主，坚持全面依法治国，社会主义政治制度优势充分彰显。</a:t>
            </a:r>
            <a:endParaRPr lang="en-US" altLang="zh-CN" sz="2400" dirty="0">
              <a:solidFill>
                <a:prstClr val="black"/>
              </a:solidFill>
              <a:latin typeface="华文楷体" panose="02010600040101010101" pitchFamily="2" charset="-122"/>
              <a:ea typeface="华文楷体" panose="02010600040101010101" pitchFamily="2" charset="-122"/>
            </a:endParaRPr>
          </a:p>
          <a:p>
            <a:pPr marL="342900" indent="-342900">
              <a:lnSpc>
                <a:spcPct val="120000"/>
              </a:lnSpc>
              <a:buFont typeface="Arial" panose="020B0604020202020204" pitchFamily="34" charset="0"/>
              <a:buChar char="•"/>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中华人民共和国生态环境法典</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：完善我国法律体系，以法治护航美丽中国建设。</a:t>
            </a:r>
            <a:endParaRPr lang="en-US" altLang="zh-CN" sz="2400" dirty="0">
              <a:solidFill>
                <a:prstClr val="black"/>
              </a:solidFill>
              <a:latin typeface="华文楷体" panose="02010600040101010101" pitchFamily="2" charset="-122"/>
              <a:ea typeface="华文楷体" panose="02010600040101010101" pitchFamily="2" charset="-122"/>
            </a:endParaRPr>
          </a:p>
          <a:p>
            <a:pPr marL="342900" indent="-342900">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设立基层立法联系点：民意直达国家立法机关，是全过程人民民主的生动实践。</a:t>
            </a:r>
          </a:p>
        </p:txBody>
      </p:sp>
      <p:pic>
        <p:nvPicPr>
          <p:cNvPr id="5" name="图片 4"/>
          <p:cNvPicPr>
            <a:picLocks noChangeAspect="1"/>
          </p:cNvPicPr>
          <p:nvPr/>
        </p:nvPicPr>
        <p:blipFill>
          <a:blip r:embed="rId4"/>
          <a:stretch>
            <a:fillRect/>
          </a:stretch>
        </p:blipFill>
        <p:spPr>
          <a:xfrm>
            <a:off x="839788" y="2295208"/>
            <a:ext cx="2520000" cy="15333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65194" y="1969157"/>
            <a:ext cx="11380072" cy="510461"/>
          </a:xfrm>
          <a:prstGeom prst="rect">
            <a:avLst/>
          </a:prstGeom>
          <a:noFill/>
        </p:spPr>
        <p:txBody>
          <a:bodyPr wrap="square" rtlCol="0">
            <a:spAutoFit/>
          </a:bodyPr>
          <a:lstStyle/>
          <a:p>
            <a:pPr>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传承弘扬中华优秀传统文化，推动中华优秀传统文化实现创造性转化、创新性发展。</a:t>
            </a:r>
            <a:endParaRPr lang="en-US" altLang="zh-CN" sz="2400" dirty="0">
              <a:solidFill>
                <a:prstClr val="black"/>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2271439" y="956262"/>
            <a:ext cx="5739790" cy="649858"/>
          </a:xfrm>
          <a:prstGeom prst="rect">
            <a:avLst/>
          </a:prstGeom>
          <a:noFill/>
        </p:spPr>
        <p:txBody>
          <a:bodyPr wrap="square" rtlCol="0">
            <a:spAutoFit/>
          </a:bodyPr>
          <a:lstStyle/>
          <a:p>
            <a:pPr indent="0" fontAlgn="auto">
              <a:lnSpc>
                <a:spcPct val="120000"/>
              </a:lnSpc>
            </a:pPr>
            <a:r>
              <a:rPr lang="zh-CN" altLang="en-US" sz="3200" dirty="0">
                <a:solidFill>
                  <a:srgbClr val="C00000"/>
                </a:solidFill>
                <a:latin typeface="华文楷体" panose="02010600040101010101" pitchFamily="2" charset="-122"/>
                <a:ea typeface="华文楷体" panose="02010600040101010101" pitchFamily="2" charset="-122"/>
              </a:rPr>
              <a:t>小组展示：展板五  文化传承</a:t>
            </a:r>
          </a:p>
        </p:txBody>
      </p:sp>
      <p:sp>
        <p:nvSpPr>
          <p:cNvPr id="3" name="矩形: 圆角 2"/>
          <p:cNvSpPr/>
          <p:nvPr/>
        </p:nvSpPr>
        <p:spPr>
          <a:xfrm>
            <a:off x="8419858" y="956262"/>
            <a:ext cx="1789972"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文化建设</a:t>
            </a:r>
          </a:p>
        </p:txBody>
      </p:sp>
      <p:sp>
        <p:nvSpPr>
          <p:cNvPr id="4" name="箭头: 右 3"/>
          <p:cNvSpPr/>
          <p:nvPr/>
        </p:nvSpPr>
        <p:spPr>
          <a:xfrm>
            <a:off x="7622420" y="1120552"/>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pic>
        <p:nvPicPr>
          <p:cNvPr id="1026" name="Picture 2" descr="古蜀文明引人追 12万游客来看&lt;em&gt;三星堆&lt;/em&gt;"/>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315" y="2747767"/>
            <a:ext cx="2520000" cy="180314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261172" y="5113317"/>
            <a:ext cx="2784243" cy="953659"/>
          </a:xfrm>
          <a:prstGeom prst="rect">
            <a:avLst/>
          </a:prstGeom>
          <a:noFill/>
        </p:spPr>
        <p:txBody>
          <a:bodyPr wrap="square">
            <a:spAutoFit/>
          </a:bodyPr>
          <a:lstStyle/>
          <a:p>
            <a:pPr marL="342900" indent="-34290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三星堆不断有考古新发现</a:t>
            </a:r>
            <a:endParaRPr lang="en-US" altLang="zh-CN" sz="2400" dirty="0">
              <a:solidFill>
                <a:prstClr val="black"/>
              </a:solidFill>
              <a:latin typeface="华文楷体" panose="02010600040101010101" pitchFamily="2" charset="-122"/>
              <a:ea typeface="华文楷体" panose="02010600040101010101" pitchFamily="2" charset="-122"/>
            </a:endParaRPr>
          </a:p>
        </p:txBody>
      </p:sp>
      <p:pic>
        <p:nvPicPr>
          <p:cNvPr id="1028" name="Picture 4" descr="农安精心推出双节文旅盛宴 诚邀八方来客共赏&lt;em&gt;古城&lt;/em&gt;风华"/>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7010" y="2747767"/>
            <a:ext cx="252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中国&lt;em&gt;国&lt;/em&gt;&lt;em&gt;家&lt;/em&gt;&lt;em&gt;版&lt;/em&gt;&lt;em&gt;本&lt;/em&gt;&lt;em&gt;馆&lt;/em&gt;落成"/>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10543" y="2747767"/>
            <a:ext cx="252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t;em&gt;只&lt;/em&gt;&lt;em&gt;此&lt;/em&gt;&lt;em&gt;青&lt;/em&gt;&lt;em&gt;绿&lt;/em&gt; 用“行”护“飞”"/>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93145" y="2747767"/>
            <a:ext cx="2520000" cy="180000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3062974" y="5113317"/>
            <a:ext cx="2992255" cy="953659"/>
          </a:xfrm>
          <a:prstGeom prst="rect">
            <a:avLst/>
          </a:prstGeom>
          <a:noFill/>
        </p:spPr>
        <p:txBody>
          <a:bodyPr wrap="square">
            <a:spAutoFit/>
          </a:bodyPr>
          <a:lstStyle/>
          <a:p>
            <a:pPr marL="342900" indent="-34290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良渚古城遗址列入世界遗产</a:t>
            </a:r>
            <a:endParaRPr lang="en-US" altLang="zh-CN" sz="2400" dirty="0">
              <a:solidFill>
                <a:prstClr val="black"/>
              </a:solidFill>
              <a:latin typeface="华文楷体" panose="02010600040101010101" pitchFamily="2" charset="-122"/>
              <a:ea typeface="华文楷体" panose="02010600040101010101" pitchFamily="2" charset="-122"/>
            </a:endParaRPr>
          </a:p>
        </p:txBody>
      </p:sp>
      <p:sp>
        <p:nvSpPr>
          <p:cNvPr id="12" name="文本框 11"/>
          <p:cNvSpPr txBox="1"/>
          <p:nvPr/>
        </p:nvSpPr>
        <p:spPr>
          <a:xfrm>
            <a:off x="5887011" y="5113317"/>
            <a:ext cx="2843533" cy="830997"/>
          </a:xfrm>
          <a:prstGeom prst="rect">
            <a:avLst/>
          </a:prstGeom>
          <a:noFill/>
        </p:spPr>
        <p:txBody>
          <a:bodyPr wrap="square">
            <a:spAutoFit/>
          </a:bodyPr>
          <a:lstStyle/>
          <a:p>
            <a:pPr marL="285750" indent="-285750">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国家版本馆建成开馆</a:t>
            </a:r>
            <a:endParaRPr lang="zh-CN" altLang="en-US" sz="2400" dirty="0"/>
          </a:p>
        </p:txBody>
      </p:sp>
      <p:sp>
        <p:nvSpPr>
          <p:cNvPr id="14" name="文本框 13"/>
          <p:cNvSpPr txBox="1"/>
          <p:nvPr/>
        </p:nvSpPr>
        <p:spPr>
          <a:xfrm>
            <a:off x="8909060" y="5080592"/>
            <a:ext cx="2968327" cy="953659"/>
          </a:xfrm>
          <a:prstGeom prst="rect">
            <a:avLst/>
          </a:prstGeom>
          <a:noFill/>
        </p:spPr>
        <p:txBody>
          <a:bodyPr wrap="square">
            <a:spAutoFit/>
          </a:bodyPr>
          <a:lstStyle/>
          <a:p>
            <a:pPr marL="342900" indent="-342900" fontAlgn="auto">
              <a:lnSpc>
                <a:spcPct val="120000"/>
              </a:lnSpc>
              <a:buFont typeface="Arial" panose="020B0604020202020204" pitchFamily="34" charset="0"/>
              <a:buChar char="•"/>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只此青绿</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向世界展示东方美学</a:t>
            </a:r>
          </a:p>
        </p:txBody>
      </p:sp>
      <p:sp>
        <p:nvSpPr>
          <p:cNvPr id="15" name="文本框 14"/>
          <p:cNvSpPr txBox="1"/>
          <p:nvPr/>
        </p:nvSpPr>
        <p:spPr>
          <a:xfrm>
            <a:off x="4679417" y="4612943"/>
            <a:ext cx="2751625" cy="405945"/>
          </a:xfrm>
          <a:prstGeom prst="rect">
            <a:avLst/>
          </a:prstGeom>
          <a:noFill/>
        </p:spPr>
        <p:txBody>
          <a:bodyPr wrap="square" rtlCol="0">
            <a:spAutoFit/>
          </a:bodyPr>
          <a:lstStyle/>
          <a:p>
            <a:pPr indent="0" fontAlgn="auto">
              <a:lnSpc>
                <a:spcPct val="120000"/>
              </a:lnSpc>
            </a:pPr>
            <a:r>
              <a:rPr lang="zh-CN" altLang="en-US" dirty="0">
                <a:solidFill>
                  <a:prstClr val="black"/>
                </a:solidFill>
                <a:latin typeface="华文楷体" panose="02010600040101010101" pitchFamily="2" charset="-122"/>
                <a:ea typeface="华文楷体" panose="02010600040101010101" pitchFamily="2" charset="-122"/>
              </a:rPr>
              <a:t>以上图片均来源：新华社</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88" y="2398102"/>
            <a:ext cx="3021235" cy="2541554"/>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79148" y="2795916"/>
            <a:ext cx="3022515" cy="2541554"/>
          </a:xfrm>
          <a:prstGeom prst="rect">
            <a:avLst/>
          </a:prstGeom>
        </p:spPr>
      </p:pic>
      <p:sp>
        <p:nvSpPr>
          <p:cNvPr id="17" name="文本框 16"/>
          <p:cNvSpPr txBox="1"/>
          <p:nvPr/>
        </p:nvSpPr>
        <p:spPr>
          <a:xfrm>
            <a:off x="7001663" y="2603806"/>
            <a:ext cx="4853641" cy="3169650"/>
          </a:xfrm>
          <a:prstGeom prst="rect">
            <a:avLst/>
          </a:prstGeom>
          <a:noFill/>
        </p:spPr>
        <p:txBody>
          <a:bodyPr wrap="square" rtlCol="0">
            <a:spAutoFit/>
          </a:bodyPr>
          <a:lstStyle/>
          <a:p>
            <a:pPr marL="342900" indent="-34290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“共抓大保护，不搞大开发”，十年间，长江经济带优良水质比例从</a:t>
            </a:r>
            <a:r>
              <a:rPr lang="en-US" altLang="zh-CN" sz="2400" dirty="0">
                <a:solidFill>
                  <a:prstClr val="black"/>
                </a:solidFill>
                <a:latin typeface="华文楷体" panose="02010600040101010101" pitchFamily="2" charset="-122"/>
                <a:ea typeface="华文楷体" panose="02010600040101010101" pitchFamily="2" charset="-122"/>
              </a:rPr>
              <a:t>67%</a:t>
            </a:r>
            <a:r>
              <a:rPr lang="zh-CN" altLang="en-US" sz="2400" dirty="0">
                <a:solidFill>
                  <a:prstClr val="black"/>
                </a:solidFill>
                <a:latin typeface="华文楷体" panose="02010600040101010101" pitchFamily="2" charset="-122"/>
                <a:ea typeface="华文楷体" panose="02010600040101010101" pitchFamily="2" charset="-122"/>
              </a:rPr>
              <a:t>提升到</a:t>
            </a:r>
            <a:r>
              <a:rPr lang="en-US" altLang="zh-CN" sz="2400" dirty="0">
                <a:solidFill>
                  <a:prstClr val="black"/>
                </a:solidFill>
                <a:latin typeface="华文楷体" panose="02010600040101010101" pitchFamily="2" charset="-122"/>
                <a:ea typeface="华文楷体" panose="02010600040101010101" pitchFamily="2" charset="-122"/>
              </a:rPr>
              <a:t>96.5%</a:t>
            </a:r>
            <a:r>
              <a:rPr lang="zh-CN" altLang="en-US" sz="2400" dirty="0">
                <a:solidFill>
                  <a:prstClr val="black"/>
                </a:solidFill>
                <a:latin typeface="华文楷体" panose="02010600040101010101" pitchFamily="2" charset="-122"/>
                <a:ea typeface="华文楷体" panose="02010600040101010101" pitchFamily="2" charset="-122"/>
              </a:rPr>
              <a:t>。</a:t>
            </a:r>
            <a:endParaRPr lang="en-US" altLang="zh-CN" sz="2400" dirty="0">
              <a:solidFill>
                <a:prstClr val="black"/>
              </a:solidFill>
              <a:latin typeface="华文楷体" panose="02010600040101010101" pitchFamily="2" charset="-122"/>
              <a:ea typeface="华文楷体" panose="02010600040101010101" pitchFamily="2" charset="-122"/>
            </a:endParaRPr>
          </a:p>
          <a:p>
            <a:pPr marL="342900" indent="-34290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致力于“让黄河成为造福人民的幸福河”，打好黄河“几字弯”攻坚战，一体推进山水林田湖草沙保护和治理，筑牢生态屏障。</a:t>
            </a:r>
          </a:p>
        </p:txBody>
      </p:sp>
      <p:sp>
        <p:nvSpPr>
          <p:cNvPr id="18" name="文本框 17"/>
          <p:cNvSpPr txBox="1"/>
          <p:nvPr/>
        </p:nvSpPr>
        <p:spPr>
          <a:xfrm>
            <a:off x="1939460" y="1195601"/>
            <a:ext cx="6071769" cy="649858"/>
          </a:xfrm>
          <a:prstGeom prst="rect">
            <a:avLst/>
          </a:prstGeom>
          <a:noFill/>
        </p:spPr>
        <p:txBody>
          <a:bodyPr wrap="square" rtlCol="0">
            <a:spAutoFit/>
          </a:bodyPr>
          <a:lstStyle/>
          <a:p>
            <a:pPr indent="0" fontAlgn="auto">
              <a:lnSpc>
                <a:spcPct val="120000"/>
              </a:lnSpc>
            </a:pPr>
            <a:r>
              <a:rPr lang="zh-CN" altLang="en-US" sz="3200" dirty="0">
                <a:solidFill>
                  <a:srgbClr val="C00000"/>
                </a:solidFill>
                <a:latin typeface="华文楷体" panose="02010600040101010101" pitchFamily="2" charset="-122"/>
                <a:ea typeface="华文楷体" panose="02010600040101010101" pitchFamily="2" charset="-122"/>
              </a:rPr>
              <a:t>小组展示：展板六 “江河战略”</a:t>
            </a:r>
          </a:p>
        </p:txBody>
      </p:sp>
      <p:sp>
        <p:nvSpPr>
          <p:cNvPr id="19" name="文本框 18"/>
          <p:cNvSpPr txBox="1"/>
          <p:nvPr/>
        </p:nvSpPr>
        <p:spPr>
          <a:xfrm>
            <a:off x="839788" y="5337470"/>
            <a:ext cx="3021235" cy="810094"/>
          </a:xfrm>
          <a:prstGeom prst="rect">
            <a:avLst/>
          </a:prstGeom>
          <a:noFill/>
        </p:spPr>
        <p:txBody>
          <a:bodyPr wrap="square" rtlCol="0">
            <a:spAutoFit/>
          </a:bodyPr>
          <a:lstStyle/>
          <a:p>
            <a:pPr indent="0" fontAlgn="auto">
              <a:lnSpc>
                <a:spcPct val="120000"/>
              </a:lnSpc>
            </a:pPr>
            <a:r>
              <a:rPr lang="zh-CN" altLang="en-US" sz="2000" dirty="0">
                <a:solidFill>
                  <a:prstClr val="black"/>
                </a:solidFill>
                <a:latin typeface="华文楷体" panose="02010600040101010101" pitchFamily="2" charset="-122"/>
                <a:ea typeface="华文楷体" panose="02010600040101010101" pitchFamily="2" charset="-122"/>
              </a:rPr>
              <a:t>左图：长江</a:t>
            </a:r>
            <a:r>
              <a:rPr lang="en-US" altLang="zh-CN" sz="2000" dirty="0">
                <a:solidFill>
                  <a:prstClr val="black"/>
                </a:solidFill>
                <a:latin typeface="华文楷体" panose="02010600040101010101" pitchFamily="2" charset="-122"/>
                <a:ea typeface="华文楷体" panose="02010600040101010101" pitchFamily="2" charset="-122"/>
              </a:rPr>
              <a:t>   </a:t>
            </a:r>
            <a:r>
              <a:rPr lang="zh-CN" altLang="en-US" sz="2000" dirty="0">
                <a:solidFill>
                  <a:prstClr val="black"/>
                </a:solidFill>
                <a:latin typeface="华文楷体" panose="02010600040101010101" pitchFamily="2" charset="-122"/>
                <a:ea typeface="华文楷体" panose="02010600040101010101" pitchFamily="2" charset="-122"/>
              </a:rPr>
              <a:t>右图：黄河</a:t>
            </a:r>
            <a:endParaRPr lang="en-US" altLang="zh-CN" sz="2000" dirty="0">
              <a:solidFill>
                <a:prstClr val="black"/>
              </a:solidFill>
              <a:latin typeface="华文楷体" panose="02010600040101010101" pitchFamily="2" charset="-122"/>
              <a:ea typeface="华文楷体" panose="02010600040101010101" pitchFamily="2" charset="-122"/>
            </a:endParaRPr>
          </a:p>
          <a:p>
            <a:pPr indent="0" fontAlgn="auto">
              <a:lnSpc>
                <a:spcPct val="120000"/>
              </a:lnSpc>
            </a:pPr>
            <a:r>
              <a:rPr lang="zh-CN" altLang="en-US" sz="2000" dirty="0">
                <a:solidFill>
                  <a:prstClr val="black"/>
                </a:solidFill>
                <a:latin typeface="华文楷体" panose="02010600040101010101" pitchFamily="2" charset="-122"/>
                <a:ea typeface="华文楷体" panose="02010600040101010101" pitchFamily="2" charset="-122"/>
              </a:rPr>
              <a:t>图片来源：人民日报</a:t>
            </a:r>
          </a:p>
        </p:txBody>
      </p:sp>
      <p:sp>
        <p:nvSpPr>
          <p:cNvPr id="7" name="矩形: 圆角 6"/>
          <p:cNvSpPr/>
          <p:nvPr/>
        </p:nvSpPr>
        <p:spPr>
          <a:xfrm>
            <a:off x="8419857" y="1195601"/>
            <a:ext cx="2459755"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生态文明建设</a:t>
            </a:r>
          </a:p>
        </p:txBody>
      </p:sp>
      <p:sp>
        <p:nvSpPr>
          <p:cNvPr id="8" name="箭头: 右 7"/>
          <p:cNvSpPr/>
          <p:nvPr/>
        </p:nvSpPr>
        <p:spPr>
          <a:xfrm>
            <a:off x="7816556" y="1474473"/>
            <a:ext cx="593124" cy="3212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华文楷体" panose="02010600040101010101" pitchFamily="2" charset="-122"/>
              <a:ea typeface="华文楷体" panose="020106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77105" y="1402042"/>
            <a:ext cx="6490406"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子任务</a:t>
            </a:r>
            <a:r>
              <a:rPr lang="en-US" altLang="zh-CN" sz="3000" dirty="0">
                <a:solidFill>
                  <a:prstClr val="black"/>
                </a:solidFill>
                <a:latin typeface="黑体" panose="02010609060101010101" pitchFamily="49" charset="-122"/>
                <a:ea typeface="黑体" panose="02010609060101010101" pitchFamily="49" charset="-122"/>
              </a:rPr>
              <a:t>2</a:t>
            </a:r>
            <a:r>
              <a:rPr lang="zh-CN" altLang="en-US" sz="3000" dirty="0">
                <a:solidFill>
                  <a:prstClr val="black"/>
                </a:solidFill>
                <a:latin typeface="黑体" panose="02010609060101010101" pitchFamily="49" charset="-122"/>
                <a:ea typeface="黑体" panose="02010609060101010101" pitchFamily="49" charset="-122"/>
              </a:rPr>
              <a:t>：撰写解说</a:t>
            </a:r>
            <a:r>
              <a:rPr lang="en-US" altLang="zh-CN" sz="3000" dirty="0">
                <a:solidFill>
                  <a:prstClr val="black"/>
                </a:solidFill>
                <a:latin typeface="黑体" panose="02010609060101010101" pitchFamily="49" charset="-122"/>
                <a:ea typeface="黑体" panose="02010609060101010101" pitchFamily="49" charset="-122"/>
              </a:rPr>
              <a:t>——</a:t>
            </a:r>
            <a:r>
              <a:rPr lang="zh-CN" altLang="en-US" sz="3000" dirty="0">
                <a:solidFill>
                  <a:prstClr val="black"/>
                </a:solidFill>
                <a:latin typeface="黑体" panose="02010609060101010101" pitchFamily="49" charset="-122"/>
                <a:ea typeface="黑体" panose="02010609060101010101" pitchFamily="49" charset="-122"/>
              </a:rPr>
              <a:t>解码新成就</a:t>
            </a:r>
          </a:p>
        </p:txBody>
      </p:sp>
      <p:cxnSp>
        <p:nvCxnSpPr>
          <p:cNvPr id="2" name="直接连接符 1"/>
          <p:cNvCxnSpPr/>
          <p:nvPr/>
        </p:nvCxnSpPr>
        <p:spPr>
          <a:xfrm flipV="1">
            <a:off x="2039816" y="2079228"/>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477105" y="1820631"/>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7" name="矩形: 圆角 6"/>
          <p:cNvSpPr/>
          <p:nvPr/>
        </p:nvSpPr>
        <p:spPr>
          <a:xfrm>
            <a:off x="839788" y="2505530"/>
            <a:ext cx="3557486"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分析原因</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小组讨论</a:t>
            </a:r>
          </a:p>
        </p:txBody>
      </p:sp>
      <p:sp>
        <p:nvSpPr>
          <p:cNvPr id="8" name="矩形: 圆角 7"/>
          <p:cNvSpPr/>
          <p:nvPr/>
        </p:nvSpPr>
        <p:spPr>
          <a:xfrm>
            <a:off x="839788" y="4053113"/>
            <a:ext cx="7272337" cy="1008120"/>
          </a:xfrm>
          <a:prstGeom prst="roundRect">
            <a:avLst/>
          </a:prstGeom>
          <a:solidFill>
            <a:schemeClr val="accent5">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720090"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结合所学知识，分析新时代党和国家事业取得辉煌成就的原因。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43418" y="1922869"/>
            <a:ext cx="2031544" cy="1137684"/>
          </a:xfrm>
          <a:prstGeom prst="rect">
            <a:avLst/>
          </a:prstGeom>
          <a:noFill/>
        </p:spPr>
        <p:txBody>
          <a:bodyPr wrap="square" rtlCol="0">
            <a:spAutoFit/>
          </a:bodyPr>
          <a:lstStyle/>
          <a:p>
            <a:pPr indent="0" fontAlgn="auto">
              <a:lnSpc>
                <a:spcPct val="120000"/>
              </a:lnSpc>
            </a:pPr>
            <a:r>
              <a:rPr lang="en-US" altLang="zh-CN" sz="6000" dirty="0">
                <a:solidFill>
                  <a:schemeClr val="bg1">
                    <a:lumMod val="50000"/>
                  </a:schemeClr>
                </a:solidFill>
                <a:latin typeface="华文楷体" panose="02010600040101010101" pitchFamily="2" charset="-122"/>
                <a:ea typeface="华文楷体" panose="02010600040101010101" pitchFamily="2" charset="-122"/>
              </a:rPr>
              <a:t>226</a:t>
            </a:r>
            <a:r>
              <a:rPr lang="zh-CN" altLang="en-US" sz="6000" dirty="0">
                <a:solidFill>
                  <a:schemeClr val="bg1">
                    <a:lumMod val="50000"/>
                  </a:schemeClr>
                </a:solidFill>
                <a:latin typeface="华文楷体" panose="02010600040101010101" pitchFamily="2" charset="-122"/>
                <a:ea typeface="华文楷体" panose="02010600040101010101" pitchFamily="2" charset="-122"/>
              </a:rPr>
              <a:t>天</a:t>
            </a:r>
            <a:endParaRPr lang="zh-CN" altLang="en-US" sz="6600" dirty="0">
              <a:solidFill>
                <a:schemeClr val="bg1">
                  <a:lumMod val="50000"/>
                </a:schemeClr>
              </a:solidFill>
              <a:latin typeface="华文楷体" panose="02010600040101010101" pitchFamily="2" charset="-122"/>
              <a:ea typeface="华文楷体" panose="02010600040101010101" pitchFamily="2" charset="-122"/>
            </a:endParaRPr>
          </a:p>
        </p:txBody>
      </p:sp>
      <p:sp>
        <p:nvSpPr>
          <p:cNvPr id="6" name="文本框 5"/>
          <p:cNvSpPr txBox="1"/>
          <p:nvPr/>
        </p:nvSpPr>
        <p:spPr>
          <a:xfrm>
            <a:off x="850265" y="3243203"/>
            <a:ext cx="4930248" cy="1840056"/>
          </a:xfrm>
          <a:prstGeom prst="rect">
            <a:avLst/>
          </a:prstGeom>
          <a:noFill/>
        </p:spPr>
        <p:txBody>
          <a:bodyPr wrap="square" rtlCol="0">
            <a:spAutoFit/>
          </a:bodyPr>
          <a:lstStyle/>
          <a:p>
            <a:pPr indent="64800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1972</a:t>
            </a:r>
            <a:r>
              <a:rPr lang="zh-CN" altLang="en-US" sz="2400" dirty="0">
                <a:solidFill>
                  <a:prstClr val="black"/>
                </a:solidFill>
                <a:latin typeface="华文楷体" panose="02010600040101010101" pitchFamily="2" charset="-122"/>
                <a:ea typeface="华文楷体" panose="02010600040101010101" pitchFamily="2" charset="-122"/>
              </a:rPr>
              <a:t>年到</a:t>
            </a:r>
            <a:r>
              <a:rPr lang="en-US" altLang="zh-CN" sz="2400" dirty="0">
                <a:solidFill>
                  <a:prstClr val="black"/>
                </a:solidFill>
                <a:latin typeface="华文楷体" panose="02010600040101010101" pitchFamily="2" charset="-122"/>
                <a:ea typeface="华文楷体" panose="02010600040101010101" pitchFamily="2" charset="-122"/>
              </a:rPr>
              <a:t>1999</a:t>
            </a:r>
            <a:r>
              <a:rPr lang="zh-CN" altLang="en-US" sz="2400" dirty="0">
                <a:solidFill>
                  <a:prstClr val="black"/>
                </a:solidFill>
                <a:latin typeface="华文楷体" panose="02010600040101010101" pitchFamily="2" charset="-122"/>
                <a:ea typeface="华文楷体" panose="02010600040101010101" pitchFamily="2" charset="-122"/>
              </a:rPr>
              <a:t>年，</a:t>
            </a:r>
            <a:r>
              <a:rPr lang="en-US" altLang="zh-CN" sz="2400" dirty="0">
                <a:solidFill>
                  <a:prstClr val="black"/>
                </a:solidFill>
                <a:latin typeface="华文楷体" panose="02010600040101010101" pitchFamily="2" charset="-122"/>
                <a:ea typeface="华文楷体" panose="02010600040101010101" pitchFamily="2" charset="-122"/>
              </a:rPr>
              <a:t>28</a:t>
            </a:r>
            <a:r>
              <a:rPr lang="zh-CN" altLang="en-US" sz="2400" dirty="0">
                <a:solidFill>
                  <a:prstClr val="black"/>
                </a:solidFill>
                <a:latin typeface="华文楷体" panose="02010600040101010101" pitchFamily="2" charset="-122"/>
                <a:ea typeface="华文楷体" panose="02010600040101010101" pitchFamily="2" charset="-122"/>
              </a:rPr>
              <a:t>年间黄河有</a:t>
            </a:r>
            <a:r>
              <a:rPr lang="en-US" altLang="zh-CN" sz="2400" dirty="0">
                <a:solidFill>
                  <a:prstClr val="black"/>
                </a:solidFill>
                <a:latin typeface="华文楷体" panose="02010600040101010101" pitchFamily="2" charset="-122"/>
                <a:ea typeface="华文楷体" panose="02010600040101010101" pitchFamily="2" charset="-122"/>
              </a:rPr>
              <a:t>22</a:t>
            </a:r>
            <a:r>
              <a:rPr lang="zh-CN" altLang="en-US" sz="2400" dirty="0">
                <a:solidFill>
                  <a:prstClr val="black"/>
                </a:solidFill>
                <a:latin typeface="华文楷体" panose="02010600040101010101" pitchFamily="2" charset="-122"/>
                <a:ea typeface="华文楷体" panose="02010600040101010101" pitchFamily="2" charset="-122"/>
              </a:rPr>
              <a:t>年发生断流；</a:t>
            </a:r>
            <a:r>
              <a:rPr lang="en-US" altLang="zh-CN" sz="2400" dirty="0">
                <a:solidFill>
                  <a:prstClr val="black"/>
                </a:solidFill>
                <a:latin typeface="华文楷体" panose="02010600040101010101" pitchFamily="2" charset="-122"/>
                <a:ea typeface="华文楷体" panose="02010600040101010101" pitchFamily="2" charset="-122"/>
              </a:rPr>
              <a:t>1997</a:t>
            </a:r>
            <a:r>
              <a:rPr lang="zh-CN" altLang="en-US" sz="2400" dirty="0">
                <a:solidFill>
                  <a:prstClr val="black"/>
                </a:solidFill>
                <a:latin typeface="华文楷体" panose="02010600040101010101" pitchFamily="2" charset="-122"/>
                <a:ea typeface="华文楷体" panose="02010600040101010101" pitchFamily="2" charset="-122"/>
              </a:rPr>
              <a:t>年，断流长达</a:t>
            </a:r>
            <a:r>
              <a:rPr lang="en-US" altLang="zh-CN" sz="2400" dirty="0">
                <a:solidFill>
                  <a:prstClr val="black"/>
                </a:solidFill>
                <a:latin typeface="华文楷体" panose="02010600040101010101" pitchFamily="2" charset="-122"/>
                <a:ea typeface="华文楷体" panose="02010600040101010101" pitchFamily="2" charset="-122"/>
              </a:rPr>
              <a:t>226</a:t>
            </a:r>
            <a:r>
              <a:rPr lang="zh-CN" altLang="en-US" sz="2400" dirty="0">
                <a:solidFill>
                  <a:prstClr val="black"/>
                </a:solidFill>
                <a:latin typeface="华文楷体" panose="02010600040101010101" pitchFamily="2" charset="-122"/>
                <a:ea typeface="华文楷体" panose="02010600040101010101" pitchFamily="2" charset="-122"/>
              </a:rPr>
              <a:t>天。母亲河，曾经一度“伤痕累累”。</a:t>
            </a:r>
          </a:p>
        </p:txBody>
      </p:sp>
      <p:sp>
        <p:nvSpPr>
          <p:cNvPr id="7" name="矩形: 圆角 6"/>
          <p:cNvSpPr/>
          <p:nvPr/>
        </p:nvSpPr>
        <p:spPr>
          <a:xfrm>
            <a:off x="839787" y="991237"/>
            <a:ext cx="10453343" cy="786031"/>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以黄河流域生态保护和高质量发展为例</a:t>
            </a:r>
            <a:endParaRPr lang="en-US" altLang="zh-CN" sz="2800" dirty="0">
              <a:solidFill>
                <a:schemeClr val="tx1"/>
              </a:solidFill>
              <a:latin typeface="华文楷体" panose="02010600040101010101" pitchFamily="2" charset="-122"/>
              <a:ea typeface="华文楷体" panose="02010600040101010101" pitchFamily="2" charset="-122"/>
            </a:endParaRPr>
          </a:p>
          <a:p>
            <a:pPr algn="ctr"/>
            <a:r>
              <a:rPr lang="zh-CN" altLang="en-US" sz="2800" dirty="0">
                <a:solidFill>
                  <a:schemeClr val="tx1"/>
                </a:solidFill>
                <a:latin typeface="华文楷体" panose="02010600040101010101" pitchFamily="2" charset="-122"/>
                <a:ea typeface="华文楷体" panose="02010600040101010101" pitchFamily="2" charset="-122"/>
              </a:rPr>
              <a:t>分析原因</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小组讨论</a:t>
            </a:r>
          </a:p>
        </p:txBody>
      </p:sp>
      <p:sp>
        <p:nvSpPr>
          <p:cNvPr id="8" name="文本框 7"/>
          <p:cNvSpPr txBox="1"/>
          <p:nvPr/>
        </p:nvSpPr>
        <p:spPr>
          <a:xfrm>
            <a:off x="7298811" y="1858570"/>
            <a:ext cx="2031544" cy="1137684"/>
          </a:xfrm>
          <a:prstGeom prst="rect">
            <a:avLst/>
          </a:prstGeom>
          <a:noFill/>
        </p:spPr>
        <p:txBody>
          <a:bodyPr wrap="square" rtlCol="0">
            <a:spAutoFit/>
          </a:bodyPr>
          <a:lstStyle/>
          <a:p>
            <a:pPr indent="0" fontAlgn="auto">
              <a:lnSpc>
                <a:spcPct val="120000"/>
              </a:lnSpc>
            </a:pPr>
            <a:r>
              <a:rPr lang="en-US" altLang="zh-CN" sz="6000" dirty="0">
                <a:solidFill>
                  <a:srgbClr val="C00000"/>
                </a:solidFill>
                <a:latin typeface="华文楷体" panose="02010600040101010101" pitchFamily="2" charset="-122"/>
                <a:ea typeface="华文楷体" panose="02010600040101010101" pitchFamily="2" charset="-122"/>
              </a:rPr>
              <a:t>27</a:t>
            </a:r>
            <a:r>
              <a:rPr lang="zh-CN" altLang="en-US" sz="6000" dirty="0">
                <a:solidFill>
                  <a:srgbClr val="C00000"/>
                </a:solidFill>
                <a:latin typeface="华文楷体" panose="02010600040101010101" pitchFamily="2" charset="-122"/>
                <a:ea typeface="华文楷体" panose="02010600040101010101" pitchFamily="2" charset="-122"/>
              </a:rPr>
              <a:t>年</a:t>
            </a:r>
            <a:endParaRPr lang="zh-CN" altLang="en-US" sz="6600" dirty="0">
              <a:solidFill>
                <a:srgbClr val="C00000"/>
              </a:solidFill>
              <a:latin typeface="华文楷体" panose="02010600040101010101" pitchFamily="2" charset="-122"/>
              <a:ea typeface="华文楷体" panose="02010600040101010101" pitchFamily="2" charset="-122"/>
            </a:endParaRPr>
          </a:p>
        </p:txBody>
      </p:sp>
      <p:sp>
        <p:nvSpPr>
          <p:cNvPr id="12" name="文本框 11"/>
          <p:cNvSpPr txBox="1"/>
          <p:nvPr/>
        </p:nvSpPr>
        <p:spPr>
          <a:xfrm>
            <a:off x="6173656" y="3021604"/>
            <a:ext cx="5168079" cy="2283254"/>
          </a:xfrm>
          <a:prstGeom prst="rect">
            <a:avLst/>
          </a:prstGeom>
          <a:noFill/>
        </p:spPr>
        <p:txBody>
          <a:bodyPr wrap="square" rtlCol="0">
            <a:spAutoFit/>
          </a:bodyPr>
          <a:lstStyle/>
          <a:p>
            <a:pPr indent="6480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今天，黄河已实现自</a:t>
            </a:r>
            <a:r>
              <a:rPr lang="en-US" altLang="zh-CN" sz="2400" dirty="0">
                <a:solidFill>
                  <a:prstClr val="black"/>
                </a:solidFill>
                <a:latin typeface="华文楷体" panose="02010600040101010101" pitchFamily="2" charset="-122"/>
                <a:ea typeface="华文楷体" panose="02010600040101010101" pitchFamily="2" charset="-122"/>
              </a:rPr>
              <a:t>1999</a:t>
            </a:r>
            <a:r>
              <a:rPr lang="zh-CN" altLang="en-US" sz="2400" dirty="0">
                <a:solidFill>
                  <a:prstClr val="black"/>
                </a:solidFill>
                <a:latin typeface="华文楷体" panose="02010600040101010101" pitchFamily="2" charset="-122"/>
                <a:ea typeface="华文楷体" panose="02010600040101010101" pitchFamily="2" charset="-122"/>
              </a:rPr>
              <a:t>年以来连续</a:t>
            </a:r>
            <a:r>
              <a:rPr lang="en-US" altLang="zh-CN" sz="2400" dirty="0">
                <a:solidFill>
                  <a:prstClr val="black"/>
                </a:solidFill>
                <a:latin typeface="华文楷体" panose="02010600040101010101" pitchFamily="2" charset="-122"/>
                <a:ea typeface="华文楷体" panose="02010600040101010101" pitchFamily="2" charset="-122"/>
              </a:rPr>
              <a:t>27</a:t>
            </a:r>
            <a:r>
              <a:rPr lang="zh-CN" altLang="en-US" sz="2400" dirty="0">
                <a:solidFill>
                  <a:prstClr val="black"/>
                </a:solidFill>
                <a:latin typeface="华文楷体" panose="02010600040101010101" pitchFamily="2" charset="-122"/>
                <a:ea typeface="华文楷体" panose="02010600040101010101" pitchFamily="2" charset="-122"/>
              </a:rPr>
              <a:t>年不断流；干流连续</a:t>
            </a:r>
            <a:r>
              <a:rPr lang="en-US" altLang="zh-CN" sz="2400" dirty="0">
                <a:solidFill>
                  <a:prstClr val="black"/>
                </a:solidFill>
                <a:latin typeface="华文楷体" panose="02010600040101010101" pitchFamily="2" charset="-122"/>
                <a:ea typeface="华文楷体" panose="02010600040101010101" pitchFamily="2" charset="-122"/>
              </a:rPr>
              <a:t>4</a:t>
            </a:r>
            <a:r>
              <a:rPr lang="zh-CN" altLang="en-US" sz="2400" dirty="0">
                <a:solidFill>
                  <a:prstClr val="black"/>
                </a:solidFill>
                <a:latin typeface="华文楷体" panose="02010600040101010101" pitchFamily="2" charset="-122"/>
                <a:ea typeface="华文楷体" panose="02010600040101010101" pitchFamily="2" charset="-122"/>
              </a:rPr>
              <a:t>年全线稳定保持</a:t>
            </a:r>
            <a:r>
              <a:rPr lang="en-US" altLang="zh-CN" sz="2400" dirty="0">
                <a:solidFill>
                  <a:prstClr val="black"/>
                </a:solidFill>
                <a:latin typeface="华文楷体" panose="02010600040101010101" pitchFamily="2" charset="-122"/>
                <a:ea typeface="华文楷体" panose="02010600040101010101" pitchFamily="2" charset="-122"/>
              </a:rPr>
              <a:t>Ⅱ</a:t>
            </a:r>
            <a:r>
              <a:rPr lang="zh-CN" altLang="en-US" sz="2400" dirty="0">
                <a:solidFill>
                  <a:prstClr val="black"/>
                </a:solidFill>
                <a:latin typeface="华文楷体" panose="02010600040101010101" pitchFamily="2" charset="-122"/>
                <a:ea typeface="华文楷体" panose="02010600040101010101" pitchFamily="2" charset="-122"/>
              </a:rPr>
              <a:t>类水质，</a:t>
            </a:r>
            <a:r>
              <a:rPr lang="en-US" altLang="zh-CN" sz="2400" dirty="0">
                <a:solidFill>
                  <a:prstClr val="black"/>
                </a:solidFill>
                <a:latin typeface="华文楷体" panose="02010600040101010101" pitchFamily="2" charset="-122"/>
                <a:ea typeface="华文楷体" panose="02010600040101010101" pitchFamily="2" charset="-122"/>
              </a:rPr>
              <a:t>2025</a:t>
            </a:r>
            <a:r>
              <a:rPr lang="zh-CN" altLang="en-US" sz="2400" dirty="0">
                <a:solidFill>
                  <a:prstClr val="black"/>
                </a:solidFill>
                <a:latin typeface="华文楷体" panose="02010600040101010101" pitchFamily="2" charset="-122"/>
                <a:ea typeface="华文楷体" panose="02010600040101010101" pitchFamily="2" charset="-122"/>
              </a:rPr>
              <a:t>年流域好于</a:t>
            </a:r>
            <a:r>
              <a:rPr lang="en-US" altLang="zh-CN" sz="2400" dirty="0">
                <a:solidFill>
                  <a:prstClr val="black"/>
                </a:solidFill>
                <a:latin typeface="华文楷体" panose="02010600040101010101" pitchFamily="2" charset="-122"/>
                <a:ea typeface="华文楷体" panose="02010600040101010101" pitchFamily="2" charset="-122"/>
              </a:rPr>
              <a:t>Ⅲ</a:t>
            </a:r>
            <a:r>
              <a:rPr lang="zh-CN" altLang="en-US" sz="2400" dirty="0">
                <a:solidFill>
                  <a:prstClr val="black"/>
                </a:solidFill>
                <a:latin typeface="华文楷体" panose="02010600040101010101" pitchFamily="2" charset="-122"/>
                <a:ea typeface="华文楷体" panose="02010600040101010101" pitchFamily="2" charset="-122"/>
              </a:rPr>
              <a:t>类水体比例达到</a:t>
            </a:r>
            <a:r>
              <a:rPr lang="en-US" altLang="zh-CN" sz="2400" dirty="0">
                <a:solidFill>
                  <a:prstClr val="black"/>
                </a:solidFill>
                <a:latin typeface="华文楷体" panose="02010600040101010101" pitchFamily="2" charset="-122"/>
                <a:ea typeface="华文楷体" panose="02010600040101010101" pitchFamily="2" charset="-122"/>
              </a:rPr>
              <a:t>93.2%</a:t>
            </a:r>
            <a:r>
              <a:rPr lang="zh-CN" altLang="en-US" sz="2400" dirty="0">
                <a:solidFill>
                  <a:prstClr val="black"/>
                </a:solidFill>
                <a:latin typeface="华文楷体" panose="02010600040101010101" pitchFamily="2" charset="-122"/>
                <a:ea typeface="华文楷体" panose="02010600040101010101" pitchFamily="2" charset="-122"/>
              </a:rPr>
              <a:t>，首次超过全国平均水平</a:t>
            </a:r>
            <a:r>
              <a:rPr lang="zh-CN" altLang="en-US" sz="2000" dirty="0">
                <a:solidFill>
                  <a:prstClr val="black"/>
                </a:solidFill>
                <a:latin typeface="华文楷体" panose="02010600040101010101" pitchFamily="2" charset="-122"/>
                <a:ea typeface="华文楷体" panose="02010600040101010101" pitchFamily="2" charset="-122"/>
              </a:rPr>
              <a:t>。</a:t>
            </a:r>
          </a:p>
        </p:txBody>
      </p:sp>
      <p:sp>
        <p:nvSpPr>
          <p:cNvPr id="2" name="矩形: 圆角 1"/>
          <p:cNvSpPr/>
          <p:nvPr/>
        </p:nvSpPr>
        <p:spPr>
          <a:xfrm>
            <a:off x="850265" y="5416584"/>
            <a:ext cx="8893628" cy="738505"/>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华文楷体" panose="02010600040101010101" pitchFamily="2" charset="-122"/>
                <a:ea typeface="华文楷体" panose="02010600040101010101" pitchFamily="2" charset="-122"/>
              </a:rPr>
              <a:t>从</a:t>
            </a:r>
            <a:r>
              <a:rPr lang="en-US" altLang="zh-CN" sz="2400" dirty="0">
                <a:solidFill>
                  <a:schemeClr val="tx1"/>
                </a:solidFill>
                <a:latin typeface="华文楷体" panose="02010600040101010101" pitchFamily="2" charset="-122"/>
                <a:ea typeface="华文楷体" panose="02010600040101010101" pitchFamily="2" charset="-122"/>
              </a:rPr>
              <a:t>226</a:t>
            </a:r>
            <a:r>
              <a:rPr lang="zh-CN" altLang="en-US" sz="2400" dirty="0">
                <a:solidFill>
                  <a:schemeClr val="tx1"/>
                </a:solidFill>
                <a:latin typeface="华文楷体" panose="02010600040101010101" pitchFamily="2" charset="-122"/>
                <a:ea typeface="华文楷体" panose="02010600040101010101" pitchFamily="2" charset="-122"/>
              </a:rPr>
              <a:t>天断流到连续</a:t>
            </a:r>
            <a:r>
              <a:rPr lang="en-US" altLang="zh-CN" sz="2400" dirty="0">
                <a:solidFill>
                  <a:schemeClr val="tx1"/>
                </a:solidFill>
                <a:latin typeface="华文楷体" panose="02010600040101010101" pitchFamily="2" charset="-122"/>
                <a:ea typeface="华文楷体" panose="02010600040101010101" pitchFamily="2" charset="-122"/>
              </a:rPr>
              <a:t>27</a:t>
            </a:r>
            <a:r>
              <a:rPr lang="zh-CN" altLang="en-US" sz="2400" dirty="0">
                <a:solidFill>
                  <a:schemeClr val="tx1"/>
                </a:solidFill>
                <a:latin typeface="华文楷体" panose="02010600040101010101" pitchFamily="2" charset="-122"/>
                <a:ea typeface="华文楷体" panose="02010600040101010101" pitchFamily="2" charset="-122"/>
              </a:rPr>
              <a:t>年不断流，究竟是什么原因导致黄河之变？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840740" y="941705"/>
            <a:ext cx="10368915" cy="588645"/>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华文楷体" panose="02010600040101010101" pitchFamily="2" charset="-122"/>
                <a:ea typeface="华文楷体" panose="02010600040101010101" pitchFamily="2" charset="-122"/>
              </a:rPr>
              <a:t>从</a:t>
            </a:r>
            <a:r>
              <a:rPr lang="en-US" altLang="zh-CN" sz="2400" dirty="0">
                <a:solidFill>
                  <a:schemeClr val="tx1"/>
                </a:solidFill>
                <a:latin typeface="华文楷体" panose="02010600040101010101" pitchFamily="2" charset="-122"/>
                <a:ea typeface="华文楷体" panose="02010600040101010101" pitchFamily="2" charset="-122"/>
              </a:rPr>
              <a:t>226</a:t>
            </a:r>
            <a:r>
              <a:rPr lang="zh-CN" altLang="en-US" sz="2400" dirty="0">
                <a:solidFill>
                  <a:schemeClr val="tx1"/>
                </a:solidFill>
                <a:latin typeface="华文楷体" panose="02010600040101010101" pitchFamily="2" charset="-122"/>
                <a:ea typeface="华文楷体" panose="02010600040101010101" pitchFamily="2" charset="-122"/>
              </a:rPr>
              <a:t>天断流到连续</a:t>
            </a:r>
            <a:r>
              <a:rPr lang="en-US" altLang="zh-CN" sz="2400" dirty="0">
                <a:solidFill>
                  <a:schemeClr val="tx1"/>
                </a:solidFill>
                <a:latin typeface="华文楷体" panose="02010600040101010101" pitchFamily="2" charset="-122"/>
                <a:ea typeface="华文楷体" panose="02010600040101010101" pitchFamily="2" charset="-122"/>
              </a:rPr>
              <a:t>27</a:t>
            </a:r>
            <a:r>
              <a:rPr lang="zh-CN" altLang="en-US" sz="2400" dirty="0">
                <a:solidFill>
                  <a:schemeClr val="tx1"/>
                </a:solidFill>
                <a:latin typeface="华文楷体" panose="02010600040101010101" pitchFamily="2" charset="-122"/>
                <a:ea typeface="华文楷体" panose="02010600040101010101" pitchFamily="2" charset="-122"/>
              </a:rPr>
              <a:t>年不断流，究竟是什么原因导致黄河之变？</a:t>
            </a:r>
          </a:p>
        </p:txBody>
      </p:sp>
      <p:graphicFrame>
        <p:nvGraphicFramePr>
          <p:cNvPr id="3" name="表格 2"/>
          <p:cNvGraphicFramePr>
            <a:graphicFrameLocks noGrp="1"/>
          </p:cNvGraphicFramePr>
          <p:nvPr>
            <p:custDataLst>
              <p:tags r:id="rId1"/>
            </p:custDataLst>
          </p:nvPr>
        </p:nvGraphicFramePr>
        <p:xfrm>
          <a:off x="842010" y="1642745"/>
          <a:ext cx="10367645" cy="4572000"/>
        </p:xfrm>
        <a:graphic>
          <a:graphicData uri="http://schemas.openxmlformats.org/drawingml/2006/table">
            <a:tbl>
              <a:tblPr firstRow="1" bandRow="1">
                <a:tableStyleId>{5C22544A-7EE6-4342-B048-85BDC9FD1C3A}</a:tableStyleId>
              </a:tblPr>
              <a:tblGrid>
                <a:gridCol w="3081655">
                  <a:extLst>
                    <a:ext uri="{9D8B030D-6E8A-4147-A177-3AD203B41FA5}">
                      <a16:colId xmlns:a16="http://schemas.microsoft.com/office/drawing/2014/main" val="20000"/>
                    </a:ext>
                  </a:extLst>
                </a:gridCol>
                <a:gridCol w="7285990">
                  <a:extLst>
                    <a:ext uri="{9D8B030D-6E8A-4147-A177-3AD203B41FA5}">
                      <a16:colId xmlns:a16="http://schemas.microsoft.com/office/drawing/2014/main" val="20001"/>
                    </a:ext>
                  </a:extLst>
                </a:gridCol>
              </a:tblGrid>
              <a:tr h="457200">
                <a:tc gridSpan="2">
                  <a:txBody>
                    <a:bodyPr/>
                    <a:lstStyle/>
                    <a:p>
                      <a:pPr algn="ctr"/>
                      <a:r>
                        <a:rPr lang="zh-CN" altLang="en-US" sz="2400" dirty="0">
                          <a:latin typeface="华文楷体" panose="02010600040101010101" pitchFamily="2" charset="-122"/>
                          <a:ea typeface="华文楷体" panose="02010600040101010101" pitchFamily="2" charset="-122"/>
                        </a:rPr>
                        <a:t>线索</a:t>
                      </a:r>
                    </a:p>
                  </a:txBody>
                  <a:tcPr anchor="ctr"/>
                </a:tc>
                <a:tc hMerge="1">
                  <a:txBody>
                    <a:bodyPr/>
                    <a:lstStyle/>
                    <a:p>
                      <a:endParaRPr lang="zh-CN"/>
                    </a:p>
                  </a:txBody>
                  <a:tcPr/>
                </a:tc>
                <a:extLst>
                  <a:ext uri="{0D108BD9-81ED-4DB2-BD59-A6C34878D82A}">
                    <a16:rowId xmlns:a16="http://schemas.microsoft.com/office/drawing/2014/main" val="10000"/>
                  </a:ext>
                </a:extLst>
              </a:tr>
              <a:tr h="822960">
                <a:tc>
                  <a:txBody>
                    <a:bodyPr/>
                    <a:lstStyle/>
                    <a:p>
                      <a:pPr algn="ctr"/>
                      <a:r>
                        <a:rPr lang="en-US" altLang="zh-CN" sz="2400" dirty="0">
                          <a:latin typeface="华文楷体" panose="02010600040101010101" pitchFamily="2" charset="-122"/>
                          <a:ea typeface="华文楷体" panose="02010600040101010101" pitchFamily="2" charset="-122"/>
                        </a:rPr>
                        <a:t>1.</a:t>
                      </a:r>
                      <a:r>
                        <a:rPr lang="zh-CN" altLang="en-US" sz="2400" dirty="0">
                          <a:solidFill>
                            <a:prstClr val="black"/>
                          </a:solidFill>
                          <a:latin typeface="华文楷体" panose="02010600040101010101" pitchFamily="2" charset="-122"/>
                          <a:ea typeface="华文楷体" panose="02010600040101010101" pitchFamily="2" charset="-122"/>
                        </a:rPr>
                        <a:t>水量统一调度</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solidFill>
                            <a:prstClr val="black"/>
                          </a:solidFill>
                          <a:latin typeface="华文楷体" panose="02010600040101010101" pitchFamily="2" charset="-122"/>
                          <a:ea typeface="华文楷体" panose="02010600040101010101" pitchFamily="2" charset="-122"/>
                        </a:rPr>
                        <a:t>1999 </a:t>
                      </a:r>
                      <a:r>
                        <a:rPr lang="zh-CN" altLang="en-US" sz="2400" dirty="0">
                          <a:solidFill>
                            <a:prstClr val="black"/>
                          </a:solidFill>
                          <a:latin typeface="华文楷体" panose="02010600040101010101" pitchFamily="2" charset="-122"/>
                          <a:ea typeface="华文楷体" panose="02010600040101010101" pitchFamily="2" charset="-122"/>
                        </a:rPr>
                        <a:t>年起实施全河统一调度，统筹分配流域水资源，守住河道生态流量，终结断流。</a:t>
                      </a:r>
                    </a:p>
                  </a:txBody>
                  <a:tcPr anchor="ctr"/>
                </a:tc>
                <a:extLst>
                  <a:ext uri="{0D108BD9-81ED-4DB2-BD59-A6C34878D82A}">
                    <a16:rowId xmlns:a16="http://schemas.microsoft.com/office/drawing/2014/main" val="10001"/>
                  </a:ext>
                </a:extLst>
              </a:tr>
              <a:tr h="822960">
                <a:tc>
                  <a:txBody>
                    <a:bodyPr/>
                    <a:lstStyle/>
                    <a:p>
                      <a:pPr algn="ctr"/>
                      <a:r>
                        <a:rPr lang="en-US" altLang="zh-CN" sz="2400" dirty="0">
                          <a:latin typeface="华文楷体" panose="02010600040101010101" pitchFamily="2" charset="-122"/>
                          <a:ea typeface="华文楷体" panose="02010600040101010101" pitchFamily="2" charset="-122"/>
                        </a:rPr>
                        <a:t>2.</a:t>
                      </a:r>
                      <a:r>
                        <a:rPr lang="zh-CN" altLang="en-US" sz="2400" dirty="0">
                          <a:solidFill>
                            <a:prstClr val="black"/>
                          </a:solidFill>
                          <a:latin typeface="华文楷体" panose="02010600040101010101" pitchFamily="2" charset="-122"/>
                          <a:ea typeface="华文楷体" panose="02010600040101010101" pitchFamily="2" charset="-122"/>
                        </a:rPr>
                        <a:t>九省区协同治污</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dirty="0">
                          <a:solidFill>
                            <a:prstClr val="black"/>
                          </a:solidFill>
                          <a:latin typeface="华文楷体" panose="02010600040101010101" pitchFamily="2" charset="-122"/>
                          <a:ea typeface="华文楷体" panose="02010600040101010101" pitchFamily="2" charset="-122"/>
                        </a:rPr>
                        <a:t>沿黄九省跨区域联防，上下游协同治理污染，推动流域水质稳步提升。</a:t>
                      </a:r>
                    </a:p>
                  </a:txBody>
                  <a:tcPr anchor="ctr"/>
                </a:tc>
                <a:extLst>
                  <a:ext uri="{0D108BD9-81ED-4DB2-BD59-A6C34878D82A}">
                    <a16:rowId xmlns:a16="http://schemas.microsoft.com/office/drawing/2014/main" val="10002"/>
                  </a:ext>
                </a:extLst>
              </a:tr>
              <a:tr h="822960">
                <a:tc>
                  <a:txBody>
                    <a:bodyPr/>
                    <a:lstStyle/>
                    <a:p>
                      <a:pPr algn="ctr"/>
                      <a:r>
                        <a:rPr lang="en-US" altLang="zh-CN" sz="2400" dirty="0">
                          <a:latin typeface="华文楷体" panose="02010600040101010101" pitchFamily="2" charset="-122"/>
                          <a:ea typeface="华文楷体" panose="02010600040101010101" pitchFamily="2" charset="-122"/>
                        </a:rPr>
                        <a:t>3.</a:t>
                      </a:r>
                      <a:r>
                        <a:rPr lang="zh-CN" altLang="en-US" sz="2400" dirty="0">
                          <a:solidFill>
                            <a:prstClr val="black"/>
                          </a:solidFill>
                          <a:latin typeface="华文楷体" panose="02010600040101010101" pitchFamily="2" charset="-122"/>
                          <a:ea typeface="华文楷体" panose="02010600040101010101" pitchFamily="2" charset="-122"/>
                        </a:rPr>
                        <a:t>生态补水</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dirty="0">
                          <a:solidFill>
                            <a:prstClr val="black"/>
                          </a:solidFill>
                          <a:latin typeface="华文楷体" panose="02010600040101010101" pitchFamily="2" charset="-122"/>
                          <a:ea typeface="华文楷体" panose="02010600040101010101" pitchFamily="2" charset="-122"/>
                        </a:rPr>
                        <a:t>常态化向河口、湿地补水，修复流域湿地生态，保障河流健康生命。</a:t>
                      </a:r>
                    </a:p>
                  </a:txBody>
                  <a:tcPr anchor="ctr"/>
                </a:tc>
                <a:extLst>
                  <a:ext uri="{0D108BD9-81ED-4DB2-BD59-A6C34878D82A}">
                    <a16:rowId xmlns:a16="http://schemas.microsoft.com/office/drawing/2014/main" val="10003"/>
                  </a:ext>
                </a:extLst>
              </a:tr>
              <a:tr h="822960">
                <a:tc>
                  <a:txBody>
                    <a:bodyPr/>
                    <a:lstStyle/>
                    <a:p>
                      <a:pPr algn="ctr"/>
                      <a:r>
                        <a:rPr lang="en-US" altLang="zh-CN" sz="2400" dirty="0">
                          <a:latin typeface="华文楷体" panose="02010600040101010101" pitchFamily="2" charset="-122"/>
                          <a:ea typeface="华文楷体" panose="02010600040101010101" pitchFamily="2" charset="-122"/>
                        </a:rPr>
                        <a:t>4.</a:t>
                      </a:r>
                      <a:r>
                        <a:rPr lang="zh-CN" altLang="en-US" sz="2400" dirty="0">
                          <a:solidFill>
                            <a:prstClr val="black"/>
                          </a:solidFill>
                          <a:latin typeface="华文楷体" panose="02010600040101010101" pitchFamily="2" charset="-122"/>
                          <a:ea typeface="华文楷体" panose="02010600040101010101" pitchFamily="2" charset="-122"/>
                        </a:rPr>
                        <a:t>水土流失治理</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dirty="0">
                          <a:solidFill>
                            <a:prstClr val="black"/>
                          </a:solidFill>
                          <a:latin typeface="华文楷体" panose="02010600040101010101" pitchFamily="2" charset="-122"/>
                          <a:ea typeface="华文楷体" panose="02010600040101010101" pitchFamily="2" charset="-122"/>
                        </a:rPr>
                        <a:t>黄土高原持续开展植被修复与小流域治理，水土流失实现面积、强度双下降。</a:t>
                      </a:r>
                    </a:p>
                  </a:txBody>
                  <a:tcPr anchor="ctr"/>
                </a:tc>
                <a:extLst>
                  <a:ext uri="{0D108BD9-81ED-4DB2-BD59-A6C34878D82A}">
                    <a16:rowId xmlns:a16="http://schemas.microsoft.com/office/drawing/2014/main" val="10004"/>
                  </a:ext>
                </a:extLst>
              </a:tr>
              <a:tr h="822960">
                <a:tc>
                  <a:txBody>
                    <a:bodyPr/>
                    <a:lstStyle/>
                    <a:p>
                      <a:pPr algn="ctr"/>
                      <a:r>
                        <a:rPr lang="en-US" altLang="zh-CN" sz="2400" dirty="0">
                          <a:latin typeface="华文楷体" panose="02010600040101010101" pitchFamily="2" charset="-122"/>
                          <a:ea typeface="华文楷体" panose="02010600040101010101" pitchFamily="2" charset="-122"/>
                        </a:rPr>
                        <a:t>5.</a:t>
                      </a:r>
                      <a:r>
                        <a:rPr lang="en-US" altLang="zh-CN" sz="2400" dirty="0">
                          <a:solidFill>
                            <a:prstClr val="black"/>
                          </a:solidFill>
                          <a:latin typeface="华文楷体" panose="02010600040101010101" pitchFamily="2" charset="-122"/>
                          <a:ea typeface="华文楷体" panose="02010600040101010101" pitchFamily="2" charset="-122"/>
                        </a:rPr>
                        <a:t> 《</a:t>
                      </a:r>
                      <a:r>
                        <a:rPr lang="zh-CN" altLang="en-US" sz="2400" dirty="0">
                          <a:solidFill>
                            <a:prstClr val="black"/>
                          </a:solidFill>
                          <a:latin typeface="华文楷体" panose="02010600040101010101" pitchFamily="2" charset="-122"/>
                          <a:ea typeface="华文楷体" panose="02010600040101010101" pitchFamily="2" charset="-122"/>
                        </a:rPr>
                        <a:t>黄河保护法</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护航</a:t>
                      </a:r>
                    </a:p>
                  </a:txBody>
                  <a:tcPr anchor="ctr"/>
                </a:tc>
                <a:tc>
                  <a:txBody>
                    <a:bodyPr/>
                    <a:lstStyle/>
                    <a:p>
                      <a:pPr algn="l"/>
                      <a:r>
                        <a:rPr lang="zh-CN" altLang="en-US" sz="2400" dirty="0">
                          <a:solidFill>
                            <a:prstClr val="black"/>
                          </a:solidFill>
                          <a:latin typeface="华文楷体" panose="02010600040101010101" pitchFamily="2" charset="-122"/>
                          <a:ea typeface="华文楷体" panose="02010600040101010101" pitchFamily="2" charset="-122"/>
                        </a:rPr>
                        <a:t>将黄河保护的各项制度固化为法律，用法治保障黄河长治久安。</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839788" y="1096301"/>
            <a:ext cx="6999590"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华文楷体" panose="02010600040101010101" pitchFamily="2" charset="-122"/>
                <a:ea typeface="华文楷体" panose="02010600040101010101" pitchFamily="2" charset="-122"/>
              </a:rPr>
              <a:t>思维工具</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四步解码法</a:t>
            </a:r>
          </a:p>
        </p:txBody>
      </p:sp>
      <p:sp>
        <p:nvSpPr>
          <p:cNvPr id="4" name="矩形: 圆角 3"/>
          <p:cNvSpPr/>
          <p:nvPr>
            <p:custDataLst>
              <p:tags r:id="rId1"/>
            </p:custDataLst>
          </p:nvPr>
        </p:nvSpPr>
        <p:spPr>
          <a:xfrm>
            <a:off x="669357"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latin typeface="华文楷体" panose="02010600040101010101" pitchFamily="2" charset="-122"/>
                <a:ea typeface="华文楷体" panose="02010600040101010101" pitchFamily="2" charset="-122"/>
              </a:rPr>
              <a:t>问机制</a:t>
            </a:r>
          </a:p>
          <a:p>
            <a:r>
              <a:rPr lang="zh-CN" altLang="en-US" sz="2000" dirty="0">
                <a:solidFill>
                  <a:schemeClr val="tx1"/>
                </a:solidFill>
                <a:latin typeface="华文楷体" panose="02010600040101010101" pitchFamily="2" charset="-122"/>
                <a:ea typeface="华文楷体" panose="02010600040101010101" pitchFamily="2" charset="-122"/>
              </a:rPr>
              <a:t>它是怎么“变”回来的？</a:t>
            </a:r>
          </a:p>
          <a:p>
            <a:r>
              <a:rPr lang="zh-CN" altLang="en-US" dirty="0">
                <a:solidFill>
                  <a:schemeClr val="tx1"/>
                </a:solidFill>
                <a:latin typeface="华文楷体" panose="02010600040101010101" pitchFamily="2" charset="-122"/>
                <a:ea typeface="华文楷体" panose="02010600040101010101" pitchFamily="2" charset="-122"/>
              </a:rPr>
              <a:t>把“怎么做到的”说清楚</a:t>
            </a:r>
            <a:r>
              <a:rPr lang="en-US" altLang="zh-CN" dirty="0">
                <a:solidFill>
                  <a:schemeClr val="tx1"/>
                </a:solidFill>
                <a:latin typeface="华文楷体" panose="02010600040101010101" pitchFamily="2" charset="-122"/>
                <a:ea typeface="华文楷体" panose="02010600040101010101" pitchFamily="2" charset="-122"/>
              </a:rPr>
              <a:t>——</a:t>
            </a:r>
            <a:r>
              <a:rPr lang="zh-CN" altLang="en-US" dirty="0">
                <a:solidFill>
                  <a:schemeClr val="tx1"/>
                </a:solidFill>
                <a:latin typeface="华文楷体" panose="02010600040101010101" pitchFamily="2" charset="-122"/>
                <a:ea typeface="华文楷体" panose="02010600040101010101" pitchFamily="2" charset="-122"/>
              </a:rPr>
              <a:t>这是推理的起点。</a:t>
            </a:r>
          </a:p>
        </p:txBody>
      </p:sp>
      <p:sp>
        <p:nvSpPr>
          <p:cNvPr id="3" name="椭圆 2"/>
          <p:cNvSpPr/>
          <p:nvPr>
            <p:custDataLst>
              <p:tags r:id="rId2"/>
            </p:custDataLst>
          </p:nvPr>
        </p:nvSpPr>
        <p:spPr>
          <a:xfrm>
            <a:off x="669357"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1</a:t>
            </a:r>
            <a:endParaRPr lang="zh-CN" altLang="en-US" sz="3600" dirty="0">
              <a:latin typeface="华文楷体" panose="02010600040101010101" pitchFamily="2" charset="-122"/>
              <a:ea typeface="华文楷体" panose="02010600040101010101" pitchFamily="2" charset="-122"/>
            </a:endParaRPr>
          </a:p>
        </p:txBody>
      </p:sp>
      <p:sp>
        <p:nvSpPr>
          <p:cNvPr id="5" name="矩形: 圆角 4"/>
          <p:cNvSpPr/>
          <p:nvPr>
            <p:custDataLst>
              <p:tags r:id="rId3"/>
            </p:custDataLst>
          </p:nvPr>
        </p:nvSpPr>
        <p:spPr>
          <a:xfrm>
            <a:off x="3559134"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latin typeface="华文楷体" panose="02010600040101010101" pitchFamily="2" charset="-122"/>
                <a:ea typeface="华文楷体" panose="02010600040101010101" pitchFamily="2" charset="-122"/>
              </a:rPr>
              <a:t>反证</a:t>
            </a:r>
          </a:p>
          <a:p>
            <a:r>
              <a:rPr lang="zh-CN" altLang="en-US" sz="2000" dirty="0">
                <a:solidFill>
                  <a:schemeClr val="tx1"/>
                </a:solidFill>
                <a:latin typeface="华文楷体" panose="02010600040101010101" pitchFamily="2" charset="-122"/>
                <a:ea typeface="华文楷体" panose="02010600040101010101" pitchFamily="2" charset="-122"/>
              </a:rPr>
              <a:t>假如没有它，还成不成？</a:t>
            </a:r>
          </a:p>
          <a:p>
            <a:r>
              <a:rPr lang="zh-CN" altLang="en-US" dirty="0">
                <a:solidFill>
                  <a:schemeClr val="tx1"/>
                </a:solidFill>
                <a:latin typeface="华文楷体" panose="02010600040101010101" pitchFamily="2" charset="-122"/>
                <a:ea typeface="华文楷体" panose="02010600040101010101" pitchFamily="2" charset="-122"/>
              </a:rPr>
              <a:t>用“如果没有</a:t>
            </a:r>
            <a:r>
              <a:rPr lang="en-US" altLang="zh-CN" dirty="0">
                <a:solidFill>
                  <a:schemeClr val="tx1"/>
                </a:solidFill>
                <a:latin typeface="华文楷体" panose="02010600040101010101" pitchFamily="2" charset="-122"/>
                <a:ea typeface="华文楷体" panose="02010600040101010101" pitchFamily="2" charset="-122"/>
              </a:rPr>
              <a:t>……</a:t>
            </a:r>
            <a:r>
              <a:rPr lang="zh-CN" altLang="en-US" dirty="0">
                <a:solidFill>
                  <a:schemeClr val="tx1"/>
                </a:solidFill>
                <a:latin typeface="华文楷体" panose="02010600040101010101" pitchFamily="2" charset="-122"/>
                <a:ea typeface="华文楷体" panose="02010600040101010101" pitchFamily="2" charset="-122"/>
              </a:rPr>
              <a:t>会怎样”做反事实追问。</a:t>
            </a:r>
          </a:p>
        </p:txBody>
      </p:sp>
      <p:sp>
        <p:nvSpPr>
          <p:cNvPr id="6" name="椭圆 5"/>
          <p:cNvSpPr/>
          <p:nvPr>
            <p:custDataLst>
              <p:tags r:id="rId4"/>
            </p:custDataLst>
          </p:nvPr>
        </p:nvSpPr>
        <p:spPr>
          <a:xfrm>
            <a:off x="3559134"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2</a:t>
            </a:r>
            <a:endParaRPr lang="zh-CN" altLang="en-US" sz="3600" dirty="0">
              <a:latin typeface="华文楷体" panose="02010600040101010101" pitchFamily="2" charset="-122"/>
              <a:ea typeface="华文楷体" panose="02010600040101010101" pitchFamily="2" charset="-122"/>
            </a:endParaRPr>
          </a:p>
        </p:txBody>
      </p:sp>
      <p:sp>
        <p:nvSpPr>
          <p:cNvPr id="7" name="矩形: 圆角 6"/>
          <p:cNvSpPr/>
          <p:nvPr>
            <p:custDataLst>
              <p:tags r:id="rId5"/>
            </p:custDataLst>
          </p:nvPr>
        </p:nvSpPr>
        <p:spPr>
          <a:xfrm>
            <a:off x="6448911"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latin typeface="华文楷体" panose="02010600040101010101" pitchFamily="2" charset="-122"/>
                <a:ea typeface="华文楷体" panose="02010600040101010101" pitchFamily="2" charset="-122"/>
              </a:rPr>
              <a:t>比较</a:t>
            </a:r>
          </a:p>
          <a:p>
            <a:r>
              <a:rPr lang="zh-CN" altLang="en-US" sz="2000" dirty="0">
                <a:solidFill>
                  <a:schemeClr val="tx1"/>
                </a:solidFill>
                <a:latin typeface="华文楷体" panose="02010600040101010101" pitchFamily="2" charset="-122"/>
                <a:ea typeface="华文楷体" panose="02010600040101010101" pitchFamily="2" charset="-122"/>
              </a:rPr>
              <a:t>别人为什么做不到？</a:t>
            </a:r>
          </a:p>
          <a:p>
            <a:r>
              <a:rPr lang="zh-CN" altLang="en-US" dirty="0">
                <a:solidFill>
                  <a:schemeClr val="tx1"/>
                </a:solidFill>
                <a:latin typeface="华文楷体" panose="02010600040101010101" pitchFamily="2" charset="-122"/>
                <a:ea typeface="华文楷体" panose="02010600040101010101" pitchFamily="2" charset="-122"/>
              </a:rPr>
              <a:t>横向对照，找出“我们比别的国家多什么”，让不可替代的原因更清晰。</a:t>
            </a:r>
          </a:p>
        </p:txBody>
      </p:sp>
      <p:sp>
        <p:nvSpPr>
          <p:cNvPr id="8" name="椭圆 7"/>
          <p:cNvSpPr/>
          <p:nvPr>
            <p:custDataLst>
              <p:tags r:id="rId6"/>
            </p:custDataLst>
          </p:nvPr>
        </p:nvSpPr>
        <p:spPr>
          <a:xfrm>
            <a:off x="6448911"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3</a:t>
            </a:r>
            <a:endParaRPr lang="zh-CN" altLang="en-US" sz="3600" dirty="0">
              <a:latin typeface="华文楷体" panose="02010600040101010101" pitchFamily="2" charset="-122"/>
              <a:ea typeface="华文楷体" panose="02010600040101010101" pitchFamily="2" charset="-122"/>
            </a:endParaRPr>
          </a:p>
        </p:txBody>
      </p:sp>
      <p:sp>
        <p:nvSpPr>
          <p:cNvPr id="9" name="矩形: 圆角 8"/>
          <p:cNvSpPr/>
          <p:nvPr>
            <p:custDataLst>
              <p:tags r:id="rId7"/>
            </p:custDataLst>
          </p:nvPr>
        </p:nvSpPr>
        <p:spPr>
          <a:xfrm>
            <a:off x="9338688"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latin typeface="华文楷体" panose="02010600040101010101" pitchFamily="2" charset="-122"/>
                <a:ea typeface="华文楷体" panose="02010600040101010101" pitchFamily="2" charset="-122"/>
              </a:rPr>
              <a:t>归纳</a:t>
            </a:r>
          </a:p>
          <a:p>
            <a:r>
              <a:rPr lang="zh-CN" altLang="en-US" sz="2000" dirty="0">
                <a:solidFill>
                  <a:schemeClr val="tx1"/>
                </a:solidFill>
                <a:latin typeface="华文楷体" panose="02010600040101010101" pitchFamily="2" charset="-122"/>
                <a:ea typeface="华文楷体" panose="02010600040101010101" pitchFamily="2" charset="-122"/>
              </a:rPr>
              <a:t>能不能用课本来验证？</a:t>
            </a:r>
          </a:p>
          <a:p>
            <a:r>
              <a:rPr lang="zh-CN" altLang="en-US" dirty="0">
                <a:solidFill>
                  <a:schemeClr val="tx1"/>
                </a:solidFill>
                <a:latin typeface="华文楷体" panose="02010600040101010101" pitchFamily="2" charset="-122"/>
                <a:ea typeface="华文楷体" panose="02010600040101010101" pitchFamily="2" charset="-122"/>
              </a:rPr>
              <a:t>把原因抽取归并，再用课本原文验证</a:t>
            </a:r>
            <a:r>
              <a:rPr lang="en-US" altLang="zh-CN" dirty="0">
                <a:solidFill>
                  <a:schemeClr val="tx1"/>
                </a:solidFill>
                <a:latin typeface="华文楷体" panose="02010600040101010101" pitchFamily="2" charset="-122"/>
                <a:ea typeface="华文楷体" panose="02010600040101010101" pitchFamily="2" charset="-122"/>
              </a:rPr>
              <a:t>——</a:t>
            </a:r>
            <a:r>
              <a:rPr lang="zh-CN" altLang="en-US" dirty="0">
                <a:solidFill>
                  <a:schemeClr val="tx1"/>
                </a:solidFill>
                <a:latin typeface="华文楷体" panose="02010600040101010101" pitchFamily="2" charset="-122"/>
                <a:ea typeface="华文楷体" panose="02010600040101010101" pitchFamily="2" charset="-122"/>
              </a:rPr>
              <a:t>让结论“论从史出”。</a:t>
            </a:r>
          </a:p>
        </p:txBody>
      </p:sp>
      <p:sp>
        <p:nvSpPr>
          <p:cNvPr id="10" name="椭圆 9"/>
          <p:cNvSpPr/>
          <p:nvPr>
            <p:custDataLst>
              <p:tags r:id="rId8"/>
            </p:custDataLst>
          </p:nvPr>
        </p:nvSpPr>
        <p:spPr>
          <a:xfrm>
            <a:off x="9338688"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4</a:t>
            </a:r>
            <a:endParaRPr lang="zh-CN" altLang="en-US" sz="3600" dirty="0">
              <a:latin typeface="华文楷体" panose="02010600040101010101" pitchFamily="2" charset="-122"/>
              <a:ea typeface="华文楷体" panose="02010600040101010101" pitchFamily="2" charset="-122"/>
            </a:endParaRPr>
          </a:p>
        </p:txBody>
      </p:sp>
      <p:sp>
        <p:nvSpPr>
          <p:cNvPr id="12" name="文本框 11"/>
          <p:cNvSpPr txBox="1"/>
          <p:nvPr/>
        </p:nvSpPr>
        <p:spPr>
          <a:xfrm>
            <a:off x="2781908" y="5692189"/>
            <a:ext cx="6628184" cy="523220"/>
          </a:xfrm>
          <a:prstGeom prst="rect">
            <a:avLst/>
          </a:prstGeom>
          <a:noFill/>
        </p:spPr>
        <p:txBody>
          <a:bodyPr wrap="square">
            <a:spAutoFit/>
          </a:bodyPr>
          <a:lstStyle/>
          <a:p>
            <a:r>
              <a:rPr lang="zh-CN" altLang="en-US" sz="2800" dirty="0">
                <a:solidFill>
                  <a:srgbClr val="C00000"/>
                </a:solidFill>
                <a:latin typeface="华文楷体" panose="02010600040101010101" pitchFamily="2" charset="-122"/>
                <a:ea typeface="华文楷体" panose="02010600040101010101" pitchFamily="2" charset="-122"/>
              </a:rPr>
              <a:t>现象</a:t>
            </a:r>
            <a:r>
              <a:rPr lang="zh-CN" altLang="en-US" sz="2800" dirty="0">
                <a:latin typeface="华文楷体" panose="02010600040101010101" pitchFamily="2" charset="-122"/>
                <a:ea typeface="华文楷体" panose="02010600040101010101" pitchFamily="2" charset="-122"/>
              </a:rPr>
              <a:t>→问机制→反证→比较→归纳→</a:t>
            </a:r>
            <a:r>
              <a:rPr lang="zh-CN" altLang="en-US" sz="2800" dirty="0">
                <a:solidFill>
                  <a:srgbClr val="C00000"/>
                </a:solidFill>
                <a:latin typeface="华文楷体" panose="02010600040101010101" pitchFamily="2" charset="-122"/>
                <a:ea typeface="华文楷体" panose="02010600040101010101" pitchFamily="2" charset="-122"/>
              </a:rPr>
              <a:t>原因</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839788" y="1096301"/>
            <a:ext cx="6999590" cy="599297"/>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华文楷体" panose="02010600040101010101" pitchFamily="2" charset="-122"/>
                <a:ea typeface="华文楷体" panose="02010600040101010101" pitchFamily="2" charset="-122"/>
              </a:rPr>
              <a:t>思维工具</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四步解码法</a:t>
            </a:r>
          </a:p>
        </p:txBody>
      </p:sp>
      <p:sp>
        <p:nvSpPr>
          <p:cNvPr id="4" name="矩形: 圆角 3"/>
          <p:cNvSpPr/>
          <p:nvPr/>
        </p:nvSpPr>
        <p:spPr>
          <a:xfrm>
            <a:off x="669357"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latin typeface="华文楷体" panose="02010600040101010101" pitchFamily="2" charset="-122"/>
                <a:ea typeface="华文楷体" panose="02010600040101010101" pitchFamily="2" charset="-122"/>
              </a:rPr>
              <a:t>问机制</a:t>
            </a:r>
          </a:p>
          <a:p>
            <a:r>
              <a:rPr lang="zh-CN" altLang="en-US" sz="2000" dirty="0">
                <a:solidFill>
                  <a:schemeClr val="tx1"/>
                </a:solidFill>
                <a:latin typeface="华文楷体" panose="02010600040101010101" pitchFamily="2" charset="-122"/>
                <a:ea typeface="华文楷体" panose="02010600040101010101" pitchFamily="2" charset="-122"/>
              </a:rPr>
              <a:t>统一调度、九省协同、生态补水、法治护航</a:t>
            </a:r>
            <a:r>
              <a:rPr lang="en-US" altLang="zh-CN" sz="2000" dirty="0">
                <a:solidFill>
                  <a:schemeClr val="tx1"/>
                </a:solidFill>
                <a:latin typeface="华文楷体" panose="02010600040101010101" pitchFamily="2" charset="-122"/>
                <a:ea typeface="华文楷体" panose="02010600040101010101" pitchFamily="2" charset="-122"/>
              </a:rPr>
              <a:t>……</a:t>
            </a:r>
            <a:r>
              <a:rPr lang="zh-CN" altLang="en-US" sz="2000" dirty="0">
                <a:solidFill>
                  <a:schemeClr val="tx1"/>
                </a:solidFill>
                <a:latin typeface="华文楷体" panose="02010600040101010101" pitchFamily="2" charset="-122"/>
                <a:ea typeface="华文楷体" panose="02010600040101010101" pitchFamily="2" charset="-122"/>
              </a:rPr>
              <a:t>说清成就“怎么发生”</a:t>
            </a:r>
            <a:r>
              <a:rPr lang="zh-CN" altLang="en-US" dirty="0">
                <a:solidFill>
                  <a:schemeClr val="tx1"/>
                </a:solidFill>
                <a:latin typeface="华文楷体" panose="02010600040101010101" pitchFamily="2" charset="-122"/>
                <a:ea typeface="华文楷体" panose="02010600040101010101" pitchFamily="2" charset="-122"/>
              </a:rPr>
              <a:t>。</a:t>
            </a:r>
          </a:p>
        </p:txBody>
      </p:sp>
      <p:sp>
        <p:nvSpPr>
          <p:cNvPr id="3" name="椭圆 2"/>
          <p:cNvSpPr/>
          <p:nvPr/>
        </p:nvSpPr>
        <p:spPr>
          <a:xfrm>
            <a:off x="669357"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1</a:t>
            </a:r>
            <a:endParaRPr lang="zh-CN" altLang="en-US" sz="3600" dirty="0">
              <a:latin typeface="华文楷体" panose="02010600040101010101" pitchFamily="2" charset="-122"/>
              <a:ea typeface="华文楷体" panose="02010600040101010101" pitchFamily="2" charset="-122"/>
            </a:endParaRPr>
          </a:p>
        </p:txBody>
      </p:sp>
      <p:sp>
        <p:nvSpPr>
          <p:cNvPr id="5" name="矩形: 圆角 4"/>
          <p:cNvSpPr/>
          <p:nvPr/>
        </p:nvSpPr>
        <p:spPr>
          <a:xfrm>
            <a:off x="3559134"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latin typeface="华文楷体" panose="02010600040101010101" pitchFamily="2" charset="-122"/>
                <a:ea typeface="华文楷体" panose="02010600040101010101" pitchFamily="2" charset="-122"/>
              </a:rPr>
              <a:t>反证</a:t>
            </a:r>
          </a:p>
          <a:p>
            <a:r>
              <a:rPr lang="zh-CN" altLang="en-US" sz="2000" dirty="0">
                <a:solidFill>
                  <a:schemeClr val="tx1"/>
                </a:solidFill>
                <a:latin typeface="华文楷体" panose="02010600040101010101" pitchFamily="2" charset="-122"/>
                <a:ea typeface="华文楷体" panose="02010600040101010101" pitchFamily="2" charset="-122"/>
              </a:rPr>
              <a:t>治理跨越九省（区）：没有党中央集中统一领导和“江河战略”，长期工程难以实现。</a:t>
            </a:r>
            <a:endParaRPr lang="zh-CN" altLang="en-US" dirty="0">
              <a:solidFill>
                <a:schemeClr val="tx1"/>
              </a:solidFill>
              <a:latin typeface="华文楷体" panose="02010600040101010101" pitchFamily="2" charset="-122"/>
              <a:ea typeface="华文楷体" panose="02010600040101010101" pitchFamily="2" charset="-122"/>
            </a:endParaRPr>
          </a:p>
        </p:txBody>
      </p:sp>
      <p:sp>
        <p:nvSpPr>
          <p:cNvPr id="6" name="椭圆 5"/>
          <p:cNvSpPr/>
          <p:nvPr/>
        </p:nvSpPr>
        <p:spPr>
          <a:xfrm>
            <a:off x="3559134"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2</a:t>
            </a:r>
            <a:endParaRPr lang="zh-CN" altLang="en-US" sz="3600" dirty="0">
              <a:latin typeface="华文楷体" panose="02010600040101010101" pitchFamily="2" charset="-122"/>
              <a:ea typeface="华文楷体" panose="02010600040101010101" pitchFamily="2" charset="-122"/>
            </a:endParaRPr>
          </a:p>
        </p:txBody>
      </p:sp>
      <p:sp>
        <p:nvSpPr>
          <p:cNvPr id="7" name="矩形: 圆角 6"/>
          <p:cNvSpPr/>
          <p:nvPr/>
        </p:nvSpPr>
        <p:spPr>
          <a:xfrm>
            <a:off x="6448911"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latin typeface="华文楷体" panose="02010600040101010101" pitchFamily="2" charset="-122"/>
                <a:ea typeface="华文楷体" panose="02010600040101010101" pitchFamily="2" charset="-122"/>
              </a:rPr>
              <a:t>比较</a:t>
            </a:r>
          </a:p>
          <a:p>
            <a:r>
              <a:rPr lang="zh-CN" altLang="en-US" sz="2000" dirty="0">
                <a:solidFill>
                  <a:schemeClr val="tx1"/>
                </a:solidFill>
                <a:latin typeface="华文楷体" panose="02010600040101010101" pitchFamily="2" charset="-122"/>
                <a:ea typeface="华文楷体" panose="02010600040101010101" pitchFamily="2" charset="-122"/>
              </a:rPr>
              <a:t>一些大河治理因跨区协调难、政策反复而失败</a:t>
            </a:r>
            <a:r>
              <a:rPr lang="en-US" altLang="zh-CN" sz="2000" dirty="0">
                <a:solidFill>
                  <a:schemeClr val="tx1"/>
                </a:solidFill>
                <a:latin typeface="华文楷体" panose="02010600040101010101" pitchFamily="2" charset="-122"/>
                <a:ea typeface="华文楷体" panose="02010600040101010101" pitchFamily="2" charset="-122"/>
              </a:rPr>
              <a:t>——</a:t>
            </a:r>
            <a:r>
              <a:rPr lang="zh-CN" altLang="en-US" sz="2000" dirty="0">
                <a:solidFill>
                  <a:schemeClr val="tx1"/>
                </a:solidFill>
                <a:latin typeface="华文楷体" panose="02010600040101010101" pitchFamily="2" charset="-122"/>
                <a:ea typeface="华文楷体" panose="02010600040101010101" pitchFamily="2" charset="-122"/>
              </a:rPr>
              <a:t>我们多了“集中力量办大事”。</a:t>
            </a:r>
            <a:endParaRPr lang="zh-CN" altLang="en-US" dirty="0">
              <a:solidFill>
                <a:schemeClr val="tx1"/>
              </a:solidFill>
              <a:latin typeface="华文楷体" panose="02010600040101010101" pitchFamily="2" charset="-122"/>
              <a:ea typeface="华文楷体" panose="02010600040101010101" pitchFamily="2" charset="-122"/>
            </a:endParaRPr>
          </a:p>
        </p:txBody>
      </p:sp>
      <p:sp>
        <p:nvSpPr>
          <p:cNvPr id="8" name="椭圆 7"/>
          <p:cNvSpPr/>
          <p:nvPr/>
        </p:nvSpPr>
        <p:spPr>
          <a:xfrm>
            <a:off x="6448911"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3</a:t>
            </a:r>
            <a:endParaRPr lang="zh-CN" altLang="en-US" sz="3600" dirty="0">
              <a:latin typeface="华文楷体" panose="02010600040101010101" pitchFamily="2" charset="-122"/>
              <a:ea typeface="华文楷体" panose="02010600040101010101" pitchFamily="2" charset="-122"/>
            </a:endParaRPr>
          </a:p>
        </p:txBody>
      </p:sp>
      <p:sp>
        <p:nvSpPr>
          <p:cNvPr id="9" name="矩形: 圆角 8"/>
          <p:cNvSpPr/>
          <p:nvPr/>
        </p:nvSpPr>
        <p:spPr>
          <a:xfrm>
            <a:off x="9338688" y="2577795"/>
            <a:ext cx="2260214" cy="2754394"/>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latin typeface="华文楷体" panose="02010600040101010101" pitchFamily="2" charset="-122"/>
                <a:ea typeface="华文楷体" panose="02010600040101010101" pitchFamily="2" charset="-122"/>
              </a:rPr>
              <a:t>归纳</a:t>
            </a:r>
          </a:p>
          <a:p>
            <a:r>
              <a:rPr lang="zh-CN" altLang="en-US" sz="2000" dirty="0">
                <a:solidFill>
                  <a:schemeClr val="tx1"/>
                </a:solidFill>
                <a:latin typeface="华文楷体" panose="02010600040101010101" pitchFamily="2" charset="-122"/>
                <a:ea typeface="华文楷体" panose="02010600040101010101" pitchFamily="2" charset="-122"/>
              </a:rPr>
              <a:t>从具体机制中抽象出“不可替代的条件”，并用课本原文验证</a:t>
            </a:r>
            <a:r>
              <a:rPr lang="zh-CN" altLang="en-US" dirty="0">
                <a:solidFill>
                  <a:schemeClr val="tx1"/>
                </a:solidFill>
                <a:latin typeface="华文楷体" panose="02010600040101010101" pitchFamily="2" charset="-122"/>
                <a:ea typeface="华文楷体" panose="02010600040101010101" pitchFamily="2" charset="-122"/>
              </a:rPr>
              <a:t>。</a:t>
            </a:r>
          </a:p>
        </p:txBody>
      </p:sp>
      <p:sp>
        <p:nvSpPr>
          <p:cNvPr id="10" name="椭圆 9"/>
          <p:cNvSpPr/>
          <p:nvPr/>
        </p:nvSpPr>
        <p:spPr>
          <a:xfrm>
            <a:off x="9338688" y="2217795"/>
            <a:ext cx="720000" cy="720000"/>
          </a:xfrm>
          <a:prstGeom prst="ellipse">
            <a:avLst/>
          </a:prstGeom>
          <a:solidFill>
            <a:schemeClr val="accent1">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华文楷体" panose="02010600040101010101" pitchFamily="2" charset="-122"/>
                <a:ea typeface="华文楷体" panose="02010600040101010101" pitchFamily="2" charset="-122"/>
              </a:rPr>
              <a:t>4</a:t>
            </a:r>
            <a:endParaRPr lang="zh-CN" altLang="en-US" sz="3600" dirty="0">
              <a:latin typeface="华文楷体" panose="02010600040101010101" pitchFamily="2" charset="-122"/>
              <a:ea typeface="华文楷体" panose="02010600040101010101" pitchFamily="2" charset="-122"/>
            </a:endParaRPr>
          </a:p>
        </p:txBody>
      </p:sp>
      <p:sp>
        <p:nvSpPr>
          <p:cNvPr id="12" name="文本框 11"/>
          <p:cNvSpPr txBox="1"/>
          <p:nvPr/>
        </p:nvSpPr>
        <p:spPr>
          <a:xfrm>
            <a:off x="2781908" y="5692189"/>
            <a:ext cx="6628184" cy="523220"/>
          </a:xfrm>
          <a:prstGeom prst="rect">
            <a:avLst/>
          </a:prstGeom>
          <a:noFill/>
        </p:spPr>
        <p:txBody>
          <a:bodyPr wrap="square">
            <a:spAutoFit/>
          </a:bodyPr>
          <a:lstStyle/>
          <a:p>
            <a:r>
              <a:rPr lang="zh-CN" altLang="en-US" sz="2800" dirty="0">
                <a:solidFill>
                  <a:srgbClr val="C00000"/>
                </a:solidFill>
                <a:latin typeface="华文楷体" panose="02010600040101010101" pitchFamily="2" charset="-122"/>
                <a:ea typeface="华文楷体" panose="02010600040101010101" pitchFamily="2" charset="-122"/>
              </a:rPr>
              <a:t>现象</a:t>
            </a:r>
            <a:r>
              <a:rPr lang="zh-CN" altLang="en-US" sz="2800" dirty="0">
                <a:latin typeface="华文楷体" panose="02010600040101010101" pitchFamily="2" charset="-122"/>
                <a:ea typeface="华文楷体" panose="02010600040101010101" pitchFamily="2" charset="-122"/>
              </a:rPr>
              <a:t>→问机制→反证→比较→归纳→</a:t>
            </a:r>
            <a:r>
              <a:rPr lang="zh-CN" altLang="en-US" sz="2800" dirty="0">
                <a:solidFill>
                  <a:srgbClr val="C00000"/>
                </a:solidFill>
                <a:latin typeface="华文楷体" panose="02010600040101010101" pitchFamily="2" charset="-122"/>
                <a:ea typeface="华文楷体" panose="02010600040101010101" pitchFamily="2" charset="-122"/>
              </a:rPr>
              <a:t>原因</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50249" y="1023797"/>
            <a:ext cx="7891502" cy="580159"/>
          </a:xfrm>
          <a:prstGeom prst="rect">
            <a:avLst/>
          </a:prstGeom>
          <a:noFill/>
        </p:spPr>
        <p:txBody>
          <a:bodyPr wrap="square" rtlCol="0">
            <a:spAutoFit/>
          </a:bodyPr>
          <a:lstStyle/>
          <a:p>
            <a:pPr indent="0"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新时代党和国家事业取得辉煌成就的原因是什么？</a:t>
            </a:r>
          </a:p>
        </p:txBody>
      </p:sp>
      <p:sp>
        <p:nvSpPr>
          <p:cNvPr id="25" name="任意多边形: 形状 24"/>
          <p:cNvSpPr/>
          <p:nvPr/>
        </p:nvSpPr>
        <p:spPr>
          <a:xfrm>
            <a:off x="1263852" y="2029435"/>
            <a:ext cx="2423032" cy="3080973"/>
          </a:xfrm>
          <a:custGeom>
            <a:avLst/>
            <a:gdLst>
              <a:gd name="connsiteX0" fmla="*/ 0 w 2423032"/>
              <a:gd name="connsiteY0" fmla="*/ 0 h 3080973"/>
              <a:gd name="connsiteX1" fmla="*/ 82615 w 2423032"/>
              <a:gd name="connsiteY1" fmla="*/ 17728 h 3080973"/>
              <a:gd name="connsiteX2" fmla="*/ 2170703 w 2423032"/>
              <a:gd name="connsiteY2" fmla="*/ 259723 h 3080973"/>
              <a:gd name="connsiteX3" fmla="*/ 2423032 w 2423032"/>
              <a:gd name="connsiteY3" fmla="*/ 276778 h 3080973"/>
              <a:gd name="connsiteX4" fmla="*/ 2423032 w 2423032"/>
              <a:gd name="connsiteY4" fmla="*/ 3080973 h 3080973"/>
              <a:gd name="connsiteX5" fmla="*/ 0 w 2423032"/>
              <a:gd name="connsiteY5" fmla="*/ 3080973 h 3080973"/>
              <a:gd name="connsiteX6" fmla="*/ 0 w 2423032"/>
              <a:gd name="connsiteY6" fmla="*/ 0 h 308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3032" h="3080973">
                <a:moveTo>
                  <a:pt x="0" y="0"/>
                </a:moveTo>
                <a:lnTo>
                  <a:pt x="82615" y="17728"/>
                </a:lnTo>
                <a:cubicBezTo>
                  <a:pt x="589273" y="114140"/>
                  <a:pt x="1306588" y="197005"/>
                  <a:pt x="2170703" y="259723"/>
                </a:cubicBezTo>
                <a:lnTo>
                  <a:pt x="2423032" y="276778"/>
                </a:lnTo>
                <a:lnTo>
                  <a:pt x="2423032" y="3080973"/>
                </a:lnTo>
                <a:lnTo>
                  <a:pt x="0" y="3080973"/>
                </a:lnTo>
                <a:lnTo>
                  <a:pt x="0" y="0"/>
                </a:lnTo>
                <a:close/>
              </a:path>
            </a:pathLst>
          </a:custGeom>
          <a:gradFill>
            <a:gsLst>
              <a:gs pos="0">
                <a:schemeClr val="accent1">
                  <a:lumMod val="5000"/>
                  <a:lumOff val="95000"/>
                </a:schemeClr>
              </a:gs>
              <a:gs pos="0">
                <a:schemeClr val="accent1">
                  <a:lumMod val="45000"/>
                  <a:lumOff val="55000"/>
                </a:schemeClr>
              </a:gs>
              <a:gs pos="0">
                <a:schemeClr val="accent1">
                  <a:lumMod val="60000"/>
                  <a:lumOff val="40000"/>
                </a:schemeClr>
              </a:gs>
              <a:gs pos="100000">
                <a:schemeClr val="accent1">
                  <a:lumMod val="30000"/>
                  <a:lumOff val="70000"/>
                </a:schemeClr>
              </a:gs>
            </a:gsLst>
            <a:lin ang="5400000" scaled="1"/>
          </a:gradFill>
          <a:ln w="28575">
            <a:gradFill>
              <a:gsLst>
                <a:gs pos="0">
                  <a:schemeClr val="accent1">
                    <a:lumMod val="10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6"/>
          </a:lnRef>
          <a:fillRef idx="2">
            <a:schemeClr val="accent6"/>
          </a:fillRef>
          <a:effectRef idx="1">
            <a:schemeClr val="accent6"/>
          </a:effectRef>
          <a:fontRef idx="minor">
            <a:schemeClr val="dk1"/>
          </a:fontRef>
        </p:style>
        <p:txBody>
          <a:bodyPr wrap="square" rtlCol="0" anchor="ctr">
            <a:noAutofit/>
          </a:bodyPr>
          <a:lstStyle/>
          <a:p>
            <a:endParaRPr lang="en-US" altLang="zh-CN" sz="2800" dirty="0"/>
          </a:p>
          <a:p>
            <a:endParaRPr lang="en-US" altLang="zh-CN" sz="2800" dirty="0"/>
          </a:p>
          <a:p>
            <a:r>
              <a:rPr lang="en-US" altLang="zh-CN" sz="2800" dirty="0"/>
              <a:t>         </a:t>
            </a:r>
            <a:r>
              <a:rPr lang="zh-CN" altLang="en-US" sz="2800" dirty="0">
                <a:solidFill>
                  <a:prstClr val="black"/>
                </a:solidFill>
                <a:latin typeface="华文楷体" panose="02010600040101010101" pitchFamily="2" charset="-122"/>
                <a:ea typeface="华文楷体" panose="02010600040101010101" pitchFamily="2" charset="-122"/>
              </a:rPr>
              <a:t>习近平新时代中国特色社会主义思想的科学指导。</a:t>
            </a:r>
          </a:p>
        </p:txBody>
      </p:sp>
      <p:sp>
        <p:nvSpPr>
          <p:cNvPr id="22" name="任意多边形: 形状 21"/>
          <p:cNvSpPr/>
          <p:nvPr/>
        </p:nvSpPr>
        <p:spPr>
          <a:xfrm>
            <a:off x="3763724" y="2311407"/>
            <a:ext cx="2274474" cy="2799001"/>
          </a:xfrm>
          <a:custGeom>
            <a:avLst/>
            <a:gdLst>
              <a:gd name="connsiteX0" fmla="*/ 0 w 2274474"/>
              <a:gd name="connsiteY0" fmla="*/ 0 h 2799001"/>
              <a:gd name="connsiteX1" fmla="*/ 49967 w 2274474"/>
              <a:gd name="connsiteY1" fmla="*/ 3377 h 2799001"/>
              <a:gd name="connsiteX2" fmla="*/ 2176183 w 2274474"/>
              <a:gd name="connsiteY2" fmla="*/ 90464 h 2799001"/>
              <a:gd name="connsiteX3" fmla="*/ 2274474 w 2274474"/>
              <a:gd name="connsiteY3" fmla="*/ 92245 h 2799001"/>
              <a:gd name="connsiteX4" fmla="*/ 2274474 w 2274474"/>
              <a:gd name="connsiteY4" fmla="*/ 2799001 h 2799001"/>
              <a:gd name="connsiteX5" fmla="*/ 0 w 2274474"/>
              <a:gd name="connsiteY5" fmla="*/ 2799001 h 2799001"/>
              <a:gd name="connsiteX6" fmla="*/ 0 w 2274474"/>
              <a:gd name="connsiteY6" fmla="*/ 0 h 279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4474" h="2799001">
                <a:moveTo>
                  <a:pt x="0" y="0"/>
                </a:moveTo>
                <a:lnTo>
                  <a:pt x="49967" y="3377"/>
                </a:lnTo>
                <a:cubicBezTo>
                  <a:pt x="696220" y="43968"/>
                  <a:pt x="1412716" y="73799"/>
                  <a:pt x="2176183" y="90464"/>
                </a:cubicBezTo>
                <a:lnTo>
                  <a:pt x="2274474" y="92245"/>
                </a:lnTo>
                <a:lnTo>
                  <a:pt x="2274474" y="2799001"/>
                </a:lnTo>
                <a:lnTo>
                  <a:pt x="0" y="2799001"/>
                </a:lnTo>
                <a:lnTo>
                  <a:pt x="0" y="0"/>
                </a:lnTo>
                <a:close/>
              </a:path>
            </a:pathLst>
          </a:custGeom>
          <a:gradFill>
            <a:gsLst>
              <a:gs pos="0">
                <a:schemeClr val="accent1">
                  <a:lumMod val="5000"/>
                  <a:lumOff val="95000"/>
                </a:schemeClr>
              </a:gs>
              <a:gs pos="0">
                <a:schemeClr val="accent1">
                  <a:lumMod val="45000"/>
                  <a:lumOff val="55000"/>
                </a:schemeClr>
              </a:gs>
              <a:gs pos="0">
                <a:schemeClr val="accent1">
                  <a:lumMod val="60000"/>
                  <a:lumOff val="40000"/>
                </a:schemeClr>
              </a:gs>
              <a:gs pos="100000">
                <a:schemeClr val="accent1">
                  <a:lumMod val="30000"/>
                  <a:lumOff val="70000"/>
                </a:schemeClr>
              </a:gs>
            </a:gsLst>
            <a:lin ang="5400000" scaled="1"/>
          </a:gradFill>
          <a:ln w="28575">
            <a:gradFill>
              <a:gsLst>
                <a:gs pos="0">
                  <a:schemeClr val="accent1">
                    <a:lumMod val="10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6"/>
          </a:lnRef>
          <a:fillRef idx="2">
            <a:schemeClr val="accent6"/>
          </a:fillRef>
          <a:effectRef idx="1">
            <a:schemeClr val="accent6"/>
          </a:effectRef>
          <a:fontRef idx="minor">
            <a:schemeClr val="dk1"/>
          </a:fontRef>
        </p:style>
        <p:txBody>
          <a:bodyPr wrap="square" rtlCol="0" anchor="ctr">
            <a:noAutofit/>
          </a:bodyPr>
          <a:lstStyle/>
          <a:p>
            <a:endParaRPr lang="en-US" altLang="zh-CN" sz="2800" dirty="0"/>
          </a:p>
          <a:p>
            <a:endParaRPr lang="en-US" altLang="zh-CN" sz="2800" dirty="0"/>
          </a:p>
          <a:p>
            <a:r>
              <a:rPr lang="zh-CN" altLang="en-US" sz="2800" dirty="0">
                <a:solidFill>
                  <a:prstClr val="black"/>
                </a:solidFill>
                <a:latin typeface="华文楷体" panose="02010600040101010101" pitchFamily="2" charset="-122"/>
                <a:ea typeface="华文楷体" panose="02010600040101010101" pitchFamily="2" charset="-122"/>
              </a:rPr>
              <a:t>         坚持和加强党的全面领导。</a:t>
            </a:r>
          </a:p>
        </p:txBody>
      </p:sp>
      <p:sp>
        <p:nvSpPr>
          <p:cNvPr id="21" name="任意多边形: 形状 20"/>
          <p:cNvSpPr/>
          <p:nvPr/>
        </p:nvSpPr>
        <p:spPr>
          <a:xfrm>
            <a:off x="6115038" y="2405045"/>
            <a:ext cx="2411506" cy="2705363"/>
          </a:xfrm>
          <a:custGeom>
            <a:avLst/>
            <a:gdLst>
              <a:gd name="connsiteX0" fmla="*/ 0 w 2411506"/>
              <a:gd name="connsiteY0" fmla="*/ 0 h 2705363"/>
              <a:gd name="connsiteX1" fmla="*/ 288400 w 2411506"/>
              <a:gd name="connsiteY1" fmla="*/ 5226 h 2705363"/>
              <a:gd name="connsiteX2" fmla="*/ 1244814 w 2411506"/>
              <a:gd name="connsiteY2" fmla="*/ 12084 h 2705363"/>
              <a:gd name="connsiteX3" fmla="*/ 2201228 w 2411506"/>
              <a:gd name="connsiteY3" fmla="*/ 5226 h 2705363"/>
              <a:gd name="connsiteX4" fmla="*/ 2411506 w 2411506"/>
              <a:gd name="connsiteY4" fmla="*/ 1416 h 2705363"/>
              <a:gd name="connsiteX5" fmla="*/ 2411506 w 2411506"/>
              <a:gd name="connsiteY5" fmla="*/ 2705363 h 2705363"/>
              <a:gd name="connsiteX6" fmla="*/ 0 w 2411506"/>
              <a:gd name="connsiteY6" fmla="*/ 2705363 h 2705363"/>
              <a:gd name="connsiteX7" fmla="*/ 0 w 2411506"/>
              <a:gd name="connsiteY7" fmla="*/ 0 h 2705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1506" h="2705363">
                <a:moveTo>
                  <a:pt x="0" y="0"/>
                </a:moveTo>
                <a:lnTo>
                  <a:pt x="288400" y="5226"/>
                </a:lnTo>
                <a:cubicBezTo>
                  <a:pt x="600931" y="9747"/>
                  <a:pt x="920232" y="12084"/>
                  <a:pt x="1244814" y="12084"/>
                </a:cubicBezTo>
                <a:cubicBezTo>
                  <a:pt x="1569397" y="12084"/>
                  <a:pt x="1888698" y="9747"/>
                  <a:pt x="2201228" y="5226"/>
                </a:cubicBezTo>
                <a:lnTo>
                  <a:pt x="2411506" y="1416"/>
                </a:lnTo>
                <a:lnTo>
                  <a:pt x="2411506" y="2705363"/>
                </a:lnTo>
                <a:lnTo>
                  <a:pt x="0" y="2705363"/>
                </a:lnTo>
                <a:lnTo>
                  <a:pt x="0" y="0"/>
                </a:lnTo>
                <a:close/>
              </a:path>
            </a:pathLst>
          </a:custGeom>
          <a:gradFill>
            <a:gsLst>
              <a:gs pos="0">
                <a:schemeClr val="accent1">
                  <a:lumMod val="5000"/>
                  <a:lumOff val="95000"/>
                </a:schemeClr>
              </a:gs>
              <a:gs pos="0">
                <a:schemeClr val="accent1">
                  <a:lumMod val="45000"/>
                  <a:lumOff val="55000"/>
                </a:schemeClr>
              </a:gs>
              <a:gs pos="0">
                <a:schemeClr val="accent1">
                  <a:lumMod val="60000"/>
                  <a:lumOff val="40000"/>
                </a:schemeClr>
              </a:gs>
              <a:gs pos="100000">
                <a:schemeClr val="accent1">
                  <a:lumMod val="30000"/>
                  <a:lumOff val="70000"/>
                </a:schemeClr>
              </a:gs>
            </a:gsLst>
            <a:lin ang="5400000" scaled="1"/>
          </a:gradFill>
          <a:ln w="28575">
            <a:gradFill>
              <a:gsLst>
                <a:gs pos="0">
                  <a:schemeClr val="accent1">
                    <a:lumMod val="10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6"/>
          </a:lnRef>
          <a:fillRef idx="2">
            <a:schemeClr val="accent6"/>
          </a:fillRef>
          <a:effectRef idx="1">
            <a:schemeClr val="accent6"/>
          </a:effectRef>
          <a:fontRef idx="minor">
            <a:schemeClr val="dk1"/>
          </a:fontRef>
        </p:style>
        <p:txBody>
          <a:bodyPr wrap="square" rtlCol="0" anchor="ctr">
            <a:noAutofit/>
          </a:bodyPr>
          <a:lstStyle/>
          <a:p>
            <a:endParaRPr lang="en-US" altLang="zh-CN" sz="2800" dirty="0"/>
          </a:p>
          <a:p>
            <a:endParaRPr lang="en-US" altLang="zh-CN" sz="2800" dirty="0"/>
          </a:p>
          <a:p>
            <a:r>
              <a:rPr lang="en-US" altLang="zh-CN" sz="2800" dirty="0"/>
              <a:t>         </a:t>
            </a:r>
            <a:r>
              <a:rPr lang="zh-CN" altLang="en-US" sz="2800" dirty="0">
                <a:solidFill>
                  <a:prstClr val="black"/>
                </a:solidFill>
                <a:latin typeface="华文楷体" panose="02010600040101010101" pitchFamily="2" charset="-122"/>
                <a:ea typeface="华文楷体" panose="02010600040101010101" pitchFamily="2" charset="-122"/>
              </a:rPr>
              <a:t>中国特色社会主义制度具有显著优势。</a:t>
            </a:r>
          </a:p>
        </p:txBody>
      </p:sp>
      <p:sp>
        <p:nvSpPr>
          <p:cNvPr id="34" name="流程图: 接点 33"/>
          <p:cNvSpPr/>
          <p:nvPr/>
        </p:nvSpPr>
        <p:spPr>
          <a:xfrm>
            <a:off x="1662141" y="1603956"/>
            <a:ext cx="1552175" cy="141386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bg1"/>
                </a:solidFill>
                <a:latin typeface="华文楷体" panose="02010600040101010101" pitchFamily="2" charset="-122"/>
                <a:ea typeface="华文楷体" panose="02010600040101010101" pitchFamily="2" charset="-122"/>
              </a:rPr>
              <a:t>根本指引</a:t>
            </a:r>
          </a:p>
        </p:txBody>
      </p:sp>
      <p:sp>
        <p:nvSpPr>
          <p:cNvPr id="35" name="流程图: 接点 34"/>
          <p:cNvSpPr/>
          <p:nvPr/>
        </p:nvSpPr>
        <p:spPr>
          <a:xfrm>
            <a:off x="6544703" y="1940573"/>
            <a:ext cx="1552175" cy="141386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bg1"/>
                </a:solidFill>
                <a:latin typeface="华文楷体" panose="02010600040101010101" pitchFamily="2" charset="-122"/>
                <a:ea typeface="华文楷体" panose="02010600040101010101" pitchFamily="2" charset="-122"/>
              </a:rPr>
              <a:t>制度优势</a:t>
            </a:r>
          </a:p>
        </p:txBody>
      </p:sp>
      <p:sp>
        <p:nvSpPr>
          <p:cNvPr id="36" name="流程图: 接点 35"/>
          <p:cNvSpPr/>
          <p:nvPr/>
        </p:nvSpPr>
        <p:spPr>
          <a:xfrm>
            <a:off x="4066467" y="1817385"/>
            <a:ext cx="1552175" cy="141386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bg1"/>
                </a:solidFill>
                <a:latin typeface="华文楷体" panose="02010600040101010101" pitchFamily="2" charset="-122"/>
                <a:ea typeface="华文楷体" panose="02010600040101010101" pitchFamily="2" charset="-122"/>
              </a:rPr>
              <a:t>根本保证</a:t>
            </a:r>
          </a:p>
        </p:txBody>
      </p:sp>
      <p:sp>
        <p:nvSpPr>
          <p:cNvPr id="23" name="任意多边形: 形状 22"/>
          <p:cNvSpPr/>
          <p:nvPr/>
        </p:nvSpPr>
        <p:spPr>
          <a:xfrm>
            <a:off x="8603384" y="2310887"/>
            <a:ext cx="2360280" cy="2799521"/>
          </a:xfrm>
          <a:custGeom>
            <a:avLst/>
            <a:gdLst>
              <a:gd name="connsiteX0" fmla="*/ 2360280 w 2360280"/>
              <a:gd name="connsiteY0" fmla="*/ 0 h 2799521"/>
              <a:gd name="connsiteX1" fmla="*/ 2360280 w 2360280"/>
              <a:gd name="connsiteY1" fmla="*/ 2799521 h 2799521"/>
              <a:gd name="connsiteX2" fmla="*/ 0 w 2360280"/>
              <a:gd name="connsiteY2" fmla="*/ 2799521 h 2799521"/>
              <a:gd name="connsiteX3" fmla="*/ 0 w 2360280"/>
              <a:gd name="connsiteY3" fmla="*/ 94181 h 2799521"/>
              <a:gd name="connsiteX4" fmla="*/ 176413 w 2360280"/>
              <a:gd name="connsiteY4" fmla="*/ 90984 h 2799521"/>
              <a:gd name="connsiteX5" fmla="*/ 2302629 w 2360280"/>
              <a:gd name="connsiteY5" fmla="*/ 3897 h 2799521"/>
              <a:gd name="connsiteX6" fmla="*/ 2360280 w 2360280"/>
              <a:gd name="connsiteY6" fmla="*/ 0 h 2799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0280" h="2799521">
                <a:moveTo>
                  <a:pt x="2360280" y="0"/>
                </a:moveTo>
                <a:lnTo>
                  <a:pt x="2360280" y="2799521"/>
                </a:lnTo>
                <a:lnTo>
                  <a:pt x="0" y="2799521"/>
                </a:lnTo>
                <a:lnTo>
                  <a:pt x="0" y="94181"/>
                </a:lnTo>
                <a:lnTo>
                  <a:pt x="176413" y="90984"/>
                </a:lnTo>
                <a:cubicBezTo>
                  <a:pt x="939881" y="74319"/>
                  <a:pt x="1656376" y="44488"/>
                  <a:pt x="2302629" y="3897"/>
                </a:cubicBezTo>
                <a:lnTo>
                  <a:pt x="2360280" y="0"/>
                </a:lnTo>
                <a:close/>
              </a:path>
            </a:pathLst>
          </a:custGeom>
          <a:gradFill>
            <a:gsLst>
              <a:gs pos="0">
                <a:schemeClr val="accent1">
                  <a:lumMod val="5000"/>
                  <a:lumOff val="95000"/>
                </a:schemeClr>
              </a:gs>
              <a:gs pos="0">
                <a:schemeClr val="accent1">
                  <a:lumMod val="45000"/>
                  <a:lumOff val="55000"/>
                </a:schemeClr>
              </a:gs>
              <a:gs pos="0">
                <a:schemeClr val="accent1">
                  <a:lumMod val="60000"/>
                  <a:lumOff val="40000"/>
                </a:schemeClr>
              </a:gs>
              <a:gs pos="100000">
                <a:schemeClr val="accent1">
                  <a:lumMod val="30000"/>
                  <a:lumOff val="70000"/>
                </a:schemeClr>
              </a:gs>
            </a:gsLst>
            <a:lin ang="5400000" scaled="1"/>
          </a:gradFill>
          <a:ln w="28575">
            <a:gradFill>
              <a:gsLst>
                <a:gs pos="0">
                  <a:schemeClr val="accent1">
                    <a:lumMod val="10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6"/>
          </a:lnRef>
          <a:fillRef idx="2">
            <a:schemeClr val="accent6"/>
          </a:fillRef>
          <a:effectRef idx="1">
            <a:schemeClr val="accent6"/>
          </a:effectRef>
          <a:fontRef idx="minor">
            <a:schemeClr val="dk1"/>
          </a:fontRef>
        </p:style>
        <p:txBody>
          <a:bodyPr wrap="square" rtlCol="0" anchor="ctr">
            <a:noAutofit/>
          </a:bodyPr>
          <a:lstStyle/>
          <a:p>
            <a:endParaRPr lang="en-US" altLang="zh-CN" sz="2800" dirty="0"/>
          </a:p>
          <a:p>
            <a:endParaRPr lang="en-US" altLang="zh-CN" sz="2800" dirty="0"/>
          </a:p>
          <a:p>
            <a:r>
              <a:rPr lang="zh-CN" altLang="en-US" sz="2800" dirty="0">
                <a:solidFill>
                  <a:prstClr val="black"/>
                </a:solidFill>
                <a:latin typeface="华文楷体" panose="02010600040101010101" pitchFamily="2" charset="-122"/>
                <a:ea typeface="华文楷体" panose="02010600040101010101" pitchFamily="2" charset="-122"/>
              </a:rPr>
              <a:t>         坚持以人民为中心的发展思想。</a:t>
            </a:r>
          </a:p>
        </p:txBody>
      </p:sp>
      <p:sp>
        <p:nvSpPr>
          <p:cNvPr id="37" name="流程图: 接点 36"/>
          <p:cNvSpPr/>
          <p:nvPr/>
        </p:nvSpPr>
        <p:spPr>
          <a:xfrm>
            <a:off x="8915868" y="1817385"/>
            <a:ext cx="1552175" cy="141386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bg1"/>
                </a:solidFill>
                <a:latin typeface="华文楷体" panose="02010600040101010101" pitchFamily="2" charset="-122"/>
                <a:ea typeface="华文楷体" panose="02010600040101010101" pitchFamily="2" charset="-122"/>
              </a:rPr>
              <a:t>价值立场</a:t>
            </a:r>
          </a:p>
        </p:txBody>
      </p:sp>
      <p:sp>
        <p:nvSpPr>
          <p:cNvPr id="2" name="矩形: 圆角 1"/>
          <p:cNvSpPr/>
          <p:nvPr/>
        </p:nvSpPr>
        <p:spPr>
          <a:xfrm>
            <a:off x="1179576" y="5438051"/>
            <a:ext cx="9870923" cy="599297"/>
          </a:xfrm>
          <a:prstGeom prst="roundRect">
            <a:avLst/>
          </a:prstGeom>
          <a:solidFill>
            <a:schemeClr val="accent5">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tx1"/>
                </a:solidFill>
                <a:latin typeface="华文楷体" panose="02010600040101010101" pitchFamily="2" charset="-122"/>
                <a:ea typeface="华文楷体" panose="02010600040101010101" pitchFamily="2" charset="-122"/>
              </a:rPr>
              <a:t>小组合作探究：根据四大原因，撰写成就解码解说词。</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839788" y="1397546"/>
            <a:ext cx="7272337" cy="599297"/>
          </a:xfrm>
          <a:prstGeom prst="roundRect">
            <a:avLst/>
          </a:prstGeom>
          <a:solidFill>
            <a:schemeClr val="accent5">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华文楷体" panose="02010600040101010101" pitchFamily="2" charset="-122"/>
                <a:ea typeface="华文楷体" panose="02010600040101010101" pitchFamily="2" charset="-122"/>
              </a:rPr>
              <a:t>小组合作探究：根据四大原因，撰写成就解码解说词。</a:t>
            </a:r>
          </a:p>
        </p:txBody>
      </p:sp>
      <p:sp>
        <p:nvSpPr>
          <p:cNvPr id="3" name="文本框 2"/>
          <p:cNvSpPr txBox="1"/>
          <p:nvPr/>
        </p:nvSpPr>
        <p:spPr>
          <a:xfrm>
            <a:off x="786379" y="2894539"/>
            <a:ext cx="7325745" cy="2011045"/>
          </a:xfrm>
          <a:prstGeom prst="rect">
            <a:avLst/>
          </a:prstGeom>
          <a:noFill/>
        </p:spPr>
        <p:txBody>
          <a:bodyPr wrap="square" rtlCol="0">
            <a:spAutoFit/>
          </a:bodyPr>
          <a:lstStyle/>
          <a:p>
            <a:pPr indent="647700" fontAlgn="auto">
              <a:lnSpc>
                <a:spcPct val="120000"/>
              </a:lnSpc>
            </a:pPr>
            <a:r>
              <a:rPr lang="zh-CN" altLang="en-US" sz="3200" dirty="0">
                <a:solidFill>
                  <a:prstClr val="black"/>
                </a:solidFill>
                <a:latin typeface="华文楷体" panose="02010600040101010101" pitchFamily="2" charset="-122"/>
                <a:ea typeface="华文楷体" panose="02010600040101010101" pitchFamily="2" charset="-122"/>
              </a:rPr>
              <a:t>解说词脚手架：</a:t>
            </a:r>
            <a:endParaRPr lang="en-US" altLang="zh-CN" sz="32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第一段：这一块展板展示了怎样的成就。</a:t>
            </a:r>
            <a:endParaRPr lang="en-US" altLang="zh-CN" sz="24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第二段：取得这样的成就的原因。</a:t>
            </a:r>
            <a:endParaRPr lang="en-US" altLang="zh-CN" sz="24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第三段：这启示我们今后如何做。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839788" y="1263561"/>
            <a:ext cx="7272337" cy="599297"/>
          </a:xfrm>
          <a:prstGeom prst="roundRect">
            <a:avLst/>
          </a:prstGeom>
          <a:solidFill>
            <a:schemeClr val="accent5">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800" dirty="0">
                <a:solidFill>
                  <a:schemeClr val="tx1"/>
                </a:solidFill>
                <a:latin typeface="华文楷体" panose="02010600040101010101" pitchFamily="2" charset="-122"/>
                <a:ea typeface="华文楷体" panose="02010600040101010101" pitchFamily="2" charset="-122"/>
              </a:rPr>
              <a:t>小组合作探究成果：解说词</a:t>
            </a:r>
          </a:p>
        </p:txBody>
      </p:sp>
      <p:sp>
        <p:nvSpPr>
          <p:cNvPr id="4" name="文本框 3"/>
          <p:cNvSpPr txBox="1"/>
          <p:nvPr/>
        </p:nvSpPr>
        <p:spPr>
          <a:xfrm>
            <a:off x="786378" y="2288850"/>
            <a:ext cx="7325745" cy="3192780"/>
          </a:xfrm>
          <a:prstGeom prst="rect">
            <a:avLst/>
          </a:prstGeom>
          <a:noFill/>
        </p:spPr>
        <p:txBody>
          <a:bodyPr wrap="square" rtlCol="0">
            <a:spAutoFit/>
          </a:bodyPr>
          <a:lstStyle/>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黄河，从 </a:t>
            </a:r>
            <a:r>
              <a:rPr lang="en-US" altLang="zh-CN" sz="2400" dirty="0">
                <a:solidFill>
                  <a:prstClr val="black"/>
                </a:solidFill>
                <a:latin typeface="华文楷体" panose="02010600040101010101" pitchFamily="2" charset="-122"/>
                <a:ea typeface="华文楷体" panose="02010600040101010101" pitchFamily="2" charset="-122"/>
              </a:rPr>
              <a:t>226 </a:t>
            </a:r>
            <a:r>
              <a:rPr lang="zh-CN" altLang="en-US" sz="2400" dirty="0">
                <a:solidFill>
                  <a:prstClr val="black"/>
                </a:solidFill>
                <a:latin typeface="华文楷体" panose="02010600040101010101" pitchFamily="2" charset="-122"/>
                <a:ea typeface="华文楷体" panose="02010600040101010101" pitchFamily="2" charset="-122"/>
              </a:rPr>
              <a:t>天断流到连续 </a:t>
            </a:r>
            <a:r>
              <a:rPr lang="en-US" altLang="zh-CN" sz="2400" dirty="0">
                <a:solidFill>
                  <a:prstClr val="black"/>
                </a:solidFill>
                <a:latin typeface="华文楷体" panose="02010600040101010101" pitchFamily="2" charset="-122"/>
                <a:ea typeface="华文楷体" panose="02010600040101010101" pitchFamily="2" charset="-122"/>
              </a:rPr>
              <a:t>27 </a:t>
            </a:r>
            <a:r>
              <a:rPr lang="zh-CN" altLang="en-US" sz="2400" dirty="0">
                <a:solidFill>
                  <a:prstClr val="black"/>
                </a:solidFill>
                <a:latin typeface="华文楷体" panose="02010600040101010101" pitchFamily="2" charset="-122"/>
                <a:ea typeface="华文楷体" panose="02010600040101010101" pitchFamily="2" charset="-122"/>
              </a:rPr>
              <a:t>年不断流。这条母亲河的“重生”告诉我们：奇迹不是凭空发生的。</a:t>
            </a:r>
            <a:endParaRPr lang="en-US" altLang="zh-CN" sz="24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它的背后，站着党的全面领导、科学理论的指引、制度的优势和人民至上的立场。</a:t>
            </a:r>
            <a:endParaRPr lang="en-US" altLang="zh-CN" sz="24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从断流到安澜，这条大河的变迁，就是国家发展奇迹生动缩影。解码成就，不是为了记住几个结论，而是学会用这把钥匙，去读懂我们的国家。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87673" y="973191"/>
            <a:ext cx="6252693"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子任务</a:t>
            </a:r>
            <a:r>
              <a:rPr lang="en-US" altLang="zh-CN" sz="3000" dirty="0">
                <a:solidFill>
                  <a:prstClr val="black"/>
                </a:solidFill>
                <a:latin typeface="黑体" panose="02010609060101010101" pitchFamily="49" charset="-122"/>
                <a:ea typeface="黑体" panose="02010609060101010101" pitchFamily="49" charset="-122"/>
              </a:rPr>
              <a:t>3</a:t>
            </a:r>
            <a:r>
              <a:rPr lang="zh-CN" altLang="en-US" sz="3000" dirty="0">
                <a:solidFill>
                  <a:prstClr val="black"/>
                </a:solidFill>
                <a:latin typeface="黑体" panose="02010609060101010101" pitchFamily="49" charset="-122"/>
                <a:ea typeface="黑体" panose="02010609060101010101" pitchFamily="49" charset="-122"/>
              </a:rPr>
              <a:t>：拓展策展</a:t>
            </a:r>
            <a:r>
              <a:rPr lang="en-US" altLang="zh-CN" sz="3000" dirty="0">
                <a:solidFill>
                  <a:prstClr val="black"/>
                </a:solidFill>
                <a:latin typeface="黑体" panose="02010609060101010101" pitchFamily="49" charset="-122"/>
                <a:ea typeface="黑体" panose="02010609060101010101" pitchFamily="49" charset="-122"/>
              </a:rPr>
              <a:t>——</a:t>
            </a:r>
            <a:r>
              <a:rPr lang="zh-CN" altLang="en-US" sz="3000" dirty="0">
                <a:solidFill>
                  <a:prstClr val="black"/>
                </a:solidFill>
                <a:latin typeface="黑体" panose="02010609060101010101" pitchFamily="49" charset="-122"/>
                <a:ea typeface="黑体" panose="02010609060101010101" pitchFamily="49" charset="-122"/>
              </a:rPr>
              <a:t>循迹盐湖行</a:t>
            </a:r>
          </a:p>
        </p:txBody>
      </p:sp>
      <p:cxnSp>
        <p:nvCxnSpPr>
          <p:cNvPr id="12" name="直接连接符 11"/>
          <p:cNvCxnSpPr/>
          <p:nvPr/>
        </p:nvCxnSpPr>
        <p:spPr>
          <a:xfrm flipV="1">
            <a:off x="1851087" y="1617357"/>
            <a:ext cx="5556738" cy="23447"/>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288376" y="1358760"/>
            <a:ext cx="445481" cy="469613"/>
            <a:chOff x="2121873" y="1511588"/>
            <a:chExt cx="445481" cy="469613"/>
          </a:xfrm>
        </p:grpSpPr>
        <p:sp>
          <p:nvSpPr>
            <p:cNvPr id="14" name="矩形 13"/>
            <p:cNvSpPr/>
            <p:nvPr/>
          </p:nvSpPr>
          <p:spPr>
            <a:xfrm>
              <a:off x="2121873" y="1511588"/>
              <a:ext cx="363415" cy="363415"/>
            </a:xfrm>
            <a:prstGeom prst="rect">
              <a:avLst/>
            </a:prstGeom>
            <a:solidFill>
              <a:srgbClr val="71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矩形 14"/>
            <p:cNvSpPr/>
            <p:nvPr/>
          </p:nvSpPr>
          <p:spPr>
            <a:xfrm>
              <a:off x="2321171" y="1735018"/>
              <a:ext cx="246183" cy="246183"/>
            </a:xfrm>
            <a:prstGeom prst="rect">
              <a:avLst/>
            </a:prstGeom>
            <a:solidFill>
              <a:srgbClr val="AE0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E0203"/>
                </a:solidFill>
              </a:endParaRPr>
            </a:p>
          </p:txBody>
        </p:sp>
      </p:grpSp>
      <p:sp>
        <p:nvSpPr>
          <p:cNvPr id="8" name="文本框 7"/>
          <p:cNvSpPr txBox="1"/>
          <p:nvPr/>
        </p:nvSpPr>
        <p:spPr>
          <a:xfrm>
            <a:off x="839787" y="3070225"/>
            <a:ext cx="7376269" cy="953659"/>
          </a:xfrm>
          <a:prstGeom prst="rect">
            <a:avLst/>
          </a:prstGeom>
          <a:noFill/>
        </p:spPr>
        <p:txBody>
          <a:bodyPr wrap="square">
            <a:spAutoFit/>
          </a:bodyPr>
          <a:lstStyle/>
          <a:p>
            <a:pPr indent="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        围绕展览主题，立足家乡的变化发展，开展一次</a:t>
            </a:r>
            <a:r>
              <a:rPr lang="zh-CN" altLang="en-US" sz="2400" dirty="0">
                <a:solidFill>
                  <a:srgbClr val="FF0000"/>
                </a:solidFill>
                <a:latin typeface="华文楷体" panose="02010600040101010101" pitchFamily="2" charset="-122"/>
                <a:ea typeface="华文楷体" panose="02010600040101010101" pitchFamily="2" charset="-122"/>
              </a:rPr>
              <a:t>研学活动</a:t>
            </a:r>
            <a:r>
              <a:rPr lang="zh-CN" altLang="en-US" sz="2400" dirty="0">
                <a:solidFill>
                  <a:prstClr val="black"/>
                </a:solidFill>
                <a:latin typeface="华文楷体" panose="02010600040101010101" pitchFamily="2" charset="-122"/>
                <a:ea typeface="华文楷体" panose="02010600040101010101" pitchFamily="2" charset="-122"/>
              </a:rPr>
              <a:t>。</a:t>
            </a:r>
            <a:endParaRPr lang="en-US" altLang="zh-CN" sz="2400" dirty="0">
              <a:solidFill>
                <a:prstClr val="black"/>
              </a:solidFill>
              <a:latin typeface="华文楷体" panose="02010600040101010101" pitchFamily="2" charset="-122"/>
              <a:ea typeface="华文楷体" panose="02010600040101010101" pitchFamily="2" charset="-122"/>
            </a:endParaRPr>
          </a:p>
        </p:txBody>
      </p:sp>
      <p:sp>
        <p:nvSpPr>
          <p:cNvPr id="2" name="矩形: 圆角 1"/>
          <p:cNvSpPr/>
          <p:nvPr/>
        </p:nvSpPr>
        <p:spPr>
          <a:xfrm>
            <a:off x="839788" y="1945605"/>
            <a:ext cx="3557486" cy="49381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实践活动</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小组研学</a:t>
            </a:r>
          </a:p>
        </p:txBody>
      </p:sp>
      <p:sp>
        <p:nvSpPr>
          <p:cNvPr id="5" name="矩形: 圆角 4"/>
          <p:cNvSpPr/>
          <p:nvPr/>
        </p:nvSpPr>
        <p:spPr>
          <a:xfrm>
            <a:off x="839788" y="4746833"/>
            <a:ext cx="7272337" cy="49381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黄河流域生态保护和高质量发展</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盐湖之变</a:t>
            </a:r>
          </a:p>
        </p:txBody>
      </p:sp>
      <p:sp>
        <p:nvSpPr>
          <p:cNvPr id="6" name="箭头: 下 5"/>
          <p:cNvSpPr/>
          <p:nvPr/>
        </p:nvSpPr>
        <p:spPr>
          <a:xfrm>
            <a:off x="4304087" y="3710018"/>
            <a:ext cx="500881" cy="9536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776732" y="2445450"/>
            <a:ext cx="5978178" cy="2648417"/>
          </a:xfrm>
          <a:prstGeom prst="rect">
            <a:avLst/>
          </a:prstGeom>
          <a:noFill/>
        </p:spPr>
        <p:txBody>
          <a:bodyPr wrap="square" rtlCol="0">
            <a:spAutoFit/>
          </a:bodyPr>
          <a:lstStyle/>
          <a:p>
            <a:pPr indent="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          </a:t>
            </a:r>
            <a:r>
              <a:rPr lang="zh-CN" altLang="en-US" sz="2800" dirty="0">
                <a:solidFill>
                  <a:prstClr val="black"/>
                </a:solidFill>
                <a:latin typeface="华文楷体" panose="02010600040101010101" pitchFamily="2" charset="-122"/>
                <a:ea typeface="华文楷体" panose="02010600040101010101" pitchFamily="2" charset="-122"/>
              </a:rPr>
              <a:t>“盐湖的生态价值和功能越来越重要，要统筹做好保护利用工作，让盐湖独特的人文历史资源和生态资源一代代传承下去，逐步恢复其生态功能，更好保护其历史文化价值。”</a:t>
            </a:r>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43" t="7570" r="51155" b="6215"/>
          <a:stretch>
            <a:fillRect/>
          </a:stretch>
        </p:blipFill>
        <p:spPr bwMode="auto">
          <a:xfrm>
            <a:off x="839788" y="2235696"/>
            <a:ext cx="4384476" cy="2499629"/>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1431143" y="4814731"/>
            <a:ext cx="3457814" cy="738344"/>
          </a:xfrm>
          <a:prstGeom prst="rect">
            <a:avLst/>
          </a:prstGeom>
          <a:noFill/>
        </p:spPr>
        <p:txBody>
          <a:bodyPr wrap="square" rtlCol="0">
            <a:spAutoFit/>
          </a:bodyPr>
          <a:lstStyle/>
          <a:p>
            <a:pPr indent="0" fontAlgn="auto">
              <a:lnSpc>
                <a:spcPct val="120000"/>
              </a:lnSpc>
            </a:pPr>
            <a:r>
              <a:rPr lang="zh-CN" altLang="en-US" dirty="0">
                <a:solidFill>
                  <a:prstClr val="black"/>
                </a:solidFill>
                <a:latin typeface="华文楷体" panose="02010600040101010101" pitchFamily="2" charset="-122"/>
                <a:ea typeface="华文楷体" panose="02010600040101010101" pitchFamily="2" charset="-122"/>
              </a:rPr>
              <a:t>习近平同志在运城盐湖考察调研</a:t>
            </a:r>
            <a:endParaRPr lang="en-US" altLang="zh-CN" dirty="0">
              <a:solidFill>
                <a:prstClr val="black"/>
              </a:solidFill>
              <a:latin typeface="华文楷体" panose="02010600040101010101" pitchFamily="2" charset="-122"/>
              <a:ea typeface="华文楷体" panose="02010600040101010101" pitchFamily="2" charset="-122"/>
            </a:endParaRPr>
          </a:p>
          <a:p>
            <a:pPr indent="0" fontAlgn="auto">
              <a:lnSpc>
                <a:spcPct val="120000"/>
              </a:lnSpc>
            </a:pPr>
            <a:r>
              <a:rPr lang="zh-CN" altLang="en-US" dirty="0">
                <a:solidFill>
                  <a:prstClr val="black"/>
                </a:solidFill>
                <a:latin typeface="华文楷体" panose="02010600040101010101" pitchFamily="2" charset="-122"/>
                <a:ea typeface="华文楷体" panose="02010600040101010101" pitchFamily="2" charset="-122"/>
              </a:rPr>
              <a:t>图片来源：人民日报</a:t>
            </a:r>
          </a:p>
        </p:txBody>
      </p:sp>
      <p:sp>
        <p:nvSpPr>
          <p:cNvPr id="3" name="文本框 2"/>
          <p:cNvSpPr txBox="1"/>
          <p:nvPr/>
        </p:nvSpPr>
        <p:spPr>
          <a:xfrm>
            <a:off x="1203832" y="5619616"/>
            <a:ext cx="9784336" cy="510461"/>
          </a:xfrm>
          <a:prstGeom prst="rect">
            <a:avLst/>
          </a:prstGeom>
          <a:noFill/>
        </p:spPr>
        <p:txBody>
          <a:bodyPr wrap="square" rtlCol="0">
            <a:spAutoFit/>
          </a:bodyPr>
          <a:lstStyle/>
          <a:p>
            <a:pPr indent="0" algn="ctr"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从工业矿区到城市生态客厅</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这是新时代在河东大地的生动缩影。</a:t>
            </a:r>
          </a:p>
        </p:txBody>
      </p:sp>
      <p:sp>
        <p:nvSpPr>
          <p:cNvPr id="4" name="矩形: 圆角 3"/>
          <p:cNvSpPr/>
          <p:nvPr/>
        </p:nvSpPr>
        <p:spPr>
          <a:xfrm>
            <a:off x="839787" y="1425891"/>
            <a:ext cx="10628069" cy="493810"/>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华文楷体" panose="02010600040101010101" pitchFamily="2" charset="-122"/>
                <a:ea typeface="华文楷体" panose="02010600040101010101" pitchFamily="2" charset="-122"/>
              </a:rPr>
              <a:t>实践活动</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黄河流域生态保护和高质量发展</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盐湖之变</a:t>
            </a:r>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小组研学</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文本框 81"/>
          <p:cNvSpPr txBox="1"/>
          <p:nvPr/>
        </p:nvSpPr>
        <p:spPr>
          <a:xfrm>
            <a:off x="4833815" y="1074287"/>
            <a:ext cx="2398712" cy="649858"/>
          </a:xfrm>
          <a:prstGeom prst="rect">
            <a:avLst/>
          </a:prstGeom>
          <a:noFill/>
        </p:spPr>
        <p:txBody>
          <a:bodyPr wrap="square" rtlCol="0">
            <a:spAutoFit/>
          </a:bodyPr>
          <a:lstStyle/>
          <a:p>
            <a:pPr indent="0" algn="ctr" fontAlgn="auto">
              <a:lnSpc>
                <a:spcPct val="120000"/>
              </a:lnSpc>
            </a:pPr>
            <a:r>
              <a:rPr lang="zh-CN" altLang="en-US" sz="3200" dirty="0">
                <a:solidFill>
                  <a:prstClr val="black"/>
                </a:solidFill>
                <a:latin typeface="华文楷体" panose="02010600040101010101" pitchFamily="2" charset="-122"/>
                <a:ea typeface="华文楷体" panose="02010600040101010101" pitchFamily="2" charset="-122"/>
              </a:rPr>
              <a:t>盐湖之变</a:t>
            </a:r>
          </a:p>
        </p:txBody>
      </p:sp>
      <p:sp>
        <p:nvSpPr>
          <p:cNvPr id="2" name="椭圆 1"/>
          <p:cNvSpPr/>
          <p:nvPr>
            <p:custDataLst>
              <p:tags r:id="rId1"/>
            </p:custDataLst>
          </p:nvPr>
        </p:nvSpPr>
        <p:spPr>
          <a:xfrm>
            <a:off x="477586" y="2411219"/>
            <a:ext cx="3754666" cy="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custDataLst>
              <p:tags r:id="rId2"/>
            </p:custDataLst>
          </p:nvPr>
        </p:nvSpPr>
        <p:spPr>
          <a:xfrm>
            <a:off x="2058736" y="6062434"/>
            <a:ext cx="3754666" cy="0"/>
          </a:xfrm>
          <a:prstGeom prst="arc">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 name="弧形 4"/>
          <p:cNvSpPr/>
          <p:nvPr>
            <p:custDataLst>
              <p:tags r:id="rId3"/>
            </p:custDataLst>
          </p:nvPr>
        </p:nvSpPr>
        <p:spPr>
          <a:xfrm rot="-5400000">
            <a:off x="4249471" y="6096243"/>
            <a:ext cx="3636248" cy="0"/>
          </a:xfrm>
          <a:prstGeom prst="arc">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1" name="文本框 10"/>
          <p:cNvSpPr txBox="1"/>
          <p:nvPr>
            <p:custDataLst>
              <p:tags r:id="rId4"/>
            </p:custDataLst>
          </p:nvPr>
        </p:nvSpPr>
        <p:spPr>
          <a:xfrm>
            <a:off x="519811" y="2411219"/>
            <a:ext cx="5400000" cy="3243517"/>
          </a:xfrm>
          <a:prstGeom prst="rect">
            <a:avLst/>
          </a:prstGeom>
          <a:noFill/>
        </p:spPr>
        <p:txBody>
          <a:bodyPr wrap="square" rtlCol="0">
            <a:spAutoFit/>
          </a:bodyPr>
          <a:lstStyle/>
          <a:p>
            <a:pPr indent="0" algn="ctr" fontAlgn="auto">
              <a:lnSpc>
                <a:spcPct val="120000"/>
              </a:lnSpc>
            </a:pPr>
            <a:r>
              <a:rPr lang="zh-CN" altLang="en-US" sz="2800" dirty="0">
                <a:solidFill>
                  <a:srgbClr val="FF0000"/>
                </a:solidFill>
                <a:latin typeface="华文楷体" panose="02010600040101010101" pitchFamily="2" charset="-122"/>
                <a:ea typeface="华文楷体" panose="02010600040101010101" pitchFamily="2" charset="-122"/>
              </a:rPr>
              <a:t>文化之变 </a:t>
            </a: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盐韵新生</a:t>
            </a:r>
            <a:endParaRPr lang="en-US" altLang="zh-CN" sz="2800" dirty="0">
              <a:solidFill>
                <a:srgbClr val="FF0000"/>
              </a:solidFill>
              <a:latin typeface="华文楷体" panose="02010600040101010101" pitchFamily="2" charset="-122"/>
              <a:ea typeface="华文楷体" panose="02010600040101010101" pitchFamily="2" charset="-122"/>
            </a:endParaRPr>
          </a:p>
          <a:p>
            <a:pPr marL="285750" indent="-28575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 </a:t>
            </a:r>
            <a:r>
              <a:rPr lang="en-US" altLang="zh-CN" sz="2400" dirty="0">
                <a:solidFill>
                  <a:prstClr val="black"/>
                </a:solidFill>
                <a:latin typeface="华文楷体" panose="02010600040101010101" pitchFamily="2" charset="-122"/>
                <a:ea typeface="华文楷体" panose="02010600040101010101" pitchFamily="2" charset="-122"/>
              </a:rPr>
              <a:t>4600 </a:t>
            </a:r>
            <a:r>
              <a:rPr lang="zh-CN" altLang="en-US" sz="2400" dirty="0">
                <a:solidFill>
                  <a:prstClr val="black"/>
                </a:solidFill>
                <a:latin typeface="华文楷体" panose="02010600040101010101" pitchFamily="2" charset="-122"/>
                <a:ea typeface="华文楷体" panose="02010600040101010101" pitchFamily="2" charset="-122"/>
              </a:rPr>
              <a:t>余年采盐史：“一池河东盐，半部华夏史”</a:t>
            </a:r>
          </a:p>
          <a:p>
            <a:pPr marL="285750" indent="-28575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河东池盐博物馆建成开放；国家级非遗“五步产盐法”建设体验项目</a:t>
            </a:r>
          </a:p>
          <a:p>
            <a:pPr marL="285750" indent="-28575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老厂房变身盐梦长廊，“工业锈带”转变为“文旅秀带”</a:t>
            </a:r>
          </a:p>
        </p:txBody>
      </p:sp>
      <p:sp>
        <p:nvSpPr>
          <p:cNvPr id="18" name="弧形 17"/>
          <p:cNvSpPr/>
          <p:nvPr>
            <p:custDataLst>
              <p:tags r:id="rId5"/>
            </p:custDataLst>
          </p:nvPr>
        </p:nvSpPr>
        <p:spPr>
          <a:xfrm flipV="1">
            <a:off x="4357459" y="6062434"/>
            <a:ext cx="3754666" cy="0"/>
          </a:xfrm>
          <a:prstGeom prst="arc">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9" name="弧形 18"/>
          <p:cNvSpPr/>
          <p:nvPr>
            <p:custDataLst>
              <p:tags r:id="rId6"/>
            </p:custDataLst>
          </p:nvPr>
        </p:nvSpPr>
        <p:spPr>
          <a:xfrm rot="5400000" flipV="1">
            <a:off x="4248134" y="2411219"/>
            <a:ext cx="3636248" cy="0"/>
          </a:xfrm>
          <a:prstGeom prst="arc">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 name="文本框 20"/>
          <p:cNvSpPr txBox="1"/>
          <p:nvPr>
            <p:custDataLst>
              <p:tags r:id="rId7"/>
            </p:custDataLst>
          </p:nvPr>
        </p:nvSpPr>
        <p:spPr>
          <a:xfrm>
            <a:off x="6478295" y="2411218"/>
            <a:ext cx="5400000" cy="3243517"/>
          </a:xfrm>
          <a:prstGeom prst="rect">
            <a:avLst/>
          </a:prstGeom>
          <a:noFill/>
        </p:spPr>
        <p:txBody>
          <a:bodyPr wrap="square" rtlCol="0">
            <a:spAutoFit/>
          </a:bodyPr>
          <a:lstStyle/>
          <a:p>
            <a:pPr indent="0" algn="ctr" fontAlgn="auto">
              <a:lnSpc>
                <a:spcPct val="120000"/>
              </a:lnSpc>
            </a:pPr>
            <a:r>
              <a:rPr lang="zh-CN" altLang="en-US" sz="2800" dirty="0">
                <a:solidFill>
                  <a:srgbClr val="FF0000"/>
                </a:solidFill>
                <a:latin typeface="华文楷体" panose="02010600040101010101" pitchFamily="2" charset="-122"/>
                <a:ea typeface="华文楷体" panose="02010600040101010101" pitchFamily="2" charset="-122"/>
              </a:rPr>
              <a:t>生态之变 </a:t>
            </a: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退盐还湖</a:t>
            </a:r>
            <a:endParaRPr lang="en-US" altLang="zh-CN" sz="2800" dirty="0">
              <a:solidFill>
                <a:srgbClr val="FF0000"/>
              </a:solidFill>
              <a:latin typeface="华文楷体" panose="02010600040101010101" pitchFamily="2" charset="-122"/>
              <a:ea typeface="华文楷体" panose="02010600040101010101" pitchFamily="2" charset="-122"/>
            </a:endParaRPr>
          </a:p>
          <a:p>
            <a:pPr marL="285750" indent="-285750" fontAlgn="auto">
              <a:lnSpc>
                <a:spcPct val="120000"/>
              </a:lnSpc>
              <a:buFont typeface="Arial" panose="020B0604020202020204" pitchFamily="34" charset="0"/>
              <a:buChar char="•"/>
            </a:pPr>
            <a:r>
              <a:rPr lang="en-US" altLang="zh-CN" sz="2400" dirty="0">
                <a:solidFill>
                  <a:prstClr val="black"/>
                </a:solidFill>
                <a:latin typeface="华文楷体" panose="02010600040101010101" pitchFamily="2" charset="-122"/>
                <a:ea typeface="华文楷体" panose="02010600040101010101" pitchFamily="2" charset="-122"/>
              </a:rPr>
              <a:t>2020 </a:t>
            </a:r>
            <a:r>
              <a:rPr lang="zh-CN" altLang="en-US" sz="2400" dirty="0">
                <a:solidFill>
                  <a:prstClr val="black"/>
                </a:solidFill>
                <a:latin typeface="华文楷体" panose="02010600040101010101" pitchFamily="2" charset="-122"/>
                <a:ea typeface="华文楷体" panose="02010600040101010101" pitchFamily="2" charset="-122"/>
              </a:rPr>
              <a:t>年起全面叫停盐湖工业生产，“治山、理水、净湖”一体推进</a:t>
            </a:r>
            <a:endParaRPr lang="en-US" altLang="zh-CN" sz="2400" dirty="0">
              <a:solidFill>
                <a:prstClr val="black"/>
              </a:solidFill>
              <a:latin typeface="华文楷体" panose="02010600040101010101" pitchFamily="2" charset="-122"/>
              <a:ea typeface="华文楷体" panose="02010600040101010101" pitchFamily="2" charset="-122"/>
            </a:endParaRPr>
          </a:p>
          <a:p>
            <a:pPr marL="285750" indent="-285750" fontAlgn="auto">
              <a:lnSpc>
                <a:spcPct val="120000"/>
              </a:lnSpc>
              <a:buFont typeface="Arial" panose="020B0604020202020204" pitchFamily="34" charset="0"/>
              <a:buChar char="•"/>
            </a:pPr>
            <a:r>
              <a:rPr lang="en-US" altLang="zh-CN" sz="2400" dirty="0">
                <a:solidFill>
                  <a:prstClr val="black"/>
                </a:solidFill>
                <a:latin typeface="华文楷体" panose="02010600040101010101" pitchFamily="2" charset="-122"/>
                <a:ea typeface="华文楷体" panose="02010600040101010101" pitchFamily="2" charset="-122"/>
              </a:rPr>
              <a:t>27 </a:t>
            </a:r>
            <a:r>
              <a:rPr lang="zh-CN" altLang="en-US" sz="2400" dirty="0">
                <a:solidFill>
                  <a:prstClr val="black"/>
                </a:solidFill>
                <a:latin typeface="华文楷体" panose="02010600040101010101" pitchFamily="2" charset="-122"/>
                <a:ea typeface="华文楷体" panose="02010600040101010101" pitchFamily="2" charset="-122"/>
              </a:rPr>
              <a:t>个生态修复项目，累计投入约 </a:t>
            </a:r>
            <a:r>
              <a:rPr lang="en-US" altLang="zh-CN" sz="2400" dirty="0">
                <a:solidFill>
                  <a:prstClr val="black"/>
                </a:solidFill>
                <a:latin typeface="华文楷体" panose="02010600040101010101" pitchFamily="2" charset="-122"/>
                <a:ea typeface="华文楷体" panose="02010600040101010101" pitchFamily="2" charset="-122"/>
              </a:rPr>
              <a:t>25.2 </a:t>
            </a:r>
            <a:r>
              <a:rPr lang="zh-CN" altLang="en-US" sz="2400" dirty="0">
                <a:solidFill>
                  <a:prstClr val="black"/>
                </a:solidFill>
                <a:latin typeface="华文楷体" panose="02010600040101010101" pitchFamily="2" charset="-122"/>
                <a:ea typeface="华文楷体" panose="02010600040101010101" pitchFamily="2" charset="-122"/>
              </a:rPr>
              <a:t>亿元；堤埝加固 </a:t>
            </a:r>
            <a:r>
              <a:rPr lang="en-US" altLang="zh-CN" sz="2400" dirty="0">
                <a:solidFill>
                  <a:prstClr val="black"/>
                </a:solidFill>
                <a:latin typeface="华文楷体" panose="02010600040101010101" pitchFamily="2" charset="-122"/>
                <a:ea typeface="华文楷体" panose="02010600040101010101" pitchFamily="2" charset="-122"/>
              </a:rPr>
              <a:t>119.77 </a:t>
            </a:r>
            <a:r>
              <a:rPr lang="zh-CN" altLang="en-US" sz="2400" dirty="0">
                <a:solidFill>
                  <a:prstClr val="black"/>
                </a:solidFill>
                <a:latin typeface="华文楷体" panose="02010600040101010101" pitchFamily="2" charset="-122"/>
                <a:ea typeface="华文楷体" panose="02010600040101010101" pitchFamily="2" charset="-122"/>
              </a:rPr>
              <a:t>公里</a:t>
            </a:r>
            <a:endParaRPr lang="en-US" altLang="zh-CN" sz="2400" dirty="0">
              <a:solidFill>
                <a:prstClr val="black"/>
              </a:solidFill>
              <a:latin typeface="华文楷体" panose="02010600040101010101" pitchFamily="2" charset="-122"/>
              <a:ea typeface="华文楷体" panose="02010600040101010101" pitchFamily="2" charset="-122"/>
            </a:endParaRPr>
          </a:p>
          <a:p>
            <a:pPr marL="285750" indent="-285750" fontAlgn="auto">
              <a:lnSpc>
                <a:spcPct val="120000"/>
              </a:lnSpc>
              <a:buFont typeface="Arial" panose="020B0604020202020204" pitchFamily="34" charset="0"/>
              <a:buChar char="•"/>
            </a:pPr>
            <a:r>
              <a:rPr lang="zh-CN" altLang="en-US" sz="2400" dirty="0">
                <a:solidFill>
                  <a:prstClr val="black"/>
                </a:solidFill>
                <a:latin typeface="华文楷体" panose="02010600040101010101" pitchFamily="2" charset="-122"/>
                <a:ea typeface="华文楷体" panose="02010600040101010101" pitchFamily="2" charset="-122"/>
              </a:rPr>
              <a:t>入选全国首批陆生野生动物重要栖息地名录。</a:t>
            </a:r>
            <a:endParaRPr lang="en-US" altLang="zh-CN" sz="2400" dirty="0">
              <a:solidFill>
                <a:prstClr val="black"/>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839788" y="1700689"/>
            <a:ext cx="7272337" cy="4573111"/>
          </a:xfrm>
          <a:prstGeom prst="rect">
            <a:avLst/>
          </a:prstGeom>
          <a:noFill/>
        </p:spPr>
        <p:txBody>
          <a:bodyPr wrap="square" rtlCol="0">
            <a:spAutoFit/>
          </a:bodyPr>
          <a:lstStyle/>
          <a:p>
            <a:pPr indent="0" algn="ctr"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研学活动要求</a:t>
            </a:r>
            <a:endParaRPr lang="en-US" altLang="zh-CN" sz="2800" dirty="0">
              <a:solidFill>
                <a:prstClr val="black"/>
              </a:solidFill>
              <a:latin typeface="华文楷体" panose="02010600040101010101" pitchFamily="2" charset="-122"/>
              <a:ea typeface="华文楷体" panose="02010600040101010101" pitchFamily="2" charset="-122"/>
            </a:endParaRP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搜集资料，了解家乡的变化发展。</a:t>
            </a:r>
            <a:endParaRPr lang="en-US" altLang="zh-CN" sz="2400" dirty="0">
              <a:solidFill>
                <a:prstClr val="black"/>
              </a:solidFill>
              <a:latin typeface="华文楷体" panose="02010600040101010101" pitchFamily="2" charset="-122"/>
              <a:ea typeface="华文楷体" panose="02010600040101010101" pitchFamily="2" charset="-122"/>
            </a:endParaRP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分小组拟定活动方案，细化走访调研的目的、对象、内容及方式，分工明确。</a:t>
            </a:r>
            <a:endParaRPr lang="en-US" altLang="zh-CN" sz="2400" dirty="0">
              <a:solidFill>
                <a:prstClr val="black"/>
              </a:solidFill>
              <a:latin typeface="华文楷体" panose="02010600040101010101" pitchFamily="2" charset="-122"/>
              <a:ea typeface="华文楷体" panose="02010600040101010101" pitchFamily="2" charset="-122"/>
            </a:endParaRPr>
          </a:p>
          <a:p>
            <a:pPr>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开展走访调研活动。调研过程中，重点关注新时代以来家乡的变化发展情况及存在的主要问题，做好记录。</a:t>
            </a:r>
            <a:endParaRPr lang="en-US" altLang="zh-CN" sz="2400" dirty="0">
              <a:solidFill>
                <a:prstClr val="black"/>
              </a:solidFill>
              <a:latin typeface="华文楷体" panose="02010600040101010101" pitchFamily="2" charset="-122"/>
              <a:ea typeface="华文楷体" panose="02010600040101010101" pitchFamily="2" charset="-122"/>
            </a:endParaRP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做好各类资料的整理、分析、留存等工作，提出针对性对策建议。</a:t>
            </a:r>
            <a:endParaRPr lang="en-US" altLang="zh-CN" sz="2400" dirty="0">
              <a:solidFill>
                <a:prstClr val="black"/>
              </a:solidFill>
              <a:latin typeface="华文楷体" panose="02010600040101010101" pitchFamily="2" charset="-122"/>
              <a:ea typeface="华文楷体" panose="02010600040101010101" pitchFamily="2" charset="-122"/>
            </a:endParaRP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小组深入讨论交流，共同完成一篇调研报告。</a:t>
            </a:r>
            <a:endParaRPr lang="en-US" altLang="zh-CN" sz="2400" dirty="0">
              <a:solidFill>
                <a:prstClr val="black"/>
              </a:solidFill>
              <a:latin typeface="华文楷体" panose="02010600040101010101" pitchFamily="2" charset="-122"/>
              <a:ea typeface="华文楷体" panose="02010600040101010101" pitchFamily="2" charset="-122"/>
            </a:endParaRPr>
          </a:p>
        </p:txBody>
      </p:sp>
      <p:sp>
        <p:nvSpPr>
          <p:cNvPr id="10" name="文本框 9"/>
          <p:cNvSpPr txBox="1"/>
          <p:nvPr/>
        </p:nvSpPr>
        <p:spPr>
          <a:xfrm>
            <a:off x="1487673" y="973191"/>
            <a:ext cx="6252693"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子任务</a:t>
            </a:r>
            <a:r>
              <a:rPr lang="en-US" altLang="zh-CN" sz="3000" dirty="0">
                <a:solidFill>
                  <a:prstClr val="black"/>
                </a:solidFill>
                <a:latin typeface="黑体" panose="02010609060101010101" pitchFamily="49" charset="-122"/>
                <a:ea typeface="黑体" panose="02010609060101010101" pitchFamily="49" charset="-122"/>
              </a:rPr>
              <a:t>3</a:t>
            </a:r>
            <a:r>
              <a:rPr lang="zh-CN" altLang="en-US" sz="3000" dirty="0">
                <a:solidFill>
                  <a:prstClr val="black"/>
                </a:solidFill>
                <a:latin typeface="黑体" panose="02010609060101010101" pitchFamily="49" charset="-122"/>
                <a:ea typeface="黑体" panose="02010609060101010101" pitchFamily="49" charset="-122"/>
              </a:rPr>
              <a:t>：拓展策展</a:t>
            </a:r>
            <a:r>
              <a:rPr lang="en-US" altLang="zh-CN" sz="3000" dirty="0">
                <a:solidFill>
                  <a:prstClr val="black"/>
                </a:solidFill>
                <a:latin typeface="黑体" panose="02010609060101010101" pitchFamily="49" charset="-122"/>
                <a:ea typeface="黑体" panose="02010609060101010101" pitchFamily="49" charset="-122"/>
              </a:rPr>
              <a:t>——</a:t>
            </a:r>
            <a:r>
              <a:rPr lang="zh-CN" altLang="en-US" sz="3000" dirty="0">
                <a:solidFill>
                  <a:prstClr val="black"/>
                </a:solidFill>
                <a:latin typeface="黑体" panose="02010609060101010101" pitchFamily="49" charset="-122"/>
                <a:ea typeface="黑体" panose="02010609060101010101" pitchFamily="49" charset="-122"/>
              </a:rPr>
              <a:t>循迹盐湖行</a:t>
            </a:r>
          </a:p>
        </p:txBody>
      </p:sp>
      <p:cxnSp>
        <p:nvCxnSpPr>
          <p:cNvPr id="12" name="直接连接符 11"/>
          <p:cNvCxnSpPr/>
          <p:nvPr/>
        </p:nvCxnSpPr>
        <p:spPr>
          <a:xfrm flipV="1">
            <a:off x="1851087" y="1617357"/>
            <a:ext cx="5556738" cy="23447"/>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288376" y="1358760"/>
            <a:ext cx="445481" cy="469613"/>
            <a:chOff x="2121873" y="1511588"/>
            <a:chExt cx="445481" cy="469613"/>
          </a:xfrm>
        </p:grpSpPr>
        <p:sp>
          <p:nvSpPr>
            <p:cNvPr id="14" name="矩形 13"/>
            <p:cNvSpPr/>
            <p:nvPr/>
          </p:nvSpPr>
          <p:spPr>
            <a:xfrm>
              <a:off x="2121873" y="1511588"/>
              <a:ext cx="363415" cy="363415"/>
            </a:xfrm>
            <a:prstGeom prst="rect">
              <a:avLst/>
            </a:prstGeom>
            <a:solidFill>
              <a:srgbClr val="71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矩形 14"/>
            <p:cNvSpPr/>
            <p:nvPr/>
          </p:nvSpPr>
          <p:spPr>
            <a:xfrm>
              <a:off x="2321171" y="1735018"/>
              <a:ext cx="246183" cy="246183"/>
            </a:xfrm>
            <a:prstGeom prst="rect">
              <a:avLst/>
            </a:prstGeom>
            <a:solidFill>
              <a:srgbClr val="AE0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E0203"/>
                </a:solidFil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610754943"/>
              </p:ext>
            </p:extLst>
          </p:nvPr>
        </p:nvGraphicFramePr>
        <p:xfrm>
          <a:off x="849313" y="1435569"/>
          <a:ext cx="10325029" cy="4754880"/>
        </p:xfrm>
        <a:graphic>
          <a:graphicData uri="http://schemas.openxmlformats.org/drawingml/2006/table">
            <a:tbl>
              <a:tblPr firstRow="1" bandRow="1">
                <a:tableStyleId>{5C22544A-7EE6-4342-B048-85BDC9FD1C3A}</a:tableStyleId>
              </a:tblPr>
              <a:tblGrid>
                <a:gridCol w="1912937">
                  <a:extLst>
                    <a:ext uri="{9D8B030D-6E8A-4147-A177-3AD203B41FA5}">
                      <a16:colId xmlns:a16="http://schemas.microsoft.com/office/drawing/2014/main" val="20000"/>
                    </a:ext>
                  </a:extLst>
                </a:gridCol>
                <a:gridCol w="5785426">
                  <a:extLst>
                    <a:ext uri="{9D8B030D-6E8A-4147-A177-3AD203B41FA5}">
                      <a16:colId xmlns:a16="http://schemas.microsoft.com/office/drawing/2014/main" val="20001"/>
                    </a:ext>
                  </a:extLst>
                </a:gridCol>
                <a:gridCol w="2626666">
                  <a:extLst>
                    <a:ext uri="{9D8B030D-6E8A-4147-A177-3AD203B41FA5}">
                      <a16:colId xmlns:a16="http://schemas.microsoft.com/office/drawing/2014/main" val="20002"/>
                    </a:ext>
                  </a:extLst>
                </a:gridCol>
              </a:tblGrid>
              <a:tr h="370840">
                <a:tc>
                  <a:txBody>
                    <a:bodyPr/>
                    <a:lstStyle/>
                    <a:p>
                      <a:pPr algn="ctr"/>
                      <a:r>
                        <a:rPr lang="zh-CN" altLang="en-US" sz="2400" dirty="0">
                          <a:latin typeface="华文楷体" panose="02010600040101010101" pitchFamily="2" charset="-122"/>
                          <a:ea typeface="华文楷体" panose="02010600040101010101" pitchFamily="2" charset="-122"/>
                        </a:rPr>
                        <a:t>要素</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填写指引</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我们组的方案</a:t>
                      </a:r>
                    </a:p>
                  </a:txBody>
                  <a:tcPr anchor="ctr"/>
                </a:tc>
                <a:extLst>
                  <a:ext uri="{0D108BD9-81ED-4DB2-BD59-A6C34878D82A}">
                    <a16:rowId xmlns:a16="http://schemas.microsoft.com/office/drawing/2014/main" val="10000"/>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方案名称</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简洁、有主题感，能体现“盐湖之变”</a:t>
                      </a:r>
                    </a:p>
                  </a:txBody>
                  <a:tcPr anchor="ctr"/>
                </a:tc>
                <a:tc>
                  <a:txBody>
                    <a:bodyPr/>
                    <a:lstStyle/>
                    <a:p>
                      <a:pPr algn="ctr"/>
                      <a:endParaRPr lang="zh-CN" altLang="en-US" sz="2400" dirty="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1"/>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调研目的</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我们想弄清一个什么问题？</a:t>
                      </a:r>
                    </a:p>
                  </a:txBody>
                  <a:tcPr anchor="ctr"/>
                </a:tc>
                <a:tc>
                  <a:txBody>
                    <a:bodyPr/>
                    <a:lstStyle/>
                    <a:p>
                      <a:pPr algn="ctr"/>
                      <a:endParaRPr lang="zh-CN" altLang="en-US" sz="2400" dirty="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2"/>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调研方向</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a:latin typeface="华文楷体" panose="02010600040101010101" pitchFamily="2" charset="-122"/>
                          <a:ea typeface="华文楷体" panose="02010600040101010101" pitchFamily="2" charset="-122"/>
                        </a:rPr>
                        <a:t>□ 生态　□ 文化　□ 经济</a:t>
                      </a:r>
                    </a:p>
                  </a:txBody>
                  <a:tcPr anchor="ctr"/>
                </a:tc>
                <a:tc>
                  <a:txBody>
                    <a:bodyPr/>
                    <a:lstStyle/>
                    <a:p>
                      <a:pPr algn="ctr"/>
                      <a:endParaRPr lang="zh-CN" altLang="en-US" sz="240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3"/>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调研对象</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参考：盐湖管护人员</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周边居民</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景区游客</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文旅部门工作人员</a:t>
                      </a:r>
                    </a:p>
                  </a:txBody>
                  <a:tcPr anchor="ctr"/>
                </a:tc>
                <a:tc>
                  <a:txBody>
                    <a:bodyPr/>
                    <a:lstStyle/>
                    <a:p>
                      <a:pPr algn="ctr"/>
                      <a:endParaRPr lang="zh-CN" altLang="en-US" sz="2400" dirty="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4"/>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调研方式</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 现场访谈  □ 实地观察  □ 查阅官方文件、数据　□ 拍照记录</a:t>
                      </a:r>
                    </a:p>
                  </a:txBody>
                  <a:tcPr anchor="ctr"/>
                </a:tc>
                <a:tc>
                  <a:txBody>
                    <a:bodyPr/>
                    <a:lstStyle/>
                    <a:p>
                      <a:pPr algn="ctr"/>
                      <a:endParaRPr lang="zh-CN" altLang="en-US" sz="240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5"/>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6.</a:t>
                      </a:r>
                      <a:r>
                        <a:rPr lang="zh-CN" altLang="en-US" sz="2400" dirty="0">
                          <a:latin typeface="华文楷体" panose="02010600040101010101" pitchFamily="2" charset="-122"/>
                          <a:ea typeface="华文楷体" panose="02010600040101010101" pitchFamily="2" charset="-122"/>
                        </a:rPr>
                        <a:t>成果形式</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一份</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家乡发展调研报告</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（含事实、问题、对策）</a:t>
                      </a:r>
                    </a:p>
                  </a:txBody>
                  <a:tcPr anchor="ctr"/>
                </a:tc>
                <a:tc>
                  <a:txBody>
                    <a:bodyPr/>
                    <a:lstStyle/>
                    <a:p>
                      <a:pPr algn="ctr"/>
                      <a:endParaRPr lang="zh-CN" altLang="en-US" sz="2400" dirty="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6"/>
                  </a:ext>
                </a:extLst>
              </a:tr>
              <a:tr h="370840">
                <a:tc>
                  <a:txBody>
                    <a:bodyPr/>
                    <a:lstStyle/>
                    <a:p>
                      <a:pPr algn="ctr"/>
                      <a:r>
                        <a:rPr lang="en-US" altLang="zh-CN" sz="2400" dirty="0">
                          <a:latin typeface="华文楷体" panose="02010600040101010101" pitchFamily="2" charset="-122"/>
                          <a:ea typeface="华文楷体" panose="02010600040101010101" pitchFamily="2" charset="-122"/>
                        </a:rPr>
                        <a:t>7.</a:t>
                      </a:r>
                      <a:r>
                        <a:rPr lang="zh-CN" altLang="en-US" sz="2400" dirty="0">
                          <a:latin typeface="华文楷体" panose="02010600040101010101" pitchFamily="2" charset="-122"/>
                          <a:ea typeface="华文楷体" panose="02010600040101010101" pitchFamily="2" charset="-122"/>
                        </a:rPr>
                        <a:t>分工安排</a:t>
                      </a:r>
                    </a:p>
                  </a:txBody>
                  <a:tcPr anchor="ctr"/>
                </a:tc>
                <a:tc>
                  <a:txBody>
                    <a:bodyPr/>
                    <a:lstStyle/>
                    <a:p>
                      <a:pPr algn="ctr"/>
                      <a:r>
                        <a:rPr lang="zh-CN" altLang="en-US" sz="2400" dirty="0">
                          <a:latin typeface="华文楷体" panose="02010600040101010101" pitchFamily="2" charset="-122"/>
                          <a:ea typeface="华文楷体" panose="02010600040101010101" pitchFamily="2" charset="-122"/>
                        </a:rPr>
                        <a:t>资料员</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记录员</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汇报员</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质疑员	</a:t>
                      </a:r>
                    </a:p>
                  </a:txBody>
                  <a:tcPr anchor="ctr"/>
                </a:tc>
                <a:tc>
                  <a:txBody>
                    <a:bodyPr/>
                    <a:lstStyle/>
                    <a:p>
                      <a:pPr algn="ctr"/>
                      <a:endParaRPr lang="zh-CN" altLang="en-US" sz="2400" dirty="0">
                        <a:latin typeface="华文楷体" panose="02010600040101010101" pitchFamily="2" charset="-122"/>
                        <a:ea typeface="华文楷体" panose="02010600040101010101" pitchFamily="2" charset="-122"/>
                      </a:endParaRPr>
                    </a:p>
                  </a:txBody>
                  <a:tcPr anchor="ctr"/>
                </a:tc>
                <a:extLst>
                  <a:ext uri="{0D108BD9-81ED-4DB2-BD59-A6C34878D82A}">
                    <a16:rowId xmlns:a16="http://schemas.microsoft.com/office/drawing/2014/main" val="10007"/>
                  </a:ext>
                </a:extLst>
              </a:tr>
            </a:tbl>
          </a:graphicData>
        </a:graphic>
      </p:graphicFrame>
      <p:sp>
        <p:nvSpPr>
          <p:cNvPr id="3" name="文本框 2"/>
          <p:cNvSpPr txBox="1"/>
          <p:nvPr/>
        </p:nvSpPr>
        <p:spPr>
          <a:xfrm>
            <a:off x="4847436" y="758461"/>
            <a:ext cx="2497128" cy="677108"/>
          </a:xfrm>
          <a:prstGeom prst="rect">
            <a:avLst/>
          </a:prstGeom>
          <a:noFill/>
        </p:spPr>
        <p:txBody>
          <a:bodyPr wrap="square">
            <a:spAutoFit/>
          </a:bodyPr>
          <a:lstStyle/>
          <a:p>
            <a:pPr indent="0" algn="ctr" fontAlgn="auto">
              <a:lnSpc>
                <a:spcPct val="150000"/>
              </a:lnSpc>
              <a:spcAft>
                <a:spcPts val="600"/>
              </a:spcAft>
            </a:pPr>
            <a:r>
              <a:rPr lang="zh-CN" altLang="en-US" sz="2800" dirty="0">
                <a:latin typeface="华文楷体" panose="02010600040101010101" pitchFamily="2" charset="-122"/>
                <a:ea typeface="华文楷体" panose="02010600040101010101" pitchFamily="2" charset="-122"/>
              </a:rPr>
              <a:t>研学活动方案</a:t>
            </a: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28688" y="1105287"/>
            <a:ext cx="10469562" cy="4647426"/>
          </a:xfrm>
          <a:prstGeom prst="rect">
            <a:avLst/>
          </a:prstGeom>
          <a:noFill/>
        </p:spPr>
        <p:txBody>
          <a:bodyPr wrap="square">
            <a:spAutoFit/>
          </a:bodyPr>
          <a:lstStyle/>
          <a:p>
            <a:pPr algn="ctr"/>
            <a:r>
              <a:rPr lang="en-US" altLang="zh-CN" sz="3200" dirty="0">
                <a:latin typeface="华文楷体" panose="02010600040101010101" pitchFamily="2" charset="-122"/>
                <a:ea typeface="华文楷体" panose="02010600040101010101" pitchFamily="2" charset="-122"/>
              </a:rPr>
              <a:t>《</a:t>
            </a:r>
            <a:r>
              <a:rPr lang="zh-CN" altLang="en-US" sz="3200" dirty="0">
                <a:latin typeface="华文楷体" panose="02010600040101010101" pitchFamily="2" charset="-122"/>
                <a:ea typeface="华文楷体" panose="02010600040101010101" pitchFamily="2" charset="-122"/>
              </a:rPr>
              <a:t>＿＿＿＿发展调研报告</a:t>
            </a:r>
            <a:r>
              <a:rPr lang="en-US" altLang="zh-CN" sz="3200" dirty="0">
                <a:latin typeface="华文楷体" panose="02010600040101010101" pitchFamily="2" charset="-122"/>
                <a:ea typeface="华文楷体" panose="02010600040101010101" pitchFamily="2" charset="-122"/>
              </a:rPr>
              <a:t>》</a:t>
            </a:r>
          </a:p>
          <a:p>
            <a:pPr algn="ctr"/>
            <a:r>
              <a:rPr lang="zh-CN" altLang="en-US" sz="2400" dirty="0">
                <a:latin typeface="华文楷体" panose="02010600040101010101" pitchFamily="2" charset="-122"/>
                <a:ea typeface="华文楷体" panose="02010600040101010101" pitchFamily="2" charset="-122"/>
              </a:rPr>
              <a:t>调研小组：＿＿＿＿　组长：＿＿＿＿　日期：＿＿＿</a:t>
            </a:r>
            <a:endParaRPr lang="en-US" altLang="zh-CN" sz="2400" dirty="0">
              <a:latin typeface="华文楷体" panose="02010600040101010101" pitchFamily="2" charset="-122"/>
              <a:ea typeface="华文楷体" panose="02010600040101010101" pitchFamily="2" charset="-122"/>
            </a:endParaRPr>
          </a:p>
          <a:p>
            <a:pPr algn="ctr"/>
            <a:r>
              <a:rPr lang="zh-CN" altLang="en-US" sz="2400" dirty="0">
                <a:latin typeface="华文楷体" panose="02010600040101010101" pitchFamily="2" charset="-122"/>
                <a:ea typeface="华文楷体" panose="02010600040101010101" pitchFamily="2" charset="-122"/>
              </a:rPr>
              <a:t>组员及分工：</a:t>
            </a:r>
            <a:r>
              <a:rPr lang="zh-CN" altLang="en-US" sz="2400" u="sng" dirty="0">
                <a:latin typeface="华文楷体" panose="02010600040101010101" pitchFamily="2" charset="-122"/>
                <a:ea typeface="华文楷体" panose="02010600040101010101" pitchFamily="2" charset="-122"/>
              </a:rPr>
              <a:t>资料员／记录员／汇报员／质疑员</a:t>
            </a:r>
            <a:endParaRPr lang="en-US" altLang="zh-CN" sz="2400" u="sng" dirty="0">
              <a:latin typeface="华文楷体" panose="02010600040101010101" pitchFamily="2" charset="-122"/>
              <a:ea typeface="华文楷体" panose="02010600040101010101" pitchFamily="2" charset="-122"/>
            </a:endParaRPr>
          </a:p>
          <a:p>
            <a:pPr algn="ctr"/>
            <a:endParaRPr lang="en-US" altLang="zh-CN" sz="2400" dirty="0">
              <a:latin typeface="华文楷体" panose="02010600040101010101" pitchFamily="2" charset="-122"/>
              <a:ea typeface="华文楷体" panose="02010600040101010101" pitchFamily="2" charset="-122"/>
            </a:endParaRPr>
          </a:p>
          <a:p>
            <a:pPr indent="612140"/>
            <a:r>
              <a:rPr lang="zh-CN" altLang="en-US" sz="2400" dirty="0">
                <a:latin typeface="华文楷体" panose="02010600040101010101" pitchFamily="2" charset="-122"/>
                <a:ea typeface="华文楷体" panose="02010600040101010101" pitchFamily="2" charset="-122"/>
              </a:rPr>
              <a:t>一、调研方案摘要（调研目的、对象、内容、方式）</a:t>
            </a:r>
          </a:p>
          <a:p>
            <a:pPr indent="612140"/>
            <a:r>
              <a:rPr lang="zh-CN" altLang="en-US" sz="2400" dirty="0">
                <a:latin typeface="华文楷体" panose="02010600040101010101" pitchFamily="2" charset="-122"/>
                <a:ea typeface="华文楷体" panose="02010600040101010101" pitchFamily="2" charset="-122"/>
              </a:rPr>
              <a:t>二、调研过程（调研时间、路线、走访对象与记录情况）</a:t>
            </a:r>
          </a:p>
          <a:p>
            <a:pPr indent="612140"/>
            <a:r>
              <a:rPr lang="zh-CN" altLang="en-US" sz="2400" dirty="0">
                <a:latin typeface="华文楷体" panose="02010600040101010101" pitchFamily="2" charset="-122"/>
                <a:ea typeface="华文楷体" panose="02010600040101010101" pitchFamily="2" charset="-122"/>
              </a:rPr>
              <a:t>三、家乡的变化核心（事实＋数据）</a:t>
            </a:r>
            <a:endParaRPr lang="en-US" altLang="zh-CN" sz="2400" dirty="0">
              <a:latin typeface="华文楷体" panose="02010600040101010101" pitchFamily="2" charset="-122"/>
              <a:ea typeface="华文楷体" panose="02010600040101010101" pitchFamily="2" charset="-122"/>
            </a:endParaRPr>
          </a:p>
          <a:p>
            <a:pPr indent="612140"/>
            <a:r>
              <a:rPr lang="zh-CN" altLang="en-US" sz="2400" dirty="0">
                <a:latin typeface="华文楷体" panose="02010600040101010101" pitchFamily="2" charset="-122"/>
                <a:ea typeface="华文楷体" panose="02010600040101010101" pitchFamily="2" charset="-122"/>
              </a:rPr>
              <a:t>四、存在的问题核心（研途中真实看到的发展短板，要有现场证据）</a:t>
            </a:r>
            <a:endParaRPr lang="en-US" altLang="zh-CN" sz="2400" dirty="0">
              <a:latin typeface="华文楷体" panose="02010600040101010101" pitchFamily="2" charset="-122"/>
              <a:ea typeface="华文楷体" panose="02010600040101010101" pitchFamily="2" charset="-122"/>
            </a:endParaRPr>
          </a:p>
          <a:p>
            <a:pPr indent="612140"/>
            <a:r>
              <a:rPr lang="zh-CN" altLang="en-US" sz="2400" dirty="0">
                <a:latin typeface="华文楷体" panose="02010600040101010101" pitchFamily="2" charset="-122"/>
                <a:ea typeface="华文楷体" panose="02010600040101010101" pitchFamily="2" charset="-122"/>
              </a:rPr>
              <a:t>五、对策建议核心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难点（针对每个问题，提出可操作的对策，做到“三个有”： 有问题依据、有密码支撑、有可行做法）</a:t>
            </a:r>
          </a:p>
          <a:p>
            <a:pPr indent="612140"/>
            <a:r>
              <a:rPr lang="zh-CN" altLang="en-US" sz="2400" dirty="0">
                <a:latin typeface="华文楷体" panose="02010600040101010101" pitchFamily="2" charset="-122"/>
                <a:ea typeface="华文楷体" panose="02010600040101010101" pitchFamily="2" charset="-122"/>
              </a:rPr>
              <a:t>六、小组感悟（研学收获与情感升华</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家乡之变让我们懂得了什么）</a:t>
            </a:r>
          </a:p>
          <a:p>
            <a:pPr indent="612140"/>
            <a:r>
              <a:rPr lang="zh-CN" altLang="en-US" sz="2400" dirty="0">
                <a:latin typeface="华文楷体" panose="02010600040101010101" pitchFamily="2" charset="-122"/>
                <a:ea typeface="华文楷体" panose="02010600040101010101" pitchFamily="2" charset="-122"/>
              </a:rPr>
              <a:t>七、附录必备（照片、访谈记录、资料来源清单）</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16E16-CC1E-CFF8-A069-FDE3ABBB6A1C}"/>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52118F51-61C8-B8F2-2417-853779670B37}"/>
              </a:ext>
            </a:extLst>
          </p:cNvPr>
          <p:cNvSpPr txBox="1"/>
          <p:nvPr/>
        </p:nvSpPr>
        <p:spPr>
          <a:xfrm>
            <a:off x="918111" y="2901503"/>
            <a:ext cx="4911189" cy="2726452"/>
          </a:xfrm>
          <a:prstGeom prst="rect">
            <a:avLst/>
          </a:prstGeom>
          <a:noFill/>
        </p:spPr>
        <p:txBody>
          <a:bodyPr wrap="square" rtlCol="0">
            <a:spAutoFit/>
          </a:bodyPr>
          <a:lstStyle/>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1.</a:t>
            </a:r>
            <a:r>
              <a:rPr lang="zh-CN" altLang="en-US" sz="2400" dirty="0">
                <a:solidFill>
                  <a:prstClr val="black"/>
                </a:solidFill>
                <a:latin typeface="华文楷体" panose="02010600040101010101" pitchFamily="2" charset="-122"/>
                <a:ea typeface="华文楷体" panose="02010600040101010101" pitchFamily="2" charset="-122"/>
              </a:rPr>
              <a:t>紧扣调研主题，聚焦研学目标。</a:t>
            </a: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2.</a:t>
            </a:r>
            <a:r>
              <a:rPr lang="zh-CN" altLang="en-US" sz="2400" dirty="0">
                <a:solidFill>
                  <a:prstClr val="black"/>
                </a:solidFill>
                <a:latin typeface="华文楷体" panose="02010600040101010101" pitchFamily="2" charset="-122"/>
                <a:ea typeface="华文楷体" panose="02010600040101010101" pitchFamily="2" charset="-122"/>
              </a:rPr>
              <a:t>注意出行安全，文明走访，礼貌访谈。</a:t>
            </a: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3.</a:t>
            </a:r>
            <a:r>
              <a:rPr lang="zh-CN" altLang="en-US" sz="2400" dirty="0">
                <a:solidFill>
                  <a:prstClr val="black"/>
                </a:solidFill>
                <a:latin typeface="华文楷体" panose="02010600040101010101" pitchFamily="2" charset="-122"/>
                <a:ea typeface="华文楷体" panose="02010600040101010101" pitchFamily="2" charset="-122"/>
              </a:rPr>
              <a:t>细化团队分工，强化协作配合。</a:t>
            </a:r>
          </a:p>
          <a:p>
            <a:pPr indent="0" fontAlgn="auto">
              <a:lnSpc>
                <a:spcPct val="120000"/>
              </a:lnSpc>
            </a:pPr>
            <a:r>
              <a:rPr lang="en-US" altLang="zh-CN" sz="2400" dirty="0">
                <a:solidFill>
                  <a:prstClr val="black"/>
                </a:solidFill>
                <a:latin typeface="华文楷体" panose="02010600040101010101" pitchFamily="2" charset="-122"/>
                <a:ea typeface="华文楷体" panose="02010600040101010101" pitchFamily="2" charset="-122"/>
              </a:rPr>
              <a:t>4.</a:t>
            </a:r>
            <a:r>
              <a:rPr lang="zh-CN" altLang="en-US" sz="2400" dirty="0">
                <a:solidFill>
                  <a:prstClr val="black"/>
                </a:solidFill>
                <a:latin typeface="华文楷体" panose="02010600040101010101" pitchFamily="2" charset="-122"/>
                <a:ea typeface="华文楷体" panose="02010600040101010101" pitchFamily="2" charset="-122"/>
              </a:rPr>
              <a:t>坚持实事求是，尊重对方隐私。</a:t>
            </a:r>
          </a:p>
          <a:p>
            <a:pPr indent="0" fontAlgn="auto">
              <a:lnSpc>
                <a:spcPct val="120000"/>
              </a:lnSpc>
            </a:pPr>
            <a:endParaRPr lang="en-US" altLang="zh-CN" sz="2400" dirty="0">
              <a:solidFill>
                <a:prstClr val="black"/>
              </a:solidFill>
              <a:latin typeface="华文楷体" panose="02010600040101010101" pitchFamily="2" charset="-122"/>
              <a:ea typeface="华文楷体" panose="02010600040101010101" pitchFamily="2" charset="-122"/>
            </a:endParaRPr>
          </a:p>
        </p:txBody>
      </p:sp>
      <p:sp>
        <p:nvSpPr>
          <p:cNvPr id="5" name="文本框 4">
            <a:extLst>
              <a:ext uri="{FF2B5EF4-FFF2-40B4-BE49-F238E27FC236}">
                <a16:creationId xmlns:a16="http://schemas.microsoft.com/office/drawing/2014/main" id="{AFB7B6AD-36B7-7C48-9DE1-8B8255C60418}"/>
              </a:ext>
            </a:extLst>
          </p:cNvPr>
          <p:cNvSpPr txBox="1"/>
          <p:nvPr/>
        </p:nvSpPr>
        <p:spPr>
          <a:xfrm>
            <a:off x="981075" y="1520706"/>
            <a:ext cx="3571432" cy="760657"/>
          </a:xfrm>
          <a:prstGeom prst="rect">
            <a:avLst/>
          </a:prstGeom>
          <a:noFill/>
        </p:spPr>
        <p:txBody>
          <a:bodyPr wrap="square">
            <a:spAutoFit/>
          </a:bodyPr>
          <a:lstStyle/>
          <a:p>
            <a:pPr indent="0" algn="ctr" fontAlgn="auto">
              <a:lnSpc>
                <a:spcPct val="150000"/>
              </a:lnSpc>
              <a:spcAft>
                <a:spcPts val="600"/>
              </a:spcAft>
            </a:pPr>
            <a:r>
              <a:rPr lang="zh-CN" altLang="en-US" sz="3200" dirty="0">
                <a:latin typeface="华文楷体" panose="02010600040101010101" pitchFamily="2" charset="-122"/>
                <a:ea typeface="华文楷体" panose="02010600040101010101" pitchFamily="2" charset="-122"/>
              </a:rPr>
              <a:t>研学活动提示</a:t>
            </a:r>
            <a:endParaRPr lang="en-US" altLang="zh-CN" sz="3200" dirty="0">
              <a:latin typeface="华文楷体" panose="02010600040101010101" pitchFamily="2" charset="-122"/>
              <a:ea typeface="华文楷体" panose="02010600040101010101" pitchFamily="2" charset="-122"/>
            </a:endParaRPr>
          </a:p>
        </p:txBody>
      </p:sp>
      <p:pic>
        <p:nvPicPr>
          <p:cNvPr id="3" name="图片 2">
            <a:extLst>
              <a:ext uri="{FF2B5EF4-FFF2-40B4-BE49-F238E27FC236}">
                <a16:creationId xmlns:a16="http://schemas.microsoft.com/office/drawing/2014/main" id="{E7F71B80-B54C-EC1E-9E86-2AF0BCD11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92275"/>
            <a:ext cx="5051425" cy="3473450"/>
          </a:xfrm>
          <a:prstGeom prst="rect">
            <a:avLst/>
          </a:prstGeom>
        </p:spPr>
      </p:pic>
      <p:sp>
        <p:nvSpPr>
          <p:cNvPr id="4" name="文本框 3">
            <a:extLst>
              <a:ext uri="{FF2B5EF4-FFF2-40B4-BE49-F238E27FC236}">
                <a16:creationId xmlns:a16="http://schemas.microsoft.com/office/drawing/2014/main" id="{C43DD9A4-83BA-C66E-879B-7B299DB545AC}"/>
              </a:ext>
            </a:extLst>
          </p:cNvPr>
          <p:cNvSpPr txBox="1"/>
          <p:nvPr/>
        </p:nvSpPr>
        <p:spPr>
          <a:xfrm>
            <a:off x="7448158" y="5354865"/>
            <a:ext cx="2347107" cy="405945"/>
          </a:xfrm>
          <a:prstGeom prst="rect">
            <a:avLst/>
          </a:prstGeom>
          <a:noFill/>
        </p:spPr>
        <p:txBody>
          <a:bodyPr wrap="square" rtlCol="0">
            <a:spAutoFit/>
          </a:bodyPr>
          <a:lstStyle/>
          <a:p>
            <a:pPr indent="0" fontAlgn="auto">
              <a:lnSpc>
                <a:spcPct val="120000"/>
              </a:lnSpc>
            </a:pPr>
            <a:r>
              <a:rPr lang="zh-CN" altLang="en-US" dirty="0">
                <a:solidFill>
                  <a:prstClr val="black"/>
                </a:solidFill>
                <a:latin typeface="华文楷体" panose="02010600040101010101" pitchFamily="2" charset="-122"/>
                <a:ea typeface="华文楷体" panose="02010600040101010101" pitchFamily="2" charset="-122"/>
              </a:rPr>
              <a:t>图片来源：人民日报</a:t>
            </a:r>
          </a:p>
        </p:txBody>
      </p:sp>
    </p:spTree>
    <p:extLst>
      <p:ext uri="{BB962C8B-B14F-4D97-AF65-F5344CB8AC3E}">
        <p14:creationId xmlns:p14="http://schemas.microsoft.com/office/powerpoint/2010/main" val="359164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99177" y="1222379"/>
            <a:ext cx="7312948" cy="1097223"/>
          </a:xfrm>
          <a:prstGeom prst="rect">
            <a:avLst/>
          </a:prstGeom>
          <a:noFill/>
        </p:spPr>
        <p:txBody>
          <a:bodyPr wrap="square" rtlCol="0">
            <a:spAutoFit/>
          </a:bodyPr>
          <a:lstStyle/>
          <a:p>
            <a:pPr indent="0"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思辨探究：</a:t>
            </a:r>
            <a:r>
              <a:rPr lang="zh-CN" altLang="en-US" sz="2800" dirty="0">
                <a:solidFill>
                  <a:srgbClr val="FF0000"/>
                </a:solidFill>
                <a:latin typeface="华文楷体" panose="02010600040101010101" pitchFamily="2" charset="-122"/>
                <a:ea typeface="华文楷体" panose="02010600040101010101" pitchFamily="2" charset="-122"/>
              </a:rPr>
              <a:t>盐湖保护、家乡建设，是政府的事，和我们中学生无关？</a:t>
            </a:r>
          </a:p>
        </p:txBody>
      </p:sp>
      <p:sp>
        <p:nvSpPr>
          <p:cNvPr id="3" name="矩形 2"/>
          <p:cNvSpPr/>
          <p:nvPr/>
        </p:nvSpPr>
        <p:spPr>
          <a:xfrm>
            <a:off x="1620936" y="2849222"/>
            <a:ext cx="5706685" cy="2703853"/>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2135804" y="3646070"/>
            <a:ext cx="4639694" cy="0"/>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810681" y="2975998"/>
            <a:ext cx="5289939" cy="580159"/>
          </a:xfrm>
          <a:prstGeom prst="rect">
            <a:avLst/>
          </a:prstGeom>
          <a:noFill/>
        </p:spPr>
        <p:txBody>
          <a:bodyPr wrap="square" rtlCol="0">
            <a:spAutoFit/>
          </a:bodyPr>
          <a:lstStyle/>
          <a:p>
            <a:pPr indent="0" algn="ctr"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这种观点不对！</a:t>
            </a:r>
          </a:p>
        </p:txBody>
      </p:sp>
      <p:sp>
        <p:nvSpPr>
          <p:cNvPr id="18" name="文本框 17"/>
          <p:cNvSpPr txBox="1"/>
          <p:nvPr/>
        </p:nvSpPr>
        <p:spPr>
          <a:xfrm>
            <a:off x="1851707" y="3646070"/>
            <a:ext cx="5289939" cy="1840056"/>
          </a:xfrm>
          <a:prstGeom prst="rect">
            <a:avLst/>
          </a:prstGeom>
          <a:noFill/>
        </p:spPr>
        <p:txBody>
          <a:bodyPr wrap="square" rtlCol="0">
            <a:spAutoFit/>
          </a:bodyPr>
          <a:lstStyle/>
          <a:p>
            <a:pPr indent="0" algn="ctr"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新时代发展，人人共建、人人共享。</a:t>
            </a:r>
            <a:endParaRPr lang="en-US" altLang="zh-CN" sz="2400" dirty="0">
              <a:solidFill>
                <a:prstClr val="black"/>
              </a:solidFill>
              <a:latin typeface="华文楷体" panose="02010600040101010101" pitchFamily="2" charset="-122"/>
              <a:ea typeface="华文楷体" panose="02010600040101010101" pitchFamily="2" charset="-122"/>
            </a:endParaRPr>
          </a:p>
          <a:p>
            <a:pPr indent="0" algn="ctr"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我们青少年不是旁观者，</a:t>
            </a:r>
            <a:endParaRPr lang="en-US" altLang="zh-CN" sz="2400" dirty="0">
              <a:solidFill>
                <a:prstClr val="black"/>
              </a:solidFill>
              <a:latin typeface="华文楷体" panose="02010600040101010101" pitchFamily="2" charset="-122"/>
              <a:ea typeface="华文楷体" panose="02010600040101010101" pitchFamily="2" charset="-122"/>
            </a:endParaRPr>
          </a:p>
          <a:p>
            <a:pPr indent="0" algn="ctr"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而是时代的见证者、</a:t>
            </a:r>
            <a:endParaRPr lang="en-US" altLang="zh-CN" sz="2400" dirty="0">
              <a:solidFill>
                <a:prstClr val="black"/>
              </a:solidFill>
              <a:latin typeface="华文楷体" panose="02010600040101010101" pitchFamily="2" charset="-122"/>
              <a:ea typeface="华文楷体" panose="02010600040101010101" pitchFamily="2" charset="-122"/>
            </a:endParaRPr>
          </a:p>
          <a:p>
            <a:pPr indent="0" algn="ctr"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家乡发展的参与者和建设者。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2227" y="3075796"/>
            <a:ext cx="10148223" cy="2444663"/>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a:cxnSpLocks/>
          </p:cNvCxnSpPr>
          <p:nvPr/>
        </p:nvCxnSpPr>
        <p:spPr>
          <a:xfrm>
            <a:off x="2257212" y="3836810"/>
            <a:ext cx="6474487" cy="0"/>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984742" y="3241459"/>
            <a:ext cx="7381875" cy="580159"/>
          </a:xfrm>
          <a:prstGeom prst="rect">
            <a:avLst/>
          </a:prstGeom>
          <a:noFill/>
        </p:spPr>
        <p:txBody>
          <a:bodyPr wrap="square" rtlCol="0">
            <a:spAutoFit/>
          </a:bodyPr>
          <a:lstStyle/>
          <a:p>
            <a:pPr indent="0" algn="ctr"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我们可以做什么？</a:t>
            </a:r>
          </a:p>
        </p:txBody>
      </p:sp>
      <p:sp>
        <p:nvSpPr>
          <p:cNvPr id="5" name="文本框 4"/>
          <p:cNvSpPr txBox="1"/>
          <p:nvPr/>
        </p:nvSpPr>
        <p:spPr>
          <a:xfrm>
            <a:off x="1071982" y="4008810"/>
            <a:ext cx="9929310" cy="1396857"/>
          </a:xfrm>
          <a:prstGeom prst="rect">
            <a:avLst/>
          </a:prstGeom>
          <a:noFill/>
        </p:spPr>
        <p:txBody>
          <a:bodyPr wrap="square" rtlCol="0">
            <a:spAutoFit/>
          </a:bodyPr>
          <a:lstStyle/>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做盐湖文化的宣传员</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了解盐湖历史，讲好生态故事</a:t>
            </a:r>
            <a:endParaRPr lang="en-US" altLang="zh-CN" sz="24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做绿色生活的践行者</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从小事做起，守护身边的绿水青山</a:t>
            </a:r>
            <a:endParaRPr lang="en-US" altLang="zh-CN" sz="2400" dirty="0">
              <a:solidFill>
                <a:prstClr val="black"/>
              </a:solidFill>
              <a:latin typeface="华文楷体" panose="02010600040101010101" pitchFamily="2" charset="-122"/>
              <a:ea typeface="华文楷体" panose="02010600040101010101" pitchFamily="2" charset="-122"/>
            </a:endParaRPr>
          </a:p>
          <a:p>
            <a:pPr indent="647700" fontAlgn="auto">
              <a:lnSpc>
                <a:spcPct val="120000"/>
              </a:lnSpc>
            </a:pPr>
            <a:r>
              <a:rPr lang="zh-CN" altLang="en-US" sz="2400" dirty="0">
                <a:solidFill>
                  <a:prstClr val="black"/>
                </a:solidFill>
                <a:latin typeface="华文楷体" panose="02010600040101010101" pitchFamily="2" charset="-122"/>
                <a:ea typeface="华文楷体" panose="02010600040101010101" pitchFamily="2" charset="-122"/>
              </a:rPr>
              <a:t>做美丽家乡的建设者</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学好本领，将来为家乡发展贡献力量</a:t>
            </a:r>
          </a:p>
        </p:txBody>
      </p:sp>
      <p:sp>
        <p:nvSpPr>
          <p:cNvPr id="6" name="文本框 5"/>
          <p:cNvSpPr txBox="1"/>
          <p:nvPr/>
        </p:nvSpPr>
        <p:spPr>
          <a:xfrm>
            <a:off x="849313" y="1793879"/>
            <a:ext cx="10573673" cy="580159"/>
          </a:xfrm>
          <a:prstGeom prst="rect">
            <a:avLst/>
          </a:prstGeom>
          <a:noFill/>
        </p:spPr>
        <p:txBody>
          <a:bodyPr wrap="square" rtlCol="0">
            <a:spAutoFit/>
          </a:bodyPr>
          <a:lstStyle/>
          <a:p>
            <a:pPr indent="0" fontAlgn="auto">
              <a:lnSpc>
                <a:spcPct val="120000"/>
              </a:lnSpc>
            </a:pPr>
            <a:r>
              <a:rPr lang="zh-CN" altLang="en-US" sz="2800" dirty="0">
                <a:solidFill>
                  <a:prstClr val="black"/>
                </a:solidFill>
                <a:latin typeface="华文楷体" panose="02010600040101010101" pitchFamily="2" charset="-122"/>
                <a:ea typeface="华文楷体" panose="02010600040101010101" pitchFamily="2" charset="-122"/>
              </a:rPr>
              <a:t>思辨探究：</a:t>
            </a:r>
            <a:r>
              <a:rPr lang="zh-CN" altLang="en-US" sz="2800" dirty="0">
                <a:solidFill>
                  <a:srgbClr val="FF0000"/>
                </a:solidFill>
                <a:latin typeface="华文楷体" panose="02010600040101010101" pitchFamily="2" charset="-122"/>
                <a:ea typeface="华文楷体" panose="02010600040101010101" pitchFamily="2" charset="-122"/>
              </a:rPr>
              <a:t>盐湖保护、家乡建设，是政府的事，和我们中学生无关？</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87673" y="973191"/>
            <a:ext cx="6252693"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课后延伸</a:t>
            </a:r>
          </a:p>
        </p:txBody>
      </p:sp>
      <p:cxnSp>
        <p:nvCxnSpPr>
          <p:cNvPr id="12" name="直接连接符 11"/>
          <p:cNvCxnSpPr/>
          <p:nvPr/>
        </p:nvCxnSpPr>
        <p:spPr>
          <a:xfrm flipV="1">
            <a:off x="1851087" y="1617357"/>
            <a:ext cx="5556738" cy="23447"/>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288376" y="1358760"/>
            <a:ext cx="445481" cy="469613"/>
            <a:chOff x="2121873" y="1511588"/>
            <a:chExt cx="445481" cy="469613"/>
          </a:xfrm>
        </p:grpSpPr>
        <p:sp>
          <p:nvSpPr>
            <p:cNvPr id="14" name="矩形 13"/>
            <p:cNvSpPr/>
            <p:nvPr/>
          </p:nvSpPr>
          <p:spPr>
            <a:xfrm>
              <a:off x="2121873" y="1511588"/>
              <a:ext cx="363415" cy="363415"/>
            </a:xfrm>
            <a:prstGeom prst="rect">
              <a:avLst/>
            </a:prstGeom>
            <a:solidFill>
              <a:srgbClr val="71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矩形 14"/>
            <p:cNvSpPr/>
            <p:nvPr/>
          </p:nvSpPr>
          <p:spPr>
            <a:xfrm>
              <a:off x="2321171" y="1735018"/>
              <a:ext cx="246183" cy="246183"/>
            </a:xfrm>
            <a:prstGeom prst="rect">
              <a:avLst/>
            </a:prstGeom>
            <a:solidFill>
              <a:srgbClr val="AE0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E0203"/>
                </a:solidFill>
              </a:endParaRPr>
            </a:p>
          </p:txBody>
        </p:sp>
      </p:grpSp>
      <p:sp>
        <p:nvSpPr>
          <p:cNvPr id="4" name="文本框 3"/>
          <p:cNvSpPr txBox="1"/>
          <p:nvPr/>
        </p:nvSpPr>
        <p:spPr>
          <a:xfrm>
            <a:off x="1085365" y="2488592"/>
            <a:ext cx="6095028" cy="3262432"/>
          </a:xfrm>
          <a:prstGeom prst="rect">
            <a:avLst/>
          </a:prstGeom>
          <a:noFill/>
        </p:spPr>
        <p:txBody>
          <a:bodyPr wrap="square">
            <a:spAutoFit/>
          </a:bodyPr>
          <a:lstStyle/>
          <a:p>
            <a:pPr indent="647700">
              <a:spcAft>
                <a:spcPts val="1200"/>
              </a:spcAft>
            </a:pPr>
            <a:r>
              <a:rPr lang="zh-CN" altLang="en-US" sz="2800" b="1" i="0" dirty="0">
                <a:solidFill>
                  <a:srgbClr val="2C3E50"/>
                </a:solidFill>
                <a:effectLst/>
                <a:latin typeface="华文楷体" panose="02010600040101010101" pitchFamily="2" charset="-122"/>
                <a:ea typeface="华文楷体" panose="02010600040101010101" pitchFamily="2" charset="-122"/>
              </a:rPr>
              <a:t>二选一</a:t>
            </a:r>
            <a:endParaRPr lang="en-US" altLang="zh-CN" sz="2800" b="1" i="0" dirty="0">
              <a:solidFill>
                <a:srgbClr val="2C3E50"/>
              </a:solidFill>
              <a:effectLst/>
              <a:latin typeface="华文楷体" panose="02010600040101010101" pitchFamily="2" charset="-122"/>
              <a:ea typeface="华文楷体" panose="02010600040101010101" pitchFamily="2" charset="-122"/>
            </a:endParaRPr>
          </a:p>
          <a:p>
            <a:pPr indent="647700"/>
            <a:r>
              <a:rPr lang="en-US" altLang="zh-CN" sz="2800" b="1" i="0" dirty="0">
                <a:solidFill>
                  <a:srgbClr val="2C3E50"/>
                </a:solidFill>
                <a:effectLst/>
                <a:latin typeface="华文楷体" panose="02010600040101010101" pitchFamily="2" charset="-122"/>
                <a:ea typeface="华文楷体" panose="02010600040101010101" pitchFamily="2" charset="-122"/>
              </a:rPr>
              <a:t>A</a:t>
            </a:r>
            <a:r>
              <a:rPr lang="zh-CN" altLang="en-US" sz="2800" b="1" i="0" dirty="0">
                <a:solidFill>
                  <a:srgbClr val="2C3E50"/>
                </a:solidFill>
                <a:effectLst/>
                <a:latin typeface="华文楷体" panose="02010600040101010101" pitchFamily="2" charset="-122"/>
                <a:ea typeface="华文楷体" panose="02010600040101010101" pitchFamily="2" charset="-122"/>
              </a:rPr>
              <a:t>层（具备外出条件）：</a:t>
            </a:r>
            <a:r>
              <a:rPr lang="zh-CN" altLang="en-US" sz="2800" b="0" i="0" dirty="0">
                <a:solidFill>
                  <a:srgbClr val="2C3E50"/>
                </a:solidFill>
                <a:effectLst/>
                <a:latin typeface="华文楷体" panose="02010600040101010101" pitchFamily="2" charset="-122"/>
                <a:ea typeface="华文楷体" panose="02010600040101010101" pitchFamily="2" charset="-122"/>
              </a:rPr>
              <a:t>小组制定研学方案，实地开展盐湖研学，完成一份完整的</a:t>
            </a:r>
            <a:r>
              <a:rPr lang="en-US" altLang="zh-CN" sz="2800" b="0" i="0" dirty="0">
                <a:solidFill>
                  <a:srgbClr val="2C3E50"/>
                </a:solidFill>
                <a:effectLst/>
                <a:latin typeface="华文楷体" panose="02010600040101010101" pitchFamily="2" charset="-122"/>
                <a:ea typeface="华文楷体" panose="02010600040101010101" pitchFamily="2" charset="-122"/>
              </a:rPr>
              <a:t>《</a:t>
            </a:r>
            <a:r>
              <a:rPr lang="zh-CN" altLang="en-US" sz="2800" b="0" i="0" dirty="0">
                <a:solidFill>
                  <a:srgbClr val="2C3E50"/>
                </a:solidFill>
                <a:effectLst/>
                <a:latin typeface="华文楷体" panose="02010600040101010101" pitchFamily="2" charset="-122"/>
                <a:ea typeface="华文楷体" panose="02010600040101010101" pitchFamily="2" charset="-122"/>
              </a:rPr>
              <a:t>家乡发展调研报告</a:t>
            </a:r>
            <a:r>
              <a:rPr lang="en-US" altLang="zh-CN" sz="2800" b="0" i="0" dirty="0">
                <a:solidFill>
                  <a:srgbClr val="2C3E50"/>
                </a:solidFill>
                <a:effectLst/>
                <a:latin typeface="华文楷体" panose="02010600040101010101" pitchFamily="2" charset="-122"/>
                <a:ea typeface="华文楷体" panose="02010600040101010101" pitchFamily="2" charset="-122"/>
              </a:rPr>
              <a:t>》</a:t>
            </a:r>
            <a:r>
              <a:rPr lang="zh-CN" altLang="en-US" sz="2800" b="0" i="0" dirty="0">
                <a:solidFill>
                  <a:srgbClr val="2C3E50"/>
                </a:solidFill>
                <a:effectLst/>
                <a:latin typeface="华文楷体" panose="02010600040101010101" pitchFamily="2" charset="-122"/>
                <a:ea typeface="华文楷体" panose="02010600040101010101" pitchFamily="2" charset="-122"/>
              </a:rPr>
              <a:t>。</a:t>
            </a:r>
            <a:endParaRPr lang="en-US" altLang="zh-CN" sz="2800" b="0" i="0" dirty="0">
              <a:solidFill>
                <a:srgbClr val="2C3E50"/>
              </a:solidFill>
              <a:effectLst/>
              <a:latin typeface="华文楷体" panose="02010600040101010101" pitchFamily="2" charset="-122"/>
              <a:ea typeface="华文楷体" panose="02010600040101010101" pitchFamily="2" charset="-122"/>
            </a:endParaRPr>
          </a:p>
          <a:p>
            <a:pPr indent="647700"/>
            <a:r>
              <a:rPr lang="en-US" altLang="zh-CN" sz="2800" b="1" i="0" dirty="0">
                <a:solidFill>
                  <a:srgbClr val="2C3E50"/>
                </a:solidFill>
                <a:effectLst/>
                <a:latin typeface="华文楷体" panose="02010600040101010101" pitchFamily="2" charset="-122"/>
                <a:ea typeface="华文楷体" panose="02010600040101010101" pitchFamily="2" charset="-122"/>
              </a:rPr>
              <a:t>B</a:t>
            </a:r>
            <a:r>
              <a:rPr lang="zh-CN" altLang="en-US" sz="2800" b="1" i="0" dirty="0">
                <a:solidFill>
                  <a:srgbClr val="2C3E50"/>
                </a:solidFill>
                <a:effectLst/>
                <a:latin typeface="华文楷体" panose="02010600040101010101" pitchFamily="2" charset="-122"/>
                <a:ea typeface="华文楷体" panose="02010600040101010101" pitchFamily="2" charset="-122"/>
              </a:rPr>
              <a:t>层（不具备外出条件）：</a:t>
            </a:r>
            <a:r>
              <a:rPr lang="zh-CN" altLang="en-US" sz="2800" b="0" i="0" dirty="0">
                <a:solidFill>
                  <a:srgbClr val="2C3E50"/>
                </a:solidFill>
                <a:effectLst/>
                <a:latin typeface="华文楷体" panose="02010600040101010101" pitchFamily="2" charset="-122"/>
                <a:ea typeface="华文楷体" panose="02010600040101010101" pitchFamily="2" charset="-122"/>
              </a:rPr>
              <a:t>线上查阅官方资料，制作一份盐湖生态文化宣传小报。</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2292937954"/>
              </p:ext>
            </p:extLst>
          </p:nvPr>
        </p:nvGraphicFramePr>
        <p:xfrm>
          <a:off x="186376" y="885279"/>
          <a:ext cx="11822353" cy="5348225"/>
        </p:xfrm>
        <a:graphic>
          <a:graphicData uri="http://schemas.openxmlformats.org/drawingml/2006/table">
            <a:tbl>
              <a:tblPr firstRow="1" bandRow="1">
                <a:tableStyleId>{5C22544A-7EE6-4342-B048-85BDC9FD1C3A}</a:tableStyleId>
              </a:tblPr>
              <a:tblGrid>
                <a:gridCol w="1335015">
                  <a:extLst>
                    <a:ext uri="{9D8B030D-6E8A-4147-A177-3AD203B41FA5}">
                      <a16:colId xmlns:a16="http://schemas.microsoft.com/office/drawing/2014/main" val="20000"/>
                    </a:ext>
                  </a:extLst>
                </a:gridCol>
                <a:gridCol w="8327338">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tblGrid>
              <a:tr h="410465">
                <a:tc gridSpan="5">
                  <a:txBody>
                    <a:bodyPr/>
                    <a:lstStyle/>
                    <a:p>
                      <a:pPr algn="ctr"/>
                      <a:r>
                        <a:rPr lang="zh-CN" altLang="zh-CN" sz="1800" b="1" kern="1200" dirty="0">
                          <a:solidFill>
                            <a:schemeClr val="lt1"/>
                          </a:solidFill>
                          <a:effectLst/>
                          <a:latin typeface="华文楷体" panose="02010600040101010101" pitchFamily="2" charset="-122"/>
                          <a:ea typeface="华文楷体" panose="02010600040101010101" pitchFamily="2" charset="-122"/>
                          <a:cs typeface="华文楷体" panose="02010600040101010101" pitchFamily="2" charset="-122"/>
                        </a:rPr>
                        <a:t>“进入新时代”单元思考与行动活动评价量表</a:t>
                      </a:r>
                    </a:p>
                  </a:txBody>
                  <a:tcPr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24000">
                <a:tc>
                  <a:txBody>
                    <a:bodyPr/>
                    <a:lstStyle/>
                    <a:p>
                      <a:pPr algn="ctr"/>
                      <a:r>
                        <a:rPr lang="zh-CN" altLang="en-US" dirty="0">
                          <a:latin typeface="华文楷体" panose="02010600040101010101" pitchFamily="2" charset="-122"/>
                          <a:ea typeface="华文楷体" panose="02010600040101010101" pitchFamily="2" charset="-122"/>
                        </a:rPr>
                        <a:t>评价维度</a:t>
                      </a:r>
                    </a:p>
                  </a:txBody>
                  <a:tcPr/>
                </a:tc>
                <a:tc>
                  <a:txBody>
                    <a:bodyPr/>
                    <a:lstStyle/>
                    <a:p>
                      <a:pPr algn="ctr"/>
                      <a:r>
                        <a:rPr lang="zh-CN" altLang="en-US" dirty="0">
                          <a:latin typeface="华文楷体" panose="02010600040101010101" pitchFamily="2" charset="-122"/>
                          <a:ea typeface="华文楷体" panose="02010600040101010101" pitchFamily="2" charset="-122"/>
                        </a:rPr>
                        <a:t>评价标准</a:t>
                      </a:r>
                    </a:p>
                  </a:txBody>
                  <a:tcPr/>
                </a:tc>
                <a:tc>
                  <a:txBody>
                    <a:bodyPr/>
                    <a:lstStyle/>
                    <a:p>
                      <a:pPr algn="ctr"/>
                      <a:r>
                        <a:rPr lang="zh-CN" altLang="en-US" dirty="0">
                          <a:latin typeface="华文楷体" panose="02010600040101010101" pitchFamily="2" charset="-122"/>
                          <a:ea typeface="华文楷体" panose="02010600040101010101" pitchFamily="2" charset="-122"/>
                        </a:rPr>
                        <a:t>自评</a:t>
                      </a:r>
                    </a:p>
                  </a:txBody>
                  <a:tcPr/>
                </a:tc>
                <a:tc>
                  <a:txBody>
                    <a:bodyPr/>
                    <a:lstStyle/>
                    <a:p>
                      <a:pPr algn="ctr"/>
                      <a:r>
                        <a:rPr lang="zh-CN" altLang="en-US" dirty="0">
                          <a:latin typeface="华文楷体" panose="02010600040101010101" pitchFamily="2" charset="-122"/>
                          <a:ea typeface="华文楷体" panose="02010600040101010101" pitchFamily="2" charset="-122"/>
                        </a:rPr>
                        <a:t>互评</a:t>
                      </a:r>
                    </a:p>
                  </a:txBody>
                  <a:tcPr/>
                </a:tc>
                <a:tc>
                  <a:txBody>
                    <a:bodyPr/>
                    <a:lstStyle/>
                    <a:p>
                      <a:pPr algn="ctr"/>
                      <a:r>
                        <a:rPr lang="zh-CN" altLang="en-US" dirty="0">
                          <a:latin typeface="华文楷体" panose="02010600040101010101" pitchFamily="2" charset="-122"/>
                          <a:ea typeface="华文楷体" panose="02010600040101010101" pitchFamily="2" charset="-122"/>
                        </a:rPr>
                        <a:t>师评</a:t>
                      </a:r>
                    </a:p>
                  </a:txBody>
                  <a:tcPr/>
                </a:tc>
                <a:extLst>
                  <a:ext uri="{0D108BD9-81ED-4DB2-BD59-A6C34878D82A}">
                    <a16:rowId xmlns:a16="http://schemas.microsoft.com/office/drawing/2014/main" val="10001"/>
                  </a:ext>
                </a:extLst>
              </a:tr>
              <a:tr h="900000">
                <a:tc>
                  <a:txBody>
                    <a:bodyPr/>
                    <a:lstStyle/>
                    <a:p>
                      <a:pPr algn="ctr"/>
                      <a:r>
                        <a:rPr lang="zh-CN" altLang="en-US" dirty="0">
                          <a:latin typeface="华文楷体" panose="02010600040101010101" pitchFamily="2" charset="-122"/>
                          <a:ea typeface="华文楷体" panose="02010600040101010101" pitchFamily="2" charset="-122"/>
                        </a:rPr>
                        <a:t>资料搜集与准备</a:t>
                      </a:r>
                    </a:p>
                  </a:txBody>
                  <a:tcPr anchor="ctr"/>
                </a:tc>
                <a:tc>
                  <a:txBody>
                    <a:bodyPr/>
                    <a:lstStyle/>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主动、全面搜集新时代国家成就与家乡发展素材，内容真实、分类清晰</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能够搜集基本素材，内容较完整</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素材欠缺、准备不充分</a:t>
                      </a:r>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2"/>
                  </a:ext>
                </a:extLst>
              </a:tr>
              <a:tr h="900000">
                <a:tc>
                  <a:txBody>
                    <a:bodyPr/>
                    <a:lstStyle/>
                    <a:p>
                      <a:pPr algn="ctr"/>
                      <a:r>
                        <a:rPr lang="zh-CN" altLang="en-US" dirty="0">
                          <a:latin typeface="华文楷体" panose="02010600040101010101" pitchFamily="2" charset="-122"/>
                          <a:ea typeface="华文楷体" panose="02010600040101010101" pitchFamily="2" charset="-122"/>
                        </a:rPr>
                        <a:t>小组合作与参与度</a:t>
                      </a:r>
                    </a:p>
                  </a:txBody>
                  <a:tcPr anchor="ctr"/>
                </a:tc>
                <a:tc>
                  <a:txBody>
                    <a:bodyPr/>
                    <a:lstStyle/>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积极参与展板讨论、研学探究，主动承担任务，团队协作能力强</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能够参与活动，完成分配任务</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参与度低，积极性不足</a:t>
                      </a:r>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3"/>
                  </a:ext>
                </a:extLst>
              </a:tr>
              <a:tr h="900000">
                <a:tc>
                  <a:txBody>
                    <a:bodyPr/>
                    <a:lstStyle/>
                    <a:p>
                      <a:pPr algn="ctr"/>
                      <a:r>
                        <a:rPr lang="zh-CN" altLang="en-US" dirty="0">
                          <a:latin typeface="华文楷体" panose="02010600040101010101" pitchFamily="2" charset="-122"/>
                          <a:ea typeface="华文楷体" panose="02010600040101010101" pitchFamily="2" charset="-122"/>
                        </a:rPr>
                        <a:t>展板设计成果质量</a:t>
                      </a:r>
                    </a:p>
                  </a:txBody>
                  <a:tcPr anchor="ctr"/>
                </a:tc>
                <a:tc>
                  <a:txBody>
                    <a:bodyPr/>
                    <a:lstStyle/>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展板主题鲜明、内容贴合新时代成就，解说词规范、贴合课本知识</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展板完整，主题明确</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内容单薄、偏离主题</a:t>
                      </a:r>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4"/>
                  </a:ext>
                </a:extLst>
              </a:tr>
              <a:tr h="900000">
                <a:tc>
                  <a:txBody>
                    <a:bodyPr/>
                    <a:lstStyle/>
                    <a:p>
                      <a:pPr algn="ctr"/>
                      <a:r>
                        <a:rPr lang="zh-CN" altLang="en-US" dirty="0">
                          <a:latin typeface="华文楷体" panose="02010600040101010101" pitchFamily="2" charset="-122"/>
                          <a:ea typeface="华文楷体" panose="02010600040101010101" pitchFamily="2" charset="-122"/>
                        </a:rPr>
                        <a:t>研学探究表现</a:t>
                      </a:r>
                    </a:p>
                  </a:txBody>
                  <a:tcPr anchor="ctr"/>
                </a:tc>
                <a:tc>
                  <a:txBody>
                    <a:bodyPr/>
                    <a:lstStyle/>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能深入观察盐湖发展变化，准确分析家乡发展原因、理念，思考有深度</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能够完成研学观察与简单分析</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研学思考浅显，完成度低</a:t>
                      </a:r>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5"/>
                  </a:ext>
                </a:extLst>
              </a:tr>
              <a:tr h="900000">
                <a:tc>
                  <a:txBody>
                    <a:bodyPr/>
                    <a:lstStyle/>
                    <a:p>
                      <a:pPr algn="ctr"/>
                      <a:r>
                        <a:rPr lang="zh-CN" altLang="en-US" dirty="0">
                          <a:latin typeface="华文楷体" panose="02010600040101010101" pitchFamily="2" charset="-122"/>
                          <a:ea typeface="华文楷体" panose="02010600040101010101" pitchFamily="2" charset="-122"/>
                        </a:rPr>
                        <a:t>成果展示与感悟反思</a:t>
                      </a:r>
                    </a:p>
                  </a:txBody>
                  <a:tcPr anchor="ctr"/>
                </a:tc>
                <a:tc>
                  <a:txBody>
                    <a:bodyPr/>
                    <a:lstStyle/>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展示表达流畅、逻辑清晰，能结合两项活动谈感悟，树立青年担当意识</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能够完成展示，有基本活动感悟</a:t>
                      </a:r>
                    </a:p>
                    <a:p>
                      <a:r>
                        <a:rPr lang="en-US" altLang="zh-CN" sz="1800" kern="1200" dirty="0">
                          <a:solidFill>
                            <a:schemeClr val="dk1"/>
                          </a:solidFill>
                          <a:effectLst/>
                          <a:latin typeface="华文楷体" panose="02010600040101010101" pitchFamily="2" charset="-122"/>
                          <a:ea typeface="华文楷体" panose="02010600040101010101" pitchFamily="2" charset="-122"/>
                          <a:cs typeface="+mn-cs"/>
                        </a:rPr>
                        <a:t>★</a:t>
                      </a:r>
                      <a:r>
                        <a:rPr lang="zh-CN" altLang="zh-CN" sz="1800" kern="1200" dirty="0">
                          <a:solidFill>
                            <a:schemeClr val="dk1"/>
                          </a:solidFill>
                          <a:effectLst/>
                          <a:latin typeface="华文楷体" panose="02010600040101010101" pitchFamily="2" charset="-122"/>
                          <a:ea typeface="华文楷体" panose="02010600040101010101" pitchFamily="2" charset="-122"/>
                          <a:cs typeface="+mn-cs"/>
                        </a:rPr>
                        <a:t>表达不完整，无思考感悟</a:t>
                      </a:r>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tc>
                  <a:txBody>
                    <a:bodyPr/>
                    <a:lstStyle/>
                    <a:p>
                      <a:endParaRPr lang="zh-CN" alt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236916" y="1085012"/>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课堂小结</a:t>
            </a:r>
          </a:p>
        </p:txBody>
      </p:sp>
      <p:cxnSp>
        <p:nvCxnSpPr>
          <p:cNvPr id="12" name="直接连接符 11"/>
          <p:cNvCxnSpPr/>
          <p:nvPr/>
        </p:nvCxnSpPr>
        <p:spPr>
          <a:xfrm flipV="1">
            <a:off x="3236915" y="1729178"/>
            <a:ext cx="5556738" cy="23447"/>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2674204" y="1470581"/>
            <a:ext cx="445481" cy="469613"/>
            <a:chOff x="2121873" y="1511588"/>
            <a:chExt cx="445481" cy="469613"/>
          </a:xfrm>
        </p:grpSpPr>
        <p:sp>
          <p:nvSpPr>
            <p:cNvPr id="14" name="矩形 13"/>
            <p:cNvSpPr/>
            <p:nvPr/>
          </p:nvSpPr>
          <p:spPr>
            <a:xfrm>
              <a:off x="2121873" y="1511588"/>
              <a:ext cx="363415" cy="363415"/>
            </a:xfrm>
            <a:prstGeom prst="rect">
              <a:avLst/>
            </a:prstGeom>
            <a:solidFill>
              <a:srgbClr val="71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矩形 14"/>
            <p:cNvSpPr/>
            <p:nvPr/>
          </p:nvSpPr>
          <p:spPr>
            <a:xfrm>
              <a:off x="2321171" y="1735018"/>
              <a:ext cx="246183" cy="246183"/>
            </a:xfrm>
            <a:prstGeom prst="rect">
              <a:avLst/>
            </a:prstGeom>
            <a:solidFill>
              <a:srgbClr val="AE0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E0203"/>
                </a:solidFill>
              </a:endParaRPr>
            </a:p>
          </p:txBody>
        </p:sp>
      </p:gr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1" y="2141060"/>
            <a:ext cx="3534116" cy="278409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97800" y="2311737"/>
            <a:ext cx="4114800" cy="2554545"/>
          </a:xfrm>
          <a:prstGeom prst="rect">
            <a:avLst/>
          </a:prstGeom>
          <a:noFill/>
        </p:spPr>
        <p:txBody>
          <a:bodyPr wrap="square">
            <a:spAutoFit/>
          </a:bodyPr>
          <a:lstStyle/>
          <a:p>
            <a:r>
              <a:rPr lang="zh-CN" altLang="en-US" sz="3200" b="0" i="0" dirty="0">
                <a:solidFill>
                  <a:srgbClr val="333333"/>
                </a:solidFill>
                <a:effectLst/>
                <a:latin typeface="华文楷体" panose="02010600040101010101" pitchFamily="2" charset="-122"/>
                <a:ea typeface="华文楷体" panose="02010600040101010101" pitchFamily="2" charset="-122"/>
              </a:rPr>
              <a:t>        “我们为新中国取得的举世瞩目成就无比自豪，对中国式现代化的光明前景充满信心。”</a:t>
            </a:r>
            <a:endParaRPr lang="en-US" altLang="zh-CN" sz="3200" b="0" i="0" dirty="0">
              <a:solidFill>
                <a:srgbClr val="333333"/>
              </a:solidFill>
              <a:effectLst/>
              <a:latin typeface="华文楷体" panose="02010600040101010101" pitchFamily="2" charset="-122"/>
              <a:ea typeface="华文楷体" panose="02010600040101010101" pitchFamily="2" charset="-122"/>
            </a:endParaRPr>
          </a:p>
        </p:txBody>
      </p:sp>
      <p:sp>
        <p:nvSpPr>
          <p:cNvPr id="5" name="文本框 4"/>
          <p:cNvSpPr txBox="1"/>
          <p:nvPr/>
        </p:nvSpPr>
        <p:spPr>
          <a:xfrm>
            <a:off x="216211" y="5073471"/>
            <a:ext cx="11696389" cy="1200329"/>
          </a:xfrm>
          <a:prstGeom prst="rect">
            <a:avLst/>
          </a:prstGeom>
          <a:noFill/>
        </p:spPr>
        <p:txBody>
          <a:bodyPr wrap="square">
            <a:spAutoFit/>
          </a:bodyPr>
          <a:lstStyle/>
          <a:p>
            <a:r>
              <a:rPr lang="zh-CN" altLang="en-US" b="0" i="0" dirty="0">
                <a:solidFill>
                  <a:srgbClr val="333333"/>
                </a:solidFill>
                <a:effectLst/>
                <a:latin typeface="华文楷体" panose="02010600040101010101" pitchFamily="2" charset="-122"/>
                <a:ea typeface="华文楷体" panose="02010600040101010101" pitchFamily="2" charset="-122"/>
              </a:rPr>
              <a:t>左图：</a:t>
            </a:r>
            <a:r>
              <a:rPr lang="en-US" altLang="zh-CN" b="0" i="0" dirty="0">
                <a:solidFill>
                  <a:srgbClr val="333333"/>
                </a:solidFill>
                <a:effectLst/>
                <a:latin typeface="华文楷体" panose="02010600040101010101" pitchFamily="2" charset="-122"/>
                <a:ea typeface="华文楷体" panose="02010600040101010101" pitchFamily="2" charset="-122"/>
              </a:rPr>
              <a:t>2026</a:t>
            </a:r>
            <a:r>
              <a:rPr lang="zh-CN" altLang="en-US" b="0" i="0" dirty="0">
                <a:solidFill>
                  <a:srgbClr val="333333"/>
                </a:solidFill>
                <a:effectLst/>
                <a:latin typeface="华文楷体" panose="02010600040101010101" pitchFamily="2" charset="-122"/>
                <a:ea typeface="华文楷体" panose="02010600040101010101" pitchFamily="2" charset="-122"/>
              </a:rPr>
              <a:t>年</a:t>
            </a:r>
            <a:r>
              <a:rPr lang="en-US" altLang="zh-CN" b="0" i="0" dirty="0">
                <a:solidFill>
                  <a:srgbClr val="333333"/>
                </a:solidFill>
                <a:effectLst/>
                <a:latin typeface="华文楷体" panose="02010600040101010101" pitchFamily="2" charset="-122"/>
                <a:ea typeface="华文楷体" panose="02010600040101010101" pitchFamily="2" charset="-122"/>
              </a:rPr>
              <a:t>9</a:t>
            </a:r>
            <a:r>
              <a:rPr lang="zh-CN" altLang="en-US" b="0" i="0" dirty="0">
                <a:solidFill>
                  <a:srgbClr val="333333"/>
                </a:solidFill>
                <a:effectLst/>
                <a:latin typeface="华文楷体" panose="02010600040101010101" pitchFamily="2" charset="-122"/>
                <a:ea typeface="华文楷体" panose="02010600040101010101" pitchFamily="2" charset="-122"/>
              </a:rPr>
              <a:t>月</a:t>
            </a:r>
            <a:r>
              <a:rPr lang="en-US" altLang="zh-CN" b="0" i="0" dirty="0">
                <a:solidFill>
                  <a:srgbClr val="333333"/>
                </a:solidFill>
                <a:effectLst/>
                <a:latin typeface="华文楷体" panose="02010600040101010101" pitchFamily="2" charset="-122"/>
                <a:ea typeface="华文楷体" panose="02010600040101010101" pitchFamily="2" charset="-122"/>
              </a:rPr>
              <a:t>30</a:t>
            </a:r>
            <a:r>
              <a:rPr lang="zh-CN" altLang="en-US" b="0" i="0" dirty="0">
                <a:solidFill>
                  <a:srgbClr val="333333"/>
                </a:solidFill>
                <a:effectLst/>
                <a:latin typeface="华文楷体" panose="02010600040101010101" pitchFamily="2" charset="-122"/>
                <a:ea typeface="华文楷体" panose="02010600040101010101" pitchFamily="2" charset="-122"/>
              </a:rPr>
              <a:t>日，庆祝中华人民共和国成立</a:t>
            </a:r>
            <a:r>
              <a:rPr lang="en-US" altLang="zh-CN" b="0" i="0" dirty="0">
                <a:solidFill>
                  <a:srgbClr val="333333"/>
                </a:solidFill>
                <a:effectLst/>
                <a:latin typeface="华文楷体" panose="02010600040101010101" pitchFamily="2" charset="-122"/>
                <a:ea typeface="华文楷体" panose="02010600040101010101" pitchFamily="2" charset="-122"/>
              </a:rPr>
              <a:t>77</a:t>
            </a:r>
            <a:r>
              <a:rPr lang="zh-CN" altLang="en-US" b="0" i="0" dirty="0">
                <a:solidFill>
                  <a:srgbClr val="333333"/>
                </a:solidFill>
                <a:effectLst/>
                <a:latin typeface="华文楷体" panose="02010600040101010101" pitchFamily="2" charset="-122"/>
                <a:ea typeface="华文楷体" panose="02010600040101010101" pitchFamily="2" charset="-122"/>
              </a:rPr>
              <a:t>周年招待会在北京人民大会堂举行。中共中央总书记、国家主席、中央军委主席习近平出席招待会并发表重要讲话。</a:t>
            </a:r>
            <a:endParaRPr lang="en-US" altLang="zh-CN" b="0" i="0" dirty="0">
              <a:solidFill>
                <a:srgbClr val="333333"/>
              </a:solidFill>
              <a:effectLst/>
              <a:latin typeface="华文楷体" panose="02010600040101010101" pitchFamily="2" charset="-122"/>
              <a:ea typeface="华文楷体" panose="02010600040101010101" pitchFamily="2" charset="-122"/>
            </a:endParaRPr>
          </a:p>
          <a:p>
            <a:r>
              <a:rPr lang="zh-CN" altLang="en-US" b="0" i="0" dirty="0">
                <a:solidFill>
                  <a:srgbClr val="333333"/>
                </a:solidFill>
                <a:effectLst/>
                <a:latin typeface="华文楷体" panose="02010600040101010101" pitchFamily="2" charset="-122"/>
                <a:ea typeface="华文楷体" panose="02010600040101010101" pitchFamily="2" charset="-122"/>
              </a:rPr>
              <a:t>右图：</a:t>
            </a:r>
            <a:r>
              <a:rPr lang="en-US" altLang="zh-CN" b="0" i="0" dirty="0">
                <a:solidFill>
                  <a:srgbClr val="333333"/>
                </a:solidFill>
                <a:effectLst/>
                <a:latin typeface="华文楷体" panose="02010600040101010101" pitchFamily="2" charset="-122"/>
                <a:ea typeface="华文楷体" panose="02010600040101010101" pitchFamily="2" charset="-122"/>
              </a:rPr>
              <a:t>2026</a:t>
            </a:r>
            <a:r>
              <a:rPr lang="zh-CN" altLang="en-US" b="0" i="0" dirty="0">
                <a:solidFill>
                  <a:srgbClr val="333333"/>
                </a:solidFill>
                <a:effectLst/>
                <a:latin typeface="华文楷体" panose="02010600040101010101" pitchFamily="2" charset="-122"/>
                <a:ea typeface="华文楷体" panose="02010600040101010101" pitchFamily="2" charset="-122"/>
              </a:rPr>
              <a:t>年</a:t>
            </a:r>
            <a:r>
              <a:rPr lang="en-US" altLang="zh-CN" b="0" i="0" dirty="0">
                <a:solidFill>
                  <a:srgbClr val="333333"/>
                </a:solidFill>
                <a:effectLst/>
                <a:latin typeface="华文楷体" panose="02010600040101010101" pitchFamily="2" charset="-122"/>
                <a:ea typeface="华文楷体" panose="02010600040101010101" pitchFamily="2" charset="-122"/>
              </a:rPr>
              <a:t>10</a:t>
            </a:r>
            <a:r>
              <a:rPr lang="zh-CN" altLang="en-US" b="0" i="0" dirty="0">
                <a:solidFill>
                  <a:srgbClr val="333333"/>
                </a:solidFill>
                <a:effectLst/>
                <a:latin typeface="华文楷体" panose="02010600040101010101" pitchFamily="2" charset="-122"/>
                <a:ea typeface="华文楷体" panose="02010600040101010101" pitchFamily="2" charset="-122"/>
              </a:rPr>
              <a:t>月</a:t>
            </a:r>
            <a:r>
              <a:rPr lang="en-US" altLang="zh-CN" b="0" i="0" dirty="0">
                <a:solidFill>
                  <a:srgbClr val="333333"/>
                </a:solidFill>
                <a:effectLst/>
                <a:latin typeface="华文楷体" panose="02010600040101010101" pitchFamily="2" charset="-122"/>
                <a:ea typeface="华文楷体" panose="02010600040101010101" pitchFamily="2" charset="-122"/>
              </a:rPr>
              <a:t>1</a:t>
            </a:r>
            <a:r>
              <a:rPr lang="zh-CN" altLang="en-US" b="0" i="0" dirty="0">
                <a:solidFill>
                  <a:srgbClr val="333333"/>
                </a:solidFill>
                <a:effectLst/>
                <a:latin typeface="华文楷体" panose="02010600040101010101" pitchFamily="2" charset="-122"/>
                <a:ea typeface="华文楷体" panose="02010600040101010101" pitchFamily="2" charset="-122"/>
              </a:rPr>
              <a:t>日清晨，北京天安门广场举行升国旗仪式，庆祝中华人民共和国成立</a:t>
            </a:r>
            <a:r>
              <a:rPr lang="en-US" altLang="zh-CN" b="0" i="0" dirty="0">
                <a:solidFill>
                  <a:srgbClr val="333333"/>
                </a:solidFill>
                <a:effectLst/>
                <a:latin typeface="华文楷体" panose="02010600040101010101" pitchFamily="2" charset="-122"/>
                <a:ea typeface="华文楷体" panose="02010600040101010101" pitchFamily="2" charset="-122"/>
              </a:rPr>
              <a:t>77</a:t>
            </a:r>
            <a:r>
              <a:rPr lang="zh-CN" altLang="en-US" b="0" i="0" dirty="0">
                <a:solidFill>
                  <a:srgbClr val="333333"/>
                </a:solidFill>
                <a:effectLst/>
                <a:latin typeface="华文楷体" panose="02010600040101010101" pitchFamily="2" charset="-122"/>
                <a:ea typeface="华文楷体" panose="02010600040101010101" pitchFamily="2" charset="-122"/>
              </a:rPr>
              <a:t>周年。</a:t>
            </a:r>
            <a:endParaRPr lang="en-US" altLang="zh-CN" b="0" i="0" dirty="0">
              <a:solidFill>
                <a:srgbClr val="333333"/>
              </a:solidFill>
              <a:effectLst/>
              <a:latin typeface="华文楷体" panose="02010600040101010101" pitchFamily="2" charset="-122"/>
              <a:ea typeface="华文楷体" panose="02010600040101010101" pitchFamily="2" charset="-122"/>
            </a:endParaRPr>
          </a:p>
          <a:p>
            <a:pPr algn="ctr"/>
            <a:r>
              <a:rPr lang="zh-CN" altLang="en-US" dirty="0">
                <a:solidFill>
                  <a:srgbClr val="333333"/>
                </a:solidFill>
                <a:latin typeface="华文楷体" panose="02010600040101010101" pitchFamily="2" charset="-122"/>
                <a:ea typeface="华文楷体" panose="02010600040101010101" pitchFamily="2" charset="-122"/>
              </a:rPr>
              <a:t>图片来源：央视新闻</a:t>
            </a:r>
            <a:endParaRPr lang="zh-CN" altLang="en-US" dirty="0">
              <a:latin typeface="华文楷体" panose="02010600040101010101" pitchFamily="2" charset="-122"/>
              <a:ea typeface="华文楷体" panose="02010600040101010101" pitchFamily="2" charset="-122"/>
            </a:endParaRPr>
          </a:p>
        </p:txBody>
      </p:sp>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1301" y="2141061"/>
            <a:ext cx="3532499" cy="27840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76"/>
          <p:cNvSpPr txBox="1"/>
          <p:nvPr/>
        </p:nvSpPr>
        <p:spPr>
          <a:xfrm>
            <a:off x="1663897" y="1067087"/>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课堂小结</a:t>
            </a:r>
          </a:p>
        </p:txBody>
      </p:sp>
      <p:cxnSp>
        <p:nvCxnSpPr>
          <p:cNvPr id="78" name="直接连接符 77"/>
          <p:cNvCxnSpPr/>
          <p:nvPr/>
        </p:nvCxnSpPr>
        <p:spPr>
          <a:xfrm flipV="1">
            <a:off x="1663896" y="1711253"/>
            <a:ext cx="5556738" cy="23447"/>
          </a:xfrm>
          <a:prstGeom prst="line">
            <a:avLst/>
          </a:prstGeom>
          <a:ln w="12700">
            <a:solidFill>
              <a:srgbClr val="711000"/>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1101185" y="1452656"/>
            <a:ext cx="445481" cy="469613"/>
            <a:chOff x="2121873" y="1511588"/>
            <a:chExt cx="445481" cy="469613"/>
          </a:xfrm>
        </p:grpSpPr>
        <p:sp>
          <p:nvSpPr>
            <p:cNvPr id="80" name="矩形 79"/>
            <p:cNvSpPr/>
            <p:nvPr/>
          </p:nvSpPr>
          <p:spPr>
            <a:xfrm>
              <a:off x="2121873" y="1511588"/>
              <a:ext cx="363415" cy="363415"/>
            </a:xfrm>
            <a:prstGeom prst="rect">
              <a:avLst/>
            </a:prstGeom>
            <a:solidFill>
              <a:srgbClr val="71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1" name="矩形 80"/>
            <p:cNvSpPr/>
            <p:nvPr/>
          </p:nvSpPr>
          <p:spPr>
            <a:xfrm>
              <a:off x="2321171" y="1735018"/>
              <a:ext cx="246183" cy="246183"/>
            </a:xfrm>
            <a:prstGeom prst="rect">
              <a:avLst/>
            </a:prstGeom>
            <a:solidFill>
              <a:srgbClr val="AE0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E0203"/>
                </a:solidFill>
              </a:endParaRPr>
            </a:p>
          </p:txBody>
        </p:sp>
      </p:grpSp>
      <p:sp>
        <p:nvSpPr>
          <p:cNvPr id="4" name="文本框 3"/>
          <p:cNvSpPr txBox="1"/>
          <p:nvPr/>
        </p:nvSpPr>
        <p:spPr>
          <a:xfrm>
            <a:off x="473515" y="2313238"/>
            <a:ext cx="7638610" cy="3354765"/>
          </a:xfrm>
          <a:prstGeom prst="rect">
            <a:avLst/>
          </a:prstGeom>
          <a:noFill/>
        </p:spPr>
        <p:txBody>
          <a:bodyPr wrap="square">
            <a:spAutoFit/>
          </a:bodyPr>
          <a:lstStyle/>
          <a:p>
            <a:pPr indent="647700">
              <a:spcBef>
                <a:spcPts val="600"/>
              </a:spcBef>
              <a:spcAft>
                <a:spcPts val="600"/>
              </a:spcAft>
            </a:pPr>
            <a:r>
              <a:rPr lang="zh-CN" altLang="en-US" sz="2400" dirty="0">
                <a:solidFill>
                  <a:srgbClr val="333333"/>
                </a:solidFill>
                <a:latin typeface="华文楷体" panose="02010600040101010101" pitchFamily="2" charset="-122"/>
                <a:ea typeface="华文楷体" panose="02010600040101010101" pitchFamily="2" charset="-122"/>
              </a:rPr>
              <a:t>新时代新征程，社会主义中国巍然屹立，中华民族伟大复兴势不可挡。</a:t>
            </a:r>
            <a:endParaRPr lang="en-US" altLang="zh-CN" sz="2400" dirty="0">
              <a:solidFill>
                <a:srgbClr val="333333"/>
              </a:solidFill>
              <a:latin typeface="华文楷体" panose="02010600040101010101" pitchFamily="2" charset="-122"/>
              <a:ea typeface="华文楷体" panose="02010600040101010101" pitchFamily="2" charset="-122"/>
            </a:endParaRPr>
          </a:p>
          <a:p>
            <a:pPr indent="647700">
              <a:spcBef>
                <a:spcPts val="600"/>
              </a:spcBef>
              <a:spcAft>
                <a:spcPts val="600"/>
              </a:spcAft>
            </a:pPr>
            <a:r>
              <a:rPr lang="zh-CN" altLang="en-US" sz="2400" dirty="0">
                <a:solidFill>
                  <a:srgbClr val="333333"/>
                </a:solidFill>
                <a:latin typeface="华文楷体" panose="02010600040101010101" pitchFamily="2" charset="-122"/>
                <a:ea typeface="华文楷体" panose="02010600040101010101" pitchFamily="2" charset="-122"/>
              </a:rPr>
              <a:t>我们是实现强国建设、民族复兴伟业的中坚力量， “勿忘昨天的苦难辉煌，无愧今天的使命担当，不负明天的伟大梦想”， “自觉做习近平新时代中国特色社会主义思想的坚定信仰者、积极传播者、忠实实践者。</a:t>
            </a:r>
            <a:r>
              <a:rPr lang="en-US" altLang="zh-CN" sz="2400" dirty="0">
                <a:solidFill>
                  <a:srgbClr val="333333"/>
                </a:solidFill>
                <a:latin typeface="华文楷体" panose="02010600040101010101" pitchFamily="2" charset="-122"/>
                <a:ea typeface="华文楷体" panose="02010600040101010101" pitchFamily="2" charset="-122"/>
              </a:rPr>
              <a:t>”</a:t>
            </a:r>
          </a:p>
          <a:p>
            <a:pPr indent="647700">
              <a:spcBef>
                <a:spcPts val="600"/>
              </a:spcBef>
              <a:spcAft>
                <a:spcPts val="600"/>
              </a:spcAft>
            </a:pPr>
            <a:r>
              <a:rPr lang="zh-CN" altLang="en-US" sz="2400" dirty="0">
                <a:solidFill>
                  <a:srgbClr val="FF0000"/>
                </a:solidFill>
                <a:latin typeface="华文楷体" panose="02010600040101010101" pitchFamily="2" charset="-122"/>
                <a:ea typeface="华文楷体" panose="02010600040101010101" pitchFamily="2" charset="-122"/>
              </a:rPr>
              <a:t>以青春见证中国腾飞，用成长助推家乡发展</a:t>
            </a:r>
            <a:r>
              <a:rPr lang="en-US" altLang="zh-CN" sz="2400" dirty="0">
                <a:solidFill>
                  <a:srgbClr val="FF0000"/>
                </a:solidFill>
                <a:latin typeface="华文楷体" panose="02010600040101010101" pitchFamily="2" charset="-122"/>
                <a:ea typeface="华文楷体" panose="02010600040101010101" pitchFamily="2" charset="-122"/>
              </a:rPr>
              <a:t>——</a:t>
            </a:r>
            <a:r>
              <a:rPr lang="zh-CN" altLang="en-US" sz="2400" dirty="0">
                <a:solidFill>
                  <a:srgbClr val="FF0000"/>
                </a:solidFill>
                <a:latin typeface="华文楷体" panose="02010600040101010101" pitchFamily="2" charset="-122"/>
                <a:ea typeface="华文楷体" panose="02010600040101010101" pitchFamily="2" charset="-122"/>
              </a:rPr>
              <a:t>这就是我们的青春答卷！</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347" y="1416337"/>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392366" y="2093523"/>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29655" y="1834926"/>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39788" y="2453656"/>
            <a:ext cx="10698162" cy="3477427"/>
          </a:xfrm>
          <a:prstGeom prst="rect">
            <a:avLst/>
          </a:prstGeom>
          <a:noFill/>
        </p:spPr>
        <p:txBody>
          <a:bodyPr wrap="square" rtlCol="0">
            <a:spAutoFit/>
          </a:bodyPr>
          <a:lstStyle/>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1.</a:t>
            </a:r>
            <a:r>
              <a:rPr lang="zh-CN" altLang="en-US" sz="2400" dirty="0">
                <a:solidFill>
                  <a:prstClr val="black"/>
                </a:solidFill>
                <a:latin typeface="华文楷体" panose="02010600040101010101" pitchFamily="2" charset="-122"/>
                <a:ea typeface="华文楷体" panose="02010600040101010101" pitchFamily="2" charset="-122"/>
              </a:rPr>
              <a:t>进入新时代，我国社会主要矛盾已经转化为人民日益增长的美好生活需要和不平衡不充分的发展之间的矛盾，在生态文明、法治建设、民生改善等领域取得一系列辉煌成就。下列对新时代认识正确的是（   ）</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A. </a:t>
            </a:r>
            <a:r>
              <a:rPr lang="zh-CN" altLang="en-US" sz="2400" dirty="0">
                <a:solidFill>
                  <a:prstClr val="black"/>
                </a:solidFill>
                <a:latin typeface="华文楷体" panose="02010600040101010101" pitchFamily="2" charset="-122"/>
                <a:ea typeface="华文楷体" panose="02010600040101010101" pitchFamily="2" charset="-122"/>
              </a:rPr>
              <a:t>新时代意味着我国已经建成社会主义现代化强国</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B. </a:t>
            </a:r>
            <a:r>
              <a:rPr lang="zh-CN" altLang="en-US" sz="2400" dirty="0">
                <a:solidFill>
                  <a:prstClr val="black"/>
                </a:solidFill>
                <a:latin typeface="华文楷体" panose="02010600040101010101" pitchFamily="2" charset="-122"/>
                <a:ea typeface="华文楷体" panose="02010600040101010101" pitchFamily="2" charset="-122"/>
              </a:rPr>
              <a:t>新时代是全国各族人民团结奋斗、不断创造美好生活的时代</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C. </a:t>
            </a:r>
            <a:r>
              <a:rPr lang="zh-CN" altLang="en-US" sz="2400" dirty="0">
                <a:solidFill>
                  <a:prstClr val="black"/>
                </a:solidFill>
                <a:latin typeface="华文楷体" panose="02010600040101010101" pitchFamily="2" charset="-122"/>
                <a:ea typeface="华文楷体" panose="02010600040101010101" pitchFamily="2" charset="-122"/>
              </a:rPr>
              <a:t>新时代我国社会主要矛盾已经得到彻底解决</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D. </a:t>
            </a:r>
            <a:r>
              <a:rPr lang="zh-CN" altLang="en-US" sz="2400" dirty="0">
                <a:solidFill>
                  <a:prstClr val="black"/>
                </a:solidFill>
                <a:latin typeface="华文楷体" panose="02010600040101010101" pitchFamily="2" charset="-122"/>
                <a:ea typeface="华文楷体" panose="02010600040101010101" pitchFamily="2" charset="-122"/>
              </a:rPr>
              <a:t>新时代标志着我国已经实现全体人民共同富裕</a:t>
            </a:r>
          </a:p>
        </p:txBody>
      </p:sp>
      <p:sp>
        <p:nvSpPr>
          <p:cNvPr id="7" name="文本框 6"/>
          <p:cNvSpPr txBox="1"/>
          <p:nvPr/>
        </p:nvSpPr>
        <p:spPr>
          <a:xfrm>
            <a:off x="8199438" y="3310906"/>
            <a:ext cx="430212" cy="510461"/>
          </a:xfrm>
          <a:prstGeom prst="rect">
            <a:avLst/>
          </a:prstGeom>
          <a:noFill/>
        </p:spPr>
        <p:txBody>
          <a:bodyPr wrap="square" rtlCol="0">
            <a:spAutoFit/>
          </a:bodyPr>
          <a:lstStyle/>
          <a:p>
            <a:pPr fontAlgn="auto">
              <a:lnSpc>
                <a:spcPct val="120000"/>
              </a:lnSpc>
              <a:spcBef>
                <a:spcPts val="600"/>
              </a:spcBef>
            </a:pPr>
            <a:r>
              <a:rPr lang="en-US" altLang="zh-CN" sz="2400" dirty="0">
                <a:solidFill>
                  <a:srgbClr val="C00000"/>
                </a:solidFill>
                <a:latin typeface="华文楷体" panose="02010600040101010101" pitchFamily="2" charset="-122"/>
                <a:ea typeface="华文楷体" panose="02010600040101010101" pitchFamily="2" charset="-122"/>
              </a:rPr>
              <a:t>B</a:t>
            </a:r>
            <a:endParaRPr lang="zh-CN" altLang="en-US" sz="2400"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347" y="1416337"/>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392366" y="2093523"/>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29655" y="1834926"/>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39788" y="2453656"/>
            <a:ext cx="10698162" cy="3554371"/>
          </a:xfrm>
          <a:prstGeom prst="rect">
            <a:avLst/>
          </a:prstGeom>
          <a:noFill/>
        </p:spPr>
        <p:txBody>
          <a:bodyPr wrap="square" rtlCol="0">
            <a:spAutoFit/>
          </a:bodyPr>
          <a:lstStyle/>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2.《</a:t>
            </a:r>
            <a:r>
              <a:rPr lang="zh-CN" altLang="en-US" sz="2400" dirty="0">
                <a:solidFill>
                  <a:prstClr val="black"/>
                </a:solidFill>
                <a:latin typeface="华文楷体" panose="02010600040101010101" pitchFamily="2" charset="-122"/>
                <a:ea typeface="华文楷体" panose="02010600040101010101" pitchFamily="2" charset="-122"/>
              </a:rPr>
              <a:t>中华人民共和国黄河保护法</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为黄河流域生态保护和高质量发展提供坚实法治保障，坚持共同抓好大保护，协同推进大治理。这一举措体现（   ）</a:t>
            </a:r>
          </a:p>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①坚持依法治国，建设法治中国</a:t>
            </a:r>
          </a:p>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②践行绿水青山就是金山银山理念</a:t>
            </a:r>
          </a:p>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③生态保护可以脱离经济发展单独推进</a:t>
            </a:r>
          </a:p>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④走绿色发展道路，促进人与自然和谐共生</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A.①②③  B.①②④  C.①③④  D.②③④</a:t>
            </a:r>
          </a:p>
        </p:txBody>
      </p:sp>
      <p:sp>
        <p:nvSpPr>
          <p:cNvPr id="4" name="文本框 3"/>
          <p:cNvSpPr txBox="1"/>
          <p:nvPr/>
        </p:nvSpPr>
        <p:spPr>
          <a:xfrm>
            <a:off x="10593388" y="2872756"/>
            <a:ext cx="430212" cy="510461"/>
          </a:xfrm>
          <a:prstGeom prst="rect">
            <a:avLst/>
          </a:prstGeom>
          <a:noFill/>
        </p:spPr>
        <p:txBody>
          <a:bodyPr wrap="square" rtlCol="0">
            <a:spAutoFit/>
          </a:bodyPr>
          <a:lstStyle/>
          <a:p>
            <a:pPr fontAlgn="auto">
              <a:lnSpc>
                <a:spcPct val="120000"/>
              </a:lnSpc>
              <a:spcBef>
                <a:spcPts val="600"/>
              </a:spcBef>
            </a:pPr>
            <a:r>
              <a:rPr lang="en-US" altLang="zh-CN" sz="2400" dirty="0">
                <a:solidFill>
                  <a:srgbClr val="C00000"/>
                </a:solidFill>
                <a:latin typeface="华文楷体" panose="02010600040101010101" pitchFamily="2" charset="-122"/>
                <a:ea typeface="华文楷体" panose="02010600040101010101" pitchFamily="2" charset="-122"/>
              </a:rPr>
              <a:t>B</a:t>
            </a:r>
            <a:endParaRPr lang="zh-CN" altLang="en-US" sz="2400"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347" y="1416337"/>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392366" y="2093523"/>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29655" y="1834926"/>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21654" y="2240158"/>
            <a:ext cx="10698162" cy="3920625"/>
          </a:xfrm>
          <a:prstGeom prst="rect">
            <a:avLst/>
          </a:prstGeom>
          <a:noFill/>
        </p:spPr>
        <p:txBody>
          <a:bodyPr wrap="square" rtlCol="0">
            <a:spAutoFit/>
          </a:bodyPr>
          <a:lstStyle/>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3.</a:t>
            </a:r>
            <a:r>
              <a:rPr lang="zh-CN" altLang="en-US" sz="2400" dirty="0">
                <a:solidFill>
                  <a:prstClr val="black"/>
                </a:solidFill>
                <a:latin typeface="华文楷体" panose="02010600040101010101" pitchFamily="2" charset="-122"/>
                <a:ea typeface="华文楷体" panose="02010600040101010101" pitchFamily="2" charset="-122"/>
              </a:rPr>
              <a:t>“十五五”规划纲要提出，推进低空经济健康发展、推进国产大飞机规模化系列化发展、支持创新药临床使用。</a:t>
            </a:r>
            <a:r>
              <a:rPr lang="en-US" altLang="zh-CN" sz="2400" dirty="0">
                <a:solidFill>
                  <a:prstClr val="black"/>
                </a:solidFill>
                <a:latin typeface="华文楷体" panose="02010600040101010101" pitchFamily="2" charset="-122"/>
                <a:ea typeface="华文楷体" panose="02010600040101010101" pitchFamily="2" charset="-122"/>
              </a:rPr>
              <a:t>2025 </a:t>
            </a:r>
            <a:r>
              <a:rPr lang="zh-CN" altLang="en-US" sz="2400" dirty="0">
                <a:solidFill>
                  <a:prstClr val="black"/>
                </a:solidFill>
                <a:latin typeface="华文楷体" panose="02010600040101010101" pitchFamily="2" charset="-122"/>
                <a:ea typeface="华文楷体" panose="02010600040101010101" pitchFamily="2" charset="-122"/>
              </a:rPr>
              <a:t>年，我国“新三样”（电动汽车、锂电池、光伏产品）出口规模接近 </a:t>
            </a:r>
            <a:r>
              <a:rPr lang="en-US" altLang="zh-CN" sz="2400" dirty="0">
                <a:solidFill>
                  <a:prstClr val="black"/>
                </a:solidFill>
                <a:latin typeface="华文楷体" panose="02010600040101010101" pitchFamily="2" charset="-122"/>
                <a:ea typeface="华文楷体" panose="02010600040101010101" pitchFamily="2" charset="-122"/>
              </a:rPr>
              <a:t>1.3 </a:t>
            </a:r>
            <a:r>
              <a:rPr lang="zh-CN" altLang="en-US" sz="2400" dirty="0">
                <a:solidFill>
                  <a:prstClr val="black"/>
                </a:solidFill>
                <a:latin typeface="华文楷体" panose="02010600040101010101" pitchFamily="2" charset="-122"/>
                <a:ea typeface="华文楷体" panose="02010600040101010101" pitchFamily="2" charset="-122"/>
              </a:rPr>
              <a:t>万亿元，比 </a:t>
            </a:r>
            <a:r>
              <a:rPr lang="en-US" altLang="zh-CN" sz="2400" dirty="0">
                <a:solidFill>
                  <a:prstClr val="black"/>
                </a:solidFill>
                <a:latin typeface="华文楷体" panose="02010600040101010101" pitchFamily="2" charset="-122"/>
                <a:ea typeface="华文楷体" panose="02010600040101010101" pitchFamily="2" charset="-122"/>
              </a:rPr>
              <a:t>2020 </a:t>
            </a:r>
            <a:r>
              <a:rPr lang="zh-CN" altLang="en-US" sz="2400" dirty="0">
                <a:solidFill>
                  <a:prstClr val="black"/>
                </a:solidFill>
                <a:latin typeface="华文楷体" panose="02010600040101010101" pitchFamily="2" charset="-122"/>
                <a:ea typeface="华文楷体" panose="02010600040101010101" pitchFamily="2" charset="-122"/>
              </a:rPr>
              <a:t>年增长 </a:t>
            </a:r>
            <a:r>
              <a:rPr lang="en-US" altLang="zh-CN" sz="2400" dirty="0">
                <a:solidFill>
                  <a:prstClr val="black"/>
                </a:solidFill>
                <a:latin typeface="华文楷体" panose="02010600040101010101" pitchFamily="2" charset="-122"/>
                <a:ea typeface="华文楷体" panose="02010600040101010101" pitchFamily="2" charset="-122"/>
              </a:rPr>
              <a:t>3.5 </a:t>
            </a:r>
            <a:r>
              <a:rPr lang="zh-CN" altLang="en-US" sz="2400" dirty="0">
                <a:solidFill>
                  <a:prstClr val="black"/>
                </a:solidFill>
                <a:latin typeface="华文楷体" panose="02010600040101010101" pitchFamily="2" charset="-122"/>
                <a:ea typeface="华文楷体" panose="02010600040101010101" pitchFamily="2" charset="-122"/>
              </a:rPr>
              <a:t>倍。这主要表明（　　）</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A. </a:t>
            </a:r>
            <a:r>
              <a:rPr lang="zh-CN" altLang="en-US" sz="2400" dirty="0">
                <a:solidFill>
                  <a:prstClr val="black"/>
                </a:solidFill>
                <a:latin typeface="华文楷体" panose="02010600040101010101" pitchFamily="2" charset="-122"/>
                <a:ea typeface="华文楷体" panose="02010600040101010101" pitchFamily="2" charset="-122"/>
              </a:rPr>
              <a:t>我国已建成现代化经济体系，实现了高质量发展</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B. </a:t>
            </a:r>
            <a:r>
              <a:rPr lang="zh-CN" altLang="en-US" sz="2400" dirty="0">
                <a:solidFill>
                  <a:prstClr val="black"/>
                </a:solidFill>
                <a:latin typeface="华文楷体" panose="02010600040101010101" pitchFamily="2" charset="-122"/>
                <a:ea typeface="华文楷体" panose="02010600040101010101" pitchFamily="2" charset="-122"/>
              </a:rPr>
              <a:t>我国坚持创新驱动发展，加快培育新质生产力</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C. </a:t>
            </a:r>
            <a:r>
              <a:rPr lang="zh-CN" altLang="en-US" sz="2400" dirty="0">
                <a:solidFill>
                  <a:prstClr val="black"/>
                </a:solidFill>
                <a:latin typeface="华文楷体" panose="02010600040101010101" pitchFamily="2" charset="-122"/>
                <a:ea typeface="华文楷体" panose="02010600040101010101" pitchFamily="2" charset="-122"/>
              </a:rPr>
              <a:t>出口规模扩大是衡量经济发展的唯一标准</a:t>
            </a:r>
          </a:p>
          <a:p>
            <a:pPr indent="6477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D. </a:t>
            </a:r>
            <a:r>
              <a:rPr lang="zh-CN" altLang="en-US" sz="2400" dirty="0">
                <a:solidFill>
                  <a:prstClr val="black"/>
                </a:solidFill>
                <a:latin typeface="华文楷体" panose="02010600040101010101" pitchFamily="2" charset="-122"/>
                <a:ea typeface="华文楷体" panose="02010600040101010101" pitchFamily="2" charset="-122"/>
              </a:rPr>
              <a:t>新兴产业的发展无需传统产业作为基础</a:t>
            </a:r>
          </a:p>
        </p:txBody>
      </p:sp>
      <p:sp>
        <p:nvSpPr>
          <p:cNvPr id="4" name="文本框 3"/>
          <p:cNvSpPr txBox="1"/>
          <p:nvPr/>
        </p:nvSpPr>
        <p:spPr>
          <a:xfrm>
            <a:off x="1938985" y="3547553"/>
            <a:ext cx="430212" cy="510461"/>
          </a:xfrm>
          <a:prstGeom prst="rect">
            <a:avLst/>
          </a:prstGeom>
          <a:noFill/>
        </p:spPr>
        <p:txBody>
          <a:bodyPr wrap="square" rtlCol="0">
            <a:spAutoFit/>
          </a:bodyPr>
          <a:lstStyle/>
          <a:p>
            <a:pPr fontAlgn="auto">
              <a:lnSpc>
                <a:spcPct val="120000"/>
              </a:lnSpc>
              <a:spcBef>
                <a:spcPts val="600"/>
              </a:spcBef>
            </a:pPr>
            <a:r>
              <a:rPr lang="en-US" altLang="zh-CN" sz="2400" dirty="0">
                <a:solidFill>
                  <a:srgbClr val="C00000"/>
                </a:solidFill>
                <a:latin typeface="华文楷体" panose="02010600040101010101" pitchFamily="2" charset="-122"/>
                <a:ea typeface="华文楷体" panose="02010600040101010101" pitchFamily="2" charset="-122"/>
              </a:rPr>
              <a:t>B</a:t>
            </a:r>
            <a:endParaRPr lang="zh-CN" altLang="en-US" sz="2400"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BFAB1-6ADB-CB8B-95CE-A429E346B19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6CED46FB-EE4F-9B64-BEB3-DDEEF6A6F46B}"/>
              </a:ext>
            </a:extLst>
          </p:cNvPr>
          <p:cNvSpPr txBox="1"/>
          <p:nvPr/>
        </p:nvSpPr>
        <p:spPr>
          <a:xfrm>
            <a:off x="3392367" y="887382"/>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a:extLst>
              <a:ext uri="{FF2B5EF4-FFF2-40B4-BE49-F238E27FC236}">
                <a16:creationId xmlns:a16="http://schemas.microsoft.com/office/drawing/2014/main" id="{FBDF6369-FAD8-522F-A910-AC46B1BF2EE9}"/>
              </a:ext>
            </a:extLst>
          </p:cNvPr>
          <p:cNvCxnSpPr/>
          <p:nvPr/>
        </p:nvCxnSpPr>
        <p:spPr>
          <a:xfrm flipV="1">
            <a:off x="3425386" y="1564568"/>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4A01A680-3D38-C1BD-7D01-B609785CC6D5}"/>
              </a:ext>
            </a:extLst>
          </p:cNvPr>
          <p:cNvGrpSpPr/>
          <p:nvPr/>
        </p:nvGrpSpPr>
        <p:grpSpPr>
          <a:xfrm>
            <a:off x="2862675" y="1305971"/>
            <a:ext cx="445481" cy="469613"/>
            <a:chOff x="2121873" y="1511588"/>
            <a:chExt cx="445481" cy="469613"/>
          </a:xfrm>
        </p:grpSpPr>
        <p:sp>
          <p:nvSpPr>
            <p:cNvPr id="5" name="矩形 4">
              <a:extLst>
                <a:ext uri="{FF2B5EF4-FFF2-40B4-BE49-F238E27FC236}">
                  <a16:creationId xmlns:a16="http://schemas.microsoft.com/office/drawing/2014/main" id="{D1253E6C-4B62-BB99-0910-C7B169A77389}"/>
                </a:ext>
              </a:extLst>
            </p:cNvPr>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a:extLst>
                <a:ext uri="{FF2B5EF4-FFF2-40B4-BE49-F238E27FC236}">
                  <a16:creationId xmlns:a16="http://schemas.microsoft.com/office/drawing/2014/main" id="{56D1FBB4-A321-FF69-7C9D-F57778D23BAB}"/>
                </a:ext>
              </a:extLst>
            </p:cNvPr>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a:extLst>
              <a:ext uri="{FF2B5EF4-FFF2-40B4-BE49-F238E27FC236}">
                <a16:creationId xmlns:a16="http://schemas.microsoft.com/office/drawing/2014/main" id="{2F7648AA-A7ED-1524-2AEB-785B70167515}"/>
              </a:ext>
            </a:extLst>
          </p:cNvPr>
          <p:cNvSpPr txBox="1"/>
          <p:nvPr/>
        </p:nvSpPr>
        <p:spPr>
          <a:xfrm>
            <a:off x="865981" y="1775584"/>
            <a:ext cx="10460038" cy="4576189"/>
          </a:xfrm>
          <a:prstGeom prst="rect">
            <a:avLst/>
          </a:prstGeom>
          <a:noFill/>
        </p:spPr>
        <p:txBody>
          <a:bodyPr wrap="square" rtlCol="0">
            <a:spAutoFit/>
          </a:bodyPr>
          <a:lstStyle/>
          <a:p>
            <a:pPr indent="648000" fontAlgn="auto">
              <a:lnSpc>
                <a:spcPct val="120000"/>
              </a:lnSpc>
              <a:spcBef>
                <a:spcPts val="600"/>
              </a:spcBef>
            </a:pPr>
            <a:r>
              <a:rPr lang="en-US" altLang="zh-CN" sz="2400" dirty="0">
                <a:solidFill>
                  <a:prstClr val="black"/>
                </a:solidFill>
                <a:latin typeface="华文楷体" panose="02010600040101010101" pitchFamily="2" charset="-122"/>
                <a:ea typeface="华文楷体" panose="02010600040101010101" pitchFamily="2" charset="-122"/>
              </a:rPr>
              <a:t>4.</a:t>
            </a:r>
            <a:r>
              <a:rPr lang="zh-CN" altLang="en-US" sz="2400" dirty="0">
                <a:solidFill>
                  <a:prstClr val="black"/>
                </a:solidFill>
                <a:latin typeface="华文楷体" panose="02010600040101010101" pitchFamily="2" charset="-122"/>
                <a:ea typeface="华文楷体" panose="02010600040101010101" pitchFamily="2" charset="-122"/>
              </a:rPr>
              <a:t>新中国成立之初，我国“连铁钉和火柴都需要进口”，工业基础薄弱，科技前沿几近空白。</a:t>
            </a:r>
            <a:r>
              <a:rPr lang="en-US" altLang="zh-CN" sz="2400" dirty="0">
                <a:solidFill>
                  <a:prstClr val="black"/>
                </a:solidFill>
                <a:latin typeface="华文楷体" panose="02010600040101010101" pitchFamily="2" charset="-122"/>
                <a:ea typeface="华文楷体" panose="02010600040101010101" pitchFamily="2" charset="-122"/>
              </a:rPr>
              <a:t>77 </a:t>
            </a:r>
            <a:r>
              <a:rPr lang="zh-CN" altLang="en-US" sz="2400" dirty="0">
                <a:solidFill>
                  <a:prstClr val="black"/>
                </a:solidFill>
                <a:latin typeface="华文楷体" panose="02010600040101010101" pitchFamily="2" charset="-122"/>
                <a:ea typeface="华文楷体" panose="02010600040101010101" pitchFamily="2" charset="-122"/>
              </a:rPr>
              <a:t>载岁月，神州大地天翻地覆：如今，我国建成全球最完整、规模最大的研发体系和工业体系，进入创新型国家行列</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奋斗者”号深潜万米，“中国天眼”巡天观测，中国空间站遨游太空，国产大模型引领全球开源生态</a:t>
            </a:r>
            <a:r>
              <a:rPr lang="en-US" altLang="zh-CN" sz="2400" dirty="0">
                <a:solidFill>
                  <a:prstClr val="black"/>
                </a:solidFill>
                <a:latin typeface="华文楷体" panose="02010600040101010101" pitchFamily="2" charset="-122"/>
                <a:ea typeface="华文楷体" panose="02010600040101010101" pitchFamily="2" charset="-122"/>
              </a:rPr>
              <a:t>……</a:t>
            </a:r>
          </a:p>
          <a:p>
            <a:pPr indent="6480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这些成就的背后，是一以贯之的方向引领。党中央提出“以科技创新为引领，大力培育壮大新兴产业和未来产业”，从基础研究的系统部署，到“十五五”规划对新兴产业的整体布局，再到广大科技工作者数十年如一日地攻关“卡脖子”难题</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一代代人接力奋斗，让“中国制造”加速迈向“中国创造”。</a:t>
            </a:r>
          </a:p>
        </p:txBody>
      </p:sp>
    </p:spTree>
    <p:extLst>
      <p:ext uri="{BB962C8B-B14F-4D97-AF65-F5344CB8AC3E}">
        <p14:creationId xmlns:p14="http://schemas.microsoft.com/office/powerpoint/2010/main" val="347589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92367" y="1008032"/>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425386" y="1685218"/>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62675" y="1426621"/>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49313" y="2260009"/>
            <a:ext cx="10779499" cy="1396857"/>
          </a:xfrm>
          <a:prstGeom prst="rect">
            <a:avLst/>
          </a:prstGeom>
          <a:noFill/>
        </p:spPr>
        <p:txBody>
          <a:bodyPr wrap="square" rtlCol="0">
            <a:spAutoFit/>
          </a:bodyPr>
          <a:lstStyle/>
          <a:p>
            <a:pPr indent="6480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与此同时，越来越多科技成果走进寻常百姓家：高铁、北斗、移动支付让出行与生活更便捷，创新药、农作物新品种让健康与粮食安全更有保障，绿色低碳技术让天更蓝、水更清。</a:t>
            </a:r>
          </a:p>
        </p:txBody>
      </p:sp>
      <p:sp>
        <p:nvSpPr>
          <p:cNvPr id="7" name="文本框 6"/>
          <p:cNvSpPr txBox="1"/>
          <p:nvPr/>
        </p:nvSpPr>
        <p:spPr>
          <a:xfrm>
            <a:off x="790380" y="4126840"/>
            <a:ext cx="10826750" cy="510461"/>
          </a:xfrm>
          <a:prstGeom prst="rect">
            <a:avLst/>
          </a:prstGeom>
          <a:noFill/>
        </p:spPr>
        <p:txBody>
          <a:bodyPr wrap="square">
            <a:spAutoFit/>
          </a:bodyPr>
          <a:lstStyle/>
          <a:p>
            <a:pPr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结合材料，运用九年级上册第二单元</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进入新时代</a:t>
            </a:r>
            <a:r>
              <a:rPr lang="en-US" altLang="zh-CN" sz="2400" dirty="0">
                <a:solidFill>
                  <a:prstClr val="black"/>
                </a:solidFill>
                <a:latin typeface="华文楷体" panose="02010600040101010101" pitchFamily="2" charset="-122"/>
                <a:ea typeface="华文楷体" panose="02010600040101010101" pitchFamily="2" charset="-122"/>
              </a:rPr>
              <a:t>》</a:t>
            </a:r>
            <a:r>
              <a:rPr lang="zh-CN" altLang="en-US" sz="2400" dirty="0">
                <a:solidFill>
                  <a:prstClr val="black"/>
                </a:solidFill>
                <a:latin typeface="华文楷体" panose="02010600040101010101" pitchFamily="2" charset="-122"/>
                <a:ea typeface="华文楷体" panose="02010600040101010101" pitchFamily="2" charset="-122"/>
              </a:rPr>
              <a:t>相关知识，回答下列问题：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347" y="1416337"/>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392366" y="2093523"/>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29655" y="1834926"/>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39788" y="2453656"/>
            <a:ext cx="10698162" cy="953659"/>
          </a:xfrm>
          <a:prstGeom prst="rect">
            <a:avLst/>
          </a:prstGeom>
          <a:noFill/>
        </p:spPr>
        <p:txBody>
          <a:bodyPr wrap="square" rtlCol="0">
            <a:spAutoFit/>
          </a:bodyPr>
          <a:lstStyle/>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a:t>
            </a:r>
            <a:r>
              <a:rPr lang="en-US" altLang="zh-CN" sz="2400" dirty="0">
                <a:solidFill>
                  <a:prstClr val="black"/>
                </a:solidFill>
                <a:latin typeface="华文楷体" panose="02010600040101010101" pitchFamily="2" charset="-122"/>
                <a:ea typeface="华文楷体" panose="02010600040101010101" pitchFamily="2" charset="-122"/>
              </a:rPr>
              <a:t>1</a:t>
            </a:r>
            <a:r>
              <a:rPr lang="zh-CN" altLang="en-US" sz="2400" dirty="0">
                <a:solidFill>
                  <a:prstClr val="black"/>
                </a:solidFill>
                <a:latin typeface="华文楷体" panose="02010600040101010101" pitchFamily="2" charset="-122"/>
                <a:ea typeface="华文楷体" panose="02010600040101010101" pitchFamily="2" charset="-122"/>
              </a:rPr>
              <a:t>）结合材料，概括新中国成立以来我国在科技创新方面发生了怎样的变化。</a:t>
            </a:r>
          </a:p>
        </p:txBody>
      </p:sp>
      <p:sp>
        <p:nvSpPr>
          <p:cNvPr id="4" name="文本框 3"/>
          <p:cNvSpPr txBox="1"/>
          <p:nvPr/>
        </p:nvSpPr>
        <p:spPr>
          <a:xfrm>
            <a:off x="1006593" y="3429000"/>
            <a:ext cx="10262246" cy="2880340"/>
          </a:xfrm>
          <a:prstGeom prst="rect">
            <a:avLst/>
          </a:prstGeom>
          <a:noFill/>
        </p:spPr>
        <p:txBody>
          <a:bodyPr wrap="square" rtlCol="0">
            <a:spAutoFit/>
          </a:bodyPr>
          <a:lstStyle/>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①从“连铁钉和火柴都需要进口”到建成全球最完整、规模最大的研发体系和工业体系；</a:t>
            </a:r>
            <a:endParaRPr lang="en-US" altLang="zh-CN" sz="2400" dirty="0">
              <a:solidFill>
                <a:srgbClr val="C00000"/>
              </a:solidFill>
              <a:latin typeface="华文楷体" panose="02010600040101010101" pitchFamily="2" charset="-122"/>
              <a:ea typeface="华文楷体" panose="02010600040101010101" pitchFamily="2" charset="-122"/>
            </a:endParaRP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②从工业基础薄弱、科技前沿空白到进入创新型国家行列，在深海、航天、人工智能等领域取得一系列重大成果；</a:t>
            </a:r>
            <a:endParaRPr lang="en-US" altLang="zh-CN" sz="2400" dirty="0">
              <a:solidFill>
                <a:srgbClr val="C00000"/>
              </a:solidFill>
              <a:latin typeface="华文楷体" panose="02010600040101010101" pitchFamily="2" charset="-122"/>
              <a:ea typeface="华文楷体" panose="02010600040101010101" pitchFamily="2" charset="-122"/>
            </a:endParaRP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③实现了从“跟跑”到“并跑”“领跑”、从“中国制造”到“中国创造”的转变。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417589" y="938752"/>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450608" y="1615938"/>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87897" y="1357341"/>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46877" y="1872660"/>
            <a:ext cx="10698162" cy="510461"/>
          </a:xfrm>
          <a:prstGeom prst="rect">
            <a:avLst/>
          </a:prstGeom>
          <a:noFill/>
        </p:spPr>
        <p:txBody>
          <a:bodyPr wrap="square" rtlCol="0">
            <a:spAutoFit/>
          </a:bodyPr>
          <a:lstStyle/>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a:t>
            </a:r>
            <a:r>
              <a:rPr lang="en-US" altLang="zh-CN" sz="2400" dirty="0">
                <a:solidFill>
                  <a:prstClr val="black"/>
                </a:solidFill>
                <a:latin typeface="华文楷体" panose="02010600040101010101" pitchFamily="2" charset="-122"/>
                <a:ea typeface="华文楷体" panose="02010600040101010101" pitchFamily="2" charset="-122"/>
              </a:rPr>
              <a:t>2</a:t>
            </a:r>
            <a:r>
              <a:rPr lang="zh-CN" altLang="en-US" sz="2400" dirty="0">
                <a:solidFill>
                  <a:prstClr val="black"/>
                </a:solidFill>
                <a:latin typeface="华文楷体" panose="02010600040101010101" pitchFamily="2" charset="-122"/>
                <a:ea typeface="华文楷体" panose="02010600040101010101" pitchFamily="2" charset="-122"/>
              </a:rPr>
              <a:t>）结合材料，运用所学知识，分析我国取得这些科技成就的原因。</a:t>
            </a:r>
          </a:p>
        </p:txBody>
      </p:sp>
      <p:sp>
        <p:nvSpPr>
          <p:cNvPr id="4" name="文本框 3"/>
          <p:cNvSpPr txBox="1"/>
          <p:nvPr/>
        </p:nvSpPr>
        <p:spPr>
          <a:xfrm>
            <a:off x="849313" y="2428827"/>
            <a:ext cx="10541000" cy="3843681"/>
          </a:xfrm>
          <a:prstGeom prst="rect">
            <a:avLst/>
          </a:prstGeom>
          <a:noFill/>
        </p:spPr>
        <p:txBody>
          <a:bodyPr wrap="square" rtlCol="0">
            <a:spAutoFit/>
          </a:bodyPr>
          <a:lstStyle/>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①坚持以习近平新时代中国特色社会主义思想为指导</a:t>
            </a:r>
            <a:r>
              <a:rPr lang="en-US" altLang="zh-CN" sz="2400" dirty="0">
                <a:solidFill>
                  <a:srgbClr val="C00000"/>
                </a:solidFill>
                <a:latin typeface="华文楷体" panose="02010600040101010101" pitchFamily="2" charset="-122"/>
                <a:ea typeface="华文楷体" panose="02010600040101010101" pitchFamily="2" charset="-122"/>
              </a:rPr>
              <a:t>——</a:t>
            </a:r>
            <a:r>
              <a:rPr lang="zh-CN" altLang="en-US" sz="2400" dirty="0">
                <a:solidFill>
                  <a:srgbClr val="C00000"/>
                </a:solidFill>
                <a:latin typeface="华文楷体" panose="02010600040101010101" pitchFamily="2" charset="-122"/>
                <a:ea typeface="华文楷体" panose="02010600040101010101" pitchFamily="2" charset="-122"/>
              </a:rPr>
              <a:t>党中央提出“以科技创新为引领，培育壮大新兴产业和未来产业”，正是这一思想的生动实践；</a:t>
            </a: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② 坚持和加强党的全面领导</a:t>
            </a:r>
            <a:r>
              <a:rPr lang="en-US" altLang="zh-CN" sz="2400" dirty="0">
                <a:solidFill>
                  <a:srgbClr val="C00000"/>
                </a:solidFill>
                <a:latin typeface="华文楷体" panose="02010600040101010101" pitchFamily="2" charset="-122"/>
                <a:ea typeface="华文楷体" panose="02010600040101010101" pitchFamily="2" charset="-122"/>
              </a:rPr>
              <a:t>——</a:t>
            </a:r>
            <a:r>
              <a:rPr lang="zh-CN" altLang="en-US" sz="2400" dirty="0">
                <a:solidFill>
                  <a:srgbClr val="C00000"/>
                </a:solidFill>
                <a:latin typeface="华文楷体" panose="02010600040101010101" pitchFamily="2" charset="-122"/>
                <a:ea typeface="华文楷体" panose="02010600040101010101" pitchFamily="2" charset="-122"/>
              </a:rPr>
              <a:t>从基础研究系统部署到“十五五”规划整体布局，党的领导是科技事业不断胜利的根本保证；</a:t>
            </a: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③ 中国特色社会主义制度具有显著优势</a:t>
            </a:r>
            <a:r>
              <a:rPr lang="en-US" altLang="zh-CN" sz="2400" dirty="0">
                <a:solidFill>
                  <a:srgbClr val="C00000"/>
                </a:solidFill>
                <a:latin typeface="华文楷体" panose="02010600040101010101" pitchFamily="2" charset="-122"/>
                <a:ea typeface="华文楷体" panose="02010600040101010101" pitchFamily="2" charset="-122"/>
              </a:rPr>
              <a:t>——</a:t>
            </a:r>
            <a:r>
              <a:rPr lang="zh-CN" altLang="en-US" sz="2400" dirty="0">
                <a:solidFill>
                  <a:srgbClr val="C00000"/>
                </a:solidFill>
                <a:latin typeface="华文楷体" panose="02010600040101010101" pitchFamily="2" charset="-122"/>
                <a:ea typeface="华文楷体" panose="02010600040101010101" pitchFamily="2" charset="-122"/>
              </a:rPr>
              <a:t>集中力量办大事，统筹布局、组织科技工作者协同攻关“卡脖子”难题；</a:t>
            </a: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④ 坚持以人民为中心的发展思想</a:t>
            </a:r>
            <a:r>
              <a:rPr lang="en-US" altLang="zh-CN" sz="2400" dirty="0">
                <a:solidFill>
                  <a:srgbClr val="C00000"/>
                </a:solidFill>
                <a:latin typeface="华文楷体" panose="02010600040101010101" pitchFamily="2" charset="-122"/>
                <a:ea typeface="华文楷体" panose="02010600040101010101" pitchFamily="2" charset="-122"/>
              </a:rPr>
              <a:t>——</a:t>
            </a:r>
            <a:r>
              <a:rPr lang="zh-CN" altLang="en-US" sz="2400" dirty="0">
                <a:solidFill>
                  <a:srgbClr val="C00000"/>
                </a:solidFill>
                <a:latin typeface="华文楷体" panose="02010600040101010101" pitchFamily="2" charset="-122"/>
                <a:ea typeface="华文楷体" panose="02010600040101010101" pitchFamily="2" charset="-122"/>
              </a:rPr>
              <a:t>高铁、北斗、创新药、绿色技术走进百姓生活，发展为了人民、发展成果由人民共享。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347" y="1416337"/>
            <a:ext cx="5556738" cy="553998"/>
          </a:xfrm>
          <a:prstGeom prst="rect">
            <a:avLst/>
          </a:prstGeom>
          <a:noFill/>
        </p:spPr>
        <p:txBody>
          <a:bodyPr wrap="square" rtlCol="0">
            <a:spAutoFit/>
          </a:bodyPr>
          <a:lstStyle/>
          <a:p>
            <a:pPr algn="ctr"/>
            <a:r>
              <a:rPr lang="zh-CN" altLang="en-US" sz="3000" dirty="0">
                <a:solidFill>
                  <a:prstClr val="black"/>
                </a:solidFill>
                <a:latin typeface="黑体" panose="02010609060101010101" pitchFamily="49" charset="-122"/>
                <a:ea typeface="黑体" panose="02010609060101010101" pitchFamily="49" charset="-122"/>
              </a:rPr>
              <a:t>课堂练习</a:t>
            </a:r>
          </a:p>
        </p:txBody>
      </p:sp>
      <p:cxnSp>
        <p:nvCxnSpPr>
          <p:cNvPr id="2" name="直接连接符 1"/>
          <p:cNvCxnSpPr/>
          <p:nvPr/>
        </p:nvCxnSpPr>
        <p:spPr>
          <a:xfrm flipV="1">
            <a:off x="3392366" y="2093523"/>
            <a:ext cx="5556738" cy="23447"/>
          </a:xfrm>
          <a:prstGeom prst="line">
            <a:avLst/>
          </a:prstGeom>
          <a:ln w="12700">
            <a:solidFill>
              <a:srgbClr val="014E6A"/>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29655" y="1834926"/>
            <a:ext cx="445481" cy="469613"/>
            <a:chOff x="2121873" y="1511588"/>
            <a:chExt cx="445481" cy="469613"/>
          </a:xfrm>
        </p:grpSpPr>
        <p:sp>
          <p:nvSpPr>
            <p:cNvPr id="5" name="矩形 4"/>
            <p:cNvSpPr/>
            <p:nvPr/>
          </p:nvSpPr>
          <p:spPr>
            <a:xfrm>
              <a:off x="2121873" y="1511588"/>
              <a:ext cx="363415" cy="363415"/>
            </a:xfrm>
            <a:prstGeom prst="rect">
              <a:avLst/>
            </a:prstGeom>
            <a:solidFill>
              <a:srgbClr val="014E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321171" y="1735018"/>
              <a:ext cx="246183" cy="246183"/>
            </a:xfrm>
            <a:prstGeom prst="rect">
              <a:avLst/>
            </a:prstGeom>
            <a:solidFill>
              <a:srgbClr val="1784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6" name="文本框 5"/>
          <p:cNvSpPr txBox="1"/>
          <p:nvPr/>
        </p:nvSpPr>
        <p:spPr>
          <a:xfrm>
            <a:off x="839788" y="2453656"/>
            <a:ext cx="10698162" cy="953659"/>
          </a:xfrm>
          <a:prstGeom prst="rect">
            <a:avLst/>
          </a:prstGeom>
          <a:noFill/>
        </p:spPr>
        <p:txBody>
          <a:bodyPr wrap="square" rtlCol="0">
            <a:spAutoFit/>
          </a:bodyPr>
          <a:lstStyle/>
          <a:p>
            <a:pPr indent="647700" fontAlgn="auto">
              <a:lnSpc>
                <a:spcPct val="120000"/>
              </a:lnSpc>
              <a:spcBef>
                <a:spcPts val="600"/>
              </a:spcBef>
            </a:pPr>
            <a:r>
              <a:rPr lang="zh-CN" altLang="en-US" sz="2400" dirty="0">
                <a:solidFill>
                  <a:prstClr val="black"/>
                </a:solidFill>
                <a:latin typeface="华文楷体" panose="02010600040101010101" pitchFamily="2" charset="-122"/>
                <a:ea typeface="华文楷体" panose="02010600040101010101" pitchFamily="2" charset="-122"/>
              </a:rPr>
              <a:t>（</a:t>
            </a:r>
            <a:r>
              <a:rPr lang="en-US" altLang="zh-CN" sz="2400" dirty="0">
                <a:solidFill>
                  <a:prstClr val="black"/>
                </a:solidFill>
                <a:latin typeface="华文楷体" panose="02010600040101010101" pitchFamily="2" charset="-122"/>
                <a:ea typeface="华文楷体" panose="02010600040101010101" pitchFamily="2" charset="-122"/>
              </a:rPr>
              <a:t>3</a:t>
            </a:r>
            <a:r>
              <a:rPr lang="zh-CN" altLang="en-US" sz="2400" dirty="0">
                <a:solidFill>
                  <a:prstClr val="black"/>
                </a:solidFill>
                <a:latin typeface="华文楷体" panose="02010600040101010101" pitchFamily="2" charset="-122"/>
                <a:ea typeface="华文楷体" panose="02010600040101010101" pitchFamily="2" charset="-122"/>
              </a:rPr>
              <a:t>）科技成果走进百姓生活。结合自身实际，谈谈我们青少年可以为此做些什么。</a:t>
            </a:r>
          </a:p>
        </p:txBody>
      </p:sp>
      <p:sp>
        <p:nvSpPr>
          <p:cNvPr id="4" name="文本框 3"/>
          <p:cNvSpPr txBox="1"/>
          <p:nvPr/>
        </p:nvSpPr>
        <p:spPr>
          <a:xfrm>
            <a:off x="839788" y="3744001"/>
            <a:ext cx="10858500" cy="1550746"/>
          </a:xfrm>
          <a:prstGeom prst="rect">
            <a:avLst/>
          </a:prstGeom>
          <a:noFill/>
        </p:spPr>
        <p:txBody>
          <a:bodyPr wrap="square" rtlCol="0">
            <a:spAutoFit/>
          </a:bodyPr>
          <a:lstStyle/>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①努力学习科学文化知识，打好基础，培养创新意识和实践能力；</a:t>
            </a:r>
            <a:endParaRPr lang="en-US" altLang="zh-CN" sz="2400" dirty="0">
              <a:solidFill>
                <a:srgbClr val="C00000"/>
              </a:solidFill>
              <a:latin typeface="华文楷体" panose="02010600040101010101" pitchFamily="2" charset="-122"/>
              <a:ea typeface="华文楷体" panose="02010600040101010101" pitchFamily="2" charset="-122"/>
            </a:endParaRP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②积极参加科技小发明、小制作等活动，勇于探索；</a:t>
            </a:r>
            <a:endParaRPr lang="en-US" altLang="zh-CN" sz="2400" dirty="0">
              <a:solidFill>
                <a:srgbClr val="C00000"/>
              </a:solidFill>
              <a:latin typeface="华文楷体" panose="02010600040101010101" pitchFamily="2" charset="-122"/>
              <a:ea typeface="华文楷体" panose="02010600040101010101" pitchFamily="2" charset="-122"/>
            </a:endParaRPr>
          </a:p>
          <a:p>
            <a:pPr fontAlgn="auto">
              <a:lnSpc>
                <a:spcPct val="120000"/>
              </a:lnSpc>
              <a:spcBef>
                <a:spcPts val="600"/>
              </a:spcBef>
            </a:pPr>
            <a:r>
              <a:rPr lang="zh-CN" altLang="en-US" sz="2400" dirty="0">
                <a:solidFill>
                  <a:srgbClr val="C00000"/>
                </a:solidFill>
                <a:latin typeface="华文楷体" panose="02010600040101010101" pitchFamily="2" charset="-122"/>
                <a:ea typeface="华文楷体" panose="02010600040101010101" pitchFamily="2" charset="-122"/>
              </a:rPr>
              <a:t>③关注国家科技发展，增强民族自豪感和社会责任感，立志报效祖国。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WZiZTRjZDY3YTVlYjcyMjlmYjZhMjA3MWI3OGU3Mjk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8.0630708661417,&quot;left&quot;:141.93685039370078,&quot;top&quot;:185.38732283464566,&quot;width&quot;:571.642755905511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73.72826771653547,&quot;left&quot;:57.41173228346456,&quot;top&quot;:191.1340157480315,&quot;width&quot;:577.747480314960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73.72826771653547,&quot;left&quot;:57.41173228346456,&quot;top&quot;:191.1340157480315,&quot;width&quot;:577.747480314960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73.72826771653547,&quot;left&quot;:57.41173228346456,&quot;top&quot;:191.1340157480315,&quot;width&quot;:577.747480314960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73.72826771653547,&quot;left&quot;:57.41173228346456,&quot;top&quot;:191.1340157480315,&quot;width&quot;:577.747480314960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73.72826771653547,&quot;left&quot;:57.41173228346456,&quot;top&quot;:191.1340157480315,&quot;width&quot;:577.747480314960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73.72826771653547,&quot;left&quot;:57.41173228346456,&quot;top&quot;:191.1340157480315,&quot;width&quot;:577.7474803149607}"/>
</p:tagLst>
</file>

<file path=ppt/tags/tag23.xml><?xml version="1.0" encoding="utf-8"?>
<p:tagLst xmlns:a="http://schemas.openxmlformats.org/drawingml/2006/main" xmlns:r="http://schemas.openxmlformats.org/officeDocument/2006/relationships" xmlns:p="http://schemas.openxmlformats.org/presentationml/2006/main">
  <p:tag name="TABLE_ENDDRAG_ORIGIN_RECT" val="816*351"/>
  <p:tag name="TABLE_ENDDRAG_RECT" val="66*139*816*35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45.227874015748,&quot;left&quot;:52.70527559055118,&quot;top&quot;:174.62952755905513,&quot;width&quot;:860.59409448818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86.31885826771656,&quot;left&quot;:37.6051968503937,&quot;top&quot;:189.85972440944883,&quot;width&quot;:596.101653543307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3952</Words>
  <Application>Microsoft Office PowerPoint</Application>
  <PresentationFormat>宽屏</PresentationFormat>
  <Paragraphs>369</Paragraphs>
  <Slides>40</Slides>
  <Notes>40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40</vt:i4>
      </vt:variant>
    </vt:vector>
  </HeadingPairs>
  <TitlesOfParts>
    <vt:vector size="46" baseType="lpstr">
      <vt:lpstr>黑体</vt:lpstr>
      <vt:lpstr>华文楷体</vt:lpstr>
      <vt:lpstr>微软雅黑</vt:lpstr>
      <vt:lpstr>Arial</vt:lpstr>
      <vt:lpstr>Calibri</vt:lpstr>
      <vt:lpstr>Office 主题</vt:lpstr>
      <vt:lpstr>第二单元 进入新时代 单元思考与行动</vt:lpstr>
      <vt:lpstr>PowerPoint 演示文稿</vt:lpstr>
      <vt:lpstr>时代答卷人——策展探悟新时代：成就何以铸就，青年何以担当？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陈伟玲</dc:creator>
  <cp:lastModifiedBy>紫璇 张</cp:lastModifiedBy>
  <cp:revision>170</cp:revision>
  <dcterms:created xsi:type="dcterms:W3CDTF">2020-02-05T11:17:00Z</dcterms:created>
  <dcterms:modified xsi:type="dcterms:W3CDTF">2026-10-12T14:13:15Z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33E7880BDF2A40A0AC621BE3B0D9CFE1_13</vt:lpwstr>
  </property>
  <property fmtid="{D5CDD505-2E9C-101B-9397-08002B2CF9AE}" pid="3" name="KSOProductBuildVer">
    <vt:lpwstr>2052-12.1.0.28505</vt:lpwstr>
  </property>
</Properties>
</file>