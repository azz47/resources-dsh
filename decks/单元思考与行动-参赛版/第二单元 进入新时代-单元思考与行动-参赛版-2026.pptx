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Default Extension="jpg" ContentType="image/jpeg"/>
  <Default Extension="gif" ContentType="image/gif"/>
  <Default Extension="webp" ContentType="image/webp"/>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lvl1pPr algn="l">
      <a:defRPr sz="1800"/>
    </a:lvl1pPr>
    <a:lvl2pPr>
      <a:defRPr sz="1400"/>
    </a:lvl2pPr>
    <a:lvl3pPr>
      <a:defRPr sz="1200"/>
    </a:lvl3pPr>
    <a:lvl4pPr>
      <a:defRPr sz="1200"/>
    </a:lvl4pPr>
    <a:lvl5pPr>
      <a:defRPr sz="1200"/>
    </a:lvl5pPr>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endParaRPr lang="zh-CN"/>
          </a:p>
        </p:txBody>
      </p:sp>
      <p:sp>
        <p:nvSpPr>
          <p:cNvPr id="4" name="Slide Image Placeholder 3"/>
          <p:cNvSpPr>
            <a:spLocks noGrp="1"/>
          </p:cNvSpPr>
          <p:nvPr>
            <p:ph type="sldImg" idx="2"/>
          </p:nvPr>
        </p:nvSpPr>
        <p:spPr>
          <a:xfrm>
            <a:off x="1143000" y="685800"/>
            <a:ext cx="4572000" cy="3429000"/>
          </a:xfrm>
          <a:prstGeom prst="rect">
            <a:avLst/>
          </a:prstGeom>
        </p:spPr>
        <p:txBody>
          <a:bodyPr vert="horz" lIns="91440" tIns="45720" rIns="91440" bIns="45720" rtlCol="0"/>
          <a:lstStyle/>
          <a:p>
            <a:endParaRPr lang="zh-C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lstStyle>
            <a:lvl1pPr algn="l">
              <a:defRPr sz="1200"/>
            </a:lvl1pPr>
          </a:lstStyle>
          <a:p>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lstStyle>
            <a:lvl1pPr algn="r">
              <a:defRPr sz="1200"/>
            </a:lvl1pPr>
          </a:lstStyle>
          <a:p>
            <a:endParaRPr lang="zh-CN"/>
          </a:p>
        </p:txBody>
      </p:sp>
    </p:spTree>
  </p:cSld>
  <p:clrMap bg1="lt1" tx1="dk1" bg2="lt2" tx2="dk2" accent1="accent1" accent2="accent2" accent3="accent3" accent4="accent4" accent5="accent5" accent6="accent6" hlink="hlink" folHlink="folHlink"/>
  <p:notesStyle>
    <a:lvl1pPr algn="l">
      <a:defRPr sz="1200"/>
    </a:lvl1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上课铃响前循环播放。开场只用一句：同学们，这节课我们要给“新时代”办一个展。</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先给整单元的骨架：第四课讲新的历史方位，第五课讲思想旗帜，第六课讲腾飞成就。三十秒带过，不要展开。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追问：如果只用一个字概括这个时代，你会选哪个字？引出四个“新”，停在这里，不急着给答案。</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亮出总议题：成就何以铸就，青年何以担当。三个子任务串成一条线——看成就、解码原因、落到行动。</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读出情境，请学生代入策展人身份。提问：如果展板交给你，你会先放什么？先不出示答案。</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重点讲空间站的“长期有人驻留”，让学生说一件自己用过的科技产品，把宏大叙事落到日常。</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三个数字要念出来：5 万公里高铁、19.1 万公里高速、港口六席与八席。追问：路网密了，你的生活变了什么？</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安全感 98% 以上这个数字最有说服力。追问：你身上的哪一件“安心”，其实背后有人在守？</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带学生把六块展板归到“五位一体”的五个方面，留出空白展板让学生自己补——这是本环节的小高潮。</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用“基层立法联系点”讲全过程人民民主，让学生明白：法律不是离他很远的东西。</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四张图快速过，重点停在“创造性转化、创新性发展”这八个字上，用只此青绿举例。</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长江水质从 67% 到 96.5%，用这组数字收束环节一：成就是看得见的，但为什么会发生，还没回答。</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承接上一页的悬念：看见了成就，紧接着问为什么。把“四步解码法”预告一下，不展开。</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两个数字对比最强：226 天断流到连续 27 年不断流。先让学生惊讶，再抛出问题。</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逐条读，但只读一级：水量统一调度、九省协同、生态补水、水土流失治理、法治护航。</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这是本课最重要的一页工具页，要慢讲：问机制、反证、比较、归纳。每一步举一个例子。</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现场演示一遍：把黄河治理套进四步。学生能听懂“反证”这一步，就说明方法立住了。</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四条原因对应教材：科学指导、党的全面领导、制度优势、人民至上。写板书时用四个短语。</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给支架不给答案：先说成就，再说原因，最后说启示。请一位同学现场说第一段。</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读一遍示例，重点读最后一句：解码成就，不是为了记住结论，而是学会读国家。</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从国家拉回家乡：把刚才的方法用到盐湖。说明这次要走出教室，先交代任务边界。</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念总书记的话时放慢。强调“逐步恢复其生态功能”——保护不是停下来，是换一种用法。</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文化之变对应“创造性转化”，生态之变对应“绿水青山”。25.2 亿元、119.77 公里要念出来。</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把“看”变成“查”，把“感想”变成“证据”——这句话是本页的关键，要重复一次。</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带学生逐条填。最容易漏的是“调研目的”——先说清要弄清什么问题，再谈怎么去。</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四个角色必须都有人：有人查、有人记、有人讲、有人追问。现场分组确认。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强调第三到第五部分是核心：变化、问题、建议。没有现场证据的问题不算真问题。</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安全与礼貌先讲：文明走访、尊重隐私。这既是纪律，也是法治意识的现场练习。</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不急于表态。先请正反两方各说一条理由，再从“谁被排除在外”切入——这是本课唯一的真问题。</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答案此刻才出现：人人共建、人人共享。三条行动要落到学生今天就能做的小事上。</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按条件分层，不做优劣判断：能出去就走出去，出不去就把资料查透。两条路都算完成。</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念一遍五个维度，重点解释星级差别在哪。请学生当场给自己打一次自评。</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两幅图对照：会场里的自豪与广场上的清晨。问一句：这两幅画面之间，是什么连着？</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收束全课。最后一句齐读：以青春见证中国腾飞，用成长助推家乡发展。不拖堂。</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选择题限时一分钟，先读题干再选。答案 B，请学生说为什么排除 A。</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答案 B。提醒③“生态保护可以脱离经济发展单独推进”是典型错误说法，这类选项要先划掉。</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答案 B。材料里的“新三样”和 3.5 倍增长是关键词，指向创新驱动。</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材料较长，给两分钟默读。提示学生边读边圈“从……到……”的对比句。</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把三问一起给出：变化、原因、做法。答题用三段式，逐问作答。</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参考答案三点：体系、行列、转变。请学生对照自己的答案补漏，不必逐字一致。</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四点原因教材里都有出处，重点讲第二点的“全面领导”和第三点的“集中力量办大事”。</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lang="zh-CN" dirty="0"/>
              <a:t>三点落到自身：学知识、动手做、立志向。收尾时回到本课总议题，形成闭环。</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p:titleStyle>
    <p:bodyStyle>
      <a:lvl1pPr algn="l"/>
    </p:bodyStyle>
    <p:otherStyle>
      <a:lvl1pPr algn="l"/>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 Id="rId3" Type="http://schemas.openxmlformats.org/officeDocument/2006/relationships/image" Target="../media/image1.jpeg"/><Relationship Id="rId4"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 Id="rId3" Type="http://schemas.openxmlformats.org/officeDocument/2006/relationships/image" Target="../media/image7.jpeg"/><Relationship Id="rId4" Type="http://schemas.openxmlformats.org/officeDocument/2006/relationships/image" Target="../media/image6.jpeg"/><Relationship Id="rId5" Type="http://schemas.openxmlformats.org/officeDocument/2006/relationships/image" Target="../media/image1.jpeg"/><Relationship Id="rId6"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eg"/><Relationship Id="rId3" Type="http://schemas.openxmlformats.org/officeDocument/2006/relationships/image" Target="../media/image1.jpeg"/><Relationship Id="rId4"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image" Target="../media/image10.png"/><Relationship Id="rId4" Type="http://schemas.openxmlformats.org/officeDocument/2006/relationships/image" Target="../media/image1.jpeg"/><Relationship Id="rId5"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eg"/><Relationship Id="rId3" Type="http://schemas.openxmlformats.org/officeDocument/2006/relationships/image" Target="../media/image12.jpeg"/><Relationship Id="rId4" Type="http://schemas.openxmlformats.org/officeDocument/2006/relationships/image" Target="../media/image13.jpeg"/><Relationship Id="rId5" Type="http://schemas.openxmlformats.org/officeDocument/2006/relationships/image" Target="../media/image14.png"/><Relationship Id="rId6" Type="http://schemas.openxmlformats.org/officeDocument/2006/relationships/image" Target="../media/image1.jpeg"/><Relationship Id="rId7"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jpeg"/><Relationship Id="rId4" Type="http://schemas.openxmlformats.org/officeDocument/2006/relationships/image" Target="../media/image1.jpeg"/><Relationship Id="rId5"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jpeg"/><Relationship Id="rId3" Type="http://schemas.openxmlformats.org/officeDocument/2006/relationships/image" Target="../media/image1.jpeg"/><Relationship Id="rId4"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jpg"/><Relationship Id="rId3" Type="http://schemas.openxmlformats.org/officeDocument/2006/relationships/image" Target="../media/image1.jpeg"/><Relationship Id="rId4"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1.jpeg"/><Relationship Id="rId5"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000" name="cv_top"/>
          <p:cNvSpPr/>
          <p:nvPr/>
        </p:nvSpPr>
        <p:spPr>
          <a:xfrm>
            <a:off x="0" y="0"/>
            <a:ext cx="12192000" cy="88900"/>
          </a:xfrm>
          <a:prstGeom prst="rect">
            <a:avLst/>
          </a:prstGeom>
          <a:gradFill rotWithShape="1">
            <a:gsLst>
              <a:gs pos="0">
                <a:srgbClr val="7FD6B0"/>
              </a:gs>
              <a:gs pos="100000">
                <a:srgbClr val="1F6B4F">
                  <a:alpha val="100000"/>
                </a:srgbClr>
              </a:gs>
            </a:gsLst>
            <a:lin ang="0" scaled="1"/>
          </a:gradFill>
          <a:ln>
            <a:noFill/>
          </a:ln>
        </p:spPr>
        <p:txBody>
          <a:bodyPr rtlCol="0" anchor="ctr"/>
          <a:lstStyle/>
          <a:p/>
        </p:txBody>
      </p:sp>
      <p:sp>
        <p:nvSpPr>
          <p:cNvPr id="1001" name="cv_badge"/>
          <p:cNvSpPr/>
          <p:nvPr/>
        </p:nvSpPr>
        <p:spPr>
          <a:xfrm>
            <a:off x="8890000" y="482600"/>
            <a:ext cx="2743200" cy="406400"/>
          </a:xfrm>
          <a:prstGeom prst="roundRect">
            <a:avLst>
              <a:gd name="adj" fmla="val 8000"/>
            </a:avLst>
          </a:prstGeom>
          <a:gradFill rotWithShape="1">
            <a:gsLst>
              <a:gs pos="0">
                <a:srgbClr val="E9EFE9"/>
              </a:gs>
              <a:gs pos="100000">
                <a:srgbClr val="E9EFE9">
                  <a:alpha val="94000"/>
                </a:srgbClr>
              </a:gs>
            </a:gsLst>
            <a:lin ang="0" scaled="1"/>
          </a:gradFill>
          <a:ln>
            <a:noFill/>
          </a:ln>
        </p:spPr>
        <p:txBody>
          <a:bodyPr rtlCol="0" anchor="ctr"/>
          <a:lstStyle/>
          <a:p/>
        </p:txBody>
      </p:sp>
      <p:sp>
        <p:nvSpPr>
          <p:cNvPr id="1002" name="cv_badget"/>
          <p:cNvSpPr txBox="1"/>
          <p:nvPr/>
        </p:nvSpPr>
        <p:spPr>
          <a:xfrm>
            <a:off x="8890000" y="558800"/>
            <a:ext cx="2743200" cy="279400"/>
          </a:xfrm>
          <a:prstGeom prst="rect">
            <a:avLst/>
          </a:prstGeom>
        </p:spPr>
        <p:txBody>
          <a:bodyPr wrap="square" lIns="0" rIns="0" tIns="0" bIns="0"/>
          <a:lstStyle/>
          <a:p>
            <a:pPr algn="ctr" lvl="0"/>
            <a:r>
              <a:rPr lang="zh-CN" sz="1400" b="1">
                <a:solidFill>
                  <a:srgbClr val="1F6B4F"/>
                </a:solidFill>
                <a:latin typeface="黑体"/>
                <a:ea typeface="黑体"/>
              </a:rPr>
              <a:t>基础教育精品课 · 学科课程</a:t>
            </a:r>
          </a:p>
        </p:txBody>
      </p:sp>
      <p:sp>
        <p:nvSpPr>
          <p:cNvPr id="1003" name="cv_kicker"/>
          <p:cNvSpPr txBox="1"/>
          <p:nvPr/>
        </p:nvSpPr>
        <p:spPr>
          <a:xfrm>
            <a:off x="1219200" y="1854200"/>
            <a:ext cx="7874000" cy="330200"/>
          </a:xfrm>
          <a:prstGeom prst="rect">
            <a:avLst/>
          </a:prstGeom>
        </p:spPr>
        <p:txBody>
          <a:bodyPr wrap="square" lIns="0" rIns="0" tIns="0" bIns="0"/>
          <a:lstStyle/>
          <a:p>
            <a:pPr algn="l" lvl="0"/>
            <a:r>
              <a:rPr lang="zh-CN" sz="1600">
                <a:solidFill>
                  <a:srgbClr val="BFD2C2"/>
                </a:solidFill>
                <a:latin typeface="黑体"/>
                <a:ea typeface="黑体"/>
              </a:rPr>
              <a:t>统编版《道德与法治》九年级上册</a:t>
            </a:r>
          </a:p>
        </p:txBody>
      </p:sp>
      <p:sp>
        <p:nvSpPr>
          <p:cNvPr id="1004" name="cv_t1"/>
          <p:cNvSpPr txBox="1"/>
          <p:nvPr/>
        </p:nvSpPr>
        <p:spPr>
          <a:xfrm>
            <a:off x="1219200" y="2260600"/>
            <a:ext cx="8382000" cy="863600"/>
          </a:xfrm>
          <a:prstGeom prst="rect">
            <a:avLst/>
          </a:prstGeom>
        </p:spPr>
        <p:txBody>
          <a:bodyPr wrap="square" lIns="0" rIns="0" tIns="0" bIns="0"/>
          <a:lstStyle/>
          <a:p>
            <a:pPr algn="l" lvl="0"/>
            <a:r>
              <a:rPr lang="zh-CN" sz="4800" b="1">
                <a:solidFill>
                  <a:srgbClr val="F4F8F4"/>
                </a:solidFill>
                <a:latin typeface="微软雅黑"/>
                <a:ea typeface="微软雅黑"/>
              </a:rPr>
              <a:t>第二单元　进入新时代</a:t>
            </a:r>
          </a:p>
        </p:txBody>
      </p:sp>
      <p:sp>
        <p:nvSpPr>
          <p:cNvPr id="1005" name="cv_t2"/>
          <p:cNvSpPr txBox="1"/>
          <p:nvPr/>
        </p:nvSpPr>
        <p:spPr>
          <a:xfrm>
            <a:off x="1219200" y="3175000"/>
            <a:ext cx="8382000" cy="711200"/>
          </a:xfrm>
          <a:prstGeom prst="rect">
            <a:avLst/>
          </a:prstGeom>
        </p:spPr>
        <p:txBody>
          <a:bodyPr wrap="square" lIns="0" rIns="0" tIns="0" bIns="0"/>
          <a:lstStyle/>
          <a:p>
            <a:pPr algn="l" lvl="0"/>
            <a:r>
              <a:rPr lang="zh-CN" sz="4000" b="1">
                <a:solidFill>
                  <a:srgbClr val="7FD6B0"/>
                </a:solidFill>
                <a:latin typeface="微软雅黑"/>
                <a:ea typeface="微软雅黑"/>
              </a:rPr>
              <a:t>单元思考与行动</a:t>
            </a:r>
          </a:p>
        </p:txBody>
      </p:sp>
      <p:sp>
        <p:nvSpPr>
          <p:cNvPr id="1006" name="cv_rule"/>
          <p:cNvSpPr/>
          <p:nvPr/>
        </p:nvSpPr>
        <p:spPr>
          <a:xfrm>
            <a:off x="1219200" y="3886200"/>
            <a:ext cx="3810000" cy="44450"/>
          </a:xfrm>
          <a:prstGeom prst="rect">
            <a:avLst/>
          </a:prstGeom>
          <a:gradFill rotWithShape="1">
            <a:gsLst>
              <a:gs pos="0">
                <a:srgbClr val="1F6B4F"/>
              </a:gs>
              <a:gs pos="100000">
                <a:srgbClr val="7FD6B0">
                  <a:alpha val="100000"/>
                </a:srgbClr>
              </a:gs>
            </a:gsLst>
            <a:lin ang="0" scaled="1"/>
          </a:gradFill>
          <a:ln>
            <a:noFill/>
          </a:ln>
        </p:spPr>
        <p:txBody>
          <a:bodyPr rtlCol="0" anchor="ctr"/>
          <a:lstStyle/>
          <a:p/>
        </p:txBody>
      </p:sp>
      <p:sp>
        <p:nvSpPr>
          <p:cNvPr id="1007" name="cv_meta"/>
          <p:cNvSpPr txBox="1"/>
          <p:nvPr/>
        </p:nvSpPr>
        <p:spPr>
          <a:xfrm>
            <a:off x="1219200" y="4013200"/>
            <a:ext cx="8890000" cy="1219200"/>
          </a:xfrm>
          <a:prstGeom prst="rect">
            <a:avLst/>
          </a:prstGeom>
        </p:spPr>
        <p:txBody>
          <a:bodyPr wrap="square" lIns="0" rIns="0" tIns="0" bIns="0"/>
          <a:lstStyle/>
          <a:p>
            <a:pPr algn="l" lvl="0"/>
            <a:r>
              <a:rPr lang="zh-CN" sz="2200">
                <a:solidFill>
                  <a:srgbClr val="F4F8F4"/>
                </a:solidFill>
                <a:latin typeface="楷体"/>
                <a:ea typeface="楷体"/>
              </a:rPr>
              <a:t>年　级：九年级　　学　科：道德与法治（统编版）</a:t>
            </a:r>
          </a:p>
          <a:p>
            <a:pPr algn="l" lvl="0"/>
            <a:r>
              <a:rPr lang="zh-CN" sz="2200">
                <a:solidFill>
                  <a:srgbClr val="F4F8F4"/>
                </a:solidFill>
                <a:latin typeface="楷体"/>
                <a:ea typeface="楷体"/>
              </a:rPr>
              <a:t>主讲人：张紫璇　　学　校：运城市盐湖区北城初级中学</a:t>
            </a:r>
          </a:p>
        </p:txBody>
      </p:sp>
      <p:sp>
        <p:nvSpPr>
          <p:cNvPr id="1008" name="cv_tag"/>
          <p:cNvSpPr txBox="1"/>
          <p:nvPr/>
        </p:nvSpPr>
        <p:spPr>
          <a:xfrm>
            <a:off x="1219200" y="5308600"/>
            <a:ext cx="8382000" cy="304800"/>
          </a:xfrm>
          <a:prstGeom prst="rect">
            <a:avLst/>
          </a:prstGeom>
        </p:spPr>
        <p:txBody>
          <a:bodyPr wrap="square" lIns="0" rIns="0" tIns="0" bIns="0"/>
          <a:lstStyle/>
          <a:p>
            <a:pPr algn="l" lvl="0"/>
            <a:r>
              <a:rPr lang="zh-CN" sz="1600">
                <a:solidFill>
                  <a:srgbClr val="BFD2C2"/>
                </a:solidFill>
                <a:latin typeface="楷体"/>
                <a:ea typeface="楷体"/>
              </a:rPr>
              <a:t>主题：以青春见证中国腾飞，用成长助推家乡发展</a:t>
            </a:r>
          </a:p>
        </p:txBody>
      </p:sp>
    </p:spTree>
  </p:cSld>
  <p:clrMapOvr>
    <a:masterClrMapping/>
  </p:clrMapOvr>
  <p:transition xmlns:p="http://schemas.openxmlformats.org/presentationml/2006/main" spd="slow">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009" name="hd_secbg"/>
          <p:cNvSpPr/>
          <p:nvPr/>
        </p:nvSpPr>
        <p:spPr>
          <a:xfrm>
            <a:off x="558800" y="279400"/>
            <a:ext cx="2987904"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010" name="hd_secbar"/>
          <p:cNvSpPr/>
          <p:nvPr/>
        </p:nvSpPr>
        <p:spPr>
          <a:xfrm>
            <a:off x="609600" y="317500"/>
            <a:ext cx="44450" cy="228600"/>
          </a:xfrm>
          <a:prstGeom prst="rect">
            <a:avLst/>
          </a:prstGeom>
          <a:gradFill rotWithShape="1">
            <a:gsLst>
              <a:gs pos="0">
                <a:srgbClr val="1F6B4F"/>
              </a:gs>
              <a:gs pos="100000">
                <a:srgbClr val="7FD6B0">
                  <a:alpha val="100000"/>
                </a:srgbClr>
              </a:gs>
            </a:gsLst>
            <a:lin ang="5400000" scaled="1"/>
          </a:gradFill>
          <a:ln>
            <a:noFill/>
          </a:ln>
        </p:spPr>
        <p:txBody>
          <a:bodyPr rtlCol="0" anchor="ctr"/>
          <a:lstStyle/>
          <a:p/>
        </p:txBody>
      </p:sp>
      <p:sp>
        <p:nvSpPr>
          <p:cNvPr id="1011" name="hd_sec"/>
          <p:cNvSpPr txBox="1"/>
          <p:nvPr/>
        </p:nvSpPr>
        <p:spPr>
          <a:xfrm>
            <a:off x="736600" y="317500"/>
            <a:ext cx="2708504" cy="228600"/>
          </a:xfrm>
          <a:prstGeom prst="rect">
            <a:avLst/>
          </a:prstGeom>
        </p:spPr>
        <p:txBody>
          <a:bodyPr wrap="square" lIns="0" rIns="0" tIns="0" bIns="0"/>
          <a:lstStyle/>
          <a:p>
            <a:pPr algn="l" lvl="0"/>
            <a:r>
              <a:rPr lang="zh-CN" sz="1400" b="1">
                <a:solidFill>
                  <a:srgbClr val="1F6B4F"/>
                </a:solidFill>
                <a:latin typeface="黑体"/>
                <a:ea typeface="黑体"/>
              </a:rPr>
              <a:t>导引 · 从一次策展邀请开始</a:t>
            </a:r>
          </a:p>
        </p:txBody>
      </p:sp>
      <p:sp>
        <p:nvSpPr>
          <p:cNvPr id="1012"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新课导入 · 本单元学什么</a:t>
            </a:r>
          </a:p>
        </p:txBody>
      </p:sp>
      <p:sp>
        <p:nvSpPr>
          <p:cNvPr id="1013" name="hd_rule2"/>
          <p:cNvSpPr/>
          <p:nvPr/>
        </p:nvSpPr>
        <p:spPr>
          <a:xfrm>
            <a:off x="558800" y="1143000"/>
            <a:ext cx="1625600" cy="44450"/>
          </a:xfrm>
          <a:prstGeom prst="rect">
            <a:avLst/>
          </a:prstGeom>
          <a:gradFill rotWithShape="1">
            <a:gsLst>
              <a:gs pos="0">
                <a:srgbClr val="1F6B4F"/>
              </a:gs>
              <a:gs pos="100000">
                <a:srgbClr val="7FD6B0">
                  <a:alpha val="100000"/>
                </a:srgbClr>
              </a:gs>
            </a:gsLst>
            <a:lin ang="0" scaled="1"/>
          </a:gradFill>
          <a:ln>
            <a:noFill/>
          </a:ln>
        </p:spPr>
        <p:txBody>
          <a:bodyPr rtlCol="0" anchor="ctr"/>
          <a:lstStyle/>
          <a:p/>
        </p:txBody>
      </p:sp>
      <p:sp>
        <p:nvSpPr>
          <p:cNvPr id="1014" name="hd_rule"/>
          <p:cNvSpPr/>
          <p:nvPr/>
        </p:nvSpPr>
        <p:spPr>
          <a:xfrm>
            <a:off x="2260600" y="1158240"/>
            <a:ext cx="5867400" cy="19050"/>
          </a:xfrm>
          <a:prstGeom prst="rect">
            <a:avLst/>
          </a:prstGeom>
          <a:solidFill>
            <a:srgbClr val="7FD6B0">
              <a:alpha val="40000"/>
            </a:srgbClr>
          </a:solidFill>
          <a:ln>
            <a:noFill/>
          </a:ln>
        </p:spPr>
        <p:txBody>
          <a:bodyPr rtlCol="0" anchor="ctr"/>
          <a:lstStyle/>
          <a:p/>
        </p:txBody>
      </p:sp>
      <p:cxnSp>
        <p:nvCxnSpPr>
          <p:cNvPr id="1015" name="rb_rule"/>
          <p:cNvCxnSpPr/>
          <p:nvPr/>
        </p:nvCxnSpPr>
        <p:spPr>
          <a:xfrm>
            <a:off x="8280400" y="1422400"/>
            <a:ext cx="0" cy="4267200"/>
          </a:xfrm>
          <a:prstGeom prst="straightConnector1">
            <a:avLst/>
          </a:prstGeom>
          <a:ln w="19050">
            <a:solidFill>
              <a:srgbClr val="7E9A85"/>
            </a:solidFill>
          </a:ln>
        </p:spPr>
      </p:cxnSp>
      <p:sp>
        <p:nvSpPr>
          <p:cNvPr id="1016" name="rb_chip_a"/>
          <p:cNvSpPr/>
          <p:nvPr/>
        </p:nvSpPr>
        <p:spPr>
          <a:xfrm>
            <a:off x="8229600" y="1219200"/>
            <a:ext cx="152400" cy="152400"/>
          </a:xfrm>
          <a:prstGeom prst="rect">
            <a:avLst/>
          </a:prstGeom>
          <a:gradFill rotWithShape="1">
            <a:gsLst>
              <a:gs pos="0">
                <a:srgbClr val="7FD6B0"/>
              </a:gs>
              <a:gs pos="100000">
                <a:srgbClr val="1F6B4F">
                  <a:alpha val="100000"/>
                </a:srgbClr>
              </a:gs>
            </a:gsLst>
            <a:lin ang="8100000" scaled="1"/>
          </a:gradFill>
          <a:ln>
            <a:noFill/>
          </a:ln>
        </p:spPr>
        <p:txBody>
          <a:bodyPr rtlCol="0" anchor="ctr"/>
          <a:lstStyle/>
          <a:p/>
        </p:txBody>
      </p:sp>
      <p:sp>
        <p:nvSpPr>
          <p:cNvPr id="1017" name="rb_chip_b"/>
          <p:cNvSpPr/>
          <p:nvPr/>
        </p:nvSpPr>
        <p:spPr>
          <a:xfrm>
            <a:off x="8280400" y="1193800"/>
            <a:ext cx="101600" cy="101600"/>
          </a:xfrm>
          <a:prstGeom prst="rect">
            <a:avLst/>
          </a:prstGeom>
          <a:solidFill>
            <a:srgbClr val="1F6B4F"/>
          </a:solidFill>
          <a:ln>
            <a:noFill/>
          </a:ln>
        </p:spPr>
        <p:txBody>
          <a:bodyPr rtlCol="0" anchor="ctr"/>
          <a:lstStyle/>
          <a:p/>
        </p:txBody>
      </p:sp>
      <p:sp>
        <p:nvSpPr>
          <p:cNvPr id="1018"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019"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020" name="rb_tagrule"/>
          <p:cNvCxnSpPr/>
          <p:nvPr/>
        </p:nvCxnSpPr>
        <p:spPr>
          <a:xfrm>
            <a:off x="11226800" y="2260600"/>
            <a:ext cx="482600" cy="0"/>
          </a:xfrm>
          <a:prstGeom prst="straightConnector1">
            <a:avLst/>
          </a:prstGeom>
          <a:ln w="12700">
            <a:solidFill>
              <a:srgbClr val="7E9A85"/>
            </a:solidFill>
          </a:ln>
        </p:spPr>
      </p:cxnSp>
      <p:sp>
        <p:nvSpPr>
          <p:cNvPr id="1021"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7FD6B0"/>
                </a:solidFill>
                <a:latin typeface="黑体"/>
                <a:ea typeface="黑体"/>
              </a:rPr>
              <a:t>02 / 42</a:t>
            </a:r>
          </a:p>
        </p:txBody>
      </p:sp>
      <p:sp>
        <p:nvSpPr>
          <p:cNvPr id="1022" name="lead_sh"/>
          <p:cNvSpPr/>
          <p:nvPr/>
        </p:nvSpPr>
        <p:spPr>
          <a:xfrm>
            <a:off x="584200" y="1397000"/>
            <a:ext cx="7518400" cy="907288"/>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023" name="lead"/>
          <p:cNvSpPr/>
          <p:nvPr/>
        </p:nvSpPr>
        <p:spPr>
          <a:xfrm>
            <a:off x="558800" y="1346200"/>
            <a:ext cx="7569200" cy="907288"/>
          </a:xfrm>
          <a:prstGeom prst="roundRect">
            <a:avLst>
              <a:gd name="adj" fmla="val 8000"/>
            </a:avLst>
          </a:prstGeom>
          <a:solidFill>
            <a:srgbClr val="E9EFE9"/>
          </a:solidFill>
          <a:ln w="15875">
            <a:solidFill>
              <a:srgbClr val="1F6B4F"/>
            </a:solidFill>
          </a:ln>
        </p:spPr>
        <p:txBody>
          <a:bodyPr rtlCol="0" anchor="ctr"/>
          <a:lstStyle/>
          <a:p/>
        </p:txBody>
      </p:sp>
      <p:sp>
        <p:nvSpPr>
          <p:cNvPr id="1024" name="lead_cap"/>
          <p:cNvSpPr/>
          <p:nvPr/>
        </p:nvSpPr>
        <p:spPr>
          <a:xfrm>
            <a:off x="647700" y="1422400"/>
            <a:ext cx="50800" cy="754888"/>
          </a:xfrm>
          <a:prstGeom prst="rect">
            <a:avLst/>
          </a:prstGeom>
          <a:gradFill rotWithShape="1">
            <a:gsLst>
              <a:gs pos="0">
                <a:srgbClr val="1F6B4F"/>
              </a:gs>
              <a:gs pos="100000">
                <a:srgbClr val="1F6B4F">
                  <a:alpha val="10000"/>
                </a:srgbClr>
              </a:gs>
            </a:gsLst>
            <a:lin ang="5400000" scaled="1"/>
          </a:gradFill>
          <a:ln>
            <a:noFill/>
          </a:ln>
        </p:spPr>
        <p:txBody>
          <a:bodyPr rtlCol="0" anchor="ctr"/>
          <a:lstStyle/>
          <a:p/>
        </p:txBody>
      </p:sp>
      <p:sp>
        <p:nvSpPr>
          <p:cNvPr id="1025" name="lead_t"/>
          <p:cNvSpPr txBox="1"/>
          <p:nvPr/>
        </p:nvSpPr>
        <p:spPr>
          <a:xfrm>
            <a:off x="711200" y="1435100"/>
            <a:ext cx="7264400" cy="729488"/>
          </a:xfrm>
          <a:prstGeom prst="rect">
            <a:avLst/>
          </a:prstGeom>
        </p:spPr>
        <p:txBody>
          <a:bodyPr wrap="square" lIns="0" rIns="0" tIns="0" bIns="0"/>
          <a:lstStyle/>
          <a:p>
            <a:pPr algn="l" lvl="0"/>
            <a:r>
              <a:rPr lang="zh-CN" sz="1600">
                <a:solidFill>
                  <a:srgbClr val="1D2B23"/>
                </a:solidFill>
                <a:latin typeface="楷体"/>
                <a:ea typeface="楷体"/>
              </a:rPr>
              <a:t>本单元以“中国特色社会主义进入新时代”为主题，围绕“新时代新在</a:t>
            </a:r>
          </a:p>
          <a:p>
            <a:pPr algn="l" lvl="0"/>
            <a:r>
              <a:rPr lang="zh-CN" sz="1600">
                <a:solidFill>
                  <a:srgbClr val="1D2B23"/>
                </a:solidFill>
                <a:latin typeface="楷体"/>
                <a:ea typeface="楷体"/>
              </a:rPr>
              <a:t>哪里”展开。</a:t>
            </a:r>
          </a:p>
        </p:txBody>
      </p:sp>
      <p:sp>
        <p:nvSpPr>
          <p:cNvPr id="1026" name="rc0_sh"/>
          <p:cNvSpPr/>
          <p:nvPr/>
        </p:nvSpPr>
        <p:spPr>
          <a:xfrm>
            <a:off x="584200" y="2456688"/>
            <a:ext cx="2362200" cy="233426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027" name="rc0"/>
          <p:cNvSpPr/>
          <p:nvPr/>
        </p:nvSpPr>
        <p:spPr>
          <a:xfrm>
            <a:off x="558800" y="2405888"/>
            <a:ext cx="2413000" cy="2334260"/>
          </a:xfrm>
          <a:prstGeom prst="roundRect">
            <a:avLst>
              <a:gd name="adj" fmla="val 8000"/>
            </a:avLst>
          </a:prstGeom>
          <a:solidFill>
            <a:srgbClr val="E9EFE9"/>
          </a:solidFill>
          <a:ln w="15875">
            <a:solidFill>
              <a:srgbClr val="1F6B4F"/>
            </a:solidFill>
          </a:ln>
        </p:spPr>
        <p:txBody>
          <a:bodyPr rtlCol="0" anchor="ctr"/>
          <a:lstStyle/>
          <a:p/>
        </p:txBody>
      </p:sp>
      <p:sp>
        <p:nvSpPr>
          <p:cNvPr id="1028" name="rc0_le"/>
          <p:cNvSpPr/>
          <p:nvPr/>
        </p:nvSpPr>
        <p:spPr>
          <a:xfrm>
            <a:off x="584200" y="2520188"/>
            <a:ext cx="44450" cy="2105660"/>
          </a:xfrm>
          <a:prstGeom prst="rect">
            <a:avLst/>
          </a:prstGeom>
          <a:gradFill rotWithShape="1">
            <a:gsLst>
              <a:gs pos="0">
                <a:srgbClr val="1F6B4F"/>
              </a:gs>
              <a:gs pos="100000">
                <a:srgbClr val="1F6B4F">
                  <a:alpha val="0"/>
                </a:srgbClr>
              </a:gs>
            </a:gsLst>
            <a:lin ang="5400000" scaled="1"/>
          </a:gradFill>
          <a:ln>
            <a:noFill/>
          </a:ln>
        </p:spPr>
        <p:txBody>
          <a:bodyPr rtlCol="0" anchor="ctr"/>
          <a:lstStyle/>
          <a:p/>
        </p:txBody>
      </p:sp>
      <p:sp>
        <p:nvSpPr>
          <p:cNvPr id="1029" name="rc0_t"/>
          <p:cNvSpPr txBox="1"/>
          <p:nvPr/>
        </p:nvSpPr>
        <p:spPr>
          <a:xfrm>
            <a:off x="711200" y="2664460"/>
            <a:ext cx="2108200" cy="672084"/>
          </a:xfrm>
          <a:prstGeom prst="rect">
            <a:avLst/>
          </a:prstGeom>
        </p:spPr>
        <p:txBody>
          <a:bodyPr wrap="square" lIns="0" rIns="0" tIns="0" bIns="0"/>
          <a:lstStyle/>
          <a:p>
            <a:pPr algn="l" lvl="0"/>
            <a:r>
              <a:rPr lang="zh-CN" sz="1700" b="1">
                <a:solidFill>
                  <a:srgbClr val="1F6B4F"/>
                </a:solidFill>
                <a:latin typeface="黑体"/>
                <a:ea typeface="黑体"/>
              </a:rPr>
              <a:t>第四课</a:t>
            </a:r>
          </a:p>
          <a:p>
            <a:pPr algn="l" lvl="0"/>
            <a:r>
              <a:rPr lang="zh-CN" sz="1700" b="1">
                <a:solidFill>
                  <a:srgbClr val="1F6B4F"/>
                </a:solidFill>
                <a:latin typeface="黑体"/>
                <a:ea typeface="黑体"/>
              </a:rPr>
              <a:t>新的历史方位</a:t>
            </a:r>
          </a:p>
        </p:txBody>
      </p:sp>
      <p:sp>
        <p:nvSpPr>
          <p:cNvPr id="1030" name="rc0_b"/>
          <p:cNvSpPr txBox="1"/>
          <p:nvPr/>
        </p:nvSpPr>
        <p:spPr>
          <a:xfrm>
            <a:off x="711200" y="3463544"/>
            <a:ext cx="2108200" cy="941832"/>
          </a:xfrm>
          <a:prstGeom prst="rect">
            <a:avLst/>
          </a:prstGeom>
        </p:spPr>
        <p:txBody>
          <a:bodyPr wrap="square" lIns="0" rIns="0" tIns="0" bIns="0"/>
          <a:lstStyle/>
          <a:p>
            <a:pPr algn="l" lvl="0"/>
            <a:r>
              <a:rPr lang="zh-CN" sz="1600">
                <a:solidFill>
                  <a:srgbClr val="2E4438"/>
                </a:solidFill>
                <a:latin typeface="楷体"/>
                <a:ea typeface="楷体"/>
              </a:rPr>
              <a:t>我国发展新的历史</a:t>
            </a:r>
          </a:p>
          <a:p>
            <a:pPr algn="l" lvl="0"/>
            <a:r>
              <a:rPr lang="zh-CN" sz="1600">
                <a:solidFill>
                  <a:srgbClr val="2E4438"/>
                </a:solidFill>
                <a:latin typeface="楷体"/>
                <a:ea typeface="楷体"/>
              </a:rPr>
              <a:t>方位，社会主要矛</a:t>
            </a:r>
          </a:p>
          <a:p>
            <a:pPr algn="l" lvl="0"/>
            <a:r>
              <a:rPr lang="zh-CN" sz="1600">
                <a:solidFill>
                  <a:srgbClr val="2E4438"/>
                </a:solidFill>
                <a:latin typeface="楷体"/>
                <a:ea typeface="楷体"/>
              </a:rPr>
              <a:t>盾的历史性变化。</a:t>
            </a:r>
          </a:p>
        </p:txBody>
      </p:sp>
      <p:sp>
        <p:nvSpPr>
          <p:cNvPr id="1031" name="rc1_sh"/>
          <p:cNvSpPr/>
          <p:nvPr/>
        </p:nvSpPr>
        <p:spPr>
          <a:xfrm>
            <a:off x="3149600" y="2456688"/>
            <a:ext cx="2362200" cy="233426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032" name="rc1"/>
          <p:cNvSpPr/>
          <p:nvPr/>
        </p:nvSpPr>
        <p:spPr>
          <a:xfrm>
            <a:off x="3124200" y="2405888"/>
            <a:ext cx="2413000" cy="2334260"/>
          </a:xfrm>
          <a:prstGeom prst="roundRect">
            <a:avLst>
              <a:gd name="adj" fmla="val 8000"/>
            </a:avLst>
          </a:prstGeom>
          <a:solidFill>
            <a:srgbClr val="E9EFE9"/>
          </a:solidFill>
          <a:ln w="15875">
            <a:solidFill>
              <a:srgbClr val="1F6B4F"/>
            </a:solidFill>
          </a:ln>
        </p:spPr>
        <p:txBody>
          <a:bodyPr rtlCol="0" anchor="ctr"/>
          <a:lstStyle/>
          <a:p/>
        </p:txBody>
      </p:sp>
      <p:sp>
        <p:nvSpPr>
          <p:cNvPr id="1033" name="rc1_le"/>
          <p:cNvSpPr/>
          <p:nvPr/>
        </p:nvSpPr>
        <p:spPr>
          <a:xfrm>
            <a:off x="3149600" y="2520188"/>
            <a:ext cx="44450" cy="2105660"/>
          </a:xfrm>
          <a:prstGeom prst="rect">
            <a:avLst/>
          </a:prstGeom>
          <a:gradFill rotWithShape="1">
            <a:gsLst>
              <a:gs pos="0">
                <a:srgbClr val="1F6B4F"/>
              </a:gs>
              <a:gs pos="100000">
                <a:srgbClr val="1F6B4F">
                  <a:alpha val="0"/>
                </a:srgbClr>
              </a:gs>
            </a:gsLst>
            <a:lin ang="5400000" scaled="1"/>
          </a:gradFill>
          <a:ln>
            <a:noFill/>
          </a:ln>
        </p:spPr>
        <p:txBody>
          <a:bodyPr rtlCol="0" anchor="ctr"/>
          <a:lstStyle/>
          <a:p/>
        </p:txBody>
      </p:sp>
      <p:sp>
        <p:nvSpPr>
          <p:cNvPr id="1034" name="rc1_t"/>
          <p:cNvSpPr txBox="1"/>
          <p:nvPr/>
        </p:nvSpPr>
        <p:spPr>
          <a:xfrm>
            <a:off x="3276600" y="2520188"/>
            <a:ext cx="2108200" cy="672084"/>
          </a:xfrm>
          <a:prstGeom prst="rect">
            <a:avLst/>
          </a:prstGeom>
        </p:spPr>
        <p:txBody>
          <a:bodyPr wrap="square" lIns="0" rIns="0" tIns="0" bIns="0"/>
          <a:lstStyle/>
          <a:p>
            <a:pPr algn="l" lvl="0"/>
            <a:r>
              <a:rPr lang="zh-CN" sz="1700" b="1">
                <a:solidFill>
                  <a:srgbClr val="1F6B4F"/>
                </a:solidFill>
                <a:latin typeface="黑体"/>
                <a:ea typeface="黑体"/>
              </a:rPr>
              <a:t>第五课</a:t>
            </a:r>
          </a:p>
          <a:p>
            <a:pPr algn="l" lvl="0"/>
            <a:r>
              <a:rPr lang="zh-CN" sz="1700" b="1">
                <a:solidFill>
                  <a:srgbClr val="1F6B4F"/>
                </a:solidFill>
                <a:latin typeface="黑体"/>
                <a:ea typeface="黑体"/>
              </a:rPr>
              <a:t>新时代的思想旗帜</a:t>
            </a:r>
          </a:p>
        </p:txBody>
      </p:sp>
      <p:sp>
        <p:nvSpPr>
          <p:cNvPr id="1035" name="rc1_b"/>
          <p:cNvSpPr txBox="1"/>
          <p:nvPr/>
        </p:nvSpPr>
        <p:spPr>
          <a:xfrm>
            <a:off x="3276600" y="3319272"/>
            <a:ext cx="2108200" cy="1230376"/>
          </a:xfrm>
          <a:prstGeom prst="rect">
            <a:avLst/>
          </a:prstGeom>
        </p:spPr>
        <p:txBody>
          <a:bodyPr wrap="square" lIns="0" rIns="0" tIns="0" bIns="0"/>
          <a:lstStyle/>
          <a:p>
            <a:pPr algn="l" lvl="0"/>
            <a:r>
              <a:rPr lang="zh-CN" sz="1600">
                <a:solidFill>
                  <a:srgbClr val="2E4438"/>
                </a:solidFill>
                <a:latin typeface="楷体"/>
                <a:ea typeface="楷体"/>
              </a:rPr>
              <a:t>习近平新时代中国</a:t>
            </a:r>
          </a:p>
          <a:p>
            <a:pPr algn="l" lvl="0"/>
            <a:r>
              <a:rPr lang="zh-CN" sz="1600">
                <a:solidFill>
                  <a:srgbClr val="2E4438"/>
                </a:solidFill>
                <a:latin typeface="楷体"/>
                <a:ea typeface="楷体"/>
              </a:rPr>
              <a:t>特色社会主义思想</a:t>
            </a:r>
          </a:p>
          <a:p>
            <a:pPr algn="l" lvl="0"/>
            <a:r>
              <a:rPr lang="zh-CN" sz="1600">
                <a:solidFill>
                  <a:srgbClr val="2E4438"/>
                </a:solidFill>
                <a:latin typeface="楷体"/>
                <a:ea typeface="楷体"/>
              </a:rPr>
              <a:t>的确立与指导地位。</a:t>
            </a:r>
          </a:p>
          <a:p>
            <a:pPr algn="l" lvl="0"/>
            <a:r>
              <a:rPr lang="zh-CN" sz="1600">
                <a:solidFill>
                  <a:srgbClr val="2E4438"/>
                </a:solidFill>
                <a:latin typeface="楷体"/>
                <a:ea typeface="楷体"/>
              </a:rPr>
              <a:t/>
            </a:r>
          </a:p>
        </p:txBody>
      </p:sp>
      <p:sp>
        <p:nvSpPr>
          <p:cNvPr id="1036" name="rc2_sh"/>
          <p:cNvSpPr/>
          <p:nvPr/>
        </p:nvSpPr>
        <p:spPr>
          <a:xfrm>
            <a:off x="5715000" y="2456688"/>
            <a:ext cx="2362200" cy="233426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037" name="rc2"/>
          <p:cNvSpPr/>
          <p:nvPr/>
        </p:nvSpPr>
        <p:spPr>
          <a:xfrm>
            <a:off x="5689600" y="2405888"/>
            <a:ext cx="2413000" cy="2334260"/>
          </a:xfrm>
          <a:prstGeom prst="roundRect">
            <a:avLst>
              <a:gd name="adj" fmla="val 8000"/>
            </a:avLst>
          </a:prstGeom>
          <a:solidFill>
            <a:srgbClr val="E9EFE9"/>
          </a:solidFill>
          <a:ln w="15875">
            <a:solidFill>
              <a:srgbClr val="1F6B4F"/>
            </a:solidFill>
          </a:ln>
        </p:spPr>
        <p:txBody>
          <a:bodyPr rtlCol="0" anchor="ctr"/>
          <a:lstStyle/>
          <a:p/>
        </p:txBody>
      </p:sp>
      <p:sp>
        <p:nvSpPr>
          <p:cNvPr id="1038" name="rc2_le"/>
          <p:cNvSpPr/>
          <p:nvPr/>
        </p:nvSpPr>
        <p:spPr>
          <a:xfrm>
            <a:off x="5715000" y="2520188"/>
            <a:ext cx="44450" cy="2105660"/>
          </a:xfrm>
          <a:prstGeom prst="rect">
            <a:avLst/>
          </a:prstGeom>
          <a:gradFill rotWithShape="1">
            <a:gsLst>
              <a:gs pos="0">
                <a:srgbClr val="1F6B4F"/>
              </a:gs>
              <a:gs pos="100000">
                <a:srgbClr val="1F6B4F">
                  <a:alpha val="0"/>
                </a:srgbClr>
              </a:gs>
            </a:gsLst>
            <a:lin ang="5400000" scaled="1"/>
          </a:gradFill>
          <a:ln>
            <a:noFill/>
          </a:ln>
        </p:spPr>
        <p:txBody>
          <a:bodyPr rtlCol="0" anchor="ctr"/>
          <a:lstStyle/>
          <a:p/>
        </p:txBody>
      </p:sp>
      <p:sp>
        <p:nvSpPr>
          <p:cNvPr id="1039" name="rc2_t"/>
          <p:cNvSpPr txBox="1"/>
          <p:nvPr/>
        </p:nvSpPr>
        <p:spPr>
          <a:xfrm>
            <a:off x="5842000" y="2520188"/>
            <a:ext cx="2108200" cy="672084"/>
          </a:xfrm>
          <a:prstGeom prst="rect">
            <a:avLst/>
          </a:prstGeom>
        </p:spPr>
        <p:txBody>
          <a:bodyPr wrap="square" lIns="0" rIns="0" tIns="0" bIns="0"/>
          <a:lstStyle/>
          <a:p>
            <a:pPr algn="l" lvl="0"/>
            <a:r>
              <a:rPr lang="zh-CN" sz="1700" b="1">
                <a:solidFill>
                  <a:srgbClr val="1F6B4F"/>
                </a:solidFill>
                <a:latin typeface="黑体"/>
                <a:ea typeface="黑体"/>
              </a:rPr>
              <a:t>第六课</a:t>
            </a:r>
          </a:p>
          <a:p>
            <a:pPr algn="l" lvl="0"/>
            <a:r>
              <a:rPr lang="zh-CN" sz="1700" b="1">
                <a:solidFill>
                  <a:srgbClr val="1F6B4F"/>
                </a:solidFill>
                <a:latin typeface="黑体"/>
                <a:ea typeface="黑体"/>
              </a:rPr>
              <a:t>中国腾飞谱新篇</a:t>
            </a:r>
          </a:p>
        </p:txBody>
      </p:sp>
      <p:sp>
        <p:nvSpPr>
          <p:cNvPr id="1040" name="rc2_b"/>
          <p:cNvSpPr txBox="1"/>
          <p:nvPr/>
        </p:nvSpPr>
        <p:spPr>
          <a:xfrm>
            <a:off x="5842000" y="3319272"/>
            <a:ext cx="2108200" cy="1230376"/>
          </a:xfrm>
          <a:prstGeom prst="rect">
            <a:avLst/>
          </a:prstGeom>
        </p:spPr>
        <p:txBody>
          <a:bodyPr wrap="square" lIns="0" rIns="0" tIns="0" bIns="0"/>
          <a:lstStyle/>
          <a:p>
            <a:pPr algn="l" lvl="0"/>
            <a:r>
              <a:rPr lang="zh-CN" sz="1600">
                <a:solidFill>
                  <a:srgbClr val="2E4438"/>
                </a:solidFill>
                <a:latin typeface="楷体"/>
                <a:ea typeface="楷体"/>
              </a:rPr>
              <a:t>新时代党和国家事</a:t>
            </a:r>
          </a:p>
          <a:p>
            <a:pPr algn="l" lvl="0"/>
            <a:r>
              <a:rPr lang="zh-CN" sz="1600">
                <a:solidFill>
                  <a:srgbClr val="2E4438"/>
                </a:solidFill>
                <a:latin typeface="楷体"/>
                <a:ea typeface="楷体"/>
              </a:rPr>
              <a:t>业取得的历史性成</a:t>
            </a:r>
          </a:p>
          <a:p>
            <a:pPr algn="l" lvl="0"/>
            <a:r>
              <a:rPr lang="zh-CN" sz="1600">
                <a:solidFill>
                  <a:srgbClr val="2E4438"/>
                </a:solidFill>
                <a:latin typeface="楷体"/>
                <a:ea typeface="楷体"/>
              </a:rPr>
              <a:t>就、发生的历史性</a:t>
            </a:r>
          </a:p>
          <a:p>
            <a:pPr algn="l" lvl="0"/>
            <a:r>
              <a:rPr lang="zh-CN" sz="1600">
                <a:solidFill>
                  <a:srgbClr val="2E4438"/>
                </a:solidFill>
                <a:latin typeface="楷体"/>
                <a:ea typeface="楷体"/>
              </a:rPr>
              <a:t>变革。</a:t>
            </a:r>
          </a:p>
        </p:txBody>
      </p:sp>
      <p:sp>
        <p:nvSpPr>
          <p:cNvPr id="1041" name="p02sum_sh"/>
          <p:cNvSpPr/>
          <p:nvPr/>
        </p:nvSpPr>
        <p:spPr>
          <a:xfrm>
            <a:off x="584200" y="4943348"/>
            <a:ext cx="7518400" cy="582676"/>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042" name="p02sum"/>
          <p:cNvSpPr/>
          <p:nvPr/>
        </p:nvSpPr>
        <p:spPr>
          <a:xfrm>
            <a:off x="558800" y="4892548"/>
            <a:ext cx="7569200" cy="582676"/>
          </a:xfrm>
          <a:prstGeom prst="roundRect">
            <a:avLst>
              <a:gd name="adj" fmla="val 8000"/>
            </a:avLst>
          </a:prstGeom>
          <a:solidFill>
            <a:srgbClr val="F0E8D8"/>
          </a:solidFill>
          <a:ln w="15875">
            <a:solidFill>
              <a:srgbClr val="1F6B4F"/>
            </a:solidFill>
          </a:ln>
        </p:spPr>
        <p:txBody>
          <a:bodyPr rtlCol="0" anchor="ctr"/>
          <a:lstStyle/>
          <a:p/>
        </p:txBody>
      </p:sp>
      <p:sp>
        <p:nvSpPr>
          <p:cNvPr id="1043" name="p02sum_cap"/>
          <p:cNvSpPr/>
          <p:nvPr/>
        </p:nvSpPr>
        <p:spPr>
          <a:xfrm>
            <a:off x="647700" y="4968748"/>
            <a:ext cx="50800" cy="430276"/>
          </a:xfrm>
          <a:prstGeom prst="rect">
            <a:avLst/>
          </a:prstGeom>
          <a:gradFill rotWithShape="1">
            <a:gsLst>
              <a:gs pos="0">
                <a:srgbClr val="1F6B4F"/>
              </a:gs>
              <a:gs pos="100000">
                <a:srgbClr val="1F6B4F">
                  <a:alpha val="10000"/>
                </a:srgbClr>
              </a:gs>
            </a:gsLst>
            <a:lin ang="5400000" scaled="1"/>
          </a:gradFill>
          <a:ln>
            <a:noFill/>
          </a:ln>
        </p:spPr>
        <p:txBody>
          <a:bodyPr rtlCol="0" anchor="ctr"/>
          <a:lstStyle/>
          <a:p/>
        </p:txBody>
      </p:sp>
      <p:sp>
        <p:nvSpPr>
          <p:cNvPr id="1044" name="p02sum_t"/>
          <p:cNvSpPr txBox="1"/>
          <p:nvPr/>
        </p:nvSpPr>
        <p:spPr>
          <a:xfrm>
            <a:off x="711200" y="4981448"/>
            <a:ext cx="7264400" cy="404876"/>
          </a:xfrm>
          <a:prstGeom prst="rect">
            <a:avLst/>
          </a:prstGeom>
        </p:spPr>
        <p:txBody>
          <a:bodyPr wrap="square" lIns="0" rIns="0" tIns="0" bIns="0"/>
          <a:lstStyle/>
          <a:p>
            <a:pPr algn="l" lvl="0"/>
            <a:r>
              <a:rPr lang="zh-CN" sz="1400">
                <a:solidFill>
                  <a:srgbClr val="1D2B23"/>
                </a:solidFill>
                <a:latin typeface="楷体"/>
                <a:ea typeface="楷体"/>
              </a:rPr>
              <a:t>三课层层递进：先看“方位”，再立“旗帜”，最后落到“成就”。</a:t>
            </a:r>
          </a:p>
        </p:txBody>
      </p:sp>
    </p:spTree>
  </p:cSld>
  <p:clrMapOvr>
    <a:masterClrMapping/>
  </p:clrMapOvr>
  <p:transition xmlns:p="http://schemas.openxmlformats.org/presentationml/2006/mai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045" name="hd_secbg"/>
          <p:cNvSpPr/>
          <p:nvPr/>
        </p:nvSpPr>
        <p:spPr>
          <a:xfrm>
            <a:off x="558800" y="279400"/>
            <a:ext cx="2987904"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046" name="hd_secbar"/>
          <p:cNvSpPr/>
          <p:nvPr/>
        </p:nvSpPr>
        <p:spPr>
          <a:xfrm>
            <a:off x="609600" y="317500"/>
            <a:ext cx="44450" cy="228600"/>
          </a:xfrm>
          <a:prstGeom prst="rect">
            <a:avLst/>
          </a:prstGeom>
          <a:gradFill rotWithShape="1">
            <a:gsLst>
              <a:gs pos="0">
                <a:srgbClr val="1F6B4F"/>
              </a:gs>
              <a:gs pos="100000">
                <a:srgbClr val="7FD6B0">
                  <a:alpha val="100000"/>
                </a:srgbClr>
              </a:gs>
            </a:gsLst>
            <a:lin ang="5400000" scaled="1"/>
          </a:gradFill>
          <a:ln>
            <a:noFill/>
          </a:ln>
        </p:spPr>
        <p:txBody>
          <a:bodyPr rtlCol="0" anchor="ctr"/>
          <a:lstStyle/>
          <a:p/>
        </p:txBody>
      </p:sp>
      <p:sp>
        <p:nvSpPr>
          <p:cNvPr id="1047" name="hd_sec"/>
          <p:cNvSpPr txBox="1"/>
          <p:nvPr/>
        </p:nvSpPr>
        <p:spPr>
          <a:xfrm>
            <a:off x="736600" y="317500"/>
            <a:ext cx="2708504" cy="228600"/>
          </a:xfrm>
          <a:prstGeom prst="rect">
            <a:avLst/>
          </a:prstGeom>
        </p:spPr>
        <p:txBody>
          <a:bodyPr wrap="square" lIns="0" rIns="0" tIns="0" bIns="0"/>
          <a:lstStyle/>
          <a:p>
            <a:pPr algn="l" lvl="0"/>
            <a:r>
              <a:rPr lang="zh-CN" sz="1400" b="1">
                <a:solidFill>
                  <a:srgbClr val="1F6B4F"/>
                </a:solidFill>
                <a:latin typeface="黑体"/>
                <a:ea typeface="黑体"/>
              </a:rPr>
              <a:t>导引 · 从一次策展邀请开始</a:t>
            </a:r>
          </a:p>
        </p:txBody>
      </p:sp>
      <p:sp>
        <p:nvSpPr>
          <p:cNvPr id="1048"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新时代"新"在哪里</a:t>
            </a:r>
          </a:p>
        </p:txBody>
      </p:sp>
      <p:sp>
        <p:nvSpPr>
          <p:cNvPr id="1049" name="hd_rule2"/>
          <p:cNvSpPr/>
          <p:nvPr/>
        </p:nvSpPr>
        <p:spPr>
          <a:xfrm>
            <a:off x="558800" y="1143000"/>
            <a:ext cx="1625600" cy="44450"/>
          </a:xfrm>
          <a:prstGeom prst="rect">
            <a:avLst/>
          </a:prstGeom>
          <a:gradFill rotWithShape="1">
            <a:gsLst>
              <a:gs pos="0">
                <a:srgbClr val="1F6B4F"/>
              </a:gs>
              <a:gs pos="100000">
                <a:srgbClr val="7FD6B0">
                  <a:alpha val="100000"/>
                </a:srgbClr>
              </a:gs>
            </a:gsLst>
            <a:lin ang="0" scaled="1"/>
          </a:gradFill>
          <a:ln>
            <a:noFill/>
          </a:ln>
        </p:spPr>
        <p:txBody>
          <a:bodyPr rtlCol="0" anchor="ctr"/>
          <a:lstStyle/>
          <a:p/>
        </p:txBody>
      </p:sp>
      <p:sp>
        <p:nvSpPr>
          <p:cNvPr id="1050" name="hd_rule"/>
          <p:cNvSpPr/>
          <p:nvPr/>
        </p:nvSpPr>
        <p:spPr>
          <a:xfrm>
            <a:off x="2260600" y="1158240"/>
            <a:ext cx="5867400" cy="19050"/>
          </a:xfrm>
          <a:prstGeom prst="rect">
            <a:avLst/>
          </a:prstGeom>
          <a:solidFill>
            <a:srgbClr val="7FD6B0">
              <a:alpha val="40000"/>
            </a:srgbClr>
          </a:solidFill>
          <a:ln>
            <a:noFill/>
          </a:ln>
        </p:spPr>
        <p:txBody>
          <a:bodyPr rtlCol="0" anchor="ctr"/>
          <a:lstStyle/>
          <a:p/>
        </p:txBody>
      </p:sp>
      <p:cxnSp>
        <p:nvCxnSpPr>
          <p:cNvPr id="1051" name="rb_rule"/>
          <p:cNvCxnSpPr/>
          <p:nvPr/>
        </p:nvCxnSpPr>
        <p:spPr>
          <a:xfrm>
            <a:off x="8280400" y="1422400"/>
            <a:ext cx="0" cy="4267200"/>
          </a:xfrm>
          <a:prstGeom prst="straightConnector1">
            <a:avLst/>
          </a:prstGeom>
          <a:ln w="19050">
            <a:solidFill>
              <a:srgbClr val="7E9A85"/>
            </a:solidFill>
          </a:ln>
        </p:spPr>
      </p:cxnSp>
      <p:sp>
        <p:nvSpPr>
          <p:cNvPr id="1052" name="rb_chip_a"/>
          <p:cNvSpPr/>
          <p:nvPr/>
        </p:nvSpPr>
        <p:spPr>
          <a:xfrm>
            <a:off x="8229600" y="1219200"/>
            <a:ext cx="152400" cy="152400"/>
          </a:xfrm>
          <a:prstGeom prst="rect">
            <a:avLst/>
          </a:prstGeom>
          <a:gradFill rotWithShape="1">
            <a:gsLst>
              <a:gs pos="0">
                <a:srgbClr val="7FD6B0"/>
              </a:gs>
              <a:gs pos="100000">
                <a:srgbClr val="1F6B4F">
                  <a:alpha val="100000"/>
                </a:srgbClr>
              </a:gs>
            </a:gsLst>
            <a:lin ang="8100000" scaled="1"/>
          </a:gradFill>
          <a:ln>
            <a:noFill/>
          </a:ln>
        </p:spPr>
        <p:txBody>
          <a:bodyPr rtlCol="0" anchor="ctr"/>
          <a:lstStyle/>
          <a:p/>
        </p:txBody>
      </p:sp>
      <p:sp>
        <p:nvSpPr>
          <p:cNvPr id="1053" name="rb_chip_b"/>
          <p:cNvSpPr/>
          <p:nvPr/>
        </p:nvSpPr>
        <p:spPr>
          <a:xfrm>
            <a:off x="8280400" y="1193800"/>
            <a:ext cx="101600" cy="101600"/>
          </a:xfrm>
          <a:prstGeom prst="rect">
            <a:avLst/>
          </a:prstGeom>
          <a:solidFill>
            <a:srgbClr val="1F6B4F"/>
          </a:solidFill>
          <a:ln>
            <a:noFill/>
          </a:ln>
        </p:spPr>
        <p:txBody>
          <a:bodyPr rtlCol="0" anchor="ctr"/>
          <a:lstStyle/>
          <a:p/>
        </p:txBody>
      </p:sp>
      <p:sp>
        <p:nvSpPr>
          <p:cNvPr id="1054"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055"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056" name="rb_tagrule"/>
          <p:cNvCxnSpPr/>
          <p:nvPr/>
        </p:nvCxnSpPr>
        <p:spPr>
          <a:xfrm>
            <a:off x="11226800" y="2260600"/>
            <a:ext cx="482600" cy="0"/>
          </a:xfrm>
          <a:prstGeom prst="straightConnector1">
            <a:avLst/>
          </a:prstGeom>
          <a:ln w="12700">
            <a:solidFill>
              <a:srgbClr val="7E9A85"/>
            </a:solidFill>
          </a:ln>
        </p:spPr>
      </p:cxnSp>
      <p:sp>
        <p:nvSpPr>
          <p:cNvPr id="1057"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7FD6B0"/>
                </a:solidFill>
                <a:latin typeface="黑体"/>
                <a:ea typeface="黑体"/>
              </a:rPr>
              <a:t>03 / 42</a:t>
            </a:r>
          </a:p>
        </p:txBody>
      </p:sp>
      <p:sp>
        <p:nvSpPr>
          <p:cNvPr id="1058" name="lead_sh"/>
          <p:cNvSpPr/>
          <p:nvPr/>
        </p:nvSpPr>
        <p:spPr>
          <a:xfrm>
            <a:off x="584200" y="1397000"/>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059" name="lead"/>
          <p:cNvSpPr/>
          <p:nvPr/>
        </p:nvSpPr>
        <p:spPr>
          <a:xfrm>
            <a:off x="558800" y="1346200"/>
            <a:ext cx="7569200" cy="618744"/>
          </a:xfrm>
          <a:prstGeom prst="roundRect">
            <a:avLst>
              <a:gd name="adj" fmla="val 8000"/>
            </a:avLst>
          </a:prstGeom>
          <a:solidFill>
            <a:srgbClr val="E9EFE9"/>
          </a:solidFill>
          <a:ln w="15875">
            <a:solidFill>
              <a:srgbClr val="1F6B4F"/>
            </a:solidFill>
          </a:ln>
        </p:spPr>
        <p:txBody>
          <a:bodyPr rtlCol="0" anchor="ctr"/>
          <a:lstStyle/>
          <a:p/>
        </p:txBody>
      </p:sp>
      <p:sp>
        <p:nvSpPr>
          <p:cNvPr id="1060" name="lead_cap"/>
          <p:cNvSpPr/>
          <p:nvPr/>
        </p:nvSpPr>
        <p:spPr>
          <a:xfrm>
            <a:off x="647700" y="1422400"/>
            <a:ext cx="50800" cy="466344"/>
          </a:xfrm>
          <a:prstGeom prst="rect">
            <a:avLst/>
          </a:prstGeom>
          <a:gradFill rotWithShape="1">
            <a:gsLst>
              <a:gs pos="0">
                <a:srgbClr val="1F6B4F"/>
              </a:gs>
              <a:gs pos="100000">
                <a:srgbClr val="1F6B4F">
                  <a:alpha val="10000"/>
                </a:srgbClr>
              </a:gs>
            </a:gsLst>
            <a:lin ang="5400000" scaled="1"/>
          </a:gradFill>
          <a:ln>
            <a:noFill/>
          </a:ln>
        </p:spPr>
        <p:txBody>
          <a:bodyPr rtlCol="0" anchor="ctr"/>
          <a:lstStyle/>
          <a:p/>
        </p:txBody>
      </p:sp>
      <p:sp>
        <p:nvSpPr>
          <p:cNvPr id="1061" name="lead_t"/>
          <p:cNvSpPr txBox="1"/>
          <p:nvPr/>
        </p:nvSpPr>
        <p:spPr>
          <a:xfrm>
            <a:off x="711200" y="1435100"/>
            <a:ext cx="7264400" cy="440944"/>
          </a:xfrm>
          <a:prstGeom prst="rect">
            <a:avLst/>
          </a:prstGeom>
        </p:spPr>
        <p:txBody>
          <a:bodyPr wrap="square" lIns="0" rIns="0" tIns="0" bIns="0"/>
          <a:lstStyle/>
          <a:p>
            <a:pPr algn="l" lvl="0"/>
            <a:r>
              <a:rPr lang="zh-CN" sz="1600">
                <a:solidFill>
                  <a:srgbClr val="1D2B23"/>
                </a:solidFill>
                <a:latin typeface="楷体"/>
                <a:ea typeface="楷体"/>
              </a:rPr>
              <a:t>把“新时代”拆开看，它新在四个地方。</a:t>
            </a:r>
          </a:p>
        </p:txBody>
      </p:sp>
      <p:sp>
        <p:nvSpPr>
          <p:cNvPr id="1062" name="rc0_sh"/>
          <p:cNvSpPr/>
          <p:nvPr/>
        </p:nvSpPr>
        <p:spPr>
          <a:xfrm>
            <a:off x="584200" y="2295144"/>
            <a:ext cx="1727200" cy="2613406"/>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063" name="rc0"/>
          <p:cNvSpPr/>
          <p:nvPr/>
        </p:nvSpPr>
        <p:spPr>
          <a:xfrm>
            <a:off x="558800" y="2244344"/>
            <a:ext cx="1778000" cy="2613406"/>
          </a:xfrm>
          <a:prstGeom prst="roundRect">
            <a:avLst>
              <a:gd name="adj" fmla="val 8000"/>
            </a:avLst>
          </a:prstGeom>
          <a:solidFill>
            <a:srgbClr val="E9EFE9"/>
          </a:solidFill>
          <a:ln w="15875">
            <a:solidFill>
              <a:srgbClr val="1F6B4F"/>
            </a:solidFill>
          </a:ln>
        </p:spPr>
        <p:txBody>
          <a:bodyPr rtlCol="0" anchor="ctr"/>
          <a:lstStyle/>
          <a:p/>
        </p:txBody>
      </p:sp>
      <p:sp>
        <p:nvSpPr>
          <p:cNvPr id="1064" name="rc0_le"/>
          <p:cNvSpPr/>
          <p:nvPr/>
        </p:nvSpPr>
        <p:spPr>
          <a:xfrm>
            <a:off x="584200" y="2358644"/>
            <a:ext cx="44450" cy="2384806"/>
          </a:xfrm>
          <a:prstGeom prst="rect">
            <a:avLst/>
          </a:prstGeom>
          <a:gradFill rotWithShape="1">
            <a:gsLst>
              <a:gs pos="0">
                <a:srgbClr val="1F6B4F"/>
              </a:gs>
              <a:gs pos="100000">
                <a:srgbClr val="1F6B4F">
                  <a:alpha val="0"/>
                </a:srgbClr>
              </a:gs>
            </a:gsLst>
            <a:lin ang="5400000" scaled="1"/>
          </a:gradFill>
          <a:ln>
            <a:noFill/>
          </a:ln>
        </p:spPr>
        <p:txBody>
          <a:bodyPr rtlCol="0" anchor="ctr"/>
          <a:lstStyle/>
          <a:p/>
        </p:txBody>
      </p:sp>
      <p:sp>
        <p:nvSpPr>
          <p:cNvPr id="1065" name="rc0_t"/>
          <p:cNvSpPr txBox="1"/>
          <p:nvPr/>
        </p:nvSpPr>
        <p:spPr>
          <a:xfrm>
            <a:off x="711200" y="2358644"/>
            <a:ext cx="1473200" cy="374142"/>
          </a:xfrm>
          <a:prstGeom prst="rect">
            <a:avLst/>
          </a:prstGeom>
        </p:spPr>
        <p:txBody>
          <a:bodyPr wrap="square" lIns="0" rIns="0" tIns="0" bIns="0"/>
          <a:lstStyle/>
          <a:p>
            <a:pPr algn="l" lvl="0"/>
            <a:r>
              <a:rPr lang="zh-CN" sz="1700" b="1">
                <a:solidFill>
                  <a:srgbClr val="1F6B4F"/>
                </a:solidFill>
                <a:latin typeface="黑体"/>
                <a:ea typeface="黑体"/>
              </a:rPr>
              <a:t>矛盾新变化</a:t>
            </a:r>
          </a:p>
        </p:txBody>
      </p:sp>
      <p:sp>
        <p:nvSpPr>
          <p:cNvPr id="1066" name="rc0_b"/>
          <p:cNvSpPr txBox="1"/>
          <p:nvPr/>
        </p:nvSpPr>
        <p:spPr>
          <a:xfrm>
            <a:off x="711200" y="2859786"/>
            <a:ext cx="1473200" cy="1807464"/>
          </a:xfrm>
          <a:prstGeom prst="rect">
            <a:avLst/>
          </a:prstGeom>
        </p:spPr>
        <p:txBody>
          <a:bodyPr wrap="square" lIns="0" rIns="0" tIns="0" bIns="0"/>
          <a:lstStyle/>
          <a:p>
            <a:pPr algn="l" lvl="0"/>
            <a:r>
              <a:rPr lang="zh-CN" sz="1600">
                <a:solidFill>
                  <a:srgbClr val="2E4438"/>
                </a:solidFill>
                <a:latin typeface="楷体"/>
                <a:ea typeface="楷体"/>
              </a:rPr>
              <a:t>人民日益增</a:t>
            </a:r>
          </a:p>
          <a:p>
            <a:pPr algn="l" lvl="0"/>
            <a:r>
              <a:rPr lang="zh-CN" sz="1600">
                <a:solidFill>
                  <a:srgbClr val="2E4438"/>
                </a:solidFill>
                <a:latin typeface="楷体"/>
                <a:ea typeface="楷体"/>
              </a:rPr>
              <a:t>长的美好生</a:t>
            </a:r>
          </a:p>
          <a:p>
            <a:pPr algn="l" lvl="0"/>
            <a:r>
              <a:rPr lang="zh-CN" sz="1600">
                <a:solidFill>
                  <a:srgbClr val="2E4438"/>
                </a:solidFill>
                <a:latin typeface="楷体"/>
                <a:ea typeface="楷体"/>
              </a:rPr>
              <a:t>活需要和不</a:t>
            </a:r>
          </a:p>
          <a:p>
            <a:pPr algn="l" lvl="0"/>
            <a:r>
              <a:rPr lang="zh-CN" sz="1600">
                <a:solidFill>
                  <a:srgbClr val="2E4438"/>
                </a:solidFill>
                <a:latin typeface="楷体"/>
                <a:ea typeface="楷体"/>
              </a:rPr>
              <a:t>平衡不充分</a:t>
            </a:r>
          </a:p>
          <a:p>
            <a:pPr algn="l" lvl="0"/>
            <a:r>
              <a:rPr lang="zh-CN" sz="1600">
                <a:solidFill>
                  <a:srgbClr val="2E4438"/>
                </a:solidFill>
                <a:latin typeface="楷体"/>
                <a:ea typeface="楷体"/>
              </a:rPr>
              <a:t>的发展之间</a:t>
            </a:r>
          </a:p>
          <a:p>
            <a:pPr algn="l" lvl="0"/>
            <a:r>
              <a:rPr lang="zh-CN" sz="1600">
                <a:solidFill>
                  <a:srgbClr val="2E4438"/>
                </a:solidFill>
                <a:latin typeface="楷体"/>
                <a:ea typeface="楷体"/>
              </a:rPr>
              <a:t>的矛盾。</a:t>
            </a:r>
          </a:p>
        </p:txBody>
      </p:sp>
      <p:sp>
        <p:nvSpPr>
          <p:cNvPr id="1067" name="rc1_sh"/>
          <p:cNvSpPr/>
          <p:nvPr/>
        </p:nvSpPr>
        <p:spPr>
          <a:xfrm>
            <a:off x="2514600" y="2295144"/>
            <a:ext cx="1727200" cy="2613406"/>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068" name="rc1"/>
          <p:cNvSpPr/>
          <p:nvPr/>
        </p:nvSpPr>
        <p:spPr>
          <a:xfrm>
            <a:off x="2489200" y="2244344"/>
            <a:ext cx="1778000" cy="2613406"/>
          </a:xfrm>
          <a:prstGeom prst="roundRect">
            <a:avLst>
              <a:gd name="adj" fmla="val 8000"/>
            </a:avLst>
          </a:prstGeom>
          <a:solidFill>
            <a:srgbClr val="E9EFE9"/>
          </a:solidFill>
          <a:ln w="15875">
            <a:solidFill>
              <a:srgbClr val="1F6B4F"/>
            </a:solidFill>
          </a:ln>
        </p:spPr>
        <p:txBody>
          <a:bodyPr rtlCol="0" anchor="ctr"/>
          <a:lstStyle/>
          <a:p/>
        </p:txBody>
      </p:sp>
      <p:sp>
        <p:nvSpPr>
          <p:cNvPr id="1069" name="rc1_le"/>
          <p:cNvSpPr/>
          <p:nvPr/>
        </p:nvSpPr>
        <p:spPr>
          <a:xfrm>
            <a:off x="2514600" y="2358644"/>
            <a:ext cx="44450" cy="2384806"/>
          </a:xfrm>
          <a:prstGeom prst="rect">
            <a:avLst/>
          </a:prstGeom>
          <a:gradFill rotWithShape="1">
            <a:gsLst>
              <a:gs pos="0">
                <a:srgbClr val="1F6B4F"/>
              </a:gs>
              <a:gs pos="100000">
                <a:srgbClr val="1F6B4F">
                  <a:alpha val="0"/>
                </a:srgbClr>
              </a:gs>
            </a:gsLst>
            <a:lin ang="5400000" scaled="1"/>
          </a:gradFill>
          <a:ln>
            <a:noFill/>
          </a:ln>
        </p:spPr>
        <p:txBody>
          <a:bodyPr rtlCol="0" anchor="ctr"/>
          <a:lstStyle/>
          <a:p/>
        </p:txBody>
      </p:sp>
      <p:sp>
        <p:nvSpPr>
          <p:cNvPr id="1070" name="rc1_t"/>
          <p:cNvSpPr txBox="1"/>
          <p:nvPr/>
        </p:nvSpPr>
        <p:spPr>
          <a:xfrm>
            <a:off x="2641600" y="2502916"/>
            <a:ext cx="1473200" cy="374142"/>
          </a:xfrm>
          <a:prstGeom prst="rect">
            <a:avLst/>
          </a:prstGeom>
        </p:spPr>
        <p:txBody>
          <a:bodyPr wrap="square" lIns="0" rIns="0" tIns="0" bIns="0"/>
          <a:lstStyle/>
          <a:p>
            <a:pPr algn="l" lvl="0"/>
            <a:r>
              <a:rPr lang="zh-CN" sz="1700" b="1">
                <a:solidFill>
                  <a:srgbClr val="1F6B4F"/>
                </a:solidFill>
                <a:latin typeface="黑体"/>
                <a:ea typeface="黑体"/>
              </a:rPr>
              <a:t>历史新方位</a:t>
            </a:r>
          </a:p>
        </p:txBody>
      </p:sp>
      <p:sp>
        <p:nvSpPr>
          <p:cNvPr id="1071" name="rc1_b"/>
          <p:cNvSpPr txBox="1"/>
          <p:nvPr/>
        </p:nvSpPr>
        <p:spPr>
          <a:xfrm>
            <a:off x="2641600" y="3004058"/>
            <a:ext cx="1473200" cy="1518920"/>
          </a:xfrm>
          <a:prstGeom prst="rect">
            <a:avLst/>
          </a:prstGeom>
        </p:spPr>
        <p:txBody>
          <a:bodyPr wrap="square" lIns="0" rIns="0" tIns="0" bIns="0"/>
          <a:lstStyle/>
          <a:p>
            <a:pPr algn="l" lvl="0"/>
            <a:r>
              <a:rPr lang="zh-CN" sz="1600">
                <a:solidFill>
                  <a:srgbClr val="2E4438"/>
                </a:solidFill>
                <a:latin typeface="楷体"/>
                <a:ea typeface="楷体"/>
              </a:rPr>
              <a:t>我国发展站</a:t>
            </a:r>
          </a:p>
          <a:p>
            <a:pPr algn="l" lvl="0"/>
            <a:r>
              <a:rPr lang="zh-CN" sz="1600">
                <a:solidFill>
                  <a:srgbClr val="2E4438"/>
                </a:solidFill>
                <a:latin typeface="楷体"/>
                <a:ea typeface="楷体"/>
              </a:rPr>
              <a:t>到了新的历</a:t>
            </a:r>
          </a:p>
          <a:p>
            <a:pPr algn="l" lvl="0"/>
            <a:r>
              <a:rPr lang="zh-CN" sz="1600">
                <a:solidFill>
                  <a:srgbClr val="2E4438"/>
                </a:solidFill>
                <a:latin typeface="楷体"/>
                <a:ea typeface="楷体"/>
              </a:rPr>
              <a:t>史起点上，</a:t>
            </a:r>
          </a:p>
          <a:p>
            <a:pPr algn="l" lvl="0"/>
            <a:r>
              <a:rPr lang="zh-CN" sz="1600">
                <a:solidFill>
                  <a:srgbClr val="2E4438"/>
                </a:solidFill>
                <a:latin typeface="楷体"/>
                <a:ea typeface="楷体"/>
              </a:rPr>
              <a:t>进入新的发</a:t>
            </a:r>
          </a:p>
          <a:p>
            <a:pPr algn="l" lvl="0"/>
            <a:r>
              <a:rPr lang="zh-CN" sz="1600">
                <a:solidFill>
                  <a:srgbClr val="2E4438"/>
                </a:solidFill>
                <a:latin typeface="楷体"/>
                <a:ea typeface="楷体"/>
              </a:rPr>
              <a:t>展阶段。</a:t>
            </a:r>
          </a:p>
        </p:txBody>
      </p:sp>
      <p:sp>
        <p:nvSpPr>
          <p:cNvPr id="1072" name="rc2_sh"/>
          <p:cNvSpPr/>
          <p:nvPr/>
        </p:nvSpPr>
        <p:spPr>
          <a:xfrm>
            <a:off x="4445000" y="2295144"/>
            <a:ext cx="1727200" cy="2613406"/>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073" name="rc2"/>
          <p:cNvSpPr/>
          <p:nvPr/>
        </p:nvSpPr>
        <p:spPr>
          <a:xfrm>
            <a:off x="4419600" y="2244344"/>
            <a:ext cx="1778000" cy="2613406"/>
          </a:xfrm>
          <a:prstGeom prst="roundRect">
            <a:avLst>
              <a:gd name="adj" fmla="val 8000"/>
            </a:avLst>
          </a:prstGeom>
          <a:solidFill>
            <a:srgbClr val="E9EFE9"/>
          </a:solidFill>
          <a:ln w="15875">
            <a:solidFill>
              <a:srgbClr val="1F6B4F"/>
            </a:solidFill>
          </a:ln>
        </p:spPr>
        <p:txBody>
          <a:bodyPr rtlCol="0" anchor="ctr"/>
          <a:lstStyle/>
          <a:p/>
        </p:txBody>
      </p:sp>
      <p:sp>
        <p:nvSpPr>
          <p:cNvPr id="1074" name="rc2_le"/>
          <p:cNvSpPr/>
          <p:nvPr/>
        </p:nvSpPr>
        <p:spPr>
          <a:xfrm>
            <a:off x="4445000" y="2358644"/>
            <a:ext cx="44450" cy="2384806"/>
          </a:xfrm>
          <a:prstGeom prst="rect">
            <a:avLst/>
          </a:prstGeom>
          <a:gradFill rotWithShape="1">
            <a:gsLst>
              <a:gs pos="0">
                <a:srgbClr val="1F6B4F"/>
              </a:gs>
              <a:gs pos="100000">
                <a:srgbClr val="1F6B4F">
                  <a:alpha val="0"/>
                </a:srgbClr>
              </a:gs>
            </a:gsLst>
            <a:lin ang="5400000" scaled="1"/>
          </a:gradFill>
          <a:ln>
            <a:noFill/>
          </a:ln>
        </p:spPr>
        <p:txBody>
          <a:bodyPr rtlCol="0" anchor="ctr"/>
          <a:lstStyle/>
          <a:p/>
        </p:txBody>
      </p:sp>
      <p:sp>
        <p:nvSpPr>
          <p:cNvPr id="1075" name="rc2_t"/>
          <p:cNvSpPr txBox="1"/>
          <p:nvPr/>
        </p:nvSpPr>
        <p:spPr>
          <a:xfrm>
            <a:off x="4572000" y="2358644"/>
            <a:ext cx="1473200" cy="374142"/>
          </a:xfrm>
          <a:prstGeom prst="rect">
            <a:avLst/>
          </a:prstGeom>
        </p:spPr>
        <p:txBody>
          <a:bodyPr wrap="square" lIns="0" rIns="0" tIns="0" bIns="0"/>
          <a:lstStyle/>
          <a:p>
            <a:pPr algn="l" lvl="0"/>
            <a:r>
              <a:rPr lang="zh-CN" sz="1700" b="1">
                <a:solidFill>
                  <a:srgbClr val="1F6B4F"/>
                </a:solidFill>
                <a:latin typeface="黑体"/>
                <a:ea typeface="黑体"/>
              </a:rPr>
              <a:t>理论新飞跃</a:t>
            </a:r>
          </a:p>
        </p:txBody>
      </p:sp>
      <p:sp>
        <p:nvSpPr>
          <p:cNvPr id="1076" name="rc2_b"/>
          <p:cNvSpPr txBox="1"/>
          <p:nvPr/>
        </p:nvSpPr>
        <p:spPr>
          <a:xfrm>
            <a:off x="4572000" y="2859786"/>
            <a:ext cx="1473200" cy="1807464"/>
          </a:xfrm>
          <a:prstGeom prst="rect">
            <a:avLst/>
          </a:prstGeom>
        </p:spPr>
        <p:txBody>
          <a:bodyPr wrap="square" lIns="0" rIns="0" tIns="0" bIns="0"/>
          <a:lstStyle/>
          <a:p>
            <a:pPr algn="l" lvl="0"/>
            <a:r>
              <a:rPr lang="zh-CN" sz="1600">
                <a:solidFill>
                  <a:srgbClr val="2E4438"/>
                </a:solidFill>
                <a:latin typeface="楷体"/>
                <a:ea typeface="楷体"/>
              </a:rPr>
              <a:t>习近平新时</a:t>
            </a:r>
          </a:p>
          <a:p>
            <a:pPr algn="l" lvl="0"/>
            <a:r>
              <a:rPr lang="zh-CN" sz="1600">
                <a:solidFill>
                  <a:srgbClr val="2E4438"/>
                </a:solidFill>
                <a:latin typeface="楷体"/>
                <a:ea typeface="楷体"/>
              </a:rPr>
              <a:t>代中国特色</a:t>
            </a:r>
          </a:p>
          <a:p>
            <a:pPr algn="l" lvl="0"/>
            <a:r>
              <a:rPr lang="zh-CN" sz="1600">
                <a:solidFill>
                  <a:srgbClr val="2E4438"/>
                </a:solidFill>
                <a:latin typeface="楷体"/>
                <a:ea typeface="楷体"/>
              </a:rPr>
              <a:t>社会主义思</a:t>
            </a:r>
          </a:p>
          <a:p>
            <a:pPr algn="l" lvl="0"/>
            <a:r>
              <a:rPr lang="zh-CN" sz="1600">
                <a:solidFill>
                  <a:srgbClr val="2E4438"/>
                </a:solidFill>
                <a:latin typeface="楷体"/>
                <a:ea typeface="楷体"/>
              </a:rPr>
              <a:t>想成为全党</a:t>
            </a:r>
          </a:p>
          <a:p>
            <a:pPr algn="l" lvl="0"/>
            <a:r>
              <a:rPr lang="zh-CN" sz="1600">
                <a:solidFill>
                  <a:srgbClr val="2E4438"/>
                </a:solidFill>
                <a:latin typeface="楷体"/>
                <a:ea typeface="楷体"/>
              </a:rPr>
              <a:t>全国人民的</a:t>
            </a:r>
          </a:p>
          <a:p>
            <a:pPr algn="l" lvl="0"/>
            <a:r>
              <a:rPr lang="zh-CN" sz="1600">
                <a:solidFill>
                  <a:srgbClr val="2E4438"/>
                </a:solidFill>
                <a:latin typeface="楷体"/>
                <a:ea typeface="楷体"/>
              </a:rPr>
              <a:t>思想旗帜。</a:t>
            </a:r>
          </a:p>
        </p:txBody>
      </p:sp>
      <p:sp>
        <p:nvSpPr>
          <p:cNvPr id="1077" name="rc3_sh"/>
          <p:cNvSpPr/>
          <p:nvPr/>
        </p:nvSpPr>
        <p:spPr>
          <a:xfrm>
            <a:off x="6375400" y="2295144"/>
            <a:ext cx="1727200" cy="2613406"/>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078" name="rc3"/>
          <p:cNvSpPr/>
          <p:nvPr/>
        </p:nvSpPr>
        <p:spPr>
          <a:xfrm>
            <a:off x="6350000" y="2244344"/>
            <a:ext cx="1778000" cy="2613406"/>
          </a:xfrm>
          <a:prstGeom prst="roundRect">
            <a:avLst>
              <a:gd name="adj" fmla="val 8000"/>
            </a:avLst>
          </a:prstGeom>
          <a:solidFill>
            <a:srgbClr val="E9EFE9"/>
          </a:solidFill>
          <a:ln w="15875">
            <a:solidFill>
              <a:srgbClr val="1F6B4F"/>
            </a:solidFill>
          </a:ln>
        </p:spPr>
        <p:txBody>
          <a:bodyPr rtlCol="0" anchor="ctr"/>
          <a:lstStyle/>
          <a:p/>
        </p:txBody>
      </p:sp>
      <p:sp>
        <p:nvSpPr>
          <p:cNvPr id="1079" name="rc3_le"/>
          <p:cNvSpPr/>
          <p:nvPr/>
        </p:nvSpPr>
        <p:spPr>
          <a:xfrm>
            <a:off x="6375400" y="2358644"/>
            <a:ext cx="44450" cy="2384806"/>
          </a:xfrm>
          <a:prstGeom prst="rect">
            <a:avLst/>
          </a:prstGeom>
          <a:gradFill rotWithShape="1">
            <a:gsLst>
              <a:gs pos="0">
                <a:srgbClr val="1F6B4F"/>
              </a:gs>
              <a:gs pos="100000">
                <a:srgbClr val="1F6B4F">
                  <a:alpha val="0"/>
                </a:srgbClr>
              </a:gs>
            </a:gsLst>
            <a:lin ang="5400000" scaled="1"/>
          </a:gradFill>
          <a:ln>
            <a:noFill/>
          </a:ln>
        </p:spPr>
        <p:txBody>
          <a:bodyPr rtlCol="0" anchor="ctr"/>
          <a:lstStyle/>
          <a:p/>
        </p:txBody>
      </p:sp>
      <p:sp>
        <p:nvSpPr>
          <p:cNvPr id="1080" name="rc3_t"/>
          <p:cNvSpPr txBox="1"/>
          <p:nvPr/>
        </p:nvSpPr>
        <p:spPr>
          <a:xfrm>
            <a:off x="6502400" y="2502916"/>
            <a:ext cx="1473200" cy="374142"/>
          </a:xfrm>
          <a:prstGeom prst="rect">
            <a:avLst/>
          </a:prstGeom>
        </p:spPr>
        <p:txBody>
          <a:bodyPr wrap="square" lIns="0" rIns="0" tIns="0" bIns="0"/>
          <a:lstStyle/>
          <a:p>
            <a:pPr algn="l" lvl="0"/>
            <a:r>
              <a:rPr lang="zh-CN" sz="1700" b="1">
                <a:solidFill>
                  <a:srgbClr val="1F6B4F"/>
                </a:solidFill>
                <a:latin typeface="黑体"/>
                <a:ea typeface="黑体"/>
              </a:rPr>
              <a:t>发展新成就</a:t>
            </a:r>
          </a:p>
        </p:txBody>
      </p:sp>
      <p:sp>
        <p:nvSpPr>
          <p:cNvPr id="1081" name="rc3_b"/>
          <p:cNvSpPr txBox="1"/>
          <p:nvPr/>
        </p:nvSpPr>
        <p:spPr>
          <a:xfrm>
            <a:off x="6502400" y="3004058"/>
            <a:ext cx="1473200" cy="1518920"/>
          </a:xfrm>
          <a:prstGeom prst="rect">
            <a:avLst/>
          </a:prstGeom>
        </p:spPr>
        <p:txBody>
          <a:bodyPr wrap="square" lIns="0" rIns="0" tIns="0" bIns="0"/>
          <a:lstStyle/>
          <a:p>
            <a:pPr algn="l" lvl="0"/>
            <a:r>
              <a:rPr lang="zh-CN" sz="1600">
                <a:solidFill>
                  <a:srgbClr val="2E4438"/>
                </a:solidFill>
                <a:latin typeface="楷体"/>
                <a:ea typeface="楷体"/>
              </a:rPr>
              <a:t>经济、政治、</a:t>
            </a:r>
          </a:p>
          <a:p>
            <a:pPr algn="l" lvl="0"/>
            <a:r>
              <a:rPr lang="zh-CN" sz="1600">
                <a:solidFill>
                  <a:srgbClr val="2E4438"/>
                </a:solidFill>
                <a:latin typeface="楷体"/>
                <a:ea typeface="楷体"/>
              </a:rPr>
              <a:t>文化、社会、</a:t>
            </a:r>
          </a:p>
          <a:p>
            <a:pPr algn="l" lvl="0"/>
            <a:r>
              <a:rPr lang="zh-CN" sz="1600">
                <a:solidFill>
                  <a:srgbClr val="2E4438"/>
                </a:solidFill>
                <a:latin typeface="楷体"/>
                <a:ea typeface="楷体"/>
              </a:rPr>
              <a:t>生态文明各</a:t>
            </a:r>
          </a:p>
          <a:p>
            <a:pPr algn="l" lvl="0"/>
            <a:r>
              <a:rPr lang="zh-CN" sz="1600">
                <a:solidFill>
                  <a:srgbClr val="2E4438"/>
                </a:solidFill>
                <a:latin typeface="楷体"/>
                <a:ea typeface="楷体"/>
              </a:rPr>
              <a:t>领域取得历</a:t>
            </a:r>
          </a:p>
          <a:p>
            <a:pPr algn="l" lvl="0"/>
            <a:r>
              <a:rPr lang="zh-CN" sz="1600">
                <a:solidFill>
                  <a:srgbClr val="2E4438"/>
                </a:solidFill>
                <a:latin typeface="楷体"/>
                <a:ea typeface="楷体"/>
              </a:rPr>
              <a:t>史性成就。</a:t>
            </a:r>
          </a:p>
        </p:txBody>
      </p:sp>
    </p:spTree>
  </p:cSld>
  <p:clrMapOvr>
    <a:masterClrMapping/>
  </p:clrMapOvr>
  <p:transition xmlns:p="http://schemas.openxmlformats.org/presentationml/2006/mai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082" name="hd_secbg"/>
          <p:cNvSpPr/>
          <p:nvPr/>
        </p:nvSpPr>
        <p:spPr>
          <a:xfrm>
            <a:off x="558800" y="279400"/>
            <a:ext cx="2987904"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083" name="hd_secbar"/>
          <p:cNvSpPr/>
          <p:nvPr/>
        </p:nvSpPr>
        <p:spPr>
          <a:xfrm>
            <a:off x="609600" y="317500"/>
            <a:ext cx="44450" cy="228600"/>
          </a:xfrm>
          <a:prstGeom prst="rect">
            <a:avLst/>
          </a:prstGeom>
          <a:gradFill rotWithShape="1">
            <a:gsLst>
              <a:gs pos="0">
                <a:srgbClr val="1F6B4F"/>
              </a:gs>
              <a:gs pos="100000">
                <a:srgbClr val="7FD6B0">
                  <a:alpha val="100000"/>
                </a:srgbClr>
              </a:gs>
            </a:gsLst>
            <a:lin ang="5400000" scaled="1"/>
          </a:gradFill>
          <a:ln>
            <a:noFill/>
          </a:ln>
        </p:spPr>
        <p:txBody>
          <a:bodyPr rtlCol="0" anchor="ctr"/>
          <a:lstStyle/>
          <a:p/>
        </p:txBody>
      </p:sp>
      <p:sp>
        <p:nvSpPr>
          <p:cNvPr id="1084" name="hd_sec"/>
          <p:cNvSpPr txBox="1"/>
          <p:nvPr/>
        </p:nvSpPr>
        <p:spPr>
          <a:xfrm>
            <a:off x="736600" y="317500"/>
            <a:ext cx="2708504" cy="228600"/>
          </a:xfrm>
          <a:prstGeom prst="rect">
            <a:avLst/>
          </a:prstGeom>
        </p:spPr>
        <p:txBody>
          <a:bodyPr wrap="square" lIns="0" rIns="0" tIns="0" bIns="0"/>
          <a:lstStyle/>
          <a:p>
            <a:pPr algn="l" lvl="0"/>
            <a:r>
              <a:rPr lang="zh-CN" sz="1400" b="1">
                <a:solidFill>
                  <a:srgbClr val="1F6B4F"/>
                </a:solidFill>
                <a:latin typeface="黑体"/>
                <a:ea typeface="黑体"/>
              </a:rPr>
              <a:t>导引 · 从一次策展邀请开始</a:t>
            </a:r>
          </a:p>
        </p:txBody>
      </p:sp>
      <p:sp>
        <p:nvSpPr>
          <p:cNvPr id="1085"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本课任务 · 时代答卷人</a:t>
            </a:r>
          </a:p>
        </p:txBody>
      </p:sp>
      <p:sp>
        <p:nvSpPr>
          <p:cNvPr id="1086" name="hd_rule2"/>
          <p:cNvSpPr/>
          <p:nvPr/>
        </p:nvSpPr>
        <p:spPr>
          <a:xfrm>
            <a:off x="558800" y="1143000"/>
            <a:ext cx="1625600" cy="44450"/>
          </a:xfrm>
          <a:prstGeom prst="rect">
            <a:avLst/>
          </a:prstGeom>
          <a:gradFill rotWithShape="1">
            <a:gsLst>
              <a:gs pos="0">
                <a:srgbClr val="1F6B4F"/>
              </a:gs>
              <a:gs pos="100000">
                <a:srgbClr val="7FD6B0">
                  <a:alpha val="100000"/>
                </a:srgbClr>
              </a:gs>
            </a:gsLst>
            <a:lin ang="0" scaled="1"/>
          </a:gradFill>
          <a:ln>
            <a:noFill/>
          </a:ln>
        </p:spPr>
        <p:txBody>
          <a:bodyPr rtlCol="0" anchor="ctr"/>
          <a:lstStyle/>
          <a:p/>
        </p:txBody>
      </p:sp>
      <p:sp>
        <p:nvSpPr>
          <p:cNvPr id="1087" name="hd_rule"/>
          <p:cNvSpPr/>
          <p:nvPr/>
        </p:nvSpPr>
        <p:spPr>
          <a:xfrm>
            <a:off x="2260600" y="1158240"/>
            <a:ext cx="5867400" cy="19050"/>
          </a:xfrm>
          <a:prstGeom prst="rect">
            <a:avLst/>
          </a:prstGeom>
          <a:solidFill>
            <a:srgbClr val="7FD6B0">
              <a:alpha val="40000"/>
            </a:srgbClr>
          </a:solidFill>
          <a:ln>
            <a:noFill/>
          </a:ln>
        </p:spPr>
        <p:txBody>
          <a:bodyPr rtlCol="0" anchor="ctr"/>
          <a:lstStyle/>
          <a:p/>
        </p:txBody>
      </p:sp>
      <p:cxnSp>
        <p:nvCxnSpPr>
          <p:cNvPr id="1088" name="rb_rule"/>
          <p:cNvCxnSpPr/>
          <p:nvPr/>
        </p:nvCxnSpPr>
        <p:spPr>
          <a:xfrm>
            <a:off x="8280400" y="1422400"/>
            <a:ext cx="0" cy="4267200"/>
          </a:xfrm>
          <a:prstGeom prst="straightConnector1">
            <a:avLst/>
          </a:prstGeom>
          <a:ln w="19050">
            <a:solidFill>
              <a:srgbClr val="7E9A85"/>
            </a:solidFill>
          </a:ln>
        </p:spPr>
      </p:cxnSp>
      <p:sp>
        <p:nvSpPr>
          <p:cNvPr id="1089" name="rb_chip_a"/>
          <p:cNvSpPr/>
          <p:nvPr/>
        </p:nvSpPr>
        <p:spPr>
          <a:xfrm>
            <a:off x="8229600" y="1219200"/>
            <a:ext cx="152400" cy="152400"/>
          </a:xfrm>
          <a:prstGeom prst="rect">
            <a:avLst/>
          </a:prstGeom>
          <a:gradFill rotWithShape="1">
            <a:gsLst>
              <a:gs pos="0">
                <a:srgbClr val="7FD6B0"/>
              </a:gs>
              <a:gs pos="100000">
                <a:srgbClr val="1F6B4F">
                  <a:alpha val="100000"/>
                </a:srgbClr>
              </a:gs>
            </a:gsLst>
            <a:lin ang="8100000" scaled="1"/>
          </a:gradFill>
          <a:ln>
            <a:noFill/>
          </a:ln>
        </p:spPr>
        <p:txBody>
          <a:bodyPr rtlCol="0" anchor="ctr"/>
          <a:lstStyle/>
          <a:p/>
        </p:txBody>
      </p:sp>
      <p:sp>
        <p:nvSpPr>
          <p:cNvPr id="1090" name="rb_chip_b"/>
          <p:cNvSpPr/>
          <p:nvPr/>
        </p:nvSpPr>
        <p:spPr>
          <a:xfrm>
            <a:off x="8280400" y="1193800"/>
            <a:ext cx="101600" cy="101600"/>
          </a:xfrm>
          <a:prstGeom prst="rect">
            <a:avLst/>
          </a:prstGeom>
          <a:solidFill>
            <a:srgbClr val="1F6B4F"/>
          </a:solidFill>
          <a:ln>
            <a:noFill/>
          </a:ln>
        </p:spPr>
        <p:txBody>
          <a:bodyPr rtlCol="0" anchor="ctr"/>
          <a:lstStyle/>
          <a:p/>
        </p:txBody>
      </p:sp>
      <p:sp>
        <p:nvSpPr>
          <p:cNvPr id="1091"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092"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093" name="rb_tagrule"/>
          <p:cNvCxnSpPr/>
          <p:nvPr/>
        </p:nvCxnSpPr>
        <p:spPr>
          <a:xfrm>
            <a:off x="11226800" y="2260600"/>
            <a:ext cx="482600" cy="0"/>
          </a:xfrm>
          <a:prstGeom prst="straightConnector1">
            <a:avLst/>
          </a:prstGeom>
          <a:ln w="12700">
            <a:solidFill>
              <a:srgbClr val="7E9A85"/>
            </a:solidFill>
          </a:ln>
        </p:spPr>
      </p:cxnSp>
      <p:sp>
        <p:nvSpPr>
          <p:cNvPr id="1094"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7FD6B0"/>
                </a:solidFill>
                <a:latin typeface="黑体"/>
                <a:ea typeface="黑体"/>
              </a:rPr>
              <a:t>04 / 42</a:t>
            </a:r>
          </a:p>
        </p:txBody>
      </p:sp>
      <p:sp>
        <p:nvSpPr>
          <p:cNvPr id="1095" name="p04q_sh"/>
          <p:cNvSpPr/>
          <p:nvPr/>
        </p:nvSpPr>
        <p:spPr>
          <a:xfrm>
            <a:off x="584200" y="13462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096" name="p04q"/>
          <p:cNvSpPr/>
          <p:nvPr/>
        </p:nvSpPr>
        <p:spPr>
          <a:xfrm>
            <a:off x="558800" y="1295400"/>
            <a:ext cx="7569200" cy="654812"/>
          </a:xfrm>
          <a:prstGeom prst="roundRect">
            <a:avLst>
              <a:gd name="adj" fmla="val 8000"/>
            </a:avLst>
          </a:prstGeom>
          <a:solidFill>
            <a:srgbClr val="E9EFE9"/>
          </a:solidFill>
          <a:ln w="15875">
            <a:solidFill>
              <a:srgbClr val="1F6B4F"/>
            </a:solidFill>
          </a:ln>
        </p:spPr>
        <p:txBody>
          <a:bodyPr rtlCol="0" anchor="ctr"/>
          <a:lstStyle/>
          <a:p/>
        </p:txBody>
      </p:sp>
      <p:sp>
        <p:nvSpPr>
          <p:cNvPr id="1097" name="p04q_cap"/>
          <p:cNvSpPr/>
          <p:nvPr/>
        </p:nvSpPr>
        <p:spPr>
          <a:xfrm>
            <a:off x="647700" y="1371600"/>
            <a:ext cx="50800" cy="502412"/>
          </a:xfrm>
          <a:prstGeom prst="rect">
            <a:avLst/>
          </a:prstGeom>
          <a:gradFill rotWithShape="1">
            <a:gsLst>
              <a:gs pos="0">
                <a:srgbClr val="1F6B4F"/>
              </a:gs>
              <a:gs pos="100000">
                <a:srgbClr val="1F6B4F">
                  <a:alpha val="10000"/>
                </a:srgbClr>
              </a:gs>
            </a:gsLst>
            <a:lin ang="5400000" scaled="1"/>
          </a:gradFill>
          <a:ln>
            <a:noFill/>
          </a:ln>
        </p:spPr>
        <p:txBody>
          <a:bodyPr rtlCol="0" anchor="ctr"/>
          <a:lstStyle/>
          <a:p/>
        </p:txBody>
      </p:sp>
      <p:sp>
        <p:nvSpPr>
          <p:cNvPr id="1098" name="p04q_t"/>
          <p:cNvSpPr txBox="1"/>
          <p:nvPr/>
        </p:nvSpPr>
        <p:spPr>
          <a:xfrm>
            <a:off x="711200" y="1384300"/>
            <a:ext cx="7264400" cy="477012"/>
          </a:xfrm>
          <a:prstGeom prst="rect">
            <a:avLst/>
          </a:prstGeom>
        </p:spPr>
        <p:txBody>
          <a:bodyPr wrap="square" lIns="0" rIns="0" tIns="0" bIns="0"/>
          <a:lstStyle/>
          <a:p>
            <a:pPr algn="l" lvl="0"/>
            <a:r>
              <a:rPr lang="zh-CN" sz="1800" b="1">
                <a:solidFill>
                  <a:srgbClr val="1D2B23"/>
                </a:solidFill>
                <a:latin typeface="黑体"/>
                <a:ea typeface="黑体"/>
              </a:rPr>
              <a:t>成就何以铸就，青年何以担当？</a:t>
            </a:r>
          </a:p>
        </p:txBody>
      </p:sp>
      <p:sp>
        <p:nvSpPr>
          <p:cNvPr id="1099" name="p04b0_sh"/>
          <p:cNvSpPr/>
          <p:nvPr/>
        </p:nvSpPr>
        <p:spPr>
          <a:xfrm>
            <a:off x="584200" y="2255012"/>
            <a:ext cx="7518400" cy="1056005"/>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100" name="p04b0"/>
          <p:cNvSpPr/>
          <p:nvPr/>
        </p:nvSpPr>
        <p:spPr>
          <a:xfrm>
            <a:off x="558800" y="2204212"/>
            <a:ext cx="7569200" cy="1056005"/>
          </a:xfrm>
          <a:prstGeom prst="roundRect">
            <a:avLst>
              <a:gd name="adj" fmla="val 8000"/>
            </a:avLst>
          </a:prstGeom>
          <a:solidFill>
            <a:srgbClr val="E9EFE9"/>
          </a:solidFill>
          <a:ln w="15875">
            <a:solidFill>
              <a:srgbClr val="1F6B4F"/>
            </a:solidFill>
          </a:ln>
        </p:spPr>
        <p:txBody>
          <a:bodyPr rtlCol="0" anchor="ctr"/>
          <a:lstStyle/>
          <a:p/>
        </p:txBody>
      </p:sp>
      <p:sp>
        <p:nvSpPr>
          <p:cNvPr id="1101" name="p04b0_n"/>
          <p:cNvSpPr/>
          <p:nvPr/>
        </p:nvSpPr>
        <p:spPr>
          <a:xfrm>
            <a:off x="685800" y="2318512"/>
            <a:ext cx="381000" cy="381000"/>
          </a:xfrm>
          <a:prstGeom prst="roundRect">
            <a:avLst>
              <a:gd name="adj" fmla="val 8000"/>
            </a:avLst>
          </a:prstGeom>
          <a:gradFill rotWithShape="1">
            <a:gsLst>
              <a:gs pos="0">
                <a:srgbClr val="1F6B4F"/>
              </a:gs>
              <a:gs pos="100000">
                <a:srgbClr val="1F6B4F">
                  <a:alpha val="55000"/>
                </a:srgbClr>
              </a:gs>
            </a:gsLst>
            <a:lin ang="8100000" scaled="1"/>
          </a:gradFill>
          <a:ln>
            <a:noFill/>
          </a:ln>
        </p:spPr>
        <p:txBody>
          <a:bodyPr rtlCol="0" anchor="ctr"/>
          <a:lstStyle/>
          <a:p/>
        </p:txBody>
      </p:sp>
      <p:sp>
        <p:nvSpPr>
          <p:cNvPr id="1102" name="p04b0_nt"/>
          <p:cNvSpPr txBox="1"/>
          <p:nvPr/>
        </p:nvSpPr>
        <p:spPr>
          <a:xfrm>
            <a:off x="685800" y="2382012"/>
            <a:ext cx="381000" cy="254000"/>
          </a:xfrm>
          <a:prstGeom prst="rect">
            <a:avLst/>
          </a:prstGeom>
        </p:spPr>
        <p:txBody>
          <a:bodyPr wrap="square" lIns="0" rIns="0" tIns="0" bIns="0"/>
          <a:lstStyle/>
          <a:p>
            <a:pPr algn="ctr" lvl="0"/>
            <a:r>
              <a:rPr lang="zh-CN" sz="1400" b="1">
                <a:solidFill>
                  <a:srgbClr val="1D2B23"/>
                </a:solidFill>
                <a:latin typeface="黑体"/>
                <a:ea typeface="黑体"/>
              </a:rPr>
              <a:t>01</a:t>
            </a:r>
          </a:p>
        </p:txBody>
      </p:sp>
      <p:sp>
        <p:nvSpPr>
          <p:cNvPr id="1103" name="p04b0_t"/>
          <p:cNvSpPr txBox="1"/>
          <p:nvPr/>
        </p:nvSpPr>
        <p:spPr>
          <a:xfrm>
            <a:off x="1193800" y="2305812"/>
            <a:ext cx="6781800" cy="389255"/>
          </a:xfrm>
          <a:prstGeom prst="rect">
            <a:avLst/>
          </a:prstGeom>
        </p:spPr>
        <p:txBody>
          <a:bodyPr wrap="square" lIns="0" rIns="0" tIns="0" bIns="0"/>
          <a:lstStyle/>
          <a:p>
            <a:pPr algn="l" lvl="0"/>
            <a:r>
              <a:rPr lang="zh-CN" sz="1700" b="1">
                <a:solidFill>
                  <a:srgbClr val="1D2B23"/>
                </a:solidFill>
                <a:latin typeface="黑体"/>
                <a:ea typeface="黑体"/>
              </a:rPr>
              <a:t>1　观展选品——感悟新时代</a:t>
            </a:r>
          </a:p>
        </p:txBody>
      </p:sp>
      <p:sp>
        <p:nvSpPr>
          <p:cNvPr id="1104" name="p04b0_b"/>
          <p:cNvSpPr txBox="1"/>
          <p:nvPr/>
        </p:nvSpPr>
        <p:spPr>
          <a:xfrm>
            <a:off x="1193800" y="2745867"/>
            <a:ext cx="6781800" cy="361950"/>
          </a:xfrm>
          <a:prstGeom prst="rect">
            <a:avLst/>
          </a:prstGeom>
        </p:spPr>
        <p:txBody>
          <a:bodyPr wrap="square" lIns="0" rIns="0" tIns="0" bIns="0"/>
          <a:lstStyle/>
          <a:p>
            <a:pPr algn="l" lvl="0"/>
            <a:r>
              <a:rPr lang="zh-CN" sz="1500">
                <a:solidFill>
                  <a:srgbClr val="2E4438"/>
                </a:solidFill>
                <a:latin typeface="楷体"/>
                <a:ea typeface="楷体"/>
              </a:rPr>
              <a:t>梳理国家发展成就，补充完善展览展品。</a:t>
            </a:r>
          </a:p>
        </p:txBody>
      </p:sp>
      <p:sp>
        <p:nvSpPr>
          <p:cNvPr id="1105" name="p04b1_sh"/>
          <p:cNvSpPr/>
          <p:nvPr/>
        </p:nvSpPr>
        <p:spPr>
          <a:xfrm>
            <a:off x="584200" y="3412617"/>
            <a:ext cx="7518400" cy="1056005"/>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106" name="p04b1"/>
          <p:cNvSpPr/>
          <p:nvPr/>
        </p:nvSpPr>
        <p:spPr>
          <a:xfrm>
            <a:off x="558800" y="3361817"/>
            <a:ext cx="7569200" cy="1056005"/>
          </a:xfrm>
          <a:prstGeom prst="roundRect">
            <a:avLst>
              <a:gd name="adj" fmla="val 8000"/>
            </a:avLst>
          </a:prstGeom>
          <a:solidFill>
            <a:srgbClr val="E9EFE9"/>
          </a:solidFill>
          <a:ln w="15875">
            <a:solidFill>
              <a:srgbClr val="1F6B4F"/>
            </a:solidFill>
          </a:ln>
        </p:spPr>
        <p:txBody>
          <a:bodyPr rtlCol="0" anchor="ctr"/>
          <a:lstStyle/>
          <a:p/>
        </p:txBody>
      </p:sp>
      <p:sp>
        <p:nvSpPr>
          <p:cNvPr id="1107" name="p04b1_n"/>
          <p:cNvSpPr/>
          <p:nvPr/>
        </p:nvSpPr>
        <p:spPr>
          <a:xfrm>
            <a:off x="685800" y="3476117"/>
            <a:ext cx="381000" cy="381000"/>
          </a:xfrm>
          <a:prstGeom prst="roundRect">
            <a:avLst>
              <a:gd name="adj" fmla="val 8000"/>
            </a:avLst>
          </a:prstGeom>
          <a:gradFill rotWithShape="1">
            <a:gsLst>
              <a:gs pos="0">
                <a:srgbClr val="1F6B4F"/>
              </a:gs>
              <a:gs pos="100000">
                <a:srgbClr val="1F6B4F">
                  <a:alpha val="55000"/>
                </a:srgbClr>
              </a:gs>
            </a:gsLst>
            <a:lin ang="8100000" scaled="1"/>
          </a:gradFill>
          <a:ln>
            <a:noFill/>
          </a:ln>
        </p:spPr>
        <p:txBody>
          <a:bodyPr rtlCol="0" anchor="ctr"/>
          <a:lstStyle/>
          <a:p/>
        </p:txBody>
      </p:sp>
      <p:sp>
        <p:nvSpPr>
          <p:cNvPr id="1108" name="p04b1_nt"/>
          <p:cNvSpPr txBox="1"/>
          <p:nvPr/>
        </p:nvSpPr>
        <p:spPr>
          <a:xfrm>
            <a:off x="685800" y="3539617"/>
            <a:ext cx="381000" cy="254000"/>
          </a:xfrm>
          <a:prstGeom prst="rect">
            <a:avLst/>
          </a:prstGeom>
        </p:spPr>
        <p:txBody>
          <a:bodyPr wrap="square" lIns="0" rIns="0" tIns="0" bIns="0"/>
          <a:lstStyle/>
          <a:p>
            <a:pPr algn="ctr" lvl="0"/>
            <a:r>
              <a:rPr lang="zh-CN" sz="1400" b="1">
                <a:solidFill>
                  <a:srgbClr val="1D2B23"/>
                </a:solidFill>
                <a:latin typeface="黑体"/>
                <a:ea typeface="黑体"/>
              </a:rPr>
              <a:t>02</a:t>
            </a:r>
          </a:p>
        </p:txBody>
      </p:sp>
      <p:sp>
        <p:nvSpPr>
          <p:cNvPr id="1109" name="p04b1_t"/>
          <p:cNvSpPr txBox="1"/>
          <p:nvPr/>
        </p:nvSpPr>
        <p:spPr>
          <a:xfrm>
            <a:off x="1193800" y="3463417"/>
            <a:ext cx="6781800" cy="389255"/>
          </a:xfrm>
          <a:prstGeom prst="rect">
            <a:avLst/>
          </a:prstGeom>
        </p:spPr>
        <p:txBody>
          <a:bodyPr wrap="square" lIns="0" rIns="0" tIns="0" bIns="0"/>
          <a:lstStyle/>
          <a:p>
            <a:pPr algn="l" lvl="0"/>
            <a:r>
              <a:rPr lang="zh-CN" sz="1700" b="1">
                <a:solidFill>
                  <a:srgbClr val="1D2B23"/>
                </a:solidFill>
                <a:latin typeface="黑体"/>
                <a:ea typeface="黑体"/>
              </a:rPr>
              <a:t>2　撰写解说——解码新成就</a:t>
            </a:r>
          </a:p>
        </p:txBody>
      </p:sp>
      <p:sp>
        <p:nvSpPr>
          <p:cNvPr id="1110" name="p04b1_b"/>
          <p:cNvSpPr txBox="1"/>
          <p:nvPr/>
        </p:nvSpPr>
        <p:spPr>
          <a:xfrm>
            <a:off x="1193800" y="3903472"/>
            <a:ext cx="6781800" cy="361950"/>
          </a:xfrm>
          <a:prstGeom prst="rect">
            <a:avLst/>
          </a:prstGeom>
        </p:spPr>
        <p:txBody>
          <a:bodyPr wrap="square" lIns="0" rIns="0" tIns="0" bIns="0"/>
          <a:lstStyle/>
          <a:p>
            <a:pPr algn="l" lvl="0"/>
            <a:r>
              <a:rPr lang="zh-CN" sz="1500">
                <a:solidFill>
                  <a:srgbClr val="2E4438"/>
                </a:solidFill>
                <a:latin typeface="楷体"/>
                <a:ea typeface="楷体"/>
              </a:rPr>
              <a:t>结合展板撰写解说词，解码成就背后的密码。</a:t>
            </a:r>
          </a:p>
        </p:txBody>
      </p:sp>
      <p:sp>
        <p:nvSpPr>
          <p:cNvPr id="1111" name="p04b2_sh"/>
          <p:cNvSpPr/>
          <p:nvPr/>
        </p:nvSpPr>
        <p:spPr>
          <a:xfrm>
            <a:off x="584200" y="4570222"/>
            <a:ext cx="7518400" cy="1056005"/>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112" name="p04b2"/>
          <p:cNvSpPr/>
          <p:nvPr/>
        </p:nvSpPr>
        <p:spPr>
          <a:xfrm>
            <a:off x="558800" y="4519422"/>
            <a:ext cx="7569200" cy="1056005"/>
          </a:xfrm>
          <a:prstGeom prst="roundRect">
            <a:avLst>
              <a:gd name="adj" fmla="val 8000"/>
            </a:avLst>
          </a:prstGeom>
          <a:solidFill>
            <a:srgbClr val="E9EFE9"/>
          </a:solidFill>
          <a:ln w="15875">
            <a:solidFill>
              <a:srgbClr val="1F6B4F"/>
            </a:solidFill>
          </a:ln>
        </p:spPr>
        <p:txBody>
          <a:bodyPr rtlCol="0" anchor="ctr"/>
          <a:lstStyle/>
          <a:p/>
        </p:txBody>
      </p:sp>
      <p:sp>
        <p:nvSpPr>
          <p:cNvPr id="1113" name="p04b2_n"/>
          <p:cNvSpPr/>
          <p:nvPr/>
        </p:nvSpPr>
        <p:spPr>
          <a:xfrm>
            <a:off x="685800" y="4633722"/>
            <a:ext cx="381000" cy="381000"/>
          </a:xfrm>
          <a:prstGeom prst="roundRect">
            <a:avLst>
              <a:gd name="adj" fmla="val 8000"/>
            </a:avLst>
          </a:prstGeom>
          <a:gradFill rotWithShape="1">
            <a:gsLst>
              <a:gs pos="0">
                <a:srgbClr val="1F6B4F"/>
              </a:gs>
              <a:gs pos="100000">
                <a:srgbClr val="1F6B4F">
                  <a:alpha val="55000"/>
                </a:srgbClr>
              </a:gs>
            </a:gsLst>
            <a:lin ang="8100000" scaled="1"/>
          </a:gradFill>
          <a:ln>
            <a:noFill/>
          </a:ln>
        </p:spPr>
        <p:txBody>
          <a:bodyPr rtlCol="0" anchor="ctr"/>
          <a:lstStyle/>
          <a:p/>
        </p:txBody>
      </p:sp>
      <p:sp>
        <p:nvSpPr>
          <p:cNvPr id="1114" name="p04b2_nt"/>
          <p:cNvSpPr txBox="1"/>
          <p:nvPr/>
        </p:nvSpPr>
        <p:spPr>
          <a:xfrm>
            <a:off x="685800" y="4697222"/>
            <a:ext cx="381000" cy="254000"/>
          </a:xfrm>
          <a:prstGeom prst="rect">
            <a:avLst/>
          </a:prstGeom>
        </p:spPr>
        <p:txBody>
          <a:bodyPr wrap="square" lIns="0" rIns="0" tIns="0" bIns="0"/>
          <a:lstStyle/>
          <a:p>
            <a:pPr algn="ctr" lvl="0"/>
            <a:r>
              <a:rPr lang="zh-CN" sz="1400" b="1">
                <a:solidFill>
                  <a:srgbClr val="1D2B23"/>
                </a:solidFill>
                <a:latin typeface="黑体"/>
                <a:ea typeface="黑体"/>
              </a:rPr>
              <a:t>03</a:t>
            </a:r>
          </a:p>
        </p:txBody>
      </p:sp>
      <p:sp>
        <p:nvSpPr>
          <p:cNvPr id="1115" name="p04b2_t"/>
          <p:cNvSpPr txBox="1"/>
          <p:nvPr/>
        </p:nvSpPr>
        <p:spPr>
          <a:xfrm>
            <a:off x="1193800" y="4621022"/>
            <a:ext cx="6781800" cy="389255"/>
          </a:xfrm>
          <a:prstGeom prst="rect">
            <a:avLst/>
          </a:prstGeom>
        </p:spPr>
        <p:txBody>
          <a:bodyPr wrap="square" lIns="0" rIns="0" tIns="0" bIns="0"/>
          <a:lstStyle/>
          <a:p>
            <a:pPr algn="l" lvl="0"/>
            <a:r>
              <a:rPr lang="zh-CN" sz="1700" b="1">
                <a:solidFill>
                  <a:srgbClr val="1D2B23"/>
                </a:solidFill>
                <a:latin typeface="黑体"/>
                <a:ea typeface="黑体"/>
              </a:rPr>
              <a:t>3　拓展策展——循迹盐湖行</a:t>
            </a:r>
          </a:p>
        </p:txBody>
      </p:sp>
      <p:sp>
        <p:nvSpPr>
          <p:cNvPr id="1116" name="p04b2_b"/>
          <p:cNvSpPr txBox="1"/>
          <p:nvPr/>
        </p:nvSpPr>
        <p:spPr>
          <a:xfrm>
            <a:off x="1193800" y="5061077"/>
            <a:ext cx="6781800" cy="361950"/>
          </a:xfrm>
          <a:prstGeom prst="rect">
            <a:avLst/>
          </a:prstGeom>
        </p:spPr>
        <p:txBody>
          <a:bodyPr wrap="square" lIns="0" rIns="0" tIns="0" bIns="0"/>
          <a:lstStyle/>
          <a:p>
            <a:pPr algn="l" lvl="0"/>
            <a:r>
              <a:rPr lang="zh-CN" sz="1500">
                <a:solidFill>
                  <a:srgbClr val="2E4438"/>
                </a:solidFill>
                <a:latin typeface="楷体"/>
                <a:ea typeface="楷体"/>
              </a:rPr>
              <a:t>立足盐湖调研，设计家乡研学活动方案。</a:t>
            </a:r>
          </a:p>
        </p:txBody>
      </p:sp>
    </p:spTree>
  </p:cSld>
  <p:clrMapOvr>
    <a:masterClrMapping/>
  </p:clrMapOvr>
  <p:transition xmlns:p="http://schemas.openxmlformats.org/presentationml/2006/mai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117"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118" name="hd_secbar"/>
          <p:cNvSpPr/>
          <p:nvPr/>
        </p:nvSpPr>
        <p:spPr>
          <a:xfrm>
            <a:off x="609600" y="317500"/>
            <a:ext cx="44450" cy="228600"/>
          </a:xfrm>
          <a:prstGeom prst="rect">
            <a:avLst/>
          </a:prstGeom>
          <a:gradFill rotWithShape="1">
            <a:gsLst>
              <a:gs pos="0">
                <a:srgbClr val="8A6A1E"/>
              </a:gs>
              <a:gs pos="100000">
                <a:srgbClr val="E8C15A">
                  <a:alpha val="100000"/>
                </a:srgbClr>
              </a:gs>
            </a:gsLst>
            <a:lin ang="5400000" scaled="1"/>
          </a:gradFill>
          <a:ln>
            <a:noFill/>
          </a:ln>
        </p:spPr>
        <p:txBody>
          <a:bodyPr rtlCol="0" anchor="ctr"/>
          <a:lstStyle/>
          <a:p/>
        </p:txBody>
      </p:sp>
      <p:sp>
        <p:nvSpPr>
          <p:cNvPr id="1119" name="hd_sec"/>
          <p:cNvSpPr txBox="1"/>
          <p:nvPr/>
        </p:nvSpPr>
        <p:spPr>
          <a:xfrm>
            <a:off x="736600" y="317500"/>
            <a:ext cx="3476600" cy="228600"/>
          </a:xfrm>
          <a:prstGeom prst="rect">
            <a:avLst/>
          </a:prstGeom>
        </p:spPr>
        <p:txBody>
          <a:bodyPr wrap="square" lIns="0" rIns="0" tIns="0" bIns="0"/>
          <a:lstStyle/>
          <a:p>
            <a:pPr algn="l" lvl="0"/>
            <a:r>
              <a:rPr lang="zh-CN" sz="1400" b="1">
                <a:solidFill>
                  <a:srgbClr val="8A6A1E"/>
                </a:solidFill>
                <a:latin typeface="黑体"/>
                <a:ea typeface="黑体"/>
              </a:rPr>
              <a:t>子任务一 · 观展选品——感悟新时代</a:t>
            </a:r>
          </a:p>
        </p:txBody>
      </p:sp>
      <p:sp>
        <p:nvSpPr>
          <p:cNvPr id="1120"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情境导入 · 学校要办一个展</a:t>
            </a:r>
          </a:p>
        </p:txBody>
      </p:sp>
      <p:sp>
        <p:nvSpPr>
          <p:cNvPr id="1121" name="hd_rule2"/>
          <p:cNvSpPr/>
          <p:nvPr/>
        </p:nvSpPr>
        <p:spPr>
          <a:xfrm>
            <a:off x="558800" y="1143000"/>
            <a:ext cx="1625600" cy="44450"/>
          </a:xfrm>
          <a:prstGeom prst="rect">
            <a:avLst/>
          </a:prstGeom>
          <a:gradFill rotWithShape="1">
            <a:gsLst>
              <a:gs pos="0">
                <a:srgbClr val="8A6A1E"/>
              </a:gs>
              <a:gs pos="100000">
                <a:srgbClr val="E8C15A">
                  <a:alpha val="100000"/>
                </a:srgbClr>
              </a:gs>
            </a:gsLst>
            <a:lin ang="0" scaled="1"/>
          </a:gradFill>
          <a:ln>
            <a:noFill/>
          </a:ln>
        </p:spPr>
        <p:txBody>
          <a:bodyPr rtlCol="0" anchor="ctr"/>
          <a:lstStyle/>
          <a:p/>
        </p:txBody>
      </p:sp>
      <p:sp>
        <p:nvSpPr>
          <p:cNvPr id="1122" name="hd_rule"/>
          <p:cNvSpPr/>
          <p:nvPr/>
        </p:nvSpPr>
        <p:spPr>
          <a:xfrm>
            <a:off x="2260600" y="1158240"/>
            <a:ext cx="5867400" cy="19050"/>
          </a:xfrm>
          <a:prstGeom prst="rect">
            <a:avLst/>
          </a:prstGeom>
          <a:solidFill>
            <a:srgbClr val="E8C15A">
              <a:alpha val="40000"/>
            </a:srgbClr>
          </a:solidFill>
          <a:ln>
            <a:noFill/>
          </a:ln>
        </p:spPr>
        <p:txBody>
          <a:bodyPr rtlCol="0" anchor="ctr"/>
          <a:lstStyle/>
          <a:p/>
        </p:txBody>
      </p:sp>
      <p:cxnSp>
        <p:nvCxnSpPr>
          <p:cNvPr id="1123" name="rb_rule"/>
          <p:cNvCxnSpPr/>
          <p:nvPr/>
        </p:nvCxnSpPr>
        <p:spPr>
          <a:xfrm>
            <a:off x="8280400" y="1422400"/>
            <a:ext cx="0" cy="4267200"/>
          </a:xfrm>
          <a:prstGeom prst="straightConnector1">
            <a:avLst/>
          </a:prstGeom>
          <a:ln w="19050">
            <a:solidFill>
              <a:srgbClr val="7E9A85"/>
            </a:solidFill>
          </a:ln>
        </p:spPr>
      </p:cxnSp>
      <p:sp>
        <p:nvSpPr>
          <p:cNvPr id="1124" name="rb_chip_a"/>
          <p:cNvSpPr/>
          <p:nvPr/>
        </p:nvSpPr>
        <p:spPr>
          <a:xfrm>
            <a:off x="8229600" y="1219200"/>
            <a:ext cx="152400" cy="152400"/>
          </a:xfrm>
          <a:prstGeom prst="rect">
            <a:avLst/>
          </a:prstGeom>
          <a:gradFill rotWithShape="1">
            <a:gsLst>
              <a:gs pos="0">
                <a:srgbClr val="E8C15A"/>
              </a:gs>
              <a:gs pos="100000">
                <a:srgbClr val="8A6A1E">
                  <a:alpha val="100000"/>
                </a:srgbClr>
              </a:gs>
            </a:gsLst>
            <a:lin ang="8100000" scaled="1"/>
          </a:gradFill>
          <a:ln>
            <a:noFill/>
          </a:ln>
        </p:spPr>
        <p:txBody>
          <a:bodyPr rtlCol="0" anchor="ctr"/>
          <a:lstStyle/>
          <a:p/>
        </p:txBody>
      </p:sp>
      <p:sp>
        <p:nvSpPr>
          <p:cNvPr id="1125" name="rb_chip_b"/>
          <p:cNvSpPr/>
          <p:nvPr/>
        </p:nvSpPr>
        <p:spPr>
          <a:xfrm>
            <a:off x="8280400" y="1193800"/>
            <a:ext cx="101600" cy="101600"/>
          </a:xfrm>
          <a:prstGeom prst="rect">
            <a:avLst/>
          </a:prstGeom>
          <a:solidFill>
            <a:srgbClr val="8A6A1E"/>
          </a:solidFill>
          <a:ln>
            <a:noFill/>
          </a:ln>
        </p:spPr>
        <p:txBody>
          <a:bodyPr rtlCol="0" anchor="ctr"/>
          <a:lstStyle/>
          <a:p/>
        </p:txBody>
      </p:sp>
      <p:sp>
        <p:nvSpPr>
          <p:cNvPr id="1126"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127"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128" name="rb_tagrule"/>
          <p:cNvCxnSpPr/>
          <p:nvPr/>
        </p:nvCxnSpPr>
        <p:spPr>
          <a:xfrm>
            <a:off x="11226800" y="2260600"/>
            <a:ext cx="482600" cy="0"/>
          </a:xfrm>
          <a:prstGeom prst="straightConnector1">
            <a:avLst/>
          </a:prstGeom>
          <a:ln w="12700">
            <a:solidFill>
              <a:srgbClr val="7E9A85"/>
            </a:solidFill>
          </a:ln>
        </p:spPr>
      </p:cxnSp>
      <p:sp>
        <p:nvSpPr>
          <p:cNvPr id="1129"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8C15A"/>
                </a:solidFill>
                <a:latin typeface="黑体"/>
                <a:ea typeface="黑体"/>
              </a:rPr>
              <a:t>05 / 42</a:t>
            </a:r>
          </a:p>
        </p:txBody>
      </p:sp>
      <p:sp>
        <p:nvSpPr>
          <p:cNvPr id="1130" name="lead_sh"/>
          <p:cNvSpPr/>
          <p:nvPr/>
        </p:nvSpPr>
        <p:spPr>
          <a:xfrm>
            <a:off x="584200" y="1371600"/>
            <a:ext cx="7518400" cy="119583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131" name="lead"/>
          <p:cNvSpPr/>
          <p:nvPr/>
        </p:nvSpPr>
        <p:spPr>
          <a:xfrm>
            <a:off x="558800" y="1320800"/>
            <a:ext cx="7569200" cy="1195832"/>
          </a:xfrm>
          <a:prstGeom prst="roundRect">
            <a:avLst>
              <a:gd name="adj" fmla="val 8000"/>
            </a:avLst>
          </a:prstGeom>
          <a:solidFill>
            <a:srgbClr val="E9EFE9"/>
          </a:solidFill>
          <a:ln w="15875">
            <a:solidFill>
              <a:srgbClr val="8A6A1E"/>
            </a:solidFill>
          </a:ln>
        </p:spPr>
        <p:txBody>
          <a:bodyPr rtlCol="0" anchor="ctr"/>
          <a:lstStyle/>
          <a:p/>
        </p:txBody>
      </p:sp>
      <p:sp>
        <p:nvSpPr>
          <p:cNvPr id="1132" name="lead_cap"/>
          <p:cNvSpPr/>
          <p:nvPr/>
        </p:nvSpPr>
        <p:spPr>
          <a:xfrm>
            <a:off x="647700" y="1397000"/>
            <a:ext cx="50800" cy="1043432"/>
          </a:xfrm>
          <a:prstGeom prst="rect">
            <a:avLst/>
          </a:prstGeom>
          <a:gradFill rotWithShape="1">
            <a:gsLst>
              <a:gs pos="0">
                <a:srgbClr val="8A6A1E"/>
              </a:gs>
              <a:gs pos="100000">
                <a:srgbClr val="8A6A1E">
                  <a:alpha val="10000"/>
                </a:srgbClr>
              </a:gs>
            </a:gsLst>
            <a:lin ang="5400000" scaled="1"/>
          </a:gradFill>
          <a:ln>
            <a:noFill/>
          </a:ln>
        </p:spPr>
        <p:txBody>
          <a:bodyPr rtlCol="0" anchor="ctr"/>
          <a:lstStyle/>
          <a:p/>
        </p:txBody>
      </p:sp>
      <p:sp>
        <p:nvSpPr>
          <p:cNvPr id="1133" name="lead_t"/>
          <p:cNvSpPr txBox="1"/>
          <p:nvPr/>
        </p:nvSpPr>
        <p:spPr>
          <a:xfrm>
            <a:off x="711200" y="1409700"/>
            <a:ext cx="7264400" cy="1018032"/>
          </a:xfrm>
          <a:prstGeom prst="rect">
            <a:avLst/>
          </a:prstGeom>
        </p:spPr>
        <p:txBody>
          <a:bodyPr wrap="square" lIns="0" rIns="0" tIns="0" bIns="0"/>
          <a:lstStyle/>
          <a:p>
            <a:pPr algn="l" lvl="0"/>
            <a:r>
              <a:rPr lang="zh-CN" sz="1600">
                <a:solidFill>
                  <a:srgbClr val="1D2B23"/>
                </a:solidFill>
                <a:latin typeface="楷体"/>
                <a:ea typeface="楷体"/>
              </a:rPr>
              <a:t>为引导学生深入了解新时代党和国家事业的发展历程及取得的辉煌成就，</a:t>
            </a:r>
          </a:p>
          <a:p>
            <a:pPr algn="l" lvl="0"/>
            <a:r>
              <a:rPr lang="zh-CN" sz="1600">
                <a:solidFill>
                  <a:srgbClr val="1D2B23"/>
                </a:solidFill>
                <a:latin typeface="楷体"/>
                <a:ea typeface="楷体"/>
              </a:rPr>
              <a:t>学校以“感悟新时代，解码新成就”为主题举办展览活动。同学们广泛</a:t>
            </a:r>
          </a:p>
          <a:p>
            <a:pPr algn="l" lvl="0"/>
            <a:r>
              <a:rPr lang="zh-CN" sz="1600">
                <a:solidFill>
                  <a:srgbClr val="1D2B23"/>
                </a:solidFill>
                <a:latin typeface="楷体"/>
                <a:ea typeface="楷体"/>
              </a:rPr>
              <a:t>搜集资料，并制作展板。</a:t>
            </a:r>
          </a:p>
        </p:txBody>
      </p:sp>
      <p:sp>
        <p:nvSpPr>
          <p:cNvPr id="1134" name="p05task_sh"/>
          <p:cNvSpPr/>
          <p:nvPr/>
        </p:nvSpPr>
        <p:spPr>
          <a:xfrm>
            <a:off x="584200" y="2821432"/>
            <a:ext cx="7518400" cy="97942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135" name="p05task"/>
          <p:cNvSpPr/>
          <p:nvPr/>
        </p:nvSpPr>
        <p:spPr>
          <a:xfrm>
            <a:off x="558800" y="2770632"/>
            <a:ext cx="7569200" cy="979424"/>
          </a:xfrm>
          <a:prstGeom prst="roundRect">
            <a:avLst>
              <a:gd name="adj" fmla="val 8000"/>
            </a:avLst>
          </a:prstGeom>
          <a:solidFill>
            <a:srgbClr val="E9EFE9"/>
          </a:solidFill>
          <a:ln w="15875">
            <a:solidFill>
              <a:srgbClr val="8A6A1E"/>
            </a:solidFill>
          </a:ln>
        </p:spPr>
        <p:txBody>
          <a:bodyPr rtlCol="0" anchor="ctr"/>
          <a:lstStyle/>
          <a:p/>
        </p:txBody>
      </p:sp>
      <p:sp>
        <p:nvSpPr>
          <p:cNvPr id="1136" name="p05task_cap"/>
          <p:cNvSpPr/>
          <p:nvPr/>
        </p:nvSpPr>
        <p:spPr>
          <a:xfrm>
            <a:off x="647700" y="2846832"/>
            <a:ext cx="50800" cy="827024"/>
          </a:xfrm>
          <a:prstGeom prst="rect">
            <a:avLst/>
          </a:prstGeom>
          <a:gradFill rotWithShape="1">
            <a:gsLst>
              <a:gs pos="0">
                <a:srgbClr val="8A6A1E"/>
              </a:gs>
              <a:gs pos="100000">
                <a:srgbClr val="8A6A1E">
                  <a:alpha val="10000"/>
                </a:srgbClr>
              </a:gs>
            </a:gsLst>
            <a:lin ang="5400000" scaled="1"/>
          </a:gradFill>
          <a:ln>
            <a:noFill/>
          </a:ln>
        </p:spPr>
        <p:txBody>
          <a:bodyPr rtlCol="0" anchor="ctr"/>
          <a:lstStyle/>
          <a:p/>
        </p:txBody>
      </p:sp>
      <p:sp>
        <p:nvSpPr>
          <p:cNvPr id="1137" name="p05task_t"/>
          <p:cNvSpPr txBox="1"/>
          <p:nvPr/>
        </p:nvSpPr>
        <p:spPr>
          <a:xfrm>
            <a:off x="711200" y="2859532"/>
            <a:ext cx="7264400" cy="801624"/>
          </a:xfrm>
          <a:prstGeom prst="rect">
            <a:avLst/>
          </a:prstGeom>
        </p:spPr>
        <p:txBody>
          <a:bodyPr wrap="square" lIns="0" rIns="0" tIns="0" bIns="0"/>
          <a:lstStyle/>
          <a:p>
            <a:pPr algn="l" lvl="0"/>
            <a:r>
              <a:rPr lang="zh-CN" sz="1800" b="1">
                <a:solidFill>
                  <a:srgbClr val="1D2B23"/>
                </a:solidFill>
                <a:latin typeface="黑体"/>
                <a:ea typeface="黑体"/>
              </a:rPr>
              <a:t>任务：查阅资料，进一步从“五位一体”总体布局丰富展览内容。</a:t>
            </a:r>
          </a:p>
          <a:p>
            <a:pPr algn="l" lvl="0"/>
            <a:r>
              <a:rPr lang="zh-CN" sz="1800" b="1">
                <a:solidFill>
                  <a:srgbClr val="1D2B23"/>
                </a:solidFill>
                <a:latin typeface="黑体"/>
                <a:ea typeface="黑体"/>
              </a:rPr>
              <a:t/>
            </a:r>
          </a:p>
        </p:txBody>
      </p:sp>
      <p:sp>
        <p:nvSpPr>
          <p:cNvPr id="1138" name="rc0_sh"/>
          <p:cNvSpPr/>
          <p:nvPr/>
        </p:nvSpPr>
        <p:spPr>
          <a:xfrm>
            <a:off x="584200" y="4054856"/>
            <a:ext cx="2362200" cy="145923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139" name="rc0"/>
          <p:cNvSpPr/>
          <p:nvPr/>
        </p:nvSpPr>
        <p:spPr>
          <a:xfrm>
            <a:off x="558800" y="4004056"/>
            <a:ext cx="2413000" cy="1459230"/>
          </a:xfrm>
          <a:prstGeom prst="roundRect">
            <a:avLst>
              <a:gd name="adj" fmla="val 8000"/>
            </a:avLst>
          </a:prstGeom>
          <a:solidFill>
            <a:srgbClr val="E9EFE9"/>
          </a:solidFill>
          <a:ln w="15875">
            <a:solidFill>
              <a:srgbClr val="8A6A1E"/>
            </a:solidFill>
          </a:ln>
        </p:spPr>
        <p:txBody>
          <a:bodyPr rtlCol="0" anchor="ctr"/>
          <a:lstStyle/>
          <a:p/>
        </p:txBody>
      </p:sp>
      <p:sp>
        <p:nvSpPr>
          <p:cNvPr id="1140" name="rc0_le"/>
          <p:cNvSpPr/>
          <p:nvPr/>
        </p:nvSpPr>
        <p:spPr>
          <a:xfrm>
            <a:off x="584200" y="4118356"/>
            <a:ext cx="44450" cy="123063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sp>
        <p:nvSpPr>
          <p:cNvPr id="1141" name="rc0_t"/>
          <p:cNvSpPr txBox="1"/>
          <p:nvPr/>
        </p:nvSpPr>
        <p:spPr>
          <a:xfrm>
            <a:off x="711200" y="4118356"/>
            <a:ext cx="2108200" cy="374142"/>
          </a:xfrm>
          <a:prstGeom prst="rect">
            <a:avLst/>
          </a:prstGeom>
        </p:spPr>
        <p:txBody>
          <a:bodyPr wrap="square" lIns="0" rIns="0" tIns="0" bIns="0"/>
          <a:lstStyle/>
          <a:p>
            <a:pPr algn="l" lvl="0"/>
            <a:r>
              <a:rPr lang="zh-CN" sz="1700" b="1">
                <a:solidFill>
                  <a:srgbClr val="8A6A1E"/>
                </a:solidFill>
                <a:latin typeface="黑体"/>
                <a:ea typeface="黑体"/>
              </a:rPr>
              <a:t>展示</a:t>
            </a:r>
          </a:p>
        </p:txBody>
      </p:sp>
      <p:sp>
        <p:nvSpPr>
          <p:cNvPr id="1142" name="rc0_b"/>
          <p:cNvSpPr txBox="1"/>
          <p:nvPr/>
        </p:nvSpPr>
        <p:spPr>
          <a:xfrm>
            <a:off x="711200" y="4619498"/>
            <a:ext cx="2108200" cy="653288"/>
          </a:xfrm>
          <a:prstGeom prst="rect">
            <a:avLst/>
          </a:prstGeom>
        </p:spPr>
        <p:txBody>
          <a:bodyPr wrap="square" lIns="0" rIns="0" tIns="0" bIns="0"/>
          <a:lstStyle/>
          <a:p>
            <a:pPr algn="l" lvl="0"/>
            <a:r>
              <a:rPr lang="zh-CN" sz="1600">
                <a:solidFill>
                  <a:srgbClr val="2E4438"/>
                </a:solidFill>
                <a:latin typeface="楷体"/>
                <a:ea typeface="楷体"/>
              </a:rPr>
              <a:t>把本组展板推介给同</a:t>
            </a:r>
          </a:p>
          <a:p>
            <a:pPr algn="l" lvl="0"/>
            <a:r>
              <a:rPr lang="zh-CN" sz="1600">
                <a:solidFill>
                  <a:srgbClr val="2E4438"/>
                </a:solidFill>
                <a:latin typeface="楷体"/>
                <a:ea typeface="楷体"/>
              </a:rPr>
              <a:t>学</a:t>
            </a:r>
          </a:p>
        </p:txBody>
      </p:sp>
      <p:sp>
        <p:nvSpPr>
          <p:cNvPr id="1143" name="rc1_sh"/>
          <p:cNvSpPr/>
          <p:nvPr/>
        </p:nvSpPr>
        <p:spPr>
          <a:xfrm>
            <a:off x="3149600" y="4054856"/>
            <a:ext cx="2362200" cy="145923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144" name="rc1"/>
          <p:cNvSpPr/>
          <p:nvPr/>
        </p:nvSpPr>
        <p:spPr>
          <a:xfrm>
            <a:off x="3124200" y="4004056"/>
            <a:ext cx="2413000" cy="1459230"/>
          </a:xfrm>
          <a:prstGeom prst="roundRect">
            <a:avLst>
              <a:gd name="adj" fmla="val 8000"/>
            </a:avLst>
          </a:prstGeom>
          <a:solidFill>
            <a:srgbClr val="E9EFE9"/>
          </a:solidFill>
          <a:ln w="15875">
            <a:solidFill>
              <a:srgbClr val="8A6A1E"/>
            </a:solidFill>
          </a:ln>
        </p:spPr>
        <p:txBody>
          <a:bodyPr rtlCol="0" anchor="ctr"/>
          <a:lstStyle/>
          <a:p/>
        </p:txBody>
      </p:sp>
      <p:sp>
        <p:nvSpPr>
          <p:cNvPr id="1145" name="rc1_le"/>
          <p:cNvSpPr/>
          <p:nvPr/>
        </p:nvSpPr>
        <p:spPr>
          <a:xfrm>
            <a:off x="3149600" y="4118356"/>
            <a:ext cx="44450" cy="123063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sp>
        <p:nvSpPr>
          <p:cNvPr id="1146" name="rc1_t"/>
          <p:cNvSpPr txBox="1"/>
          <p:nvPr/>
        </p:nvSpPr>
        <p:spPr>
          <a:xfrm>
            <a:off x="3276600" y="4118356"/>
            <a:ext cx="2108200" cy="374142"/>
          </a:xfrm>
          <a:prstGeom prst="rect">
            <a:avLst/>
          </a:prstGeom>
        </p:spPr>
        <p:txBody>
          <a:bodyPr wrap="square" lIns="0" rIns="0" tIns="0" bIns="0"/>
          <a:lstStyle/>
          <a:p>
            <a:pPr algn="l" lvl="0"/>
            <a:r>
              <a:rPr lang="zh-CN" sz="1700" b="1">
                <a:solidFill>
                  <a:srgbClr val="8A6A1E"/>
                </a:solidFill>
                <a:latin typeface="黑体"/>
                <a:ea typeface="黑体"/>
              </a:rPr>
              <a:t>补充</a:t>
            </a:r>
          </a:p>
        </p:txBody>
      </p:sp>
      <p:sp>
        <p:nvSpPr>
          <p:cNvPr id="1147" name="rc1_b"/>
          <p:cNvSpPr txBox="1"/>
          <p:nvPr/>
        </p:nvSpPr>
        <p:spPr>
          <a:xfrm>
            <a:off x="3276600" y="4619498"/>
            <a:ext cx="2108200" cy="653288"/>
          </a:xfrm>
          <a:prstGeom prst="rect">
            <a:avLst/>
          </a:prstGeom>
        </p:spPr>
        <p:txBody>
          <a:bodyPr wrap="square" lIns="0" rIns="0" tIns="0" bIns="0"/>
          <a:lstStyle/>
          <a:p>
            <a:pPr algn="l" lvl="0"/>
            <a:r>
              <a:rPr lang="zh-CN" sz="1600">
                <a:solidFill>
                  <a:srgbClr val="2E4438"/>
                </a:solidFill>
                <a:latin typeface="楷体"/>
                <a:ea typeface="楷体"/>
              </a:rPr>
              <a:t>从剩余方面补一块空</a:t>
            </a:r>
          </a:p>
          <a:p>
            <a:pPr algn="l" lvl="0"/>
            <a:r>
              <a:rPr lang="zh-CN" sz="1600">
                <a:solidFill>
                  <a:srgbClr val="2E4438"/>
                </a:solidFill>
                <a:latin typeface="楷体"/>
                <a:ea typeface="楷体"/>
              </a:rPr>
              <a:t>白展板</a:t>
            </a:r>
          </a:p>
        </p:txBody>
      </p:sp>
      <p:sp>
        <p:nvSpPr>
          <p:cNvPr id="1148" name="rc2_sh"/>
          <p:cNvSpPr/>
          <p:nvPr/>
        </p:nvSpPr>
        <p:spPr>
          <a:xfrm>
            <a:off x="5715000" y="4054856"/>
            <a:ext cx="2362200" cy="145923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149" name="rc2"/>
          <p:cNvSpPr/>
          <p:nvPr/>
        </p:nvSpPr>
        <p:spPr>
          <a:xfrm>
            <a:off x="5689600" y="4004056"/>
            <a:ext cx="2413000" cy="1459230"/>
          </a:xfrm>
          <a:prstGeom prst="roundRect">
            <a:avLst>
              <a:gd name="adj" fmla="val 8000"/>
            </a:avLst>
          </a:prstGeom>
          <a:solidFill>
            <a:srgbClr val="E9EFE9"/>
          </a:solidFill>
          <a:ln w="15875">
            <a:solidFill>
              <a:srgbClr val="8A6A1E"/>
            </a:solidFill>
          </a:ln>
        </p:spPr>
        <p:txBody>
          <a:bodyPr rtlCol="0" anchor="ctr"/>
          <a:lstStyle/>
          <a:p/>
        </p:txBody>
      </p:sp>
      <p:sp>
        <p:nvSpPr>
          <p:cNvPr id="1150" name="rc2_le"/>
          <p:cNvSpPr/>
          <p:nvPr/>
        </p:nvSpPr>
        <p:spPr>
          <a:xfrm>
            <a:off x="5715000" y="4118356"/>
            <a:ext cx="44450" cy="123063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sp>
        <p:nvSpPr>
          <p:cNvPr id="1151" name="rc2_t"/>
          <p:cNvSpPr txBox="1"/>
          <p:nvPr/>
        </p:nvSpPr>
        <p:spPr>
          <a:xfrm>
            <a:off x="5842000" y="4262628"/>
            <a:ext cx="2108200" cy="374142"/>
          </a:xfrm>
          <a:prstGeom prst="rect">
            <a:avLst/>
          </a:prstGeom>
        </p:spPr>
        <p:txBody>
          <a:bodyPr wrap="square" lIns="0" rIns="0" tIns="0" bIns="0"/>
          <a:lstStyle/>
          <a:p>
            <a:pPr algn="l" lvl="0"/>
            <a:r>
              <a:rPr lang="zh-CN" sz="1700" b="1">
                <a:solidFill>
                  <a:srgbClr val="8A6A1E"/>
                </a:solidFill>
                <a:latin typeface="黑体"/>
                <a:ea typeface="黑体"/>
              </a:rPr>
              <a:t>追问</a:t>
            </a:r>
          </a:p>
        </p:txBody>
      </p:sp>
      <p:sp>
        <p:nvSpPr>
          <p:cNvPr id="1152" name="rc2_b"/>
          <p:cNvSpPr txBox="1"/>
          <p:nvPr/>
        </p:nvSpPr>
        <p:spPr>
          <a:xfrm>
            <a:off x="5842000" y="4763770"/>
            <a:ext cx="2108200" cy="364744"/>
          </a:xfrm>
          <a:prstGeom prst="rect">
            <a:avLst/>
          </a:prstGeom>
        </p:spPr>
        <p:txBody>
          <a:bodyPr wrap="square" lIns="0" rIns="0" tIns="0" bIns="0"/>
          <a:lstStyle/>
          <a:p>
            <a:pPr algn="l" lvl="0"/>
            <a:r>
              <a:rPr lang="zh-CN" sz="1600">
                <a:solidFill>
                  <a:srgbClr val="2E4438"/>
                </a:solidFill>
                <a:latin typeface="楷体"/>
                <a:ea typeface="楷体"/>
              </a:rPr>
              <a:t>这些成就从哪里来</a:t>
            </a:r>
          </a:p>
        </p:txBody>
      </p:sp>
    </p:spTree>
  </p:cSld>
  <p:clrMapOvr>
    <a:masterClrMapping/>
  </p:clrMapOvr>
  <p:transition xmlns:p="http://schemas.openxmlformats.org/presentationml/2006/main" spd="slow">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1153"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154" name="hd_secbar"/>
          <p:cNvSpPr/>
          <p:nvPr/>
        </p:nvSpPr>
        <p:spPr>
          <a:xfrm>
            <a:off x="609600" y="317500"/>
            <a:ext cx="44450" cy="228600"/>
          </a:xfrm>
          <a:prstGeom prst="rect">
            <a:avLst/>
          </a:prstGeom>
          <a:gradFill rotWithShape="1">
            <a:gsLst>
              <a:gs pos="0">
                <a:srgbClr val="8A6A1E"/>
              </a:gs>
              <a:gs pos="100000">
                <a:srgbClr val="E8C15A">
                  <a:alpha val="100000"/>
                </a:srgbClr>
              </a:gs>
            </a:gsLst>
            <a:lin ang="5400000" scaled="1"/>
          </a:gradFill>
          <a:ln>
            <a:noFill/>
          </a:ln>
        </p:spPr>
        <p:txBody>
          <a:bodyPr rtlCol="0" anchor="ctr"/>
          <a:lstStyle/>
          <a:p/>
        </p:txBody>
      </p:sp>
      <p:sp>
        <p:nvSpPr>
          <p:cNvPr id="1155" name="hd_sec"/>
          <p:cNvSpPr txBox="1"/>
          <p:nvPr/>
        </p:nvSpPr>
        <p:spPr>
          <a:xfrm>
            <a:off x="736600" y="317500"/>
            <a:ext cx="3476600" cy="228600"/>
          </a:xfrm>
          <a:prstGeom prst="rect">
            <a:avLst/>
          </a:prstGeom>
        </p:spPr>
        <p:txBody>
          <a:bodyPr wrap="square" lIns="0" rIns="0" tIns="0" bIns="0"/>
          <a:lstStyle/>
          <a:p>
            <a:pPr algn="l" lvl="0"/>
            <a:r>
              <a:rPr lang="zh-CN" sz="1400" b="1">
                <a:solidFill>
                  <a:srgbClr val="8A6A1E"/>
                </a:solidFill>
                <a:latin typeface="黑体"/>
                <a:ea typeface="黑体"/>
              </a:rPr>
              <a:t>子任务一 · 观展选品——感悟新时代</a:t>
            </a:r>
          </a:p>
        </p:txBody>
      </p:sp>
      <p:sp>
        <p:nvSpPr>
          <p:cNvPr id="1156"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展板一 · 科技发展：把想象变成日常</a:t>
            </a:r>
          </a:p>
        </p:txBody>
      </p:sp>
      <p:sp>
        <p:nvSpPr>
          <p:cNvPr id="1157" name="hd_rule2"/>
          <p:cNvSpPr/>
          <p:nvPr/>
        </p:nvSpPr>
        <p:spPr>
          <a:xfrm>
            <a:off x="558800" y="1143000"/>
            <a:ext cx="1625600" cy="44450"/>
          </a:xfrm>
          <a:prstGeom prst="rect">
            <a:avLst/>
          </a:prstGeom>
          <a:gradFill rotWithShape="1">
            <a:gsLst>
              <a:gs pos="0">
                <a:srgbClr val="8A6A1E"/>
              </a:gs>
              <a:gs pos="100000">
                <a:srgbClr val="E8C15A">
                  <a:alpha val="100000"/>
                </a:srgbClr>
              </a:gs>
            </a:gsLst>
            <a:lin ang="0" scaled="1"/>
          </a:gradFill>
          <a:ln>
            <a:noFill/>
          </a:ln>
        </p:spPr>
        <p:txBody>
          <a:bodyPr rtlCol="0" anchor="ctr"/>
          <a:lstStyle/>
          <a:p/>
        </p:txBody>
      </p:sp>
      <p:sp>
        <p:nvSpPr>
          <p:cNvPr id="1158" name="hd_rule"/>
          <p:cNvSpPr/>
          <p:nvPr/>
        </p:nvSpPr>
        <p:spPr>
          <a:xfrm>
            <a:off x="2260600" y="1158240"/>
            <a:ext cx="5867400" cy="19050"/>
          </a:xfrm>
          <a:prstGeom prst="rect">
            <a:avLst/>
          </a:prstGeom>
          <a:solidFill>
            <a:srgbClr val="E8C15A">
              <a:alpha val="40000"/>
            </a:srgbClr>
          </a:solidFill>
          <a:ln>
            <a:noFill/>
          </a:ln>
        </p:spPr>
        <p:txBody>
          <a:bodyPr rtlCol="0" anchor="ctr"/>
          <a:lstStyle/>
          <a:p/>
        </p:txBody>
      </p:sp>
      <p:cxnSp>
        <p:nvCxnSpPr>
          <p:cNvPr id="1159" name="rb_rule"/>
          <p:cNvCxnSpPr/>
          <p:nvPr/>
        </p:nvCxnSpPr>
        <p:spPr>
          <a:xfrm>
            <a:off x="8280400" y="1422400"/>
            <a:ext cx="0" cy="4267200"/>
          </a:xfrm>
          <a:prstGeom prst="straightConnector1">
            <a:avLst/>
          </a:prstGeom>
          <a:ln w="19050">
            <a:solidFill>
              <a:srgbClr val="7E9A85"/>
            </a:solidFill>
          </a:ln>
        </p:spPr>
      </p:cxnSp>
      <p:sp>
        <p:nvSpPr>
          <p:cNvPr id="1160" name="rb_chip_a"/>
          <p:cNvSpPr/>
          <p:nvPr/>
        </p:nvSpPr>
        <p:spPr>
          <a:xfrm>
            <a:off x="8229600" y="1219200"/>
            <a:ext cx="152400" cy="152400"/>
          </a:xfrm>
          <a:prstGeom prst="rect">
            <a:avLst/>
          </a:prstGeom>
          <a:gradFill rotWithShape="1">
            <a:gsLst>
              <a:gs pos="0">
                <a:srgbClr val="E8C15A"/>
              </a:gs>
              <a:gs pos="100000">
                <a:srgbClr val="8A6A1E">
                  <a:alpha val="100000"/>
                </a:srgbClr>
              </a:gs>
            </a:gsLst>
            <a:lin ang="8100000" scaled="1"/>
          </a:gradFill>
          <a:ln>
            <a:noFill/>
          </a:ln>
        </p:spPr>
        <p:txBody>
          <a:bodyPr rtlCol="0" anchor="ctr"/>
          <a:lstStyle/>
          <a:p/>
        </p:txBody>
      </p:sp>
      <p:sp>
        <p:nvSpPr>
          <p:cNvPr id="1161" name="rb_chip_b"/>
          <p:cNvSpPr/>
          <p:nvPr/>
        </p:nvSpPr>
        <p:spPr>
          <a:xfrm>
            <a:off x="8280400" y="1193800"/>
            <a:ext cx="101600" cy="101600"/>
          </a:xfrm>
          <a:prstGeom prst="rect">
            <a:avLst/>
          </a:prstGeom>
          <a:solidFill>
            <a:srgbClr val="8A6A1E"/>
          </a:solidFill>
          <a:ln>
            <a:noFill/>
          </a:ln>
        </p:spPr>
        <p:txBody>
          <a:bodyPr rtlCol="0" anchor="ctr"/>
          <a:lstStyle/>
          <a:p/>
        </p:txBody>
      </p:sp>
      <p:sp>
        <p:nvSpPr>
          <p:cNvPr id="1162"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163"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164" name="rb_tagrule"/>
          <p:cNvCxnSpPr/>
          <p:nvPr/>
        </p:nvCxnSpPr>
        <p:spPr>
          <a:xfrm>
            <a:off x="11226800" y="2260600"/>
            <a:ext cx="482600" cy="0"/>
          </a:xfrm>
          <a:prstGeom prst="straightConnector1">
            <a:avLst/>
          </a:prstGeom>
          <a:ln w="12700">
            <a:solidFill>
              <a:srgbClr val="7E9A85"/>
            </a:solidFill>
          </a:ln>
        </p:spPr>
      </p:cxnSp>
      <p:sp>
        <p:nvSpPr>
          <p:cNvPr id="1165"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8C15A"/>
                </a:solidFill>
                <a:latin typeface="黑体"/>
                <a:ea typeface="黑体"/>
              </a:rPr>
              <a:t>06 / 42</a:t>
            </a:r>
          </a:p>
        </p:txBody>
      </p:sp>
      <p:sp>
        <p:nvSpPr>
          <p:cNvPr id="1166" name="p06tag_sh"/>
          <p:cNvSpPr/>
          <p:nvPr/>
        </p:nvSpPr>
        <p:spPr>
          <a:xfrm>
            <a:off x="584200" y="13462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167" name="p06tag"/>
          <p:cNvSpPr/>
          <p:nvPr/>
        </p:nvSpPr>
        <p:spPr>
          <a:xfrm>
            <a:off x="558800" y="1295400"/>
            <a:ext cx="7569200" cy="654812"/>
          </a:xfrm>
          <a:prstGeom prst="roundRect">
            <a:avLst>
              <a:gd name="adj" fmla="val 8000"/>
            </a:avLst>
          </a:prstGeom>
          <a:solidFill>
            <a:srgbClr val="E9EFE9"/>
          </a:solidFill>
          <a:ln w="15875">
            <a:solidFill>
              <a:srgbClr val="8A6A1E"/>
            </a:solidFill>
          </a:ln>
        </p:spPr>
        <p:txBody>
          <a:bodyPr rtlCol="0" anchor="ctr"/>
          <a:lstStyle/>
          <a:p/>
        </p:txBody>
      </p:sp>
      <p:sp>
        <p:nvSpPr>
          <p:cNvPr id="1168" name="p06tag_cap"/>
          <p:cNvSpPr/>
          <p:nvPr/>
        </p:nvSpPr>
        <p:spPr>
          <a:xfrm>
            <a:off x="647700" y="1371600"/>
            <a:ext cx="50800" cy="502412"/>
          </a:xfrm>
          <a:prstGeom prst="rect">
            <a:avLst/>
          </a:prstGeom>
          <a:gradFill rotWithShape="1">
            <a:gsLst>
              <a:gs pos="0">
                <a:srgbClr val="8A6A1E"/>
              </a:gs>
              <a:gs pos="100000">
                <a:srgbClr val="8A6A1E">
                  <a:alpha val="10000"/>
                </a:srgbClr>
              </a:gs>
            </a:gsLst>
            <a:lin ang="5400000" scaled="1"/>
          </a:gradFill>
          <a:ln>
            <a:noFill/>
          </a:ln>
        </p:spPr>
        <p:txBody>
          <a:bodyPr rtlCol="0" anchor="ctr"/>
          <a:lstStyle/>
          <a:p/>
        </p:txBody>
      </p:sp>
      <p:sp>
        <p:nvSpPr>
          <p:cNvPr id="1169" name="p06tag_t"/>
          <p:cNvSpPr txBox="1"/>
          <p:nvPr/>
        </p:nvSpPr>
        <p:spPr>
          <a:xfrm>
            <a:off x="711200" y="1384300"/>
            <a:ext cx="7264400" cy="477012"/>
          </a:xfrm>
          <a:prstGeom prst="rect">
            <a:avLst/>
          </a:prstGeom>
        </p:spPr>
        <p:txBody>
          <a:bodyPr wrap="square" lIns="0" rIns="0" tIns="0" bIns="0"/>
          <a:lstStyle/>
          <a:p>
            <a:pPr algn="l" lvl="0"/>
            <a:r>
              <a:rPr lang="zh-CN" sz="1800" b="1">
                <a:solidFill>
                  <a:srgbClr val="1D2B23"/>
                </a:solidFill>
                <a:latin typeface="黑体"/>
                <a:ea typeface="黑体"/>
              </a:rPr>
              <a:t>展板一　科技发展　·　经济建设</a:t>
            </a:r>
          </a:p>
        </p:txBody>
      </p:sp>
      <p:sp>
        <p:nvSpPr>
          <p:cNvPr id="1170" name="bimg_bg_sh"/>
          <p:cNvSpPr/>
          <p:nvPr/>
        </p:nvSpPr>
        <p:spPr>
          <a:xfrm>
            <a:off x="469900" y="2115312"/>
            <a:ext cx="3352800" cy="29540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171" name="bimg_bg"/>
          <p:cNvSpPr/>
          <p:nvPr/>
        </p:nvSpPr>
        <p:spPr>
          <a:xfrm>
            <a:off x="444500" y="2064512"/>
            <a:ext cx="3403600" cy="2954020"/>
          </a:xfrm>
          <a:prstGeom prst="roundRect">
            <a:avLst>
              <a:gd name="adj" fmla="val 8000"/>
            </a:avLst>
          </a:prstGeom>
          <a:solidFill>
            <a:srgbClr val="E9EFE9"/>
          </a:solidFill>
          <a:ln w="15875">
            <a:solidFill>
              <a:srgbClr val="8A6A1E"/>
            </a:solidFill>
          </a:ln>
        </p:spPr>
        <p:txBody>
          <a:bodyPr rtlCol="0" anchor="ctr"/>
          <a:lstStyle/>
          <a:p/>
        </p:txBody>
      </p:sp>
      <p:sp>
        <p:nvSpPr>
          <p:cNvPr id="1172" name="bimg_bg_le"/>
          <p:cNvSpPr/>
          <p:nvPr/>
        </p:nvSpPr>
        <p:spPr>
          <a:xfrm>
            <a:off x="469900" y="2178812"/>
            <a:ext cx="44450" cy="272542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pic>
        <p:nvPicPr>
          <p:cNvPr id="1173" name="bimg"/>
          <p:cNvPicPr>
            <a:picLocks noChangeAspect="1"/>
          </p:cNvPicPr>
          <p:nvPr/>
        </p:nvPicPr>
        <p:blipFill>
          <a:blip r:embed="rId2"/>
          <a:stretch>
            <a:fillRect/>
          </a:stretch>
        </p:blipFill>
        <p:spPr>
          <a:xfrm>
            <a:off x="558800" y="2178812"/>
            <a:ext cx="3175000" cy="2362200"/>
          </a:xfrm>
          <a:prstGeom prst="rect">
            <a:avLst/>
          </a:prstGeom>
        </p:spPr>
      </p:pic>
      <p:sp>
        <p:nvSpPr>
          <p:cNvPr id="1174" name="bimg_cap"/>
          <p:cNvSpPr txBox="1"/>
          <p:nvPr/>
        </p:nvSpPr>
        <p:spPr>
          <a:xfrm>
            <a:off x="444500" y="4693412"/>
            <a:ext cx="3403600" cy="325120"/>
          </a:xfrm>
          <a:prstGeom prst="rect">
            <a:avLst/>
          </a:prstGeom>
        </p:spPr>
        <p:txBody>
          <a:bodyPr wrap="square" lIns="0" rIns="0" tIns="0" bIns="0"/>
          <a:lstStyle/>
          <a:p>
            <a:pPr algn="l" lvl="0"/>
            <a:r>
              <a:rPr lang="zh-CN" sz="1400">
                <a:solidFill>
                  <a:srgbClr val="465C4D"/>
                </a:solidFill>
                <a:latin typeface="楷体"/>
                <a:ea typeface="楷体"/>
              </a:rPr>
              <a:t>图：我国空间站长期有人驻留</a:t>
            </a:r>
          </a:p>
        </p:txBody>
      </p:sp>
      <p:sp>
        <p:nvSpPr>
          <p:cNvPr id="1175" name="btxt_sh"/>
          <p:cNvSpPr/>
          <p:nvPr/>
        </p:nvSpPr>
        <p:spPr>
          <a:xfrm>
            <a:off x="4191000" y="2115312"/>
            <a:ext cx="3911600" cy="18237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176" name="btxt"/>
          <p:cNvSpPr/>
          <p:nvPr/>
        </p:nvSpPr>
        <p:spPr>
          <a:xfrm>
            <a:off x="4165600" y="2064512"/>
            <a:ext cx="3962400" cy="1823720"/>
          </a:xfrm>
          <a:prstGeom prst="roundRect">
            <a:avLst>
              <a:gd name="adj" fmla="val 8000"/>
            </a:avLst>
          </a:prstGeom>
          <a:solidFill>
            <a:srgbClr val="E9EFE9"/>
          </a:solidFill>
          <a:ln w="15875">
            <a:solidFill>
              <a:srgbClr val="8A6A1E"/>
            </a:solidFill>
          </a:ln>
        </p:spPr>
        <p:txBody>
          <a:bodyPr rtlCol="0" anchor="ctr"/>
          <a:lstStyle/>
          <a:p/>
        </p:txBody>
      </p:sp>
      <p:sp>
        <p:nvSpPr>
          <p:cNvPr id="1177" name="btxt_le"/>
          <p:cNvSpPr/>
          <p:nvPr/>
        </p:nvSpPr>
        <p:spPr>
          <a:xfrm>
            <a:off x="4191000" y="2178812"/>
            <a:ext cx="44450" cy="159512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sp>
        <p:nvSpPr>
          <p:cNvPr id="1178" name="btxt_b"/>
          <p:cNvSpPr txBox="1"/>
          <p:nvPr/>
        </p:nvSpPr>
        <p:spPr>
          <a:xfrm>
            <a:off x="4318000" y="2178812"/>
            <a:ext cx="3657600" cy="1518920"/>
          </a:xfrm>
          <a:prstGeom prst="rect">
            <a:avLst/>
          </a:prstGeom>
        </p:spPr>
        <p:txBody>
          <a:bodyPr wrap="square" lIns="0" rIns="0" tIns="0" bIns="0"/>
          <a:lstStyle/>
          <a:p>
            <a:pPr algn="l" lvl="0"/>
            <a:r>
              <a:rPr lang="zh-CN" sz="1600">
                <a:solidFill>
                  <a:srgbClr val="2E4438"/>
                </a:solidFill>
                <a:latin typeface="楷体"/>
                <a:ea typeface="楷体"/>
              </a:rPr>
              <a:t>浩瀚太空，我国空间站已正式开启</a:t>
            </a:r>
          </a:p>
          <a:p>
            <a:pPr algn="l" lvl="0"/>
            <a:r>
              <a:rPr lang="zh-CN" sz="1600">
                <a:solidFill>
                  <a:srgbClr val="2E4438"/>
                </a:solidFill>
                <a:latin typeface="楷体"/>
                <a:ea typeface="楷体"/>
              </a:rPr>
              <a:t>长期有人驻留模式；远程医疗、智</a:t>
            </a:r>
          </a:p>
          <a:p>
            <a:pPr algn="l" lvl="0"/>
            <a:r>
              <a:rPr lang="zh-CN" sz="1600">
                <a:solidFill>
                  <a:srgbClr val="2E4438"/>
                </a:solidFill>
                <a:latin typeface="楷体"/>
                <a:ea typeface="楷体"/>
              </a:rPr>
              <a:t>慧物流等新业态蓬勃发展；工业互</a:t>
            </a:r>
          </a:p>
          <a:p>
            <a:pPr algn="l" lvl="0"/>
            <a:r>
              <a:rPr lang="zh-CN" sz="1600">
                <a:solidFill>
                  <a:srgbClr val="2E4438"/>
                </a:solidFill>
                <a:latin typeface="楷体"/>
                <a:ea typeface="楷体"/>
              </a:rPr>
              <a:t>联网和人工智能融合赋能，为推进</a:t>
            </a:r>
          </a:p>
          <a:p>
            <a:pPr algn="l" lvl="0"/>
            <a:r>
              <a:rPr lang="zh-CN" sz="1600">
                <a:solidFill>
                  <a:srgbClr val="2E4438"/>
                </a:solidFill>
                <a:latin typeface="楷体"/>
                <a:ea typeface="楷体"/>
              </a:rPr>
              <a:t>我国新型工业化注入强大动力。</a:t>
            </a:r>
          </a:p>
        </p:txBody>
      </p:sp>
      <p:sp>
        <p:nvSpPr>
          <p:cNvPr id="1179" name="sn"/>
          <p:cNvSpPr txBox="1"/>
          <p:nvPr/>
        </p:nvSpPr>
        <p:spPr>
          <a:xfrm>
            <a:off x="558800" y="5310632"/>
            <a:ext cx="7569200" cy="325120"/>
          </a:xfrm>
          <a:prstGeom prst="rect">
            <a:avLst/>
          </a:prstGeom>
        </p:spPr>
        <p:txBody>
          <a:bodyPr wrap="square" lIns="0" rIns="0" tIns="0" bIns="0"/>
          <a:lstStyle/>
          <a:p>
            <a:pPr algn="l" lvl="0"/>
            <a:r>
              <a:rPr lang="zh-CN" sz="1400">
                <a:solidFill>
                  <a:srgbClr val="A9C0AE"/>
                </a:solidFill>
                <a:latin typeface="楷体"/>
                <a:ea typeface="楷体"/>
              </a:rPr>
              <a:t>图片来源：人民日报</a:t>
            </a:r>
          </a:p>
        </p:txBody>
      </p:sp>
    </p:spTree>
  </p:cSld>
  <p:clrMapOvr>
    <a:masterClrMapping/>
  </p:clrMapOvr>
  <p:transition xmlns:p="http://schemas.openxmlformats.org/presentationml/2006/mai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5"/>
          <a:stretch>
            <a:fillRect/>
          </a:stretch>
        </a:blipFill>
        <a:effectLst/>
      </p:bgPr>
    </p:bg>
    <p:spTree>
      <p:nvGrpSpPr>
        <p:cNvPr id="1" name=""/>
        <p:cNvGrpSpPr/>
        <p:nvPr/>
      </p:nvGrpSpPr>
      <p:grpSpPr>
        <a:xfrm>
          <a:off x="0" y="0"/>
          <a:ext cx="0" cy="0"/>
          <a:chOff x="0" y="0"/>
          <a:chExt cx="0" cy="0"/>
        </a:xfrm>
      </p:grpSpPr>
      <p:sp>
        <p:nvSpPr>
          <p:cNvPr id="1180"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181" name="hd_secbar"/>
          <p:cNvSpPr/>
          <p:nvPr/>
        </p:nvSpPr>
        <p:spPr>
          <a:xfrm>
            <a:off x="609600" y="317500"/>
            <a:ext cx="44450" cy="228600"/>
          </a:xfrm>
          <a:prstGeom prst="rect">
            <a:avLst/>
          </a:prstGeom>
          <a:gradFill rotWithShape="1">
            <a:gsLst>
              <a:gs pos="0">
                <a:srgbClr val="8A6A1E"/>
              </a:gs>
              <a:gs pos="100000">
                <a:srgbClr val="E8C15A">
                  <a:alpha val="100000"/>
                </a:srgbClr>
              </a:gs>
            </a:gsLst>
            <a:lin ang="5400000" scaled="1"/>
          </a:gradFill>
          <a:ln>
            <a:noFill/>
          </a:ln>
        </p:spPr>
        <p:txBody>
          <a:bodyPr rtlCol="0" anchor="ctr"/>
          <a:lstStyle/>
          <a:p/>
        </p:txBody>
      </p:sp>
      <p:sp>
        <p:nvSpPr>
          <p:cNvPr id="1182" name="hd_sec"/>
          <p:cNvSpPr txBox="1"/>
          <p:nvPr/>
        </p:nvSpPr>
        <p:spPr>
          <a:xfrm>
            <a:off x="736600" y="317500"/>
            <a:ext cx="3476600" cy="228600"/>
          </a:xfrm>
          <a:prstGeom prst="rect">
            <a:avLst/>
          </a:prstGeom>
        </p:spPr>
        <p:txBody>
          <a:bodyPr wrap="square" lIns="0" rIns="0" tIns="0" bIns="0"/>
          <a:lstStyle/>
          <a:p>
            <a:pPr algn="l" lvl="0"/>
            <a:r>
              <a:rPr lang="zh-CN" sz="1400" b="1">
                <a:solidFill>
                  <a:srgbClr val="8A6A1E"/>
                </a:solidFill>
                <a:latin typeface="黑体"/>
                <a:ea typeface="黑体"/>
              </a:rPr>
              <a:t>子任务一 · 观展选品——感悟新时代</a:t>
            </a:r>
          </a:p>
        </p:txBody>
      </p:sp>
      <p:sp>
        <p:nvSpPr>
          <p:cNvPr id="1183"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展板二 · 交通基建：一张网，改变中国</a:t>
            </a:r>
          </a:p>
        </p:txBody>
      </p:sp>
      <p:sp>
        <p:nvSpPr>
          <p:cNvPr id="1184" name="hd_rule2"/>
          <p:cNvSpPr/>
          <p:nvPr/>
        </p:nvSpPr>
        <p:spPr>
          <a:xfrm>
            <a:off x="558800" y="1143000"/>
            <a:ext cx="1625600" cy="44450"/>
          </a:xfrm>
          <a:prstGeom prst="rect">
            <a:avLst/>
          </a:prstGeom>
          <a:gradFill rotWithShape="1">
            <a:gsLst>
              <a:gs pos="0">
                <a:srgbClr val="8A6A1E"/>
              </a:gs>
              <a:gs pos="100000">
                <a:srgbClr val="E8C15A">
                  <a:alpha val="100000"/>
                </a:srgbClr>
              </a:gs>
            </a:gsLst>
            <a:lin ang="0" scaled="1"/>
          </a:gradFill>
          <a:ln>
            <a:noFill/>
          </a:ln>
        </p:spPr>
        <p:txBody>
          <a:bodyPr rtlCol="0" anchor="ctr"/>
          <a:lstStyle/>
          <a:p/>
        </p:txBody>
      </p:sp>
      <p:sp>
        <p:nvSpPr>
          <p:cNvPr id="1185" name="hd_rule"/>
          <p:cNvSpPr/>
          <p:nvPr/>
        </p:nvSpPr>
        <p:spPr>
          <a:xfrm>
            <a:off x="2260600" y="1158240"/>
            <a:ext cx="5867400" cy="19050"/>
          </a:xfrm>
          <a:prstGeom prst="rect">
            <a:avLst/>
          </a:prstGeom>
          <a:solidFill>
            <a:srgbClr val="E8C15A">
              <a:alpha val="40000"/>
            </a:srgbClr>
          </a:solidFill>
          <a:ln>
            <a:noFill/>
          </a:ln>
        </p:spPr>
        <p:txBody>
          <a:bodyPr rtlCol="0" anchor="ctr"/>
          <a:lstStyle/>
          <a:p/>
        </p:txBody>
      </p:sp>
      <p:cxnSp>
        <p:nvCxnSpPr>
          <p:cNvPr id="1186" name="rb_rule"/>
          <p:cNvCxnSpPr/>
          <p:nvPr/>
        </p:nvCxnSpPr>
        <p:spPr>
          <a:xfrm>
            <a:off x="8280400" y="1422400"/>
            <a:ext cx="0" cy="4267200"/>
          </a:xfrm>
          <a:prstGeom prst="straightConnector1">
            <a:avLst/>
          </a:prstGeom>
          <a:ln w="19050">
            <a:solidFill>
              <a:srgbClr val="7E9A85"/>
            </a:solidFill>
          </a:ln>
        </p:spPr>
      </p:cxnSp>
      <p:sp>
        <p:nvSpPr>
          <p:cNvPr id="1187" name="rb_chip_a"/>
          <p:cNvSpPr/>
          <p:nvPr/>
        </p:nvSpPr>
        <p:spPr>
          <a:xfrm>
            <a:off x="8229600" y="1219200"/>
            <a:ext cx="152400" cy="152400"/>
          </a:xfrm>
          <a:prstGeom prst="rect">
            <a:avLst/>
          </a:prstGeom>
          <a:gradFill rotWithShape="1">
            <a:gsLst>
              <a:gs pos="0">
                <a:srgbClr val="E8C15A"/>
              </a:gs>
              <a:gs pos="100000">
                <a:srgbClr val="8A6A1E">
                  <a:alpha val="100000"/>
                </a:srgbClr>
              </a:gs>
            </a:gsLst>
            <a:lin ang="8100000" scaled="1"/>
          </a:gradFill>
          <a:ln>
            <a:noFill/>
          </a:ln>
        </p:spPr>
        <p:txBody>
          <a:bodyPr rtlCol="0" anchor="ctr"/>
          <a:lstStyle/>
          <a:p/>
        </p:txBody>
      </p:sp>
      <p:sp>
        <p:nvSpPr>
          <p:cNvPr id="1188" name="rb_chip_b"/>
          <p:cNvSpPr/>
          <p:nvPr/>
        </p:nvSpPr>
        <p:spPr>
          <a:xfrm>
            <a:off x="8280400" y="1193800"/>
            <a:ext cx="101600" cy="101600"/>
          </a:xfrm>
          <a:prstGeom prst="rect">
            <a:avLst/>
          </a:prstGeom>
          <a:solidFill>
            <a:srgbClr val="8A6A1E"/>
          </a:solidFill>
          <a:ln>
            <a:noFill/>
          </a:ln>
        </p:spPr>
        <p:txBody>
          <a:bodyPr rtlCol="0" anchor="ctr"/>
          <a:lstStyle/>
          <a:p/>
        </p:txBody>
      </p:sp>
      <p:sp>
        <p:nvSpPr>
          <p:cNvPr id="1189"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190"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191" name="rb_tagrule"/>
          <p:cNvCxnSpPr/>
          <p:nvPr/>
        </p:nvCxnSpPr>
        <p:spPr>
          <a:xfrm>
            <a:off x="11226800" y="2260600"/>
            <a:ext cx="482600" cy="0"/>
          </a:xfrm>
          <a:prstGeom prst="straightConnector1">
            <a:avLst/>
          </a:prstGeom>
          <a:ln w="12700">
            <a:solidFill>
              <a:srgbClr val="7E9A85"/>
            </a:solidFill>
          </a:ln>
        </p:spPr>
      </p:cxnSp>
      <p:sp>
        <p:nvSpPr>
          <p:cNvPr id="1192"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8C15A"/>
                </a:solidFill>
                <a:latin typeface="黑体"/>
                <a:ea typeface="黑体"/>
              </a:rPr>
              <a:t>07 / 42</a:t>
            </a:r>
          </a:p>
        </p:txBody>
      </p:sp>
      <p:sp>
        <p:nvSpPr>
          <p:cNvPr id="1193" name="p07tag_sh"/>
          <p:cNvSpPr/>
          <p:nvPr/>
        </p:nvSpPr>
        <p:spPr>
          <a:xfrm>
            <a:off x="584200" y="13208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194" name="p07tag"/>
          <p:cNvSpPr/>
          <p:nvPr/>
        </p:nvSpPr>
        <p:spPr>
          <a:xfrm>
            <a:off x="558800" y="1270000"/>
            <a:ext cx="7569200" cy="654812"/>
          </a:xfrm>
          <a:prstGeom prst="roundRect">
            <a:avLst>
              <a:gd name="adj" fmla="val 8000"/>
            </a:avLst>
          </a:prstGeom>
          <a:solidFill>
            <a:srgbClr val="E9EFE9"/>
          </a:solidFill>
          <a:ln w="15875">
            <a:solidFill>
              <a:srgbClr val="8A6A1E"/>
            </a:solidFill>
          </a:ln>
        </p:spPr>
        <p:txBody>
          <a:bodyPr rtlCol="0" anchor="ctr"/>
          <a:lstStyle/>
          <a:p/>
        </p:txBody>
      </p:sp>
      <p:sp>
        <p:nvSpPr>
          <p:cNvPr id="1195" name="p07tag_cap"/>
          <p:cNvSpPr/>
          <p:nvPr/>
        </p:nvSpPr>
        <p:spPr>
          <a:xfrm>
            <a:off x="647700" y="1346200"/>
            <a:ext cx="50800" cy="502412"/>
          </a:xfrm>
          <a:prstGeom prst="rect">
            <a:avLst/>
          </a:prstGeom>
          <a:gradFill rotWithShape="1">
            <a:gsLst>
              <a:gs pos="0">
                <a:srgbClr val="8A6A1E"/>
              </a:gs>
              <a:gs pos="100000">
                <a:srgbClr val="8A6A1E">
                  <a:alpha val="10000"/>
                </a:srgbClr>
              </a:gs>
            </a:gsLst>
            <a:lin ang="5400000" scaled="1"/>
          </a:gradFill>
          <a:ln>
            <a:noFill/>
          </a:ln>
        </p:spPr>
        <p:txBody>
          <a:bodyPr rtlCol="0" anchor="ctr"/>
          <a:lstStyle/>
          <a:p/>
        </p:txBody>
      </p:sp>
      <p:sp>
        <p:nvSpPr>
          <p:cNvPr id="1196" name="p07tag_t"/>
          <p:cNvSpPr txBox="1"/>
          <p:nvPr/>
        </p:nvSpPr>
        <p:spPr>
          <a:xfrm>
            <a:off x="711200" y="1358900"/>
            <a:ext cx="7264400" cy="477012"/>
          </a:xfrm>
          <a:prstGeom prst="rect">
            <a:avLst/>
          </a:prstGeom>
        </p:spPr>
        <p:txBody>
          <a:bodyPr wrap="square" lIns="0" rIns="0" tIns="0" bIns="0"/>
          <a:lstStyle/>
          <a:p>
            <a:pPr algn="l" lvl="0"/>
            <a:r>
              <a:rPr lang="zh-CN" sz="1800" b="1">
                <a:solidFill>
                  <a:srgbClr val="1D2B23"/>
                </a:solidFill>
                <a:latin typeface="黑体"/>
                <a:ea typeface="黑体"/>
              </a:rPr>
              <a:t>展板二　交通基建　·　经济建设</a:t>
            </a:r>
          </a:p>
        </p:txBody>
      </p:sp>
      <p:sp>
        <p:nvSpPr>
          <p:cNvPr id="1197" name="p07i0_bg_sh"/>
          <p:cNvSpPr/>
          <p:nvPr/>
        </p:nvSpPr>
        <p:spPr>
          <a:xfrm>
            <a:off x="469900" y="2064512"/>
            <a:ext cx="2413000" cy="16586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198" name="p07i0_bg"/>
          <p:cNvSpPr/>
          <p:nvPr/>
        </p:nvSpPr>
        <p:spPr>
          <a:xfrm>
            <a:off x="444500" y="2013712"/>
            <a:ext cx="2463800" cy="1658620"/>
          </a:xfrm>
          <a:prstGeom prst="roundRect">
            <a:avLst>
              <a:gd name="adj" fmla="val 8000"/>
            </a:avLst>
          </a:prstGeom>
          <a:solidFill>
            <a:srgbClr val="E9EFE9"/>
          </a:solidFill>
          <a:ln w="15875">
            <a:solidFill>
              <a:srgbClr val="8A6A1E"/>
            </a:solidFill>
          </a:ln>
        </p:spPr>
        <p:txBody>
          <a:bodyPr rtlCol="0" anchor="ctr"/>
          <a:lstStyle/>
          <a:p/>
        </p:txBody>
      </p:sp>
      <p:sp>
        <p:nvSpPr>
          <p:cNvPr id="1199" name="p07i0_bg_le"/>
          <p:cNvSpPr/>
          <p:nvPr/>
        </p:nvSpPr>
        <p:spPr>
          <a:xfrm>
            <a:off x="469900" y="2128012"/>
            <a:ext cx="44450" cy="143002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pic>
        <p:nvPicPr>
          <p:cNvPr id="1200" name="p07i0"/>
          <p:cNvPicPr>
            <a:picLocks noChangeAspect="1"/>
          </p:cNvPicPr>
          <p:nvPr/>
        </p:nvPicPr>
        <p:blipFill>
          <a:blip r:embed="rId2"/>
          <a:stretch>
            <a:fillRect/>
          </a:stretch>
        </p:blipFill>
        <p:spPr>
          <a:xfrm>
            <a:off x="558800" y="2128012"/>
            <a:ext cx="2235200" cy="1066800"/>
          </a:xfrm>
          <a:prstGeom prst="rect">
            <a:avLst/>
          </a:prstGeom>
        </p:spPr>
      </p:pic>
      <p:sp>
        <p:nvSpPr>
          <p:cNvPr id="1201" name="p07i0_cap"/>
          <p:cNvSpPr txBox="1"/>
          <p:nvPr/>
        </p:nvSpPr>
        <p:spPr>
          <a:xfrm>
            <a:off x="444500" y="3347212"/>
            <a:ext cx="2463800" cy="325120"/>
          </a:xfrm>
          <a:prstGeom prst="rect">
            <a:avLst/>
          </a:prstGeom>
        </p:spPr>
        <p:txBody>
          <a:bodyPr wrap="square" lIns="0" rIns="0" tIns="0" bIns="0"/>
          <a:lstStyle/>
          <a:p>
            <a:pPr algn="l" lvl="0"/>
            <a:r>
              <a:rPr lang="zh-CN" sz="1400">
                <a:solidFill>
                  <a:srgbClr val="465C4D"/>
                </a:solidFill>
                <a:latin typeface="楷体"/>
                <a:ea typeface="楷体"/>
              </a:rPr>
              <a:t>中国路</a:t>
            </a:r>
          </a:p>
        </p:txBody>
      </p:sp>
      <p:sp>
        <p:nvSpPr>
          <p:cNvPr id="1202" name="p07i1_bg_sh"/>
          <p:cNvSpPr/>
          <p:nvPr/>
        </p:nvSpPr>
        <p:spPr>
          <a:xfrm>
            <a:off x="3009900" y="2064512"/>
            <a:ext cx="2413000" cy="16586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203" name="p07i1_bg"/>
          <p:cNvSpPr/>
          <p:nvPr/>
        </p:nvSpPr>
        <p:spPr>
          <a:xfrm>
            <a:off x="2984500" y="2013712"/>
            <a:ext cx="2463800" cy="1658620"/>
          </a:xfrm>
          <a:prstGeom prst="roundRect">
            <a:avLst>
              <a:gd name="adj" fmla="val 8000"/>
            </a:avLst>
          </a:prstGeom>
          <a:solidFill>
            <a:srgbClr val="E9EFE9"/>
          </a:solidFill>
          <a:ln w="15875">
            <a:solidFill>
              <a:srgbClr val="8A6A1E"/>
            </a:solidFill>
          </a:ln>
        </p:spPr>
        <p:txBody>
          <a:bodyPr rtlCol="0" anchor="ctr"/>
          <a:lstStyle/>
          <a:p/>
        </p:txBody>
      </p:sp>
      <p:sp>
        <p:nvSpPr>
          <p:cNvPr id="1204" name="p07i1_bg_le"/>
          <p:cNvSpPr/>
          <p:nvPr/>
        </p:nvSpPr>
        <p:spPr>
          <a:xfrm>
            <a:off x="3009900" y="2128012"/>
            <a:ext cx="44450" cy="143002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pic>
        <p:nvPicPr>
          <p:cNvPr id="1205" name="p07i1"/>
          <p:cNvPicPr>
            <a:picLocks noChangeAspect="1"/>
          </p:cNvPicPr>
          <p:nvPr/>
        </p:nvPicPr>
        <p:blipFill>
          <a:blip r:embed="rId3"/>
          <a:stretch>
            <a:fillRect/>
          </a:stretch>
        </p:blipFill>
        <p:spPr>
          <a:xfrm>
            <a:off x="3098800" y="2128012"/>
            <a:ext cx="2235200" cy="1066800"/>
          </a:xfrm>
          <a:prstGeom prst="rect">
            <a:avLst/>
          </a:prstGeom>
        </p:spPr>
      </p:pic>
      <p:sp>
        <p:nvSpPr>
          <p:cNvPr id="1206" name="p07i1_cap"/>
          <p:cNvSpPr txBox="1"/>
          <p:nvPr/>
        </p:nvSpPr>
        <p:spPr>
          <a:xfrm>
            <a:off x="2984500" y="3347212"/>
            <a:ext cx="2463800" cy="325120"/>
          </a:xfrm>
          <a:prstGeom prst="rect">
            <a:avLst/>
          </a:prstGeom>
        </p:spPr>
        <p:txBody>
          <a:bodyPr wrap="square" lIns="0" rIns="0" tIns="0" bIns="0"/>
          <a:lstStyle/>
          <a:p>
            <a:pPr algn="l" lvl="0"/>
            <a:r>
              <a:rPr lang="zh-CN" sz="1400">
                <a:solidFill>
                  <a:srgbClr val="465C4D"/>
                </a:solidFill>
                <a:latin typeface="楷体"/>
                <a:ea typeface="楷体"/>
              </a:rPr>
              <a:t>平陆运河</a:t>
            </a:r>
          </a:p>
        </p:txBody>
      </p:sp>
      <p:sp>
        <p:nvSpPr>
          <p:cNvPr id="1207" name="p07i2_bg_sh"/>
          <p:cNvSpPr/>
          <p:nvPr/>
        </p:nvSpPr>
        <p:spPr>
          <a:xfrm>
            <a:off x="5549900" y="2064512"/>
            <a:ext cx="2413000" cy="16586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208" name="p07i2_bg"/>
          <p:cNvSpPr/>
          <p:nvPr/>
        </p:nvSpPr>
        <p:spPr>
          <a:xfrm>
            <a:off x="5524500" y="2013712"/>
            <a:ext cx="2463800" cy="1658620"/>
          </a:xfrm>
          <a:prstGeom prst="roundRect">
            <a:avLst>
              <a:gd name="adj" fmla="val 8000"/>
            </a:avLst>
          </a:prstGeom>
          <a:solidFill>
            <a:srgbClr val="E9EFE9"/>
          </a:solidFill>
          <a:ln w="15875">
            <a:solidFill>
              <a:srgbClr val="8A6A1E"/>
            </a:solidFill>
          </a:ln>
        </p:spPr>
        <p:txBody>
          <a:bodyPr rtlCol="0" anchor="ctr"/>
          <a:lstStyle/>
          <a:p/>
        </p:txBody>
      </p:sp>
      <p:sp>
        <p:nvSpPr>
          <p:cNvPr id="1209" name="p07i2_bg_le"/>
          <p:cNvSpPr/>
          <p:nvPr/>
        </p:nvSpPr>
        <p:spPr>
          <a:xfrm>
            <a:off x="5549900" y="2128012"/>
            <a:ext cx="44450" cy="143002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pic>
        <p:nvPicPr>
          <p:cNvPr id="1210" name="p07i2"/>
          <p:cNvPicPr>
            <a:picLocks noChangeAspect="1"/>
          </p:cNvPicPr>
          <p:nvPr/>
        </p:nvPicPr>
        <p:blipFill>
          <a:blip r:embed="rId4"/>
          <a:stretch>
            <a:fillRect/>
          </a:stretch>
        </p:blipFill>
        <p:spPr>
          <a:xfrm>
            <a:off x="5638800" y="2128012"/>
            <a:ext cx="2235200" cy="1066800"/>
          </a:xfrm>
          <a:prstGeom prst="rect">
            <a:avLst/>
          </a:prstGeom>
        </p:spPr>
      </p:pic>
      <p:sp>
        <p:nvSpPr>
          <p:cNvPr id="1211" name="p07i2_cap"/>
          <p:cNvSpPr txBox="1"/>
          <p:nvPr/>
        </p:nvSpPr>
        <p:spPr>
          <a:xfrm>
            <a:off x="5524500" y="3347212"/>
            <a:ext cx="2463800" cy="325120"/>
          </a:xfrm>
          <a:prstGeom prst="rect">
            <a:avLst/>
          </a:prstGeom>
        </p:spPr>
        <p:txBody>
          <a:bodyPr wrap="square" lIns="0" rIns="0" tIns="0" bIns="0"/>
          <a:lstStyle/>
          <a:p>
            <a:pPr algn="l" lvl="0"/>
            <a:r>
              <a:rPr lang="zh-CN" sz="1400">
                <a:solidFill>
                  <a:srgbClr val="465C4D"/>
                </a:solidFill>
                <a:latin typeface="楷体"/>
                <a:ea typeface="楷体"/>
              </a:rPr>
              <a:t>中国港</a:t>
            </a:r>
          </a:p>
        </p:txBody>
      </p:sp>
      <p:sp>
        <p:nvSpPr>
          <p:cNvPr id="1212" name="p07t_sh"/>
          <p:cNvSpPr/>
          <p:nvPr/>
        </p:nvSpPr>
        <p:spPr>
          <a:xfrm>
            <a:off x="584200" y="4040632"/>
            <a:ext cx="7518400" cy="1246632"/>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213" name="p07t"/>
          <p:cNvSpPr/>
          <p:nvPr/>
        </p:nvSpPr>
        <p:spPr>
          <a:xfrm>
            <a:off x="558800" y="3989832"/>
            <a:ext cx="7569200" cy="1246632"/>
          </a:xfrm>
          <a:prstGeom prst="roundRect">
            <a:avLst>
              <a:gd name="adj" fmla="val 8000"/>
            </a:avLst>
          </a:prstGeom>
          <a:solidFill>
            <a:srgbClr val="E9EFE9"/>
          </a:solidFill>
          <a:ln w="15875">
            <a:solidFill>
              <a:srgbClr val="8A6A1E"/>
            </a:solidFill>
          </a:ln>
        </p:spPr>
        <p:txBody>
          <a:bodyPr rtlCol="0" anchor="ctr"/>
          <a:lstStyle/>
          <a:p/>
        </p:txBody>
      </p:sp>
      <p:sp>
        <p:nvSpPr>
          <p:cNvPr id="1214" name="p07t_le"/>
          <p:cNvSpPr/>
          <p:nvPr/>
        </p:nvSpPr>
        <p:spPr>
          <a:xfrm>
            <a:off x="584200" y="4104132"/>
            <a:ext cx="44450" cy="1018032"/>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sp>
        <p:nvSpPr>
          <p:cNvPr id="1215" name="p07t_b"/>
          <p:cNvSpPr txBox="1"/>
          <p:nvPr/>
        </p:nvSpPr>
        <p:spPr>
          <a:xfrm>
            <a:off x="711200" y="4104132"/>
            <a:ext cx="7264400" cy="941832"/>
          </a:xfrm>
          <a:prstGeom prst="rect">
            <a:avLst/>
          </a:prstGeom>
        </p:spPr>
        <p:txBody>
          <a:bodyPr wrap="square" lIns="0" rIns="0" tIns="0" bIns="0"/>
          <a:lstStyle/>
          <a:p>
            <a:pPr algn="l" lvl="0"/>
            <a:r>
              <a:rPr lang="zh-CN" sz="1600">
                <a:solidFill>
                  <a:srgbClr val="2E4438"/>
                </a:solidFill>
                <a:latin typeface="楷体"/>
                <a:ea typeface="楷体"/>
              </a:rPr>
              <a:t>看中国路：高铁营业里程突破 5 万公里。</a:t>
            </a:r>
          </a:p>
          <a:p>
            <a:pPr algn="l" lvl="0"/>
            <a:r>
              <a:rPr lang="zh-CN" sz="1600">
                <a:solidFill>
                  <a:srgbClr val="2E4438"/>
                </a:solidFill>
                <a:latin typeface="楷体"/>
                <a:ea typeface="楷体"/>
              </a:rPr>
              <a:t>看中国运河：平陆运河是第一条通江达海的大运河。</a:t>
            </a:r>
          </a:p>
          <a:p>
            <a:pPr algn="l" lvl="0"/>
            <a:r>
              <a:rPr lang="zh-CN" sz="1600">
                <a:solidFill>
                  <a:srgbClr val="2E4438"/>
                </a:solidFill>
                <a:latin typeface="楷体"/>
                <a:ea typeface="楷体"/>
              </a:rPr>
              <a:t>看中国港：全球前十港口中，中国占六席和八席。</a:t>
            </a:r>
          </a:p>
        </p:txBody>
      </p:sp>
      <p:sp>
        <p:nvSpPr>
          <p:cNvPr id="1216" name="sn"/>
          <p:cNvSpPr txBox="1"/>
          <p:nvPr/>
        </p:nvSpPr>
        <p:spPr>
          <a:xfrm>
            <a:off x="558800" y="5338064"/>
            <a:ext cx="7569200" cy="325120"/>
          </a:xfrm>
          <a:prstGeom prst="rect">
            <a:avLst/>
          </a:prstGeom>
        </p:spPr>
        <p:txBody>
          <a:bodyPr wrap="square" lIns="0" rIns="0" tIns="0" bIns="0"/>
          <a:lstStyle/>
          <a:p>
            <a:pPr algn="l" lvl="0"/>
            <a:r>
              <a:rPr lang="zh-CN" sz="1400">
                <a:solidFill>
                  <a:srgbClr val="A9C0AE"/>
                </a:solidFill>
                <a:latin typeface="楷体"/>
                <a:ea typeface="楷体"/>
              </a:rPr>
              <a:t>图片均来源于：人民网</a:t>
            </a:r>
          </a:p>
        </p:txBody>
      </p:sp>
    </p:spTree>
  </p:cSld>
  <p:clrMapOvr>
    <a:masterClrMapping/>
  </p:clrMapOvr>
  <p:transition xmlns:p="http://schemas.openxmlformats.org/presentationml/2006/mai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1217"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218" name="hd_secbar"/>
          <p:cNvSpPr/>
          <p:nvPr/>
        </p:nvSpPr>
        <p:spPr>
          <a:xfrm>
            <a:off x="609600" y="317500"/>
            <a:ext cx="44450" cy="228600"/>
          </a:xfrm>
          <a:prstGeom prst="rect">
            <a:avLst/>
          </a:prstGeom>
          <a:gradFill rotWithShape="1">
            <a:gsLst>
              <a:gs pos="0">
                <a:srgbClr val="8A6A1E"/>
              </a:gs>
              <a:gs pos="100000">
                <a:srgbClr val="E8C15A">
                  <a:alpha val="100000"/>
                </a:srgbClr>
              </a:gs>
            </a:gsLst>
            <a:lin ang="5400000" scaled="1"/>
          </a:gradFill>
          <a:ln>
            <a:noFill/>
          </a:ln>
        </p:spPr>
        <p:txBody>
          <a:bodyPr rtlCol="0" anchor="ctr"/>
          <a:lstStyle/>
          <a:p/>
        </p:txBody>
      </p:sp>
      <p:sp>
        <p:nvSpPr>
          <p:cNvPr id="1219" name="hd_sec"/>
          <p:cNvSpPr txBox="1"/>
          <p:nvPr/>
        </p:nvSpPr>
        <p:spPr>
          <a:xfrm>
            <a:off x="736600" y="317500"/>
            <a:ext cx="3476600" cy="228600"/>
          </a:xfrm>
          <a:prstGeom prst="rect">
            <a:avLst/>
          </a:prstGeom>
        </p:spPr>
        <p:txBody>
          <a:bodyPr wrap="square" lIns="0" rIns="0" tIns="0" bIns="0"/>
          <a:lstStyle/>
          <a:p>
            <a:pPr algn="l" lvl="0"/>
            <a:r>
              <a:rPr lang="zh-CN" sz="1400" b="1">
                <a:solidFill>
                  <a:srgbClr val="8A6A1E"/>
                </a:solidFill>
                <a:latin typeface="黑体"/>
                <a:ea typeface="黑体"/>
              </a:rPr>
              <a:t>子任务一 · 观展选品——感悟新时代</a:t>
            </a:r>
          </a:p>
        </p:txBody>
      </p:sp>
      <p:sp>
        <p:nvSpPr>
          <p:cNvPr id="1220"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展板三 · 平安中国：安全感从哪里来</a:t>
            </a:r>
          </a:p>
        </p:txBody>
      </p:sp>
      <p:sp>
        <p:nvSpPr>
          <p:cNvPr id="1221" name="hd_rule2"/>
          <p:cNvSpPr/>
          <p:nvPr/>
        </p:nvSpPr>
        <p:spPr>
          <a:xfrm>
            <a:off x="558800" y="1143000"/>
            <a:ext cx="1625600" cy="44450"/>
          </a:xfrm>
          <a:prstGeom prst="rect">
            <a:avLst/>
          </a:prstGeom>
          <a:gradFill rotWithShape="1">
            <a:gsLst>
              <a:gs pos="0">
                <a:srgbClr val="8A6A1E"/>
              </a:gs>
              <a:gs pos="100000">
                <a:srgbClr val="E8C15A">
                  <a:alpha val="100000"/>
                </a:srgbClr>
              </a:gs>
            </a:gsLst>
            <a:lin ang="0" scaled="1"/>
          </a:gradFill>
          <a:ln>
            <a:noFill/>
          </a:ln>
        </p:spPr>
        <p:txBody>
          <a:bodyPr rtlCol="0" anchor="ctr"/>
          <a:lstStyle/>
          <a:p/>
        </p:txBody>
      </p:sp>
      <p:sp>
        <p:nvSpPr>
          <p:cNvPr id="1222" name="hd_rule"/>
          <p:cNvSpPr/>
          <p:nvPr/>
        </p:nvSpPr>
        <p:spPr>
          <a:xfrm>
            <a:off x="2260600" y="1158240"/>
            <a:ext cx="5867400" cy="19050"/>
          </a:xfrm>
          <a:prstGeom prst="rect">
            <a:avLst/>
          </a:prstGeom>
          <a:solidFill>
            <a:srgbClr val="E8C15A">
              <a:alpha val="40000"/>
            </a:srgbClr>
          </a:solidFill>
          <a:ln>
            <a:noFill/>
          </a:ln>
        </p:spPr>
        <p:txBody>
          <a:bodyPr rtlCol="0" anchor="ctr"/>
          <a:lstStyle/>
          <a:p/>
        </p:txBody>
      </p:sp>
      <p:cxnSp>
        <p:nvCxnSpPr>
          <p:cNvPr id="1223" name="rb_rule"/>
          <p:cNvCxnSpPr/>
          <p:nvPr/>
        </p:nvCxnSpPr>
        <p:spPr>
          <a:xfrm>
            <a:off x="8280400" y="1422400"/>
            <a:ext cx="0" cy="4267200"/>
          </a:xfrm>
          <a:prstGeom prst="straightConnector1">
            <a:avLst/>
          </a:prstGeom>
          <a:ln w="19050">
            <a:solidFill>
              <a:srgbClr val="7E9A85"/>
            </a:solidFill>
          </a:ln>
        </p:spPr>
      </p:cxnSp>
      <p:sp>
        <p:nvSpPr>
          <p:cNvPr id="1224" name="rb_chip_a"/>
          <p:cNvSpPr/>
          <p:nvPr/>
        </p:nvSpPr>
        <p:spPr>
          <a:xfrm>
            <a:off x="8229600" y="1219200"/>
            <a:ext cx="152400" cy="152400"/>
          </a:xfrm>
          <a:prstGeom prst="rect">
            <a:avLst/>
          </a:prstGeom>
          <a:gradFill rotWithShape="1">
            <a:gsLst>
              <a:gs pos="0">
                <a:srgbClr val="E8C15A"/>
              </a:gs>
              <a:gs pos="100000">
                <a:srgbClr val="8A6A1E">
                  <a:alpha val="100000"/>
                </a:srgbClr>
              </a:gs>
            </a:gsLst>
            <a:lin ang="8100000" scaled="1"/>
          </a:gradFill>
          <a:ln>
            <a:noFill/>
          </a:ln>
        </p:spPr>
        <p:txBody>
          <a:bodyPr rtlCol="0" anchor="ctr"/>
          <a:lstStyle/>
          <a:p/>
        </p:txBody>
      </p:sp>
      <p:sp>
        <p:nvSpPr>
          <p:cNvPr id="1225" name="rb_chip_b"/>
          <p:cNvSpPr/>
          <p:nvPr/>
        </p:nvSpPr>
        <p:spPr>
          <a:xfrm>
            <a:off x="8280400" y="1193800"/>
            <a:ext cx="101600" cy="101600"/>
          </a:xfrm>
          <a:prstGeom prst="rect">
            <a:avLst/>
          </a:prstGeom>
          <a:solidFill>
            <a:srgbClr val="8A6A1E"/>
          </a:solidFill>
          <a:ln>
            <a:noFill/>
          </a:ln>
        </p:spPr>
        <p:txBody>
          <a:bodyPr rtlCol="0" anchor="ctr"/>
          <a:lstStyle/>
          <a:p/>
        </p:txBody>
      </p:sp>
      <p:sp>
        <p:nvSpPr>
          <p:cNvPr id="1226"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227"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228" name="rb_tagrule"/>
          <p:cNvCxnSpPr/>
          <p:nvPr/>
        </p:nvCxnSpPr>
        <p:spPr>
          <a:xfrm>
            <a:off x="11226800" y="2260600"/>
            <a:ext cx="482600" cy="0"/>
          </a:xfrm>
          <a:prstGeom prst="straightConnector1">
            <a:avLst/>
          </a:prstGeom>
          <a:ln w="12700">
            <a:solidFill>
              <a:srgbClr val="7E9A85"/>
            </a:solidFill>
          </a:ln>
        </p:spPr>
      </p:cxnSp>
      <p:sp>
        <p:nvSpPr>
          <p:cNvPr id="1229"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8C15A"/>
                </a:solidFill>
                <a:latin typeface="黑体"/>
                <a:ea typeface="黑体"/>
              </a:rPr>
              <a:t>08 / 42</a:t>
            </a:r>
          </a:p>
        </p:txBody>
      </p:sp>
      <p:sp>
        <p:nvSpPr>
          <p:cNvPr id="1230" name="p08tag_sh"/>
          <p:cNvSpPr/>
          <p:nvPr/>
        </p:nvSpPr>
        <p:spPr>
          <a:xfrm>
            <a:off x="584200" y="13462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231" name="p08tag"/>
          <p:cNvSpPr/>
          <p:nvPr/>
        </p:nvSpPr>
        <p:spPr>
          <a:xfrm>
            <a:off x="558800" y="1295400"/>
            <a:ext cx="7569200" cy="654812"/>
          </a:xfrm>
          <a:prstGeom prst="roundRect">
            <a:avLst>
              <a:gd name="adj" fmla="val 8000"/>
            </a:avLst>
          </a:prstGeom>
          <a:solidFill>
            <a:srgbClr val="E9EFE9"/>
          </a:solidFill>
          <a:ln w="15875">
            <a:solidFill>
              <a:srgbClr val="8A6A1E"/>
            </a:solidFill>
          </a:ln>
        </p:spPr>
        <p:txBody>
          <a:bodyPr rtlCol="0" anchor="ctr"/>
          <a:lstStyle/>
          <a:p/>
        </p:txBody>
      </p:sp>
      <p:sp>
        <p:nvSpPr>
          <p:cNvPr id="1232" name="p08tag_cap"/>
          <p:cNvSpPr/>
          <p:nvPr/>
        </p:nvSpPr>
        <p:spPr>
          <a:xfrm>
            <a:off x="647700" y="1371600"/>
            <a:ext cx="50800" cy="502412"/>
          </a:xfrm>
          <a:prstGeom prst="rect">
            <a:avLst/>
          </a:prstGeom>
          <a:gradFill rotWithShape="1">
            <a:gsLst>
              <a:gs pos="0">
                <a:srgbClr val="8A6A1E"/>
              </a:gs>
              <a:gs pos="100000">
                <a:srgbClr val="8A6A1E">
                  <a:alpha val="10000"/>
                </a:srgbClr>
              </a:gs>
            </a:gsLst>
            <a:lin ang="5400000" scaled="1"/>
          </a:gradFill>
          <a:ln>
            <a:noFill/>
          </a:ln>
        </p:spPr>
        <p:txBody>
          <a:bodyPr rtlCol="0" anchor="ctr"/>
          <a:lstStyle/>
          <a:p/>
        </p:txBody>
      </p:sp>
      <p:sp>
        <p:nvSpPr>
          <p:cNvPr id="1233" name="p08tag_t"/>
          <p:cNvSpPr txBox="1"/>
          <p:nvPr/>
        </p:nvSpPr>
        <p:spPr>
          <a:xfrm>
            <a:off x="711200" y="1384300"/>
            <a:ext cx="7264400" cy="477012"/>
          </a:xfrm>
          <a:prstGeom prst="rect">
            <a:avLst/>
          </a:prstGeom>
        </p:spPr>
        <p:txBody>
          <a:bodyPr wrap="square" lIns="0" rIns="0" tIns="0" bIns="0"/>
          <a:lstStyle/>
          <a:p>
            <a:pPr algn="l" lvl="0"/>
            <a:r>
              <a:rPr lang="zh-CN" sz="1800" b="1">
                <a:solidFill>
                  <a:srgbClr val="1D2B23"/>
                </a:solidFill>
                <a:latin typeface="黑体"/>
                <a:ea typeface="黑体"/>
              </a:rPr>
              <a:t>展板三　平安中国　·　社会建设</a:t>
            </a:r>
          </a:p>
        </p:txBody>
      </p:sp>
      <p:sp>
        <p:nvSpPr>
          <p:cNvPr id="1234" name="bimg_bg_sh"/>
          <p:cNvSpPr/>
          <p:nvPr/>
        </p:nvSpPr>
        <p:spPr>
          <a:xfrm>
            <a:off x="469900" y="2115312"/>
            <a:ext cx="3352800" cy="29540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235" name="bimg_bg"/>
          <p:cNvSpPr/>
          <p:nvPr/>
        </p:nvSpPr>
        <p:spPr>
          <a:xfrm>
            <a:off x="444500" y="2064512"/>
            <a:ext cx="3403600" cy="2954020"/>
          </a:xfrm>
          <a:prstGeom prst="roundRect">
            <a:avLst>
              <a:gd name="adj" fmla="val 8000"/>
            </a:avLst>
          </a:prstGeom>
          <a:solidFill>
            <a:srgbClr val="E9EFE9"/>
          </a:solidFill>
          <a:ln w="15875">
            <a:solidFill>
              <a:srgbClr val="8A6A1E"/>
            </a:solidFill>
          </a:ln>
        </p:spPr>
        <p:txBody>
          <a:bodyPr rtlCol="0" anchor="ctr"/>
          <a:lstStyle/>
          <a:p/>
        </p:txBody>
      </p:sp>
      <p:sp>
        <p:nvSpPr>
          <p:cNvPr id="1236" name="bimg_bg_le"/>
          <p:cNvSpPr/>
          <p:nvPr/>
        </p:nvSpPr>
        <p:spPr>
          <a:xfrm>
            <a:off x="469900" y="2178812"/>
            <a:ext cx="44450" cy="272542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pic>
        <p:nvPicPr>
          <p:cNvPr id="1237" name="bimg"/>
          <p:cNvPicPr>
            <a:picLocks noChangeAspect="1"/>
          </p:cNvPicPr>
          <p:nvPr/>
        </p:nvPicPr>
        <p:blipFill>
          <a:blip r:embed="rId2"/>
          <a:stretch>
            <a:fillRect/>
          </a:stretch>
        </p:blipFill>
        <p:spPr>
          <a:xfrm>
            <a:off x="558800" y="2178812"/>
            <a:ext cx="3175000" cy="2362200"/>
          </a:xfrm>
          <a:prstGeom prst="rect">
            <a:avLst/>
          </a:prstGeom>
        </p:spPr>
      </p:pic>
      <p:sp>
        <p:nvSpPr>
          <p:cNvPr id="1238" name="bimg_cap"/>
          <p:cNvSpPr txBox="1"/>
          <p:nvPr/>
        </p:nvSpPr>
        <p:spPr>
          <a:xfrm>
            <a:off x="444500" y="4693412"/>
            <a:ext cx="3403600" cy="325120"/>
          </a:xfrm>
          <a:prstGeom prst="rect">
            <a:avLst/>
          </a:prstGeom>
        </p:spPr>
        <p:txBody>
          <a:bodyPr wrap="square" lIns="0" rIns="0" tIns="0" bIns="0"/>
          <a:lstStyle/>
          <a:p>
            <a:pPr algn="l" lvl="0"/>
            <a:r>
              <a:rPr lang="zh-CN" sz="1400">
                <a:solidFill>
                  <a:srgbClr val="465C4D"/>
                </a:solidFill>
                <a:latin typeface="楷体"/>
                <a:ea typeface="楷体"/>
              </a:rPr>
              <a:t>图：平安中国建设</a:t>
            </a:r>
          </a:p>
        </p:txBody>
      </p:sp>
      <p:sp>
        <p:nvSpPr>
          <p:cNvPr id="1239" name="btxt_sh"/>
          <p:cNvSpPr/>
          <p:nvPr/>
        </p:nvSpPr>
        <p:spPr>
          <a:xfrm>
            <a:off x="4191000" y="2115312"/>
            <a:ext cx="3911600" cy="18237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240" name="btxt"/>
          <p:cNvSpPr/>
          <p:nvPr/>
        </p:nvSpPr>
        <p:spPr>
          <a:xfrm>
            <a:off x="4165600" y="2064512"/>
            <a:ext cx="3962400" cy="1823720"/>
          </a:xfrm>
          <a:prstGeom prst="roundRect">
            <a:avLst>
              <a:gd name="adj" fmla="val 8000"/>
            </a:avLst>
          </a:prstGeom>
          <a:solidFill>
            <a:srgbClr val="E9EFE9"/>
          </a:solidFill>
          <a:ln w="15875">
            <a:solidFill>
              <a:srgbClr val="8A6A1E"/>
            </a:solidFill>
          </a:ln>
        </p:spPr>
        <p:txBody>
          <a:bodyPr rtlCol="0" anchor="ctr"/>
          <a:lstStyle/>
          <a:p/>
        </p:txBody>
      </p:sp>
      <p:sp>
        <p:nvSpPr>
          <p:cNvPr id="1241" name="btxt_le"/>
          <p:cNvSpPr/>
          <p:nvPr/>
        </p:nvSpPr>
        <p:spPr>
          <a:xfrm>
            <a:off x="4191000" y="2178812"/>
            <a:ext cx="44450" cy="159512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sp>
        <p:nvSpPr>
          <p:cNvPr id="1242" name="btxt_b"/>
          <p:cNvSpPr txBox="1"/>
          <p:nvPr/>
        </p:nvSpPr>
        <p:spPr>
          <a:xfrm>
            <a:off x="4318000" y="2178812"/>
            <a:ext cx="3657600" cy="1518920"/>
          </a:xfrm>
          <a:prstGeom prst="rect">
            <a:avLst/>
          </a:prstGeom>
        </p:spPr>
        <p:txBody>
          <a:bodyPr wrap="square" lIns="0" rIns="0" tIns="0" bIns="0"/>
          <a:lstStyle/>
          <a:p>
            <a:pPr algn="l" lvl="0"/>
            <a:r>
              <a:rPr lang="zh-CN" sz="1600">
                <a:solidFill>
                  <a:srgbClr val="2E4438"/>
                </a:solidFill>
                <a:latin typeface="楷体"/>
                <a:ea typeface="楷体"/>
              </a:rPr>
              <a:t>随着平安中国建设深入推进，我国</a:t>
            </a:r>
          </a:p>
          <a:p>
            <a:pPr algn="l" lvl="0"/>
            <a:r>
              <a:rPr lang="zh-CN" sz="1600">
                <a:solidFill>
                  <a:srgbClr val="2E4438"/>
                </a:solidFill>
                <a:latin typeface="楷体"/>
                <a:ea typeface="楷体"/>
              </a:rPr>
              <a:t>成为世界上最有安全感的国家之一。</a:t>
            </a:r>
          </a:p>
          <a:p>
            <a:pPr algn="l" lvl="0"/>
            <a:r>
              <a:rPr lang="zh-CN" sz="1600">
                <a:solidFill>
                  <a:srgbClr val="2E4438"/>
                </a:solidFill>
                <a:latin typeface="楷体"/>
                <a:ea typeface="楷体"/>
              </a:rPr>
              <a:t>群众安全感连续多年保持 98% 以</a:t>
            </a:r>
          </a:p>
          <a:p>
            <a:pPr algn="l" lvl="0"/>
            <a:r>
              <a:rPr lang="zh-CN" sz="1600">
                <a:solidFill>
                  <a:srgbClr val="2E4438"/>
                </a:solidFill>
                <a:latin typeface="楷体"/>
                <a:ea typeface="楷体"/>
              </a:rPr>
              <a:t>上，是世界上命案发生率最低的国</a:t>
            </a:r>
          </a:p>
          <a:p>
            <a:pPr algn="l" lvl="0"/>
            <a:r>
              <a:rPr lang="zh-CN" sz="1600">
                <a:solidFill>
                  <a:srgbClr val="2E4438"/>
                </a:solidFill>
                <a:latin typeface="楷体"/>
                <a:ea typeface="楷体"/>
              </a:rPr>
              <a:t>家之一。</a:t>
            </a:r>
          </a:p>
        </p:txBody>
      </p:sp>
      <p:sp>
        <p:nvSpPr>
          <p:cNvPr id="1243" name="sn"/>
          <p:cNvSpPr txBox="1"/>
          <p:nvPr/>
        </p:nvSpPr>
        <p:spPr>
          <a:xfrm>
            <a:off x="558800" y="5310632"/>
            <a:ext cx="7569200" cy="325120"/>
          </a:xfrm>
          <a:prstGeom prst="rect">
            <a:avLst/>
          </a:prstGeom>
        </p:spPr>
        <p:txBody>
          <a:bodyPr wrap="square" lIns="0" rIns="0" tIns="0" bIns="0"/>
          <a:lstStyle/>
          <a:p>
            <a:pPr algn="l" lvl="0"/>
            <a:r>
              <a:rPr lang="zh-CN" sz="1400">
                <a:solidFill>
                  <a:srgbClr val="A9C0AE"/>
                </a:solidFill>
                <a:latin typeface="楷体"/>
                <a:ea typeface="楷体"/>
              </a:rPr>
              <a:t>图片来源：人民网</a:t>
            </a:r>
          </a:p>
        </p:txBody>
      </p:sp>
    </p:spTree>
  </p:cSld>
  <p:clrMapOvr>
    <a:masterClrMapping/>
  </p:clrMapOvr>
  <p:transition xmlns:p="http://schemas.openxmlformats.org/presentationml/2006/mai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244"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245" name="hd_secbar"/>
          <p:cNvSpPr/>
          <p:nvPr/>
        </p:nvSpPr>
        <p:spPr>
          <a:xfrm>
            <a:off x="609600" y="317500"/>
            <a:ext cx="44450" cy="228600"/>
          </a:xfrm>
          <a:prstGeom prst="rect">
            <a:avLst/>
          </a:prstGeom>
          <a:gradFill rotWithShape="1">
            <a:gsLst>
              <a:gs pos="0">
                <a:srgbClr val="8A6A1E"/>
              </a:gs>
              <a:gs pos="100000">
                <a:srgbClr val="E8C15A">
                  <a:alpha val="100000"/>
                </a:srgbClr>
              </a:gs>
            </a:gsLst>
            <a:lin ang="5400000" scaled="1"/>
          </a:gradFill>
          <a:ln>
            <a:noFill/>
          </a:ln>
        </p:spPr>
        <p:txBody>
          <a:bodyPr rtlCol="0" anchor="ctr"/>
          <a:lstStyle/>
          <a:p/>
        </p:txBody>
      </p:sp>
      <p:sp>
        <p:nvSpPr>
          <p:cNvPr id="1246" name="hd_sec"/>
          <p:cNvSpPr txBox="1"/>
          <p:nvPr/>
        </p:nvSpPr>
        <p:spPr>
          <a:xfrm>
            <a:off x="736600" y="317500"/>
            <a:ext cx="3476600" cy="228600"/>
          </a:xfrm>
          <a:prstGeom prst="rect">
            <a:avLst/>
          </a:prstGeom>
        </p:spPr>
        <p:txBody>
          <a:bodyPr wrap="square" lIns="0" rIns="0" tIns="0" bIns="0"/>
          <a:lstStyle/>
          <a:p>
            <a:pPr algn="l" lvl="0"/>
            <a:r>
              <a:rPr lang="zh-CN" sz="1400" b="1">
                <a:solidFill>
                  <a:srgbClr val="8A6A1E"/>
                </a:solidFill>
                <a:latin typeface="黑体"/>
                <a:ea typeface="黑体"/>
              </a:rPr>
              <a:t>子任务一 · 观展选品——感悟新时代</a:t>
            </a:r>
          </a:p>
        </p:txBody>
      </p:sp>
      <p:sp>
        <p:nvSpPr>
          <p:cNvPr id="1247"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情境思考 · 六块展板排一排</a:t>
            </a:r>
          </a:p>
        </p:txBody>
      </p:sp>
      <p:sp>
        <p:nvSpPr>
          <p:cNvPr id="1248" name="hd_rule2"/>
          <p:cNvSpPr/>
          <p:nvPr/>
        </p:nvSpPr>
        <p:spPr>
          <a:xfrm>
            <a:off x="558800" y="1143000"/>
            <a:ext cx="1625600" cy="44450"/>
          </a:xfrm>
          <a:prstGeom prst="rect">
            <a:avLst/>
          </a:prstGeom>
          <a:gradFill rotWithShape="1">
            <a:gsLst>
              <a:gs pos="0">
                <a:srgbClr val="8A6A1E"/>
              </a:gs>
              <a:gs pos="100000">
                <a:srgbClr val="E8C15A">
                  <a:alpha val="100000"/>
                </a:srgbClr>
              </a:gs>
            </a:gsLst>
            <a:lin ang="0" scaled="1"/>
          </a:gradFill>
          <a:ln>
            <a:noFill/>
          </a:ln>
        </p:spPr>
        <p:txBody>
          <a:bodyPr rtlCol="0" anchor="ctr"/>
          <a:lstStyle/>
          <a:p/>
        </p:txBody>
      </p:sp>
      <p:sp>
        <p:nvSpPr>
          <p:cNvPr id="1249" name="hd_rule"/>
          <p:cNvSpPr/>
          <p:nvPr/>
        </p:nvSpPr>
        <p:spPr>
          <a:xfrm>
            <a:off x="2260600" y="1158240"/>
            <a:ext cx="5867400" cy="19050"/>
          </a:xfrm>
          <a:prstGeom prst="rect">
            <a:avLst/>
          </a:prstGeom>
          <a:solidFill>
            <a:srgbClr val="E8C15A">
              <a:alpha val="40000"/>
            </a:srgbClr>
          </a:solidFill>
          <a:ln>
            <a:noFill/>
          </a:ln>
        </p:spPr>
        <p:txBody>
          <a:bodyPr rtlCol="0" anchor="ctr"/>
          <a:lstStyle/>
          <a:p/>
        </p:txBody>
      </p:sp>
      <p:cxnSp>
        <p:nvCxnSpPr>
          <p:cNvPr id="1250" name="rb_rule"/>
          <p:cNvCxnSpPr/>
          <p:nvPr/>
        </p:nvCxnSpPr>
        <p:spPr>
          <a:xfrm>
            <a:off x="8280400" y="1422400"/>
            <a:ext cx="0" cy="4267200"/>
          </a:xfrm>
          <a:prstGeom prst="straightConnector1">
            <a:avLst/>
          </a:prstGeom>
          <a:ln w="19050">
            <a:solidFill>
              <a:srgbClr val="7E9A85"/>
            </a:solidFill>
          </a:ln>
        </p:spPr>
      </p:cxnSp>
      <p:sp>
        <p:nvSpPr>
          <p:cNvPr id="1251" name="rb_chip_a"/>
          <p:cNvSpPr/>
          <p:nvPr/>
        </p:nvSpPr>
        <p:spPr>
          <a:xfrm>
            <a:off x="8229600" y="1219200"/>
            <a:ext cx="152400" cy="152400"/>
          </a:xfrm>
          <a:prstGeom prst="rect">
            <a:avLst/>
          </a:prstGeom>
          <a:gradFill rotWithShape="1">
            <a:gsLst>
              <a:gs pos="0">
                <a:srgbClr val="E8C15A"/>
              </a:gs>
              <a:gs pos="100000">
                <a:srgbClr val="8A6A1E">
                  <a:alpha val="100000"/>
                </a:srgbClr>
              </a:gs>
            </a:gsLst>
            <a:lin ang="8100000" scaled="1"/>
          </a:gradFill>
          <a:ln>
            <a:noFill/>
          </a:ln>
        </p:spPr>
        <p:txBody>
          <a:bodyPr rtlCol="0" anchor="ctr"/>
          <a:lstStyle/>
          <a:p/>
        </p:txBody>
      </p:sp>
      <p:sp>
        <p:nvSpPr>
          <p:cNvPr id="1252" name="rb_chip_b"/>
          <p:cNvSpPr/>
          <p:nvPr/>
        </p:nvSpPr>
        <p:spPr>
          <a:xfrm>
            <a:off x="8280400" y="1193800"/>
            <a:ext cx="101600" cy="101600"/>
          </a:xfrm>
          <a:prstGeom prst="rect">
            <a:avLst/>
          </a:prstGeom>
          <a:solidFill>
            <a:srgbClr val="8A6A1E"/>
          </a:solidFill>
          <a:ln>
            <a:noFill/>
          </a:ln>
        </p:spPr>
        <p:txBody>
          <a:bodyPr rtlCol="0" anchor="ctr"/>
          <a:lstStyle/>
          <a:p/>
        </p:txBody>
      </p:sp>
      <p:sp>
        <p:nvSpPr>
          <p:cNvPr id="1253"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254"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255" name="rb_tagrule"/>
          <p:cNvCxnSpPr/>
          <p:nvPr/>
        </p:nvCxnSpPr>
        <p:spPr>
          <a:xfrm>
            <a:off x="11226800" y="2260600"/>
            <a:ext cx="482600" cy="0"/>
          </a:xfrm>
          <a:prstGeom prst="straightConnector1">
            <a:avLst/>
          </a:prstGeom>
          <a:ln w="12700">
            <a:solidFill>
              <a:srgbClr val="7E9A85"/>
            </a:solidFill>
          </a:ln>
        </p:spPr>
      </p:cxnSp>
      <p:sp>
        <p:nvSpPr>
          <p:cNvPr id="1256"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8C15A"/>
                </a:solidFill>
                <a:latin typeface="黑体"/>
                <a:ea typeface="黑体"/>
              </a:rPr>
              <a:t>09 / 42</a:t>
            </a:r>
          </a:p>
        </p:txBody>
      </p:sp>
      <p:sp>
        <p:nvSpPr>
          <p:cNvPr id="1257" name="lead_sh"/>
          <p:cNvSpPr/>
          <p:nvPr/>
        </p:nvSpPr>
        <p:spPr>
          <a:xfrm>
            <a:off x="584200" y="1397000"/>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258" name="lead"/>
          <p:cNvSpPr/>
          <p:nvPr/>
        </p:nvSpPr>
        <p:spPr>
          <a:xfrm>
            <a:off x="558800" y="1346200"/>
            <a:ext cx="7569200" cy="618744"/>
          </a:xfrm>
          <a:prstGeom prst="roundRect">
            <a:avLst>
              <a:gd name="adj" fmla="val 8000"/>
            </a:avLst>
          </a:prstGeom>
          <a:solidFill>
            <a:srgbClr val="E9EFE9"/>
          </a:solidFill>
          <a:ln w="15875">
            <a:solidFill>
              <a:srgbClr val="8A6A1E"/>
            </a:solidFill>
          </a:ln>
        </p:spPr>
        <p:txBody>
          <a:bodyPr rtlCol="0" anchor="ctr"/>
          <a:lstStyle/>
          <a:p/>
        </p:txBody>
      </p:sp>
      <p:sp>
        <p:nvSpPr>
          <p:cNvPr id="1259" name="lead_cap"/>
          <p:cNvSpPr/>
          <p:nvPr/>
        </p:nvSpPr>
        <p:spPr>
          <a:xfrm>
            <a:off x="647700" y="1422400"/>
            <a:ext cx="50800" cy="466344"/>
          </a:xfrm>
          <a:prstGeom prst="rect">
            <a:avLst/>
          </a:prstGeom>
          <a:gradFill rotWithShape="1">
            <a:gsLst>
              <a:gs pos="0">
                <a:srgbClr val="8A6A1E"/>
              </a:gs>
              <a:gs pos="100000">
                <a:srgbClr val="8A6A1E">
                  <a:alpha val="10000"/>
                </a:srgbClr>
              </a:gs>
            </a:gsLst>
            <a:lin ang="5400000" scaled="1"/>
          </a:gradFill>
          <a:ln>
            <a:noFill/>
          </a:ln>
        </p:spPr>
        <p:txBody>
          <a:bodyPr rtlCol="0" anchor="ctr"/>
          <a:lstStyle/>
          <a:p/>
        </p:txBody>
      </p:sp>
      <p:sp>
        <p:nvSpPr>
          <p:cNvPr id="1260" name="lead_t"/>
          <p:cNvSpPr txBox="1"/>
          <p:nvPr/>
        </p:nvSpPr>
        <p:spPr>
          <a:xfrm>
            <a:off x="711200" y="1435100"/>
            <a:ext cx="7264400" cy="440944"/>
          </a:xfrm>
          <a:prstGeom prst="rect">
            <a:avLst/>
          </a:prstGeom>
        </p:spPr>
        <p:txBody>
          <a:bodyPr wrap="square" lIns="0" rIns="0" tIns="0" bIns="0"/>
          <a:lstStyle/>
          <a:p>
            <a:pPr algn="l" lvl="0"/>
            <a:r>
              <a:rPr lang="zh-CN" sz="1600">
                <a:solidFill>
                  <a:srgbClr val="1D2B23"/>
                </a:solidFill>
                <a:latin typeface="楷体"/>
                <a:ea typeface="楷体"/>
              </a:rPr>
              <a:t>情境思考 · 把六块展板排一排，你发现了什么？</a:t>
            </a:r>
          </a:p>
        </p:txBody>
      </p:sp>
      <p:sp>
        <p:nvSpPr>
          <p:cNvPr id="1261" name="p09q1_sh"/>
          <p:cNvSpPr/>
          <p:nvPr/>
        </p:nvSpPr>
        <p:spPr>
          <a:xfrm>
            <a:off x="584200" y="2142744"/>
            <a:ext cx="7518400" cy="1206754"/>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262" name="p09q1"/>
          <p:cNvSpPr/>
          <p:nvPr/>
        </p:nvSpPr>
        <p:spPr>
          <a:xfrm>
            <a:off x="558800" y="2091944"/>
            <a:ext cx="7569200" cy="1206754"/>
          </a:xfrm>
          <a:prstGeom prst="roundRect">
            <a:avLst>
              <a:gd name="adj" fmla="val 8000"/>
            </a:avLst>
          </a:prstGeom>
          <a:solidFill>
            <a:srgbClr val="E9EFE9"/>
          </a:solidFill>
          <a:ln w="15875">
            <a:solidFill>
              <a:srgbClr val="8A6A1E"/>
            </a:solidFill>
          </a:ln>
        </p:spPr>
        <p:txBody>
          <a:bodyPr rtlCol="0" anchor="ctr"/>
          <a:lstStyle/>
          <a:p/>
        </p:txBody>
      </p:sp>
      <p:sp>
        <p:nvSpPr>
          <p:cNvPr id="1263" name="p09q1_le"/>
          <p:cNvSpPr/>
          <p:nvPr/>
        </p:nvSpPr>
        <p:spPr>
          <a:xfrm>
            <a:off x="584200" y="2206244"/>
            <a:ext cx="44450" cy="978154"/>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sp>
        <p:nvSpPr>
          <p:cNvPr id="1264" name="p09q1_t"/>
          <p:cNvSpPr txBox="1"/>
          <p:nvPr/>
        </p:nvSpPr>
        <p:spPr>
          <a:xfrm>
            <a:off x="711200" y="2206244"/>
            <a:ext cx="7264400" cy="374142"/>
          </a:xfrm>
          <a:prstGeom prst="rect">
            <a:avLst/>
          </a:prstGeom>
        </p:spPr>
        <p:txBody>
          <a:bodyPr wrap="square" lIns="0" rIns="0" tIns="0" bIns="0"/>
          <a:lstStyle/>
          <a:p>
            <a:pPr algn="l" lvl="0"/>
            <a:r>
              <a:rPr lang="zh-CN" sz="1700" b="1">
                <a:solidFill>
                  <a:srgbClr val="8A6A1E"/>
                </a:solidFill>
                <a:latin typeface="黑体"/>
                <a:ea typeface="黑体"/>
              </a:rPr>
              <a:t>问题一</a:t>
            </a:r>
          </a:p>
        </p:txBody>
      </p:sp>
      <p:sp>
        <p:nvSpPr>
          <p:cNvPr id="1265" name="p09q1_b"/>
          <p:cNvSpPr txBox="1"/>
          <p:nvPr/>
        </p:nvSpPr>
        <p:spPr>
          <a:xfrm>
            <a:off x="711200" y="2707386"/>
            <a:ext cx="7264400" cy="400812"/>
          </a:xfrm>
          <a:prstGeom prst="rect">
            <a:avLst/>
          </a:prstGeom>
        </p:spPr>
        <p:txBody>
          <a:bodyPr wrap="square" lIns="0" rIns="0" tIns="0" bIns="0"/>
          <a:lstStyle/>
          <a:p>
            <a:pPr algn="l" lvl="0"/>
            <a:r>
              <a:rPr lang="zh-CN" sz="1800">
                <a:solidFill>
                  <a:srgbClr val="2E4438"/>
                </a:solidFill>
                <a:latin typeface="楷体"/>
                <a:ea typeface="楷体"/>
              </a:rPr>
              <a:t>已有展板体现了“五位一体”总体布局的哪些方面？</a:t>
            </a:r>
          </a:p>
        </p:txBody>
      </p:sp>
      <p:sp>
        <p:nvSpPr>
          <p:cNvPr id="1266" name="p09a1_sh"/>
          <p:cNvSpPr/>
          <p:nvPr/>
        </p:nvSpPr>
        <p:spPr>
          <a:xfrm>
            <a:off x="584200" y="3451098"/>
            <a:ext cx="7518400" cy="907288"/>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267" name="p09a1"/>
          <p:cNvSpPr/>
          <p:nvPr/>
        </p:nvSpPr>
        <p:spPr>
          <a:xfrm>
            <a:off x="558800" y="3400298"/>
            <a:ext cx="7569200" cy="907288"/>
          </a:xfrm>
          <a:prstGeom prst="roundRect">
            <a:avLst>
              <a:gd name="adj" fmla="val 8000"/>
            </a:avLst>
          </a:prstGeom>
          <a:solidFill>
            <a:srgbClr val="E9EFE9"/>
          </a:solidFill>
          <a:ln w="15875">
            <a:solidFill>
              <a:srgbClr val="8A6A1E"/>
            </a:solidFill>
          </a:ln>
        </p:spPr>
        <p:txBody>
          <a:bodyPr rtlCol="0" anchor="ctr"/>
          <a:lstStyle/>
          <a:p/>
        </p:txBody>
      </p:sp>
      <p:sp>
        <p:nvSpPr>
          <p:cNvPr id="1268" name="p09a1_cap"/>
          <p:cNvSpPr/>
          <p:nvPr/>
        </p:nvSpPr>
        <p:spPr>
          <a:xfrm>
            <a:off x="647700" y="3476498"/>
            <a:ext cx="50800" cy="754888"/>
          </a:xfrm>
          <a:prstGeom prst="rect">
            <a:avLst/>
          </a:prstGeom>
          <a:gradFill rotWithShape="1">
            <a:gsLst>
              <a:gs pos="0">
                <a:srgbClr val="8A6A1E"/>
              </a:gs>
              <a:gs pos="100000">
                <a:srgbClr val="8A6A1E">
                  <a:alpha val="10000"/>
                </a:srgbClr>
              </a:gs>
            </a:gsLst>
            <a:lin ang="5400000" scaled="1"/>
          </a:gradFill>
          <a:ln>
            <a:noFill/>
          </a:ln>
        </p:spPr>
        <p:txBody>
          <a:bodyPr rtlCol="0" anchor="ctr"/>
          <a:lstStyle/>
          <a:p/>
        </p:txBody>
      </p:sp>
      <p:sp>
        <p:nvSpPr>
          <p:cNvPr id="1269" name="p09a1_t"/>
          <p:cNvSpPr txBox="1"/>
          <p:nvPr/>
        </p:nvSpPr>
        <p:spPr>
          <a:xfrm>
            <a:off x="711200" y="3489198"/>
            <a:ext cx="7264400" cy="729488"/>
          </a:xfrm>
          <a:prstGeom prst="rect">
            <a:avLst/>
          </a:prstGeom>
        </p:spPr>
        <p:txBody>
          <a:bodyPr wrap="square" lIns="0" rIns="0" tIns="0" bIns="0"/>
          <a:lstStyle/>
          <a:p>
            <a:pPr algn="l" lvl="0"/>
            <a:r>
              <a:rPr lang="zh-CN" sz="1600">
                <a:solidFill>
                  <a:srgbClr val="1D2B23"/>
                </a:solidFill>
                <a:latin typeface="楷体"/>
                <a:ea typeface="楷体"/>
              </a:rPr>
              <a:t>我们党统筹推进经济建设、政治建设、文化建设、社会建设、生态文明</a:t>
            </a:r>
          </a:p>
          <a:p>
            <a:pPr algn="l" lvl="0"/>
            <a:r>
              <a:rPr lang="zh-CN" sz="1600">
                <a:solidFill>
                  <a:srgbClr val="1D2B23"/>
                </a:solidFill>
                <a:latin typeface="楷体"/>
                <a:ea typeface="楷体"/>
              </a:rPr>
              <a:t>建设“五位一体”总体布局。</a:t>
            </a:r>
          </a:p>
        </p:txBody>
      </p:sp>
      <p:sp>
        <p:nvSpPr>
          <p:cNvPr id="1270" name="p09q2_sh"/>
          <p:cNvSpPr/>
          <p:nvPr/>
        </p:nvSpPr>
        <p:spPr>
          <a:xfrm>
            <a:off x="584200" y="4459986"/>
            <a:ext cx="7518400" cy="1206754"/>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271" name="p09q2"/>
          <p:cNvSpPr/>
          <p:nvPr/>
        </p:nvSpPr>
        <p:spPr>
          <a:xfrm>
            <a:off x="558800" y="4409186"/>
            <a:ext cx="7569200" cy="1206754"/>
          </a:xfrm>
          <a:prstGeom prst="roundRect">
            <a:avLst>
              <a:gd name="adj" fmla="val 8000"/>
            </a:avLst>
          </a:prstGeom>
          <a:solidFill>
            <a:srgbClr val="E9EFE9"/>
          </a:solidFill>
          <a:ln w="15875">
            <a:solidFill>
              <a:srgbClr val="8A6A1E"/>
            </a:solidFill>
          </a:ln>
        </p:spPr>
        <p:txBody>
          <a:bodyPr rtlCol="0" anchor="ctr"/>
          <a:lstStyle/>
          <a:p/>
        </p:txBody>
      </p:sp>
      <p:sp>
        <p:nvSpPr>
          <p:cNvPr id="1272" name="p09q2_le"/>
          <p:cNvSpPr/>
          <p:nvPr/>
        </p:nvSpPr>
        <p:spPr>
          <a:xfrm>
            <a:off x="584200" y="4523486"/>
            <a:ext cx="44450" cy="978154"/>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sp>
        <p:nvSpPr>
          <p:cNvPr id="1273" name="p09q2_t"/>
          <p:cNvSpPr txBox="1"/>
          <p:nvPr/>
        </p:nvSpPr>
        <p:spPr>
          <a:xfrm>
            <a:off x="711200" y="4523486"/>
            <a:ext cx="7264400" cy="374142"/>
          </a:xfrm>
          <a:prstGeom prst="rect">
            <a:avLst/>
          </a:prstGeom>
        </p:spPr>
        <p:txBody>
          <a:bodyPr wrap="square" lIns="0" rIns="0" tIns="0" bIns="0"/>
          <a:lstStyle/>
          <a:p>
            <a:pPr algn="l" lvl="0"/>
            <a:r>
              <a:rPr lang="zh-CN" sz="1700" b="1">
                <a:solidFill>
                  <a:srgbClr val="8A6A1E"/>
                </a:solidFill>
                <a:latin typeface="黑体"/>
                <a:ea typeface="黑体"/>
              </a:rPr>
              <a:t>问题二</a:t>
            </a:r>
          </a:p>
        </p:txBody>
      </p:sp>
      <p:sp>
        <p:nvSpPr>
          <p:cNvPr id="1274" name="p09q2_b"/>
          <p:cNvSpPr txBox="1"/>
          <p:nvPr/>
        </p:nvSpPr>
        <p:spPr>
          <a:xfrm>
            <a:off x="711200" y="5024628"/>
            <a:ext cx="7264400" cy="400812"/>
          </a:xfrm>
          <a:prstGeom prst="rect">
            <a:avLst/>
          </a:prstGeom>
        </p:spPr>
        <p:txBody>
          <a:bodyPr wrap="square" lIns="0" rIns="0" tIns="0" bIns="0"/>
          <a:lstStyle/>
          <a:p>
            <a:pPr algn="l" lvl="0"/>
            <a:r>
              <a:rPr lang="zh-CN" sz="1800">
                <a:solidFill>
                  <a:srgbClr val="2E4438"/>
                </a:solidFill>
                <a:latin typeface="楷体"/>
                <a:ea typeface="楷体"/>
              </a:rPr>
              <a:t>可以从剩余方面补充空白展板，请完善展板。</a:t>
            </a:r>
          </a:p>
        </p:txBody>
      </p:sp>
    </p:spTree>
  </p:cSld>
  <p:clrMapOvr>
    <a:masterClrMapping/>
  </p:clrMapOvr>
  <p:transition xmlns:p="http://schemas.openxmlformats.org/presentationml/2006/mai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4"/>
          <a:stretch>
            <a:fillRect/>
          </a:stretch>
        </a:blipFill>
        <a:effectLst/>
      </p:bgPr>
    </p:bg>
    <p:spTree>
      <p:nvGrpSpPr>
        <p:cNvPr id="1" name=""/>
        <p:cNvGrpSpPr/>
        <p:nvPr/>
      </p:nvGrpSpPr>
      <p:grpSpPr>
        <a:xfrm>
          <a:off x="0" y="0"/>
          <a:ext cx="0" cy="0"/>
          <a:chOff x="0" y="0"/>
          <a:chExt cx="0" cy="0"/>
        </a:xfrm>
      </p:grpSpPr>
      <p:sp>
        <p:nvSpPr>
          <p:cNvPr id="1275"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276" name="hd_secbar"/>
          <p:cNvSpPr/>
          <p:nvPr/>
        </p:nvSpPr>
        <p:spPr>
          <a:xfrm>
            <a:off x="609600" y="317500"/>
            <a:ext cx="44450" cy="228600"/>
          </a:xfrm>
          <a:prstGeom prst="rect">
            <a:avLst/>
          </a:prstGeom>
          <a:gradFill rotWithShape="1">
            <a:gsLst>
              <a:gs pos="0">
                <a:srgbClr val="8A6A1E"/>
              </a:gs>
              <a:gs pos="100000">
                <a:srgbClr val="E8C15A">
                  <a:alpha val="100000"/>
                </a:srgbClr>
              </a:gs>
            </a:gsLst>
            <a:lin ang="5400000" scaled="1"/>
          </a:gradFill>
          <a:ln>
            <a:noFill/>
          </a:ln>
        </p:spPr>
        <p:txBody>
          <a:bodyPr rtlCol="0" anchor="ctr"/>
          <a:lstStyle/>
          <a:p/>
        </p:txBody>
      </p:sp>
      <p:sp>
        <p:nvSpPr>
          <p:cNvPr id="1277" name="hd_sec"/>
          <p:cNvSpPr txBox="1"/>
          <p:nvPr/>
        </p:nvSpPr>
        <p:spPr>
          <a:xfrm>
            <a:off x="736600" y="317500"/>
            <a:ext cx="3476600" cy="228600"/>
          </a:xfrm>
          <a:prstGeom prst="rect">
            <a:avLst/>
          </a:prstGeom>
        </p:spPr>
        <p:txBody>
          <a:bodyPr wrap="square" lIns="0" rIns="0" tIns="0" bIns="0"/>
          <a:lstStyle/>
          <a:p>
            <a:pPr algn="l" lvl="0"/>
            <a:r>
              <a:rPr lang="zh-CN" sz="1400" b="1">
                <a:solidFill>
                  <a:srgbClr val="8A6A1E"/>
                </a:solidFill>
                <a:latin typeface="黑体"/>
                <a:ea typeface="黑体"/>
              </a:rPr>
              <a:t>子任务一 · 观展选品——感悟新时代</a:t>
            </a:r>
          </a:p>
        </p:txBody>
      </p:sp>
      <p:sp>
        <p:nvSpPr>
          <p:cNvPr id="1278"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展板四 · 民主法治：民意直达国家立法机关</a:t>
            </a:r>
          </a:p>
        </p:txBody>
      </p:sp>
      <p:sp>
        <p:nvSpPr>
          <p:cNvPr id="1279" name="hd_rule2"/>
          <p:cNvSpPr/>
          <p:nvPr/>
        </p:nvSpPr>
        <p:spPr>
          <a:xfrm>
            <a:off x="558800" y="1143000"/>
            <a:ext cx="1625600" cy="44450"/>
          </a:xfrm>
          <a:prstGeom prst="rect">
            <a:avLst/>
          </a:prstGeom>
          <a:gradFill rotWithShape="1">
            <a:gsLst>
              <a:gs pos="0">
                <a:srgbClr val="8A6A1E"/>
              </a:gs>
              <a:gs pos="100000">
                <a:srgbClr val="E8C15A">
                  <a:alpha val="100000"/>
                </a:srgbClr>
              </a:gs>
            </a:gsLst>
            <a:lin ang="0" scaled="1"/>
          </a:gradFill>
          <a:ln>
            <a:noFill/>
          </a:ln>
        </p:spPr>
        <p:txBody>
          <a:bodyPr rtlCol="0" anchor="ctr"/>
          <a:lstStyle/>
          <a:p/>
        </p:txBody>
      </p:sp>
      <p:sp>
        <p:nvSpPr>
          <p:cNvPr id="1280" name="hd_rule"/>
          <p:cNvSpPr/>
          <p:nvPr/>
        </p:nvSpPr>
        <p:spPr>
          <a:xfrm>
            <a:off x="2260600" y="1158240"/>
            <a:ext cx="5867400" cy="19050"/>
          </a:xfrm>
          <a:prstGeom prst="rect">
            <a:avLst/>
          </a:prstGeom>
          <a:solidFill>
            <a:srgbClr val="E8C15A">
              <a:alpha val="40000"/>
            </a:srgbClr>
          </a:solidFill>
          <a:ln>
            <a:noFill/>
          </a:ln>
        </p:spPr>
        <p:txBody>
          <a:bodyPr rtlCol="0" anchor="ctr"/>
          <a:lstStyle/>
          <a:p/>
        </p:txBody>
      </p:sp>
      <p:cxnSp>
        <p:nvCxnSpPr>
          <p:cNvPr id="1281" name="rb_rule"/>
          <p:cNvCxnSpPr/>
          <p:nvPr/>
        </p:nvCxnSpPr>
        <p:spPr>
          <a:xfrm>
            <a:off x="8280400" y="1422400"/>
            <a:ext cx="0" cy="4267200"/>
          </a:xfrm>
          <a:prstGeom prst="straightConnector1">
            <a:avLst/>
          </a:prstGeom>
          <a:ln w="19050">
            <a:solidFill>
              <a:srgbClr val="7E9A85"/>
            </a:solidFill>
          </a:ln>
        </p:spPr>
      </p:cxnSp>
      <p:sp>
        <p:nvSpPr>
          <p:cNvPr id="1282" name="rb_chip_a"/>
          <p:cNvSpPr/>
          <p:nvPr/>
        </p:nvSpPr>
        <p:spPr>
          <a:xfrm>
            <a:off x="8229600" y="1219200"/>
            <a:ext cx="152400" cy="152400"/>
          </a:xfrm>
          <a:prstGeom prst="rect">
            <a:avLst/>
          </a:prstGeom>
          <a:gradFill rotWithShape="1">
            <a:gsLst>
              <a:gs pos="0">
                <a:srgbClr val="E8C15A"/>
              </a:gs>
              <a:gs pos="100000">
                <a:srgbClr val="8A6A1E">
                  <a:alpha val="100000"/>
                </a:srgbClr>
              </a:gs>
            </a:gsLst>
            <a:lin ang="8100000" scaled="1"/>
          </a:gradFill>
          <a:ln>
            <a:noFill/>
          </a:ln>
        </p:spPr>
        <p:txBody>
          <a:bodyPr rtlCol="0" anchor="ctr"/>
          <a:lstStyle/>
          <a:p/>
        </p:txBody>
      </p:sp>
      <p:sp>
        <p:nvSpPr>
          <p:cNvPr id="1283" name="rb_chip_b"/>
          <p:cNvSpPr/>
          <p:nvPr/>
        </p:nvSpPr>
        <p:spPr>
          <a:xfrm>
            <a:off x="8280400" y="1193800"/>
            <a:ext cx="101600" cy="101600"/>
          </a:xfrm>
          <a:prstGeom prst="rect">
            <a:avLst/>
          </a:prstGeom>
          <a:solidFill>
            <a:srgbClr val="8A6A1E"/>
          </a:solidFill>
          <a:ln>
            <a:noFill/>
          </a:ln>
        </p:spPr>
        <p:txBody>
          <a:bodyPr rtlCol="0" anchor="ctr"/>
          <a:lstStyle/>
          <a:p/>
        </p:txBody>
      </p:sp>
      <p:sp>
        <p:nvSpPr>
          <p:cNvPr id="1284"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285"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286" name="rb_tagrule"/>
          <p:cNvCxnSpPr/>
          <p:nvPr/>
        </p:nvCxnSpPr>
        <p:spPr>
          <a:xfrm>
            <a:off x="11226800" y="2260600"/>
            <a:ext cx="482600" cy="0"/>
          </a:xfrm>
          <a:prstGeom prst="straightConnector1">
            <a:avLst/>
          </a:prstGeom>
          <a:ln w="12700">
            <a:solidFill>
              <a:srgbClr val="7E9A85"/>
            </a:solidFill>
          </a:ln>
        </p:spPr>
      </p:cxnSp>
      <p:sp>
        <p:nvSpPr>
          <p:cNvPr id="1287"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8C15A"/>
                </a:solidFill>
                <a:latin typeface="黑体"/>
                <a:ea typeface="黑体"/>
              </a:rPr>
              <a:t>10 / 42</a:t>
            </a:r>
          </a:p>
        </p:txBody>
      </p:sp>
      <p:sp>
        <p:nvSpPr>
          <p:cNvPr id="1288" name="p10tag_sh"/>
          <p:cNvSpPr/>
          <p:nvPr/>
        </p:nvSpPr>
        <p:spPr>
          <a:xfrm>
            <a:off x="584200" y="13208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289" name="p10tag"/>
          <p:cNvSpPr/>
          <p:nvPr/>
        </p:nvSpPr>
        <p:spPr>
          <a:xfrm>
            <a:off x="558800" y="1270000"/>
            <a:ext cx="7569200" cy="654812"/>
          </a:xfrm>
          <a:prstGeom prst="roundRect">
            <a:avLst>
              <a:gd name="adj" fmla="val 8000"/>
            </a:avLst>
          </a:prstGeom>
          <a:solidFill>
            <a:srgbClr val="E9EFE9"/>
          </a:solidFill>
          <a:ln w="15875">
            <a:solidFill>
              <a:srgbClr val="8A6A1E"/>
            </a:solidFill>
          </a:ln>
        </p:spPr>
        <p:txBody>
          <a:bodyPr rtlCol="0" anchor="ctr"/>
          <a:lstStyle/>
          <a:p/>
        </p:txBody>
      </p:sp>
      <p:sp>
        <p:nvSpPr>
          <p:cNvPr id="1290" name="p10tag_cap"/>
          <p:cNvSpPr/>
          <p:nvPr/>
        </p:nvSpPr>
        <p:spPr>
          <a:xfrm>
            <a:off x="647700" y="1346200"/>
            <a:ext cx="50800" cy="502412"/>
          </a:xfrm>
          <a:prstGeom prst="rect">
            <a:avLst/>
          </a:prstGeom>
          <a:gradFill rotWithShape="1">
            <a:gsLst>
              <a:gs pos="0">
                <a:srgbClr val="8A6A1E"/>
              </a:gs>
              <a:gs pos="100000">
                <a:srgbClr val="8A6A1E">
                  <a:alpha val="10000"/>
                </a:srgbClr>
              </a:gs>
            </a:gsLst>
            <a:lin ang="5400000" scaled="1"/>
          </a:gradFill>
          <a:ln>
            <a:noFill/>
          </a:ln>
        </p:spPr>
        <p:txBody>
          <a:bodyPr rtlCol="0" anchor="ctr"/>
          <a:lstStyle/>
          <a:p/>
        </p:txBody>
      </p:sp>
      <p:sp>
        <p:nvSpPr>
          <p:cNvPr id="1291" name="p10tag_t"/>
          <p:cNvSpPr txBox="1"/>
          <p:nvPr/>
        </p:nvSpPr>
        <p:spPr>
          <a:xfrm>
            <a:off x="711200" y="1358900"/>
            <a:ext cx="7264400" cy="477012"/>
          </a:xfrm>
          <a:prstGeom prst="rect">
            <a:avLst/>
          </a:prstGeom>
        </p:spPr>
        <p:txBody>
          <a:bodyPr wrap="square" lIns="0" rIns="0" tIns="0" bIns="0"/>
          <a:lstStyle/>
          <a:p>
            <a:pPr algn="l" lvl="0"/>
            <a:r>
              <a:rPr lang="zh-CN" sz="1800" b="1">
                <a:solidFill>
                  <a:srgbClr val="1D2B23"/>
                </a:solidFill>
                <a:latin typeface="黑体"/>
                <a:ea typeface="黑体"/>
              </a:rPr>
              <a:t>展板四　民主法治　·　政治建设</a:t>
            </a:r>
          </a:p>
        </p:txBody>
      </p:sp>
      <p:sp>
        <p:nvSpPr>
          <p:cNvPr id="1292" name="p10i0_bg_sh"/>
          <p:cNvSpPr/>
          <p:nvPr/>
        </p:nvSpPr>
        <p:spPr>
          <a:xfrm>
            <a:off x="469900" y="2064512"/>
            <a:ext cx="3581400" cy="17094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293" name="p10i0_bg"/>
          <p:cNvSpPr/>
          <p:nvPr/>
        </p:nvSpPr>
        <p:spPr>
          <a:xfrm>
            <a:off x="444500" y="2013712"/>
            <a:ext cx="3632200" cy="1709420"/>
          </a:xfrm>
          <a:prstGeom prst="roundRect">
            <a:avLst>
              <a:gd name="adj" fmla="val 8000"/>
            </a:avLst>
          </a:prstGeom>
          <a:solidFill>
            <a:srgbClr val="E9EFE9"/>
          </a:solidFill>
          <a:ln w="15875">
            <a:solidFill>
              <a:srgbClr val="8A6A1E"/>
            </a:solidFill>
          </a:ln>
        </p:spPr>
        <p:txBody>
          <a:bodyPr rtlCol="0" anchor="ctr"/>
          <a:lstStyle/>
          <a:p/>
        </p:txBody>
      </p:sp>
      <p:sp>
        <p:nvSpPr>
          <p:cNvPr id="1294" name="p10i0_bg_le"/>
          <p:cNvSpPr/>
          <p:nvPr/>
        </p:nvSpPr>
        <p:spPr>
          <a:xfrm>
            <a:off x="469900" y="2128012"/>
            <a:ext cx="44450" cy="148082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pic>
        <p:nvPicPr>
          <p:cNvPr id="1295" name="p10i0"/>
          <p:cNvPicPr>
            <a:picLocks noChangeAspect="1"/>
          </p:cNvPicPr>
          <p:nvPr/>
        </p:nvPicPr>
        <p:blipFill>
          <a:blip r:embed="rId2"/>
          <a:stretch>
            <a:fillRect/>
          </a:stretch>
        </p:blipFill>
        <p:spPr>
          <a:xfrm>
            <a:off x="558800" y="2128012"/>
            <a:ext cx="3403600" cy="1117600"/>
          </a:xfrm>
          <a:prstGeom prst="rect">
            <a:avLst/>
          </a:prstGeom>
        </p:spPr>
      </p:pic>
      <p:sp>
        <p:nvSpPr>
          <p:cNvPr id="1296" name="p10i0_cap"/>
          <p:cNvSpPr txBox="1"/>
          <p:nvPr/>
        </p:nvSpPr>
        <p:spPr>
          <a:xfrm>
            <a:off x="444500" y="3398012"/>
            <a:ext cx="3632200" cy="325120"/>
          </a:xfrm>
          <a:prstGeom prst="rect">
            <a:avLst/>
          </a:prstGeom>
        </p:spPr>
        <p:txBody>
          <a:bodyPr wrap="square" lIns="0" rIns="0" tIns="0" bIns="0"/>
          <a:lstStyle/>
          <a:p>
            <a:pPr algn="l" lvl="0"/>
            <a:r>
              <a:rPr lang="zh-CN" sz="1400">
                <a:solidFill>
                  <a:srgbClr val="465C4D"/>
                </a:solidFill>
                <a:latin typeface="楷体"/>
                <a:ea typeface="楷体"/>
              </a:rPr>
              <a:t>基层立法联系点</a:t>
            </a:r>
          </a:p>
        </p:txBody>
      </p:sp>
      <p:sp>
        <p:nvSpPr>
          <p:cNvPr id="1297" name="p10i1_bg_sh"/>
          <p:cNvSpPr/>
          <p:nvPr/>
        </p:nvSpPr>
        <p:spPr>
          <a:xfrm>
            <a:off x="4102100" y="2064512"/>
            <a:ext cx="3581400" cy="17094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298" name="p10i1_bg"/>
          <p:cNvSpPr/>
          <p:nvPr/>
        </p:nvSpPr>
        <p:spPr>
          <a:xfrm>
            <a:off x="4076700" y="2013712"/>
            <a:ext cx="3632200" cy="1709420"/>
          </a:xfrm>
          <a:prstGeom prst="roundRect">
            <a:avLst>
              <a:gd name="adj" fmla="val 8000"/>
            </a:avLst>
          </a:prstGeom>
          <a:solidFill>
            <a:srgbClr val="E9EFE9"/>
          </a:solidFill>
          <a:ln w="15875">
            <a:solidFill>
              <a:srgbClr val="8A6A1E"/>
            </a:solidFill>
          </a:ln>
        </p:spPr>
        <p:txBody>
          <a:bodyPr rtlCol="0" anchor="ctr"/>
          <a:lstStyle/>
          <a:p/>
        </p:txBody>
      </p:sp>
      <p:sp>
        <p:nvSpPr>
          <p:cNvPr id="1299" name="p10i1_bg_le"/>
          <p:cNvSpPr/>
          <p:nvPr/>
        </p:nvSpPr>
        <p:spPr>
          <a:xfrm>
            <a:off x="4102100" y="2128012"/>
            <a:ext cx="44450" cy="148082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pic>
        <p:nvPicPr>
          <p:cNvPr id="1300" name="p10i1"/>
          <p:cNvPicPr>
            <a:picLocks noChangeAspect="1"/>
          </p:cNvPicPr>
          <p:nvPr/>
        </p:nvPicPr>
        <p:blipFill>
          <a:blip r:embed="rId3"/>
          <a:stretch>
            <a:fillRect/>
          </a:stretch>
        </p:blipFill>
        <p:spPr>
          <a:xfrm>
            <a:off x="4191000" y="2128012"/>
            <a:ext cx="3403600" cy="1117600"/>
          </a:xfrm>
          <a:prstGeom prst="rect">
            <a:avLst/>
          </a:prstGeom>
        </p:spPr>
      </p:pic>
      <p:sp>
        <p:nvSpPr>
          <p:cNvPr id="1301" name="p10i1_cap"/>
          <p:cNvSpPr txBox="1"/>
          <p:nvPr/>
        </p:nvSpPr>
        <p:spPr>
          <a:xfrm>
            <a:off x="4076700" y="3398012"/>
            <a:ext cx="3632200" cy="325120"/>
          </a:xfrm>
          <a:prstGeom prst="rect">
            <a:avLst/>
          </a:prstGeom>
        </p:spPr>
        <p:txBody>
          <a:bodyPr wrap="square" lIns="0" rIns="0" tIns="0" bIns="0"/>
          <a:lstStyle/>
          <a:p>
            <a:pPr algn="l" lvl="0"/>
            <a:r>
              <a:rPr lang="zh-CN" sz="1400">
                <a:solidFill>
                  <a:srgbClr val="465C4D"/>
                </a:solidFill>
                <a:latin typeface="楷体"/>
                <a:ea typeface="楷体"/>
              </a:rPr>
              <a:t>生态环境法典</a:t>
            </a:r>
          </a:p>
        </p:txBody>
      </p:sp>
      <p:sp>
        <p:nvSpPr>
          <p:cNvPr id="1302" name="p10t_sh"/>
          <p:cNvSpPr/>
          <p:nvPr/>
        </p:nvSpPr>
        <p:spPr>
          <a:xfrm>
            <a:off x="584200" y="4015232"/>
            <a:ext cx="7518400" cy="1246632"/>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303" name="p10t"/>
          <p:cNvSpPr/>
          <p:nvPr/>
        </p:nvSpPr>
        <p:spPr>
          <a:xfrm>
            <a:off x="558800" y="3964432"/>
            <a:ext cx="7569200" cy="1246632"/>
          </a:xfrm>
          <a:prstGeom prst="roundRect">
            <a:avLst>
              <a:gd name="adj" fmla="val 8000"/>
            </a:avLst>
          </a:prstGeom>
          <a:solidFill>
            <a:srgbClr val="E9EFE9"/>
          </a:solidFill>
          <a:ln w="15875">
            <a:solidFill>
              <a:srgbClr val="8A6A1E"/>
            </a:solidFill>
          </a:ln>
        </p:spPr>
        <p:txBody>
          <a:bodyPr rtlCol="0" anchor="ctr"/>
          <a:lstStyle/>
          <a:p/>
        </p:txBody>
      </p:sp>
      <p:sp>
        <p:nvSpPr>
          <p:cNvPr id="1304" name="p10t_le"/>
          <p:cNvSpPr/>
          <p:nvPr/>
        </p:nvSpPr>
        <p:spPr>
          <a:xfrm>
            <a:off x="584200" y="4078732"/>
            <a:ext cx="44450" cy="1018032"/>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sp>
        <p:nvSpPr>
          <p:cNvPr id="1305" name="p10t_b"/>
          <p:cNvSpPr txBox="1"/>
          <p:nvPr/>
        </p:nvSpPr>
        <p:spPr>
          <a:xfrm>
            <a:off x="711200" y="4078732"/>
            <a:ext cx="7264400" cy="941832"/>
          </a:xfrm>
          <a:prstGeom prst="rect">
            <a:avLst/>
          </a:prstGeom>
        </p:spPr>
        <p:txBody>
          <a:bodyPr wrap="square" lIns="0" rIns="0" tIns="0" bIns="0"/>
          <a:lstStyle/>
          <a:p>
            <a:pPr algn="l" lvl="0"/>
            <a:r>
              <a:rPr lang="zh-CN" sz="1600">
                <a:solidFill>
                  <a:srgbClr val="2E4438"/>
                </a:solidFill>
                <a:latin typeface="楷体"/>
                <a:ea typeface="楷体"/>
              </a:rPr>
              <a:t>发展全过程人民民主，坚持全面依法治国。</a:t>
            </a:r>
          </a:p>
          <a:p>
            <a:pPr algn="l" lvl="0"/>
            <a:r>
              <a:rPr lang="zh-CN" sz="1600">
                <a:solidFill>
                  <a:srgbClr val="2E4438"/>
                </a:solidFill>
                <a:latin typeface="楷体"/>
                <a:ea typeface="楷体"/>
              </a:rPr>
              <a:t>《中华人民共和国生态环境法典》以法治护航美丽中国。</a:t>
            </a:r>
          </a:p>
          <a:p>
            <a:pPr algn="l" lvl="0"/>
            <a:r>
              <a:rPr lang="zh-CN" sz="1600">
                <a:solidFill>
                  <a:srgbClr val="2E4438"/>
                </a:solidFill>
                <a:latin typeface="楷体"/>
                <a:ea typeface="楷体"/>
              </a:rPr>
              <a:t>基层立法联系点让民意直达国家立法机关。</a:t>
            </a:r>
          </a:p>
        </p:txBody>
      </p:sp>
      <p:sp>
        <p:nvSpPr>
          <p:cNvPr id="1306" name="sn"/>
          <p:cNvSpPr txBox="1"/>
          <p:nvPr/>
        </p:nvSpPr>
        <p:spPr>
          <a:xfrm>
            <a:off x="558800" y="5388864"/>
            <a:ext cx="7569200" cy="325120"/>
          </a:xfrm>
          <a:prstGeom prst="rect">
            <a:avLst/>
          </a:prstGeom>
        </p:spPr>
        <p:txBody>
          <a:bodyPr wrap="square" lIns="0" rIns="0" tIns="0" bIns="0"/>
          <a:lstStyle/>
          <a:p>
            <a:pPr algn="l" lvl="0"/>
            <a:r>
              <a:rPr lang="zh-CN" sz="1400">
                <a:solidFill>
                  <a:srgbClr val="A9C0AE"/>
                </a:solidFill>
                <a:latin typeface="楷体"/>
                <a:ea typeface="楷体"/>
              </a:rPr>
              <a:t>图片来源：人民网 · 人民日报</a:t>
            </a:r>
          </a:p>
        </p:txBody>
      </p:sp>
    </p:spTree>
  </p:cSld>
  <p:clrMapOvr>
    <a:masterClrMapping/>
  </p:clrMapOvr>
  <p:transition xmlns:p="http://schemas.openxmlformats.org/presentationml/2006/mai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6"/>
          <a:stretch>
            <a:fillRect/>
          </a:stretch>
        </a:blipFill>
        <a:effectLst/>
      </p:bgPr>
    </p:bg>
    <p:spTree>
      <p:nvGrpSpPr>
        <p:cNvPr id="1" name=""/>
        <p:cNvGrpSpPr/>
        <p:nvPr/>
      </p:nvGrpSpPr>
      <p:grpSpPr>
        <a:xfrm>
          <a:off x="0" y="0"/>
          <a:ext cx="0" cy="0"/>
          <a:chOff x="0" y="0"/>
          <a:chExt cx="0" cy="0"/>
        </a:xfrm>
      </p:grpSpPr>
      <p:sp>
        <p:nvSpPr>
          <p:cNvPr id="1307"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308" name="hd_secbar"/>
          <p:cNvSpPr/>
          <p:nvPr/>
        </p:nvSpPr>
        <p:spPr>
          <a:xfrm>
            <a:off x="609600" y="317500"/>
            <a:ext cx="44450" cy="228600"/>
          </a:xfrm>
          <a:prstGeom prst="rect">
            <a:avLst/>
          </a:prstGeom>
          <a:gradFill rotWithShape="1">
            <a:gsLst>
              <a:gs pos="0">
                <a:srgbClr val="8A6A1E"/>
              </a:gs>
              <a:gs pos="100000">
                <a:srgbClr val="E8C15A">
                  <a:alpha val="100000"/>
                </a:srgbClr>
              </a:gs>
            </a:gsLst>
            <a:lin ang="5400000" scaled="1"/>
          </a:gradFill>
          <a:ln>
            <a:noFill/>
          </a:ln>
        </p:spPr>
        <p:txBody>
          <a:bodyPr rtlCol="0" anchor="ctr"/>
          <a:lstStyle/>
          <a:p/>
        </p:txBody>
      </p:sp>
      <p:sp>
        <p:nvSpPr>
          <p:cNvPr id="1309" name="hd_sec"/>
          <p:cNvSpPr txBox="1"/>
          <p:nvPr/>
        </p:nvSpPr>
        <p:spPr>
          <a:xfrm>
            <a:off x="736600" y="317500"/>
            <a:ext cx="3476600" cy="228600"/>
          </a:xfrm>
          <a:prstGeom prst="rect">
            <a:avLst/>
          </a:prstGeom>
        </p:spPr>
        <p:txBody>
          <a:bodyPr wrap="square" lIns="0" rIns="0" tIns="0" bIns="0"/>
          <a:lstStyle/>
          <a:p>
            <a:pPr algn="l" lvl="0"/>
            <a:r>
              <a:rPr lang="zh-CN" sz="1400" b="1">
                <a:solidFill>
                  <a:srgbClr val="8A6A1E"/>
                </a:solidFill>
                <a:latin typeface="黑体"/>
                <a:ea typeface="黑体"/>
              </a:rPr>
              <a:t>子任务一 · 观展选品——感悟新时代</a:t>
            </a:r>
          </a:p>
        </p:txBody>
      </p:sp>
      <p:sp>
        <p:nvSpPr>
          <p:cNvPr id="1310"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展板五 · 文化传承：让老东西有新活法</a:t>
            </a:r>
          </a:p>
        </p:txBody>
      </p:sp>
      <p:sp>
        <p:nvSpPr>
          <p:cNvPr id="1311" name="hd_rule2"/>
          <p:cNvSpPr/>
          <p:nvPr/>
        </p:nvSpPr>
        <p:spPr>
          <a:xfrm>
            <a:off x="558800" y="1143000"/>
            <a:ext cx="1625600" cy="44450"/>
          </a:xfrm>
          <a:prstGeom prst="rect">
            <a:avLst/>
          </a:prstGeom>
          <a:gradFill rotWithShape="1">
            <a:gsLst>
              <a:gs pos="0">
                <a:srgbClr val="8A6A1E"/>
              </a:gs>
              <a:gs pos="100000">
                <a:srgbClr val="E8C15A">
                  <a:alpha val="100000"/>
                </a:srgbClr>
              </a:gs>
            </a:gsLst>
            <a:lin ang="0" scaled="1"/>
          </a:gradFill>
          <a:ln>
            <a:noFill/>
          </a:ln>
        </p:spPr>
        <p:txBody>
          <a:bodyPr rtlCol="0" anchor="ctr"/>
          <a:lstStyle/>
          <a:p/>
        </p:txBody>
      </p:sp>
      <p:sp>
        <p:nvSpPr>
          <p:cNvPr id="1312" name="hd_rule"/>
          <p:cNvSpPr/>
          <p:nvPr/>
        </p:nvSpPr>
        <p:spPr>
          <a:xfrm>
            <a:off x="2260600" y="1158240"/>
            <a:ext cx="5867400" cy="19050"/>
          </a:xfrm>
          <a:prstGeom prst="rect">
            <a:avLst/>
          </a:prstGeom>
          <a:solidFill>
            <a:srgbClr val="E8C15A">
              <a:alpha val="40000"/>
            </a:srgbClr>
          </a:solidFill>
          <a:ln>
            <a:noFill/>
          </a:ln>
        </p:spPr>
        <p:txBody>
          <a:bodyPr rtlCol="0" anchor="ctr"/>
          <a:lstStyle/>
          <a:p/>
        </p:txBody>
      </p:sp>
      <p:cxnSp>
        <p:nvCxnSpPr>
          <p:cNvPr id="1313" name="rb_rule"/>
          <p:cNvCxnSpPr/>
          <p:nvPr/>
        </p:nvCxnSpPr>
        <p:spPr>
          <a:xfrm>
            <a:off x="8280400" y="1422400"/>
            <a:ext cx="0" cy="4267200"/>
          </a:xfrm>
          <a:prstGeom prst="straightConnector1">
            <a:avLst/>
          </a:prstGeom>
          <a:ln w="19050">
            <a:solidFill>
              <a:srgbClr val="7E9A85"/>
            </a:solidFill>
          </a:ln>
        </p:spPr>
      </p:cxnSp>
      <p:sp>
        <p:nvSpPr>
          <p:cNvPr id="1314" name="rb_chip_a"/>
          <p:cNvSpPr/>
          <p:nvPr/>
        </p:nvSpPr>
        <p:spPr>
          <a:xfrm>
            <a:off x="8229600" y="1219200"/>
            <a:ext cx="152400" cy="152400"/>
          </a:xfrm>
          <a:prstGeom prst="rect">
            <a:avLst/>
          </a:prstGeom>
          <a:gradFill rotWithShape="1">
            <a:gsLst>
              <a:gs pos="0">
                <a:srgbClr val="E8C15A"/>
              </a:gs>
              <a:gs pos="100000">
                <a:srgbClr val="8A6A1E">
                  <a:alpha val="100000"/>
                </a:srgbClr>
              </a:gs>
            </a:gsLst>
            <a:lin ang="8100000" scaled="1"/>
          </a:gradFill>
          <a:ln>
            <a:noFill/>
          </a:ln>
        </p:spPr>
        <p:txBody>
          <a:bodyPr rtlCol="0" anchor="ctr"/>
          <a:lstStyle/>
          <a:p/>
        </p:txBody>
      </p:sp>
      <p:sp>
        <p:nvSpPr>
          <p:cNvPr id="1315" name="rb_chip_b"/>
          <p:cNvSpPr/>
          <p:nvPr/>
        </p:nvSpPr>
        <p:spPr>
          <a:xfrm>
            <a:off x="8280400" y="1193800"/>
            <a:ext cx="101600" cy="101600"/>
          </a:xfrm>
          <a:prstGeom prst="rect">
            <a:avLst/>
          </a:prstGeom>
          <a:solidFill>
            <a:srgbClr val="8A6A1E"/>
          </a:solidFill>
          <a:ln>
            <a:noFill/>
          </a:ln>
        </p:spPr>
        <p:txBody>
          <a:bodyPr rtlCol="0" anchor="ctr"/>
          <a:lstStyle/>
          <a:p/>
        </p:txBody>
      </p:sp>
      <p:sp>
        <p:nvSpPr>
          <p:cNvPr id="1316"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317"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318" name="rb_tagrule"/>
          <p:cNvCxnSpPr/>
          <p:nvPr/>
        </p:nvCxnSpPr>
        <p:spPr>
          <a:xfrm>
            <a:off x="11226800" y="2260600"/>
            <a:ext cx="482600" cy="0"/>
          </a:xfrm>
          <a:prstGeom prst="straightConnector1">
            <a:avLst/>
          </a:prstGeom>
          <a:ln w="12700">
            <a:solidFill>
              <a:srgbClr val="7E9A85"/>
            </a:solidFill>
          </a:ln>
        </p:spPr>
      </p:cxnSp>
      <p:sp>
        <p:nvSpPr>
          <p:cNvPr id="1319"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8C15A"/>
                </a:solidFill>
                <a:latin typeface="黑体"/>
                <a:ea typeface="黑体"/>
              </a:rPr>
              <a:t>11 / 42</a:t>
            </a:r>
          </a:p>
        </p:txBody>
      </p:sp>
      <p:sp>
        <p:nvSpPr>
          <p:cNvPr id="1320" name="lead_sh"/>
          <p:cNvSpPr/>
          <p:nvPr/>
        </p:nvSpPr>
        <p:spPr>
          <a:xfrm>
            <a:off x="584200" y="1397000"/>
            <a:ext cx="7518400" cy="907288"/>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321" name="lead"/>
          <p:cNvSpPr/>
          <p:nvPr/>
        </p:nvSpPr>
        <p:spPr>
          <a:xfrm>
            <a:off x="558800" y="1346200"/>
            <a:ext cx="7569200" cy="907288"/>
          </a:xfrm>
          <a:prstGeom prst="roundRect">
            <a:avLst>
              <a:gd name="adj" fmla="val 8000"/>
            </a:avLst>
          </a:prstGeom>
          <a:solidFill>
            <a:srgbClr val="E9EFE9"/>
          </a:solidFill>
          <a:ln w="15875">
            <a:solidFill>
              <a:srgbClr val="8A6A1E"/>
            </a:solidFill>
          </a:ln>
        </p:spPr>
        <p:txBody>
          <a:bodyPr rtlCol="0" anchor="ctr"/>
          <a:lstStyle/>
          <a:p/>
        </p:txBody>
      </p:sp>
      <p:sp>
        <p:nvSpPr>
          <p:cNvPr id="1322" name="lead_cap"/>
          <p:cNvSpPr/>
          <p:nvPr/>
        </p:nvSpPr>
        <p:spPr>
          <a:xfrm>
            <a:off x="647700" y="1422400"/>
            <a:ext cx="50800" cy="754888"/>
          </a:xfrm>
          <a:prstGeom prst="rect">
            <a:avLst/>
          </a:prstGeom>
          <a:gradFill rotWithShape="1">
            <a:gsLst>
              <a:gs pos="0">
                <a:srgbClr val="8A6A1E"/>
              </a:gs>
              <a:gs pos="100000">
                <a:srgbClr val="8A6A1E">
                  <a:alpha val="10000"/>
                </a:srgbClr>
              </a:gs>
            </a:gsLst>
            <a:lin ang="5400000" scaled="1"/>
          </a:gradFill>
          <a:ln>
            <a:noFill/>
          </a:ln>
        </p:spPr>
        <p:txBody>
          <a:bodyPr rtlCol="0" anchor="ctr"/>
          <a:lstStyle/>
          <a:p/>
        </p:txBody>
      </p:sp>
      <p:sp>
        <p:nvSpPr>
          <p:cNvPr id="1323" name="lead_t"/>
          <p:cNvSpPr txBox="1"/>
          <p:nvPr/>
        </p:nvSpPr>
        <p:spPr>
          <a:xfrm>
            <a:off x="711200" y="1435100"/>
            <a:ext cx="7264400" cy="729488"/>
          </a:xfrm>
          <a:prstGeom prst="rect">
            <a:avLst/>
          </a:prstGeom>
        </p:spPr>
        <p:txBody>
          <a:bodyPr wrap="square" lIns="0" rIns="0" tIns="0" bIns="0"/>
          <a:lstStyle/>
          <a:p>
            <a:pPr algn="l" lvl="0"/>
            <a:r>
              <a:rPr lang="zh-CN" sz="1600">
                <a:solidFill>
                  <a:srgbClr val="1D2B23"/>
                </a:solidFill>
                <a:latin typeface="楷体"/>
                <a:ea typeface="楷体"/>
              </a:rPr>
              <a:t>传承弘扬中华优秀传统文化，推动中华优秀传统文化实现创造性转化、</a:t>
            </a:r>
          </a:p>
          <a:p>
            <a:pPr algn="l" lvl="0"/>
            <a:r>
              <a:rPr lang="zh-CN" sz="1600">
                <a:solidFill>
                  <a:srgbClr val="1D2B23"/>
                </a:solidFill>
                <a:latin typeface="楷体"/>
                <a:ea typeface="楷体"/>
              </a:rPr>
              <a:t>创新性发展。</a:t>
            </a:r>
          </a:p>
        </p:txBody>
      </p:sp>
      <p:sp>
        <p:nvSpPr>
          <p:cNvPr id="1324" name="p11tag_sh"/>
          <p:cNvSpPr/>
          <p:nvPr/>
        </p:nvSpPr>
        <p:spPr>
          <a:xfrm>
            <a:off x="584200" y="2532888"/>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325" name="p11tag"/>
          <p:cNvSpPr/>
          <p:nvPr/>
        </p:nvSpPr>
        <p:spPr>
          <a:xfrm>
            <a:off x="558800" y="2482088"/>
            <a:ext cx="7569200" cy="654812"/>
          </a:xfrm>
          <a:prstGeom prst="roundRect">
            <a:avLst>
              <a:gd name="adj" fmla="val 8000"/>
            </a:avLst>
          </a:prstGeom>
          <a:solidFill>
            <a:srgbClr val="E9EFE9"/>
          </a:solidFill>
          <a:ln w="15875">
            <a:solidFill>
              <a:srgbClr val="8A6A1E"/>
            </a:solidFill>
          </a:ln>
        </p:spPr>
        <p:txBody>
          <a:bodyPr rtlCol="0" anchor="ctr"/>
          <a:lstStyle/>
          <a:p/>
        </p:txBody>
      </p:sp>
      <p:sp>
        <p:nvSpPr>
          <p:cNvPr id="1326" name="p11tag_cap"/>
          <p:cNvSpPr/>
          <p:nvPr/>
        </p:nvSpPr>
        <p:spPr>
          <a:xfrm>
            <a:off x="647700" y="2558288"/>
            <a:ext cx="50800" cy="502412"/>
          </a:xfrm>
          <a:prstGeom prst="rect">
            <a:avLst/>
          </a:prstGeom>
          <a:gradFill rotWithShape="1">
            <a:gsLst>
              <a:gs pos="0">
                <a:srgbClr val="8A6A1E"/>
              </a:gs>
              <a:gs pos="100000">
                <a:srgbClr val="8A6A1E">
                  <a:alpha val="10000"/>
                </a:srgbClr>
              </a:gs>
            </a:gsLst>
            <a:lin ang="5400000" scaled="1"/>
          </a:gradFill>
          <a:ln>
            <a:noFill/>
          </a:ln>
        </p:spPr>
        <p:txBody>
          <a:bodyPr rtlCol="0" anchor="ctr"/>
          <a:lstStyle/>
          <a:p/>
        </p:txBody>
      </p:sp>
      <p:sp>
        <p:nvSpPr>
          <p:cNvPr id="1327" name="p11tag_t"/>
          <p:cNvSpPr txBox="1"/>
          <p:nvPr/>
        </p:nvSpPr>
        <p:spPr>
          <a:xfrm>
            <a:off x="711200" y="2570988"/>
            <a:ext cx="7264400" cy="477012"/>
          </a:xfrm>
          <a:prstGeom prst="rect">
            <a:avLst/>
          </a:prstGeom>
        </p:spPr>
        <p:txBody>
          <a:bodyPr wrap="square" lIns="0" rIns="0" tIns="0" bIns="0"/>
          <a:lstStyle/>
          <a:p>
            <a:pPr algn="l" lvl="0"/>
            <a:r>
              <a:rPr lang="zh-CN" sz="1800" b="1">
                <a:solidFill>
                  <a:srgbClr val="1D2B23"/>
                </a:solidFill>
                <a:latin typeface="黑体"/>
                <a:ea typeface="黑体"/>
              </a:rPr>
              <a:t>展板五　文化传承　·　文化建设</a:t>
            </a:r>
          </a:p>
        </p:txBody>
      </p:sp>
      <p:sp>
        <p:nvSpPr>
          <p:cNvPr id="1328" name="p11i0_bg_sh"/>
          <p:cNvSpPr/>
          <p:nvPr/>
        </p:nvSpPr>
        <p:spPr>
          <a:xfrm>
            <a:off x="469900" y="3276600"/>
            <a:ext cx="1828800" cy="208534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329" name="p11i0_bg"/>
          <p:cNvSpPr/>
          <p:nvPr/>
        </p:nvSpPr>
        <p:spPr>
          <a:xfrm>
            <a:off x="444500" y="3225800"/>
            <a:ext cx="1879600" cy="2085340"/>
          </a:xfrm>
          <a:prstGeom prst="roundRect">
            <a:avLst>
              <a:gd name="adj" fmla="val 8000"/>
            </a:avLst>
          </a:prstGeom>
          <a:solidFill>
            <a:srgbClr val="E9EFE9"/>
          </a:solidFill>
          <a:ln w="15875">
            <a:solidFill>
              <a:srgbClr val="8A6A1E"/>
            </a:solidFill>
          </a:ln>
        </p:spPr>
        <p:txBody>
          <a:bodyPr rtlCol="0" anchor="ctr"/>
          <a:lstStyle/>
          <a:p/>
        </p:txBody>
      </p:sp>
      <p:sp>
        <p:nvSpPr>
          <p:cNvPr id="1330" name="p11i0_bg_le"/>
          <p:cNvSpPr/>
          <p:nvPr/>
        </p:nvSpPr>
        <p:spPr>
          <a:xfrm>
            <a:off x="469900" y="3340100"/>
            <a:ext cx="44450" cy="185674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pic>
        <p:nvPicPr>
          <p:cNvPr id="1331" name="p11i0"/>
          <p:cNvPicPr>
            <a:picLocks noChangeAspect="1"/>
          </p:cNvPicPr>
          <p:nvPr/>
        </p:nvPicPr>
        <p:blipFill>
          <a:blip r:embed="rId2"/>
          <a:stretch>
            <a:fillRect/>
          </a:stretch>
        </p:blipFill>
        <p:spPr>
          <a:xfrm>
            <a:off x="558800" y="3340100"/>
            <a:ext cx="1651000" cy="1244600"/>
          </a:xfrm>
          <a:prstGeom prst="rect">
            <a:avLst/>
          </a:prstGeom>
        </p:spPr>
      </p:pic>
      <p:sp>
        <p:nvSpPr>
          <p:cNvPr id="1332" name="p11i0_cap"/>
          <p:cNvSpPr txBox="1"/>
          <p:nvPr/>
        </p:nvSpPr>
        <p:spPr>
          <a:xfrm>
            <a:off x="444500" y="4737100"/>
            <a:ext cx="1879600" cy="574040"/>
          </a:xfrm>
          <a:prstGeom prst="rect">
            <a:avLst/>
          </a:prstGeom>
        </p:spPr>
        <p:txBody>
          <a:bodyPr wrap="square" lIns="0" rIns="0" tIns="0" bIns="0"/>
          <a:lstStyle/>
          <a:p>
            <a:pPr algn="l" lvl="0"/>
            <a:r>
              <a:rPr lang="zh-CN" sz="1400">
                <a:solidFill>
                  <a:srgbClr val="465C4D"/>
                </a:solidFill>
                <a:latin typeface="楷体"/>
                <a:ea typeface="楷体"/>
              </a:rPr>
              <a:t>三星堆不断有考古新</a:t>
            </a:r>
          </a:p>
          <a:p>
            <a:pPr algn="l" lvl="0"/>
            <a:r>
              <a:rPr lang="zh-CN" sz="1400">
                <a:solidFill>
                  <a:srgbClr val="465C4D"/>
                </a:solidFill>
                <a:latin typeface="楷体"/>
                <a:ea typeface="楷体"/>
              </a:rPr>
              <a:t>发现</a:t>
            </a:r>
          </a:p>
        </p:txBody>
      </p:sp>
      <p:sp>
        <p:nvSpPr>
          <p:cNvPr id="1333" name="p11i1_bg_sh"/>
          <p:cNvSpPr/>
          <p:nvPr/>
        </p:nvSpPr>
        <p:spPr>
          <a:xfrm>
            <a:off x="2349500" y="3276600"/>
            <a:ext cx="1828800" cy="208534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334" name="p11i1_bg"/>
          <p:cNvSpPr/>
          <p:nvPr/>
        </p:nvSpPr>
        <p:spPr>
          <a:xfrm>
            <a:off x="2324100" y="3225800"/>
            <a:ext cx="1879600" cy="2085340"/>
          </a:xfrm>
          <a:prstGeom prst="roundRect">
            <a:avLst>
              <a:gd name="adj" fmla="val 8000"/>
            </a:avLst>
          </a:prstGeom>
          <a:solidFill>
            <a:srgbClr val="E9EFE9"/>
          </a:solidFill>
          <a:ln w="15875">
            <a:solidFill>
              <a:srgbClr val="8A6A1E"/>
            </a:solidFill>
          </a:ln>
        </p:spPr>
        <p:txBody>
          <a:bodyPr rtlCol="0" anchor="ctr"/>
          <a:lstStyle/>
          <a:p/>
        </p:txBody>
      </p:sp>
      <p:sp>
        <p:nvSpPr>
          <p:cNvPr id="1335" name="p11i1_bg_le"/>
          <p:cNvSpPr/>
          <p:nvPr/>
        </p:nvSpPr>
        <p:spPr>
          <a:xfrm>
            <a:off x="2349500" y="3340100"/>
            <a:ext cx="44450" cy="185674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pic>
        <p:nvPicPr>
          <p:cNvPr id="1336" name="p11i1"/>
          <p:cNvPicPr>
            <a:picLocks noChangeAspect="1"/>
          </p:cNvPicPr>
          <p:nvPr/>
        </p:nvPicPr>
        <p:blipFill>
          <a:blip r:embed="rId3"/>
          <a:stretch>
            <a:fillRect/>
          </a:stretch>
        </p:blipFill>
        <p:spPr>
          <a:xfrm>
            <a:off x="2438400" y="3340100"/>
            <a:ext cx="1651000" cy="1244600"/>
          </a:xfrm>
          <a:prstGeom prst="rect">
            <a:avLst/>
          </a:prstGeom>
        </p:spPr>
      </p:pic>
      <p:sp>
        <p:nvSpPr>
          <p:cNvPr id="1337" name="p11i1_cap"/>
          <p:cNvSpPr txBox="1"/>
          <p:nvPr/>
        </p:nvSpPr>
        <p:spPr>
          <a:xfrm>
            <a:off x="2324100" y="4737100"/>
            <a:ext cx="1879600" cy="574040"/>
          </a:xfrm>
          <a:prstGeom prst="rect">
            <a:avLst/>
          </a:prstGeom>
        </p:spPr>
        <p:txBody>
          <a:bodyPr wrap="square" lIns="0" rIns="0" tIns="0" bIns="0"/>
          <a:lstStyle/>
          <a:p>
            <a:pPr algn="l" lvl="0"/>
            <a:r>
              <a:rPr lang="zh-CN" sz="1400">
                <a:solidFill>
                  <a:srgbClr val="465C4D"/>
                </a:solidFill>
                <a:latin typeface="楷体"/>
                <a:ea typeface="楷体"/>
              </a:rPr>
              <a:t>良渚古城遗址列入世</a:t>
            </a:r>
          </a:p>
          <a:p>
            <a:pPr algn="l" lvl="0"/>
            <a:r>
              <a:rPr lang="zh-CN" sz="1400">
                <a:solidFill>
                  <a:srgbClr val="465C4D"/>
                </a:solidFill>
                <a:latin typeface="楷体"/>
                <a:ea typeface="楷体"/>
              </a:rPr>
              <a:t>界遗产</a:t>
            </a:r>
          </a:p>
        </p:txBody>
      </p:sp>
      <p:sp>
        <p:nvSpPr>
          <p:cNvPr id="1338" name="p11i2_bg_sh"/>
          <p:cNvSpPr/>
          <p:nvPr/>
        </p:nvSpPr>
        <p:spPr>
          <a:xfrm>
            <a:off x="4229100" y="3276600"/>
            <a:ext cx="1828800" cy="208534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339" name="p11i2_bg"/>
          <p:cNvSpPr/>
          <p:nvPr/>
        </p:nvSpPr>
        <p:spPr>
          <a:xfrm>
            <a:off x="4203700" y="3225800"/>
            <a:ext cx="1879600" cy="2085340"/>
          </a:xfrm>
          <a:prstGeom prst="roundRect">
            <a:avLst>
              <a:gd name="adj" fmla="val 8000"/>
            </a:avLst>
          </a:prstGeom>
          <a:solidFill>
            <a:srgbClr val="E9EFE9"/>
          </a:solidFill>
          <a:ln w="15875">
            <a:solidFill>
              <a:srgbClr val="8A6A1E"/>
            </a:solidFill>
          </a:ln>
        </p:spPr>
        <p:txBody>
          <a:bodyPr rtlCol="0" anchor="ctr"/>
          <a:lstStyle/>
          <a:p/>
        </p:txBody>
      </p:sp>
      <p:sp>
        <p:nvSpPr>
          <p:cNvPr id="1340" name="p11i2_bg_le"/>
          <p:cNvSpPr/>
          <p:nvPr/>
        </p:nvSpPr>
        <p:spPr>
          <a:xfrm>
            <a:off x="4229100" y="3340100"/>
            <a:ext cx="44450" cy="185674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pic>
        <p:nvPicPr>
          <p:cNvPr id="1341" name="p11i2"/>
          <p:cNvPicPr>
            <a:picLocks noChangeAspect="1"/>
          </p:cNvPicPr>
          <p:nvPr/>
        </p:nvPicPr>
        <p:blipFill>
          <a:blip r:embed="rId4"/>
          <a:stretch>
            <a:fillRect/>
          </a:stretch>
        </p:blipFill>
        <p:spPr>
          <a:xfrm>
            <a:off x="4318000" y="3340100"/>
            <a:ext cx="1651000" cy="1244600"/>
          </a:xfrm>
          <a:prstGeom prst="rect">
            <a:avLst/>
          </a:prstGeom>
        </p:spPr>
      </p:pic>
      <p:sp>
        <p:nvSpPr>
          <p:cNvPr id="1342" name="p11i2_cap"/>
          <p:cNvSpPr txBox="1"/>
          <p:nvPr/>
        </p:nvSpPr>
        <p:spPr>
          <a:xfrm>
            <a:off x="4203700" y="4737100"/>
            <a:ext cx="1879600" cy="574040"/>
          </a:xfrm>
          <a:prstGeom prst="rect">
            <a:avLst/>
          </a:prstGeom>
        </p:spPr>
        <p:txBody>
          <a:bodyPr wrap="square" lIns="0" rIns="0" tIns="0" bIns="0"/>
          <a:lstStyle/>
          <a:p>
            <a:pPr algn="l" lvl="0"/>
            <a:r>
              <a:rPr lang="zh-CN" sz="1400">
                <a:solidFill>
                  <a:srgbClr val="465C4D"/>
                </a:solidFill>
                <a:latin typeface="楷体"/>
                <a:ea typeface="楷体"/>
              </a:rPr>
              <a:t>国家版本馆建成开馆</a:t>
            </a:r>
          </a:p>
        </p:txBody>
      </p:sp>
      <p:sp>
        <p:nvSpPr>
          <p:cNvPr id="1343" name="p11i3_bg_sh"/>
          <p:cNvSpPr/>
          <p:nvPr/>
        </p:nvSpPr>
        <p:spPr>
          <a:xfrm>
            <a:off x="6108700" y="3276600"/>
            <a:ext cx="1828800" cy="208534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344" name="p11i3_bg"/>
          <p:cNvSpPr/>
          <p:nvPr/>
        </p:nvSpPr>
        <p:spPr>
          <a:xfrm>
            <a:off x="6083300" y="3225800"/>
            <a:ext cx="1879600" cy="2085340"/>
          </a:xfrm>
          <a:prstGeom prst="roundRect">
            <a:avLst>
              <a:gd name="adj" fmla="val 8000"/>
            </a:avLst>
          </a:prstGeom>
          <a:solidFill>
            <a:srgbClr val="E9EFE9"/>
          </a:solidFill>
          <a:ln w="15875">
            <a:solidFill>
              <a:srgbClr val="8A6A1E"/>
            </a:solidFill>
          </a:ln>
        </p:spPr>
        <p:txBody>
          <a:bodyPr rtlCol="0" anchor="ctr"/>
          <a:lstStyle/>
          <a:p/>
        </p:txBody>
      </p:sp>
      <p:sp>
        <p:nvSpPr>
          <p:cNvPr id="1345" name="p11i3_bg_le"/>
          <p:cNvSpPr/>
          <p:nvPr/>
        </p:nvSpPr>
        <p:spPr>
          <a:xfrm>
            <a:off x="6108700" y="3340100"/>
            <a:ext cx="44450" cy="185674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pic>
        <p:nvPicPr>
          <p:cNvPr id="1346" name="p11i3"/>
          <p:cNvPicPr>
            <a:picLocks noChangeAspect="1"/>
          </p:cNvPicPr>
          <p:nvPr/>
        </p:nvPicPr>
        <p:blipFill>
          <a:blip r:embed="rId5"/>
          <a:stretch>
            <a:fillRect/>
          </a:stretch>
        </p:blipFill>
        <p:spPr>
          <a:xfrm>
            <a:off x="6197600" y="3340100"/>
            <a:ext cx="1651000" cy="1244600"/>
          </a:xfrm>
          <a:prstGeom prst="rect">
            <a:avLst/>
          </a:prstGeom>
        </p:spPr>
      </p:pic>
      <p:sp>
        <p:nvSpPr>
          <p:cNvPr id="1347" name="p11i3_cap"/>
          <p:cNvSpPr txBox="1"/>
          <p:nvPr/>
        </p:nvSpPr>
        <p:spPr>
          <a:xfrm>
            <a:off x="6083300" y="4737100"/>
            <a:ext cx="1879600" cy="574040"/>
          </a:xfrm>
          <a:prstGeom prst="rect">
            <a:avLst/>
          </a:prstGeom>
        </p:spPr>
        <p:txBody>
          <a:bodyPr wrap="square" lIns="0" rIns="0" tIns="0" bIns="0"/>
          <a:lstStyle/>
          <a:p>
            <a:pPr algn="l" lvl="0"/>
            <a:r>
              <a:rPr lang="zh-CN" sz="1400">
                <a:solidFill>
                  <a:srgbClr val="465C4D"/>
                </a:solidFill>
                <a:latin typeface="楷体"/>
                <a:ea typeface="楷体"/>
              </a:rPr>
              <a:t>《只此青绿》向世</a:t>
            </a:r>
          </a:p>
          <a:p>
            <a:pPr algn="l" lvl="0"/>
            <a:r>
              <a:rPr lang="zh-CN" sz="1400">
                <a:solidFill>
                  <a:srgbClr val="465C4D"/>
                </a:solidFill>
                <a:latin typeface="楷体"/>
                <a:ea typeface="楷体"/>
              </a:rPr>
              <a:t>界展示东方美学</a:t>
            </a:r>
          </a:p>
        </p:txBody>
      </p:sp>
      <p:sp>
        <p:nvSpPr>
          <p:cNvPr id="1348" name="sn"/>
          <p:cNvSpPr txBox="1"/>
          <p:nvPr/>
        </p:nvSpPr>
        <p:spPr>
          <a:xfrm>
            <a:off x="558800" y="5577840"/>
            <a:ext cx="7569200" cy="325120"/>
          </a:xfrm>
          <a:prstGeom prst="rect">
            <a:avLst/>
          </a:prstGeom>
        </p:spPr>
        <p:txBody>
          <a:bodyPr wrap="square" lIns="0" rIns="0" tIns="0" bIns="0"/>
          <a:lstStyle/>
          <a:p>
            <a:pPr algn="l" lvl="0"/>
            <a:r>
              <a:rPr lang="zh-CN" sz="1400">
                <a:solidFill>
                  <a:srgbClr val="A9C0AE"/>
                </a:solidFill>
                <a:latin typeface="楷体"/>
                <a:ea typeface="楷体"/>
              </a:rPr>
              <a:t>以上图片均来源：新华社</a:t>
            </a:r>
          </a:p>
        </p:txBody>
      </p:sp>
    </p:spTree>
  </p:cSld>
  <p:clrMapOvr>
    <a:masterClrMapping/>
  </p:clrMapOvr>
  <p:transition xmlns:p="http://schemas.openxmlformats.org/presentationml/2006/mai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4"/>
          <a:stretch>
            <a:fillRect/>
          </a:stretch>
        </a:blipFill>
        <a:effectLst/>
      </p:bgPr>
    </p:bg>
    <p:spTree>
      <p:nvGrpSpPr>
        <p:cNvPr id="1" name=""/>
        <p:cNvGrpSpPr/>
        <p:nvPr/>
      </p:nvGrpSpPr>
      <p:grpSpPr>
        <a:xfrm>
          <a:off x="0" y="0"/>
          <a:ext cx="0" cy="0"/>
          <a:chOff x="0" y="0"/>
          <a:chExt cx="0" cy="0"/>
        </a:xfrm>
      </p:grpSpPr>
      <p:sp>
        <p:nvSpPr>
          <p:cNvPr id="1349"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350" name="hd_secbar"/>
          <p:cNvSpPr/>
          <p:nvPr/>
        </p:nvSpPr>
        <p:spPr>
          <a:xfrm>
            <a:off x="609600" y="317500"/>
            <a:ext cx="44450" cy="228600"/>
          </a:xfrm>
          <a:prstGeom prst="rect">
            <a:avLst/>
          </a:prstGeom>
          <a:gradFill rotWithShape="1">
            <a:gsLst>
              <a:gs pos="0">
                <a:srgbClr val="8A6A1E"/>
              </a:gs>
              <a:gs pos="100000">
                <a:srgbClr val="E8C15A">
                  <a:alpha val="100000"/>
                </a:srgbClr>
              </a:gs>
            </a:gsLst>
            <a:lin ang="5400000" scaled="1"/>
          </a:gradFill>
          <a:ln>
            <a:noFill/>
          </a:ln>
        </p:spPr>
        <p:txBody>
          <a:bodyPr rtlCol="0" anchor="ctr"/>
          <a:lstStyle/>
          <a:p/>
        </p:txBody>
      </p:sp>
      <p:sp>
        <p:nvSpPr>
          <p:cNvPr id="1351" name="hd_sec"/>
          <p:cNvSpPr txBox="1"/>
          <p:nvPr/>
        </p:nvSpPr>
        <p:spPr>
          <a:xfrm>
            <a:off x="736600" y="317500"/>
            <a:ext cx="3476600" cy="228600"/>
          </a:xfrm>
          <a:prstGeom prst="rect">
            <a:avLst/>
          </a:prstGeom>
        </p:spPr>
        <p:txBody>
          <a:bodyPr wrap="square" lIns="0" rIns="0" tIns="0" bIns="0"/>
          <a:lstStyle/>
          <a:p>
            <a:pPr algn="l" lvl="0"/>
            <a:r>
              <a:rPr lang="zh-CN" sz="1400" b="1">
                <a:solidFill>
                  <a:srgbClr val="8A6A1E"/>
                </a:solidFill>
                <a:latin typeface="黑体"/>
                <a:ea typeface="黑体"/>
              </a:rPr>
              <a:t>子任务一 · 观展选品——感悟新时代</a:t>
            </a:r>
          </a:p>
        </p:txBody>
      </p:sp>
      <p:sp>
        <p:nvSpPr>
          <p:cNvPr id="1352"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展板六 · 江河战略：把绿色写进发展</a:t>
            </a:r>
          </a:p>
        </p:txBody>
      </p:sp>
      <p:sp>
        <p:nvSpPr>
          <p:cNvPr id="1353" name="hd_rule2"/>
          <p:cNvSpPr/>
          <p:nvPr/>
        </p:nvSpPr>
        <p:spPr>
          <a:xfrm>
            <a:off x="558800" y="1143000"/>
            <a:ext cx="1625600" cy="44450"/>
          </a:xfrm>
          <a:prstGeom prst="rect">
            <a:avLst/>
          </a:prstGeom>
          <a:gradFill rotWithShape="1">
            <a:gsLst>
              <a:gs pos="0">
                <a:srgbClr val="8A6A1E"/>
              </a:gs>
              <a:gs pos="100000">
                <a:srgbClr val="E8C15A">
                  <a:alpha val="100000"/>
                </a:srgbClr>
              </a:gs>
            </a:gsLst>
            <a:lin ang="0" scaled="1"/>
          </a:gradFill>
          <a:ln>
            <a:noFill/>
          </a:ln>
        </p:spPr>
        <p:txBody>
          <a:bodyPr rtlCol="0" anchor="ctr"/>
          <a:lstStyle/>
          <a:p/>
        </p:txBody>
      </p:sp>
      <p:sp>
        <p:nvSpPr>
          <p:cNvPr id="1354" name="hd_rule"/>
          <p:cNvSpPr/>
          <p:nvPr/>
        </p:nvSpPr>
        <p:spPr>
          <a:xfrm>
            <a:off x="2260600" y="1158240"/>
            <a:ext cx="5867400" cy="19050"/>
          </a:xfrm>
          <a:prstGeom prst="rect">
            <a:avLst/>
          </a:prstGeom>
          <a:solidFill>
            <a:srgbClr val="E8C15A">
              <a:alpha val="40000"/>
            </a:srgbClr>
          </a:solidFill>
          <a:ln>
            <a:noFill/>
          </a:ln>
        </p:spPr>
        <p:txBody>
          <a:bodyPr rtlCol="0" anchor="ctr"/>
          <a:lstStyle/>
          <a:p/>
        </p:txBody>
      </p:sp>
      <p:cxnSp>
        <p:nvCxnSpPr>
          <p:cNvPr id="1355" name="rb_rule"/>
          <p:cNvCxnSpPr/>
          <p:nvPr/>
        </p:nvCxnSpPr>
        <p:spPr>
          <a:xfrm>
            <a:off x="8280400" y="1422400"/>
            <a:ext cx="0" cy="4267200"/>
          </a:xfrm>
          <a:prstGeom prst="straightConnector1">
            <a:avLst/>
          </a:prstGeom>
          <a:ln w="19050">
            <a:solidFill>
              <a:srgbClr val="7E9A85"/>
            </a:solidFill>
          </a:ln>
        </p:spPr>
      </p:cxnSp>
      <p:sp>
        <p:nvSpPr>
          <p:cNvPr id="1356" name="rb_chip_a"/>
          <p:cNvSpPr/>
          <p:nvPr/>
        </p:nvSpPr>
        <p:spPr>
          <a:xfrm>
            <a:off x="8229600" y="1219200"/>
            <a:ext cx="152400" cy="152400"/>
          </a:xfrm>
          <a:prstGeom prst="rect">
            <a:avLst/>
          </a:prstGeom>
          <a:gradFill rotWithShape="1">
            <a:gsLst>
              <a:gs pos="0">
                <a:srgbClr val="E8C15A"/>
              </a:gs>
              <a:gs pos="100000">
                <a:srgbClr val="8A6A1E">
                  <a:alpha val="100000"/>
                </a:srgbClr>
              </a:gs>
            </a:gsLst>
            <a:lin ang="8100000" scaled="1"/>
          </a:gradFill>
          <a:ln>
            <a:noFill/>
          </a:ln>
        </p:spPr>
        <p:txBody>
          <a:bodyPr rtlCol="0" anchor="ctr"/>
          <a:lstStyle/>
          <a:p/>
        </p:txBody>
      </p:sp>
      <p:sp>
        <p:nvSpPr>
          <p:cNvPr id="1357" name="rb_chip_b"/>
          <p:cNvSpPr/>
          <p:nvPr/>
        </p:nvSpPr>
        <p:spPr>
          <a:xfrm>
            <a:off x="8280400" y="1193800"/>
            <a:ext cx="101600" cy="101600"/>
          </a:xfrm>
          <a:prstGeom prst="rect">
            <a:avLst/>
          </a:prstGeom>
          <a:solidFill>
            <a:srgbClr val="8A6A1E"/>
          </a:solidFill>
          <a:ln>
            <a:noFill/>
          </a:ln>
        </p:spPr>
        <p:txBody>
          <a:bodyPr rtlCol="0" anchor="ctr"/>
          <a:lstStyle/>
          <a:p/>
        </p:txBody>
      </p:sp>
      <p:sp>
        <p:nvSpPr>
          <p:cNvPr id="1358"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359"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360" name="rb_tagrule"/>
          <p:cNvCxnSpPr/>
          <p:nvPr/>
        </p:nvCxnSpPr>
        <p:spPr>
          <a:xfrm>
            <a:off x="11226800" y="2260600"/>
            <a:ext cx="482600" cy="0"/>
          </a:xfrm>
          <a:prstGeom prst="straightConnector1">
            <a:avLst/>
          </a:prstGeom>
          <a:ln w="12700">
            <a:solidFill>
              <a:srgbClr val="7E9A85"/>
            </a:solidFill>
          </a:ln>
        </p:spPr>
      </p:cxnSp>
      <p:sp>
        <p:nvSpPr>
          <p:cNvPr id="1361"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8C15A"/>
                </a:solidFill>
                <a:latin typeface="黑体"/>
                <a:ea typeface="黑体"/>
              </a:rPr>
              <a:t>12 / 42</a:t>
            </a:r>
          </a:p>
        </p:txBody>
      </p:sp>
      <p:sp>
        <p:nvSpPr>
          <p:cNvPr id="1362" name="p12tag_sh"/>
          <p:cNvSpPr/>
          <p:nvPr/>
        </p:nvSpPr>
        <p:spPr>
          <a:xfrm>
            <a:off x="584200" y="13208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363" name="p12tag"/>
          <p:cNvSpPr/>
          <p:nvPr/>
        </p:nvSpPr>
        <p:spPr>
          <a:xfrm>
            <a:off x="558800" y="1270000"/>
            <a:ext cx="7569200" cy="654812"/>
          </a:xfrm>
          <a:prstGeom prst="roundRect">
            <a:avLst>
              <a:gd name="adj" fmla="val 8000"/>
            </a:avLst>
          </a:prstGeom>
          <a:solidFill>
            <a:srgbClr val="E9EFE9"/>
          </a:solidFill>
          <a:ln w="15875">
            <a:solidFill>
              <a:srgbClr val="8A6A1E"/>
            </a:solidFill>
          </a:ln>
        </p:spPr>
        <p:txBody>
          <a:bodyPr rtlCol="0" anchor="ctr"/>
          <a:lstStyle/>
          <a:p/>
        </p:txBody>
      </p:sp>
      <p:sp>
        <p:nvSpPr>
          <p:cNvPr id="1364" name="p12tag_cap"/>
          <p:cNvSpPr/>
          <p:nvPr/>
        </p:nvSpPr>
        <p:spPr>
          <a:xfrm>
            <a:off x="647700" y="1346200"/>
            <a:ext cx="50800" cy="502412"/>
          </a:xfrm>
          <a:prstGeom prst="rect">
            <a:avLst/>
          </a:prstGeom>
          <a:gradFill rotWithShape="1">
            <a:gsLst>
              <a:gs pos="0">
                <a:srgbClr val="8A6A1E"/>
              </a:gs>
              <a:gs pos="100000">
                <a:srgbClr val="8A6A1E">
                  <a:alpha val="10000"/>
                </a:srgbClr>
              </a:gs>
            </a:gsLst>
            <a:lin ang="5400000" scaled="1"/>
          </a:gradFill>
          <a:ln>
            <a:noFill/>
          </a:ln>
        </p:spPr>
        <p:txBody>
          <a:bodyPr rtlCol="0" anchor="ctr"/>
          <a:lstStyle/>
          <a:p/>
        </p:txBody>
      </p:sp>
      <p:sp>
        <p:nvSpPr>
          <p:cNvPr id="1365" name="p12tag_t"/>
          <p:cNvSpPr txBox="1"/>
          <p:nvPr/>
        </p:nvSpPr>
        <p:spPr>
          <a:xfrm>
            <a:off x="711200" y="1358900"/>
            <a:ext cx="7264400" cy="477012"/>
          </a:xfrm>
          <a:prstGeom prst="rect">
            <a:avLst/>
          </a:prstGeom>
        </p:spPr>
        <p:txBody>
          <a:bodyPr wrap="square" lIns="0" rIns="0" tIns="0" bIns="0"/>
          <a:lstStyle/>
          <a:p>
            <a:pPr algn="l" lvl="0"/>
            <a:r>
              <a:rPr lang="zh-CN" sz="1800" b="1">
                <a:solidFill>
                  <a:srgbClr val="1D2B23"/>
                </a:solidFill>
                <a:latin typeface="黑体"/>
                <a:ea typeface="黑体"/>
              </a:rPr>
              <a:t>展板六　江河战略　·　生态文明建设</a:t>
            </a:r>
          </a:p>
        </p:txBody>
      </p:sp>
      <p:sp>
        <p:nvSpPr>
          <p:cNvPr id="1366" name="p12i0_bg_sh"/>
          <p:cNvSpPr/>
          <p:nvPr/>
        </p:nvSpPr>
        <p:spPr>
          <a:xfrm>
            <a:off x="469900" y="2064512"/>
            <a:ext cx="3581400" cy="17602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367" name="p12i0_bg"/>
          <p:cNvSpPr/>
          <p:nvPr/>
        </p:nvSpPr>
        <p:spPr>
          <a:xfrm>
            <a:off x="444500" y="2013712"/>
            <a:ext cx="3632200" cy="1760220"/>
          </a:xfrm>
          <a:prstGeom prst="roundRect">
            <a:avLst>
              <a:gd name="adj" fmla="val 8000"/>
            </a:avLst>
          </a:prstGeom>
          <a:solidFill>
            <a:srgbClr val="E9EFE9"/>
          </a:solidFill>
          <a:ln w="15875">
            <a:solidFill>
              <a:srgbClr val="8A6A1E"/>
            </a:solidFill>
          </a:ln>
        </p:spPr>
        <p:txBody>
          <a:bodyPr rtlCol="0" anchor="ctr"/>
          <a:lstStyle/>
          <a:p/>
        </p:txBody>
      </p:sp>
      <p:sp>
        <p:nvSpPr>
          <p:cNvPr id="1368" name="p12i0_bg_le"/>
          <p:cNvSpPr/>
          <p:nvPr/>
        </p:nvSpPr>
        <p:spPr>
          <a:xfrm>
            <a:off x="469900" y="2128012"/>
            <a:ext cx="44450" cy="153162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pic>
        <p:nvPicPr>
          <p:cNvPr id="1369" name="p12i0"/>
          <p:cNvPicPr>
            <a:picLocks noChangeAspect="1"/>
          </p:cNvPicPr>
          <p:nvPr/>
        </p:nvPicPr>
        <p:blipFill>
          <a:blip r:embed="rId2"/>
          <a:stretch>
            <a:fillRect/>
          </a:stretch>
        </p:blipFill>
        <p:spPr>
          <a:xfrm>
            <a:off x="558800" y="2128012"/>
            <a:ext cx="3403600" cy="1168400"/>
          </a:xfrm>
          <a:prstGeom prst="rect">
            <a:avLst/>
          </a:prstGeom>
        </p:spPr>
      </p:pic>
      <p:sp>
        <p:nvSpPr>
          <p:cNvPr id="1370" name="p12i0_cap"/>
          <p:cNvSpPr txBox="1"/>
          <p:nvPr/>
        </p:nvSpPr>
        <p:spPr>
          <a:xfrm>
            <a:off x="444500" y="3448812"/>
            <a:ext cx="3632200" cy="325120"/>
          </a:xfrm>
          <a:prstGeom prst="rect">
            <a:avLst/>
          </a:prstGeom>
        </p:spPr>
        <p:txBody>
          <a:bodyPr wrap="square" lIns="0" rIns="0" tIns="0" bIns="0"/>
          <a:lstStyle/>
          <a:p>
            <a:pPr algn="l" lvl="0"/>
            <a:r>
              <a:rPr lang="zh-CN" sz="1400">
                <a:solidFill>
                  <a:srgbClr val="465C4D"/>
                </a:solidFill>
                <a:latin typeface="楷体"/>
                <a:ea typeface="楷体"/>
              </a:rPr>
              <a:t>长江</a:t>
            </a:r>
          </a:p>
        </p:txBody>
      </p:sp>
      <p:sp>
        <p:nvSpPr>
          <p:cNvPr id="1371" name="p12i1_bg_sh"/>
          <p:cNvSpPr/>
          <p:nvPr/>
        </p:nvSpPr>
        <p:spPr>
          <a:xfrm>
            <a:off x="4102100" y="2064512"/>
            <a:ext cx="3581400" cy="17602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372" name="p12i1_bg"/>
          <p:cNvSpPr/>
          <p:nvPr/>
        </p:nvSpPr>
        <p:spPr>
          <a:xfrm>
            <a:off x="4076700" y="2013712"/>
            <a:ext cx="3632200" cy="1760220"/>
          </a:xfrm>
          <a:prstGeom prst="roundRect">
            <a:avLst>
              <a:gd name="adj" fmla="val 8000"/>
            </a:avLst>
          </a:prstGeom>
          <a:solidFill>
            <a:srgbClr val="E9EFE9"/>
          </a:solidFill>
          <a:ln w="15875">
            <a:solidFill>
              <a:srgbClr val="8A6A1E"/>
            </a:solidFill>
          </a:ln>
        </p:spPr>
        <p:txBody>
          <a:bodyPr rtlCol="0" anchor="ctr"/>
          <a:lstStyle/>
          <a:p/>
        </p:txBody>
      </p:sp>
      <p:sp>
        <p:nvSpPr>
          <p:cNvPr id="1373" name="p12i1_bg_le"/>
          <p:cNvSpPr/>
          <p:nvPr/>
        </p:nvSpPr>
        <p:spPr>
          <a:xfrm>
            <a:off x="4102100" y="2128012"/>
            <a:ext cx="44450" cy="1531620"/>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pic>
        <p:nvPicPr>
          <p:cNvPr id="1374" name="p12i1"/>
          <p:cNvPicPr>
            <a:picLocks noChangeAspect="1"/>
          </p:cNvPicPr>
          <p:nvPr/>
        </p:nvPicPr>
        <p:blipFill>
          <a:blip r:embed="rId3"/>
          <a:stretch>
            <a:fillRect/>
          </a:stretch>
        </p:blipFill>
        <p:spPr>
          <a:xfrm>
            <a:off x="4191000" y="2128012"/>
            <a:ext cx="3403600" cy="1168400"/>
          </a:xfrm>
          <a:prstGeom prst="rect">
            <a:avLst/>
          </a:prstGeom>
        </p:spPr>
      </p:pic>
      <p:sp>
        <p:nvSpPr>
          <p:cNvPr id="1375" name="p12i1_cap"/>
          <p:cNvSpPr txBox="1"/>
          <p:nvPr/>
        </p:nvSpPr>
        <p:spPr>
          <a:xfrm>
            <a:off x="4076700" y="3448812"/>
            <a:ext cx="3632200" cy="325120"/>
          </a:xfrm>
          <a:prstGeom prst="rect">
            <a:avLst/>
          </a:prstGeom>
        </p:spPr>
        <p:txBody>
          <a:bodyPr wrap="square" lIns="0" rIns="0" tIns="0" bIns="0"/>
          <a:lstStyle/>
          <a:p>
            <a:pPr algn="l" lvl="0"/>
            <a:r>
              <a:rPr lang="zh-CN" sz="1400">
                <a:solidFill>
                  <a:srgbClr val="465C4D"/>
                </a:solidFill>
                <a:latin typeface="楷体"/>
                <a:ea typeface="楷体"/>
              </a:rPr>
              <a:t>黄河</a:t>
            </a:r>
          </a:p>
        </p:txBody>
      </p:sp>
      <p:sp>
        <p:nvSpPr>
          <p:cNvPr id="1376" name="p12t_sh"/>
          <p:cNvSpPr/>
          <p:nvPr/>
        </p:nvSpPr>
        <p:spPr>
          <a:xfrm>
            <a:off x="584200" y="4066032"/>
            <a:ext cx="7518400" cy="1535176"/>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377" name="p12t"/>
          <p:cNvSpPr/>
          <p:nvPr/>
        </p:nvSpPr>
        <p:spPr>
          <a:xfrm>
            <a:off x="558800" y="4015232"/>
            <a:ext cx="7569200" cy="1535176"/>
          </a:xfrm>
          <a:prstGeom prst="roundRect">
            <a:avLst>
              <a:gd name="adj" fmla="val 8000"/>
            </a:avLst>
          </a:prstGeom>
          <a:solidFill>
            <a:srgbClr val="E9EFE9"/>
          </a:solidFill>
          <a:ln w="15875">
            <a:solidFill>
              <a:srgbClr val="8A6A1E"/>
            </a:solidFill>
          </a:ln>
        </p:spPr>
        <p:txBody>
          <a:bodyPr rtlCol="0" anchor="ctr"/>
          <a:lstStyle/>
          <a:p/>
        </p:txBody>
      </p:sp>
      <p:sp>
        <p:nvSpPr>
          <p:cNvPr id="1378" name="p12t_le"/>
          <p:cNvSpPr/>
          <p:nvPr/>
        </p:nvSpPr>
        <p:spPr>
          <a:xfrm>
            <a:off x="584200" y="4129532"/>
            <a:ext cx="44450" cy="1306576"/>
          </a:xfrm>
          <a:prstGeom prst="rect">
            <a:avLst/>
          </a:prstGeom>
          <a:gradFill rotWithShape="1">
            <a:gsLst>
              <a:gs pos="0">
                <a:srgbClr val="8A6A1E"/>
              </a:gs>
              <a:gs pos="100000">
                <a:srgbClr val="8A6A1E">
                  <a:alpha val="0"/>
                </a:srgbClr>
              </a:gs>
            </a:gsLst>
            <a:lin ang="5400000" scaled="1"/>
          </a:gradFill>
          <a:ln>
            <a:noFill/>
          </a:ln>
        </p:spPr>
        <p:txBody>
          <a:bodyPr rtlCol="0" anchor="ctr"/>
          <a:lstStyle/>
          <a:p/>
        </p:txBody>
      </p:sp>
      <p:sp>
        <p:nvSpPr>
          <p:cNvPr id="1379" name="p12t_b"/>
          <p:cNvSpPr txBox="1"/>
          <p:nvPr/>
        </p:nvSpPr>
        <p:spPr>
          <a:xfrm>
            <a:off x="711200" y="4129532"/>
            <a:ext cx="7264400" cy="1230376"/>
          </a:xfrm>
          <a:prstGeom prst="rect">
            <a:avLst/>
          </a:prstGeom>
        </p:spPr>
        <p:txBody>
          <a:bodyPr wrap="square" lIns="0" rIns="0" tIns="0" bIns="0"/>
          <a:lstStyle/>
          <a:p>
            <a:pPr algn="l" lvl="0"/>
            <a:r>
              <a:rPr lang="zh-CN" sz="1600">
                <a:solidFill>
                  <a:srgbClr val="2E4438"/>
                </a:solidFill>
                <a:latin typeface="楷体"/>
                <a:ea typeface="楷体"/>
              </a:rPr>
              <a:t>“共抓大保护，不搞大开发”：长江经济带优良水质比例从 67% 提升到</a:t>
            </a:r>
          </a:p>
          <a:p>
            <a:pPr algn="l" lvl="0"/>
            <a:r>
              <a:rPr lang="zh-CN" sz="1600">
                <a:solidFill>
                  <a:srgbClr val="2E4438"/>
                </a:solidFill>
                <a:latin typeface="楷体"/>
                <a:ea typeface="楷体"/>
              </a:rPr>
              <a:t> 96.5%。</a:t>
            </a:r>
          </a:p>
          <a:p>
            <a:pPr algn="l" lvl="0"/>
            <a:r>
              <a:rPr lang="zh-CN" sz="1600">
                <a:solidFill>
                  <a:srgbClr val="2E4438"/>
                </a:solidFill>
                <a:latin typeface="楷体"/>
                <a:ea typeface="楷体"/>
              </a:rPr>
              <a:t>“让黄河成为造福人民的幸福河”：一体推进山水林田湖草沙保护和治</a:t>
            </a:r>
          </a:p>
          <a:p>
            <a:pPr algn="l" lvl="0"/>
            <a:r>
              <a:rPr lang="zh-CN" sz="1600">
                <a:solidFill>
                  <a:srgbClr val="2E4438"/>
                </a:solidFill>
                <a:latin typeface="楷体"/>
                <a:ea typeface="楷体"/>
              </a:rPr>
              <a:t>理，筑牢生态屏障。</a:t>
            </a:r>
          </a:p>
        </p:txBody>
      </p:sp>
      <p:sp>
        <p:nvSpPr>
          <p:cNvPr id="1380" name="sn"/>
          <p:cNvSpPr txBox="1"/>
          <p:nvPr/>
        </p:nvSpPr>
        <p:spPr>
          <a:xfrm>
            <a:off x="558800" y="5728208"/>
            <a:ext cx="7569200" cy="325120"/>
          </a:xfrm>
          <a:prstGeom prst="rect">
            <a:avLst/>
          </a:prstGeom>
        </p:spPr>
        <p:txBody>
          <a:bodyPr wrap="square" lIns="0" rIns="0" tIns="0" bIns="0"/>
          <a:lstStyle/>
          <a:p>
            <a:pPr algn="l" lvl="0"/>
            <a:r>
              <a:rPr lang="zh-CN" sz="1400">
                <a:solidFill>
                  <a:srgbClr val="A9C0AE"/>
                </a:solidFill>
                <a:latin typeface="楷体"/>
                <a:ea typeface="楷体"/>
              </a:rPr>
              <a:t>图片来源：人民日报</a:t>
            </a:r>
          </a:p>
        </p:txBody>
      </p:sp>
    </p:spTree>
  </p:cSld>
  <p:clrMapOvr>
    <a:masterClrMapping/>
  </p:clrMapOvr>
  <p:transition xmlns:p="http://schemas.openxmlformats.org/presentationml/2006/mai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381"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382" name="hd_secbar"/>
          <p:cNvSpPr/>
          <p:nvPr/>
        </p:nvSpPr>
        <p:spPr>
          <a:xfrm>
            <a:off x="609600" y="317500"/>
            <a:ext cx="44450" cy="228600"/>
          </a:xfrm>
          <a:prstGeom prst="rect">
            <a:avLst/>
          </a:prstGeom>
          <a:gradFill rotWithShape="1">
            <a:gsLst>
              <a:gs pos="0">
                <a:srgbClr val="1F6383"/>
              </a:gs>
              <a:gs pos="100000">
                <a:srgbClr val="6FC7E8">
                  <a:alpha val="100000"/>
                </a:srgbClr>
              </a:gs>
            </a:gsLst>
            <a:lin ang="5400000" scaled="1"/>
          </a:gradFill>
          <a:ln>
            <a:noFill/>
          </a:ln>
        </p:spPr>
        <p:txBody>
          <a:bodyPr rtlCol="0" anchor="ctr"/>
          <a:lstStyle/>
          <a:p/>
        </p:txBody>
      </p:sp>
      <p:sp>
        <p:nvSpPr>
          <p:cNvPr id="1383" name="hd_sec"/>
          <p:cNvSpPr txBox="1"/>
          <p:nvPr/>
        </p:nvSpPr>
        <p:spPr>
          <a:xfrm>
            <a:off x="736600" y="317500"/>
            <a:ext cx="3476600" cy="228600"/>
          </a:xfrm>
          <a:prstGeom prst="rect">
            <a:avLst/>
          </a:prstGeom>
        </p:spPr>
        <p:txBody>
          <a:bodyPr wrap="square" lIns="0" rIns="0" tIns="0" bIns="0"/>
          <a:lstStyle/>
          <a:p>
            <a:pPr algn="l" lvl="0"/>
            <a:r>
              <a:rPr lang="zh-CN" sz="1400" b="1">
                <a:solidFill>
                  <a:srgbClr val="1F6383"/>
                </a:solidFill>
                <a:latin typeface="黑体"/>
                <a:ea typeface="黑体"/>
              </a:rPr>
              <a:t>子任务二 · 撰写解说——解码新成就</a:t>
            </a:r>
          </a:p>
        </p:txBody>
      </p:sp>
      <p:sp>
        <p:nvSpPr>
          <p:cNvPr id="1384"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子任务二 · 撰写解说——解码新成就</a:t>
            </a:r>
          </a:p>
        </p:txBody>
      </p:sp>
      <p:sp>
        <p:nvSpPr>
          <p:cNvPr id="1385" name="hd_rule2"/>
          <p:cNvSpPr/>
          <p:nvPr/>
        </p:nvSpPr>
        <p:spPr>
          <a:xfrm>
            <a:off x="558800" y="1143000"/>
            <a:ext cx="1625600" cy="44450"/>
          </a:xfrm>
          <a:prstGeom prst="rect">
            <a:avLst/>
          </a:prstGeom>
          <a:gradFill rotWithShape="1">
            <a:gsLst>
              <a:gs pos="0">
                <a:srgbClr val="1F6383"/>
              </a:gs>
              <a:gs pos="100000">
                <a:srgbClr val="6FC7E8">
                  <a:alpha val="100000"/>
                </a:srgbClr>
              </a:gs>
            </a:gsLst>
            <a:lin ang="0" scaled="1"/>
          </a:gradFill>
          <a:ln>
            <a:noFill/>
          </a:ln>
        </p:spPr>
        <p:txBody>
          <a:bodyPr rtlCol="0" anchor="ctr"/>
          <a:lstStyle/>
          <a:p/>
        </p:txBody>
      </p:sp>
      <p:sp>
        <p:nvSpPr>
          <p:cNvPr id="1386" name="hd_rule"/>
          <p:cNvSpPr/>
          <p:nvPr/>
        </p:nvSpPr>
        <p:spPr>
          <a:xfrm>
            <a:off x="2260600" y="1158240"/>
            <a:ext cx="5867400" cy="19050"/>
          </a:xfrm>
          <a:prstGeom prst="rect">
            <a:avLst/>
          </a:prstGeom>
          <a:solidFill>
            <a:srgbClr val="6FC7E8">
              <a:alpha val="40000"/>
            </a:srgbClr>
          </a:solidFill>
          <a:ln>
            <a:noFill/>
          </a:ln>
        </p:spPr>
        <p:txBody>
          <a:bodyPr rtlCol="0" anchor="ctr"/>
          <a:lstStyle/>
          <a:p/>
        </p:txBody>
      </p:sp>
      <p:cxnSp>
        <p:nvCxnSpPr>
          <p:cNvPr id="1387" name="rb_rule"/>
          <p:cNvCxnSpPr/>
          <p:nvPr/>
        </p:nvCxnSpPr>
        <p:spPr>
          <a:xfrm>
            <a:off x="8280400" y="1422400"/>
            <a:ext cx="0" cy="4267200"/>
          </a:xfrm>
          <a:prstGeom prst="straightConnector1">
            <a:avLst/>
          </a:prstGeom>
          <a:ln w="19050">
            <a:solidFill>
              <a:srgbClr val="7E9A85"/>
            </a:solidFill>
          </a:ln>
        </p:spPr>
      </p:cxnSp>
      <p:sp>
        <p:nvSpPr>
          <p:cNvPr id="1388" name="rb_chip_a"/>
          <p:cNvSpPr/>
          <p:nvPr/>
        </p:nvSpPr>
        <p:spPr>
          <a:xfrm>
            <a:off x="8229600" y="1219200"/>
            <a:ext cx="152400" cy="152400"/>
          </a:xfrm>
          <a:prstGeom prst="rect">
            <a:avLst/>
          </a:prstGeom>
          <a:gradFill rotWithShape="1">
            <a:gsLst>
              <a:gs pos="0">
                <a:srgbClr val="6FC7E8"/>
              </a:gs>
              <a:gs pos="100000">
                <a:srgbClr val="1F6383">
                  <a:alpha val="100000"/>
                </a:srgbClr>
              </a:gs>
            </a:gsLst>
            <a:lin ang="8100000" scaled="1"/>
          </a:gradFill>
          <a:ln>
            <a:noFill/>
          </a:ln>
        </p:spPr>
        <p:txBody>
          <a:bodyPr rtlCol="0" anchor="ctr"/>
          <a:lstStyle/>
          <a:p/>
        </p:txBody>
      </p:sp>
      <p:sp>
        <p:nvSpPr>
          <p:cNvPr id="1389" name="rb_chip_b"/>
          <p:cNvSpPr/>
          <p:nvPr/>
        </p:nvSpPr>
        <p:spPr>
          <a:xfrm>
            <a:off x="8280400" y="1193800"/>
            <a:ext cx="101600" cy="101600"/>
          </a:xfrm>
          <a:prstGeom prst="rect">
            <a:avLst/>
          </a:prstGeom>
          <a:solidFill>
            <a:srgbClr val="1F6383"/>
          </a:solidFill>
          <a:ln>
            <a:noFill/>
          </a:ln>
        </p:spPr>
        <p:txBody>
          <a:bodyPr rtlCol="0" anchor="ctr"/>
          <a:lstStyle/>
          <a:p/>
        </p:txBody>
      </p:sp>
      <p:sp>
        <p:nvSpPr>
          <p:cNvPr id="1390"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391"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392" name="rb_tagrule"/>
          <p:cNvCxnSpPr/>
          <p:nvPr/>
        </p:nvCxnSpPr>
        <p:spPr>
          <a:xfrm>
            <a:off x="11226800" y="2260600"/>
            <a:ext cx="482600" cy="0"/>
          </a:xfrm>
          <a:prstGeom prst="straightConnector1">
            <a:avLst/>
          </a:prstGeom>
          <a:ln w="12700">
            <a:solidFill>
              <a:srgbClr val="7E9A85"/>
            </a:solidFill>
          </a:ln>
        </p:spPr>
      </p:cxnSp>
      <p:sp>
        <p:nvSpPr>
          <p:cNvPr id="1393"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6FC7E8"/>
                </a:solidFill>
                <a:latin typeface="黑体"/>
                <a:ea typeface="黑体"/>
              </a:rPr>
              <a:t>13 / 42</a:t>
            </a:r>
          </a:p>
        </p:txBody>
      </p:sp>
      <p:sp>
        <p:nvSpPr>
          <p:cNvPr id="1394" name="p13q_sh"/>
          <p:cNvSpPr/>
          <p:nvPr/>
        </p:nvSpPr>
        <p:spPr>
          <a:xfrm>
            <a:off x="584200" y="13716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395" name="p13q"/>
          <p:cNvSpPr/>
          <p:nvPr/>
        </p:nvSpPr>
        <p:spPr>
          <a:xfrm>
            <a:off x="558800" y="1320800"/>
            <a:ext cx="7569200" cy="654812"/>
          </a:xfrm>
          <a:prstGeom prst="roundRect">
            <a:avLst>
              <a:gd name="adj" fmla="val 8000"/>
            </a:avLst>
          </a:prstGeom>
          <a:solidFill>
            <a:srgbClr val="E9EFE9"/>
          </a:solidFill>
          <a:ln w="15875">
            <a:solidFill>
              <a:srgbClr val="1F6383"/>
            </a:solidFill>
          </a:ln>
        </p:spPr>
        <p:txBody>
          <a:bodyPr rtlCol="0" anchor="ctr"/>
          <a:lstStyle/>
          <a:p/>
        </p:txBody>
      </p:sp>
      <p:sp>
        <p:nvSpPr>
          <p:cNvPr id="1396" name="p13q_cap"/>
          <p:cNvSpPr/>
          <p:nvPr/>
        </p:nvSpPr>
        <p:spPr>
          <a:xfrm>
            <a:off x="647700" y="1397000"/>
            <a:ext cx="50800" cy="502412"/>
          </a:xfrm>
          <a:prstGeom prst="rect">
            <a:avLst/>
          </a:prstGeom>
          <a:gradFill rotWithShape="1">
            <a:gsLst>
              <a:gs pos="0">
                <a:srgbClr val="1F6383"/>
              </a:gs>
              <a:gs pos="100000">
                <a:srgbClr val="1F6383">
                  <a:alpha val="10000"/>
                </a:srgbClr>
              </a:gs>
            </a:gsLst>
            <a:lin ang="5400000" scaled="1"/>
          </a:gradFill>
          <a:ln>
            <a:noFill/>
          </a:ln>
        </p:spPr>
        <p:txBody>
          <a:bodyPr rtlCol="0" anchor="ctr"/>
          <a:lstStyle/>
          <a:p/>
        </p:txBody>
      </p:sp>
      <p:sp>
        <p:nvSpPr>
          <p:cNvPr id="1397" name="p13q_t"/>
          <p:cNvSpPr txBox="1"/>
          <p:nvPr/>
        </p:nvSpPr>
        <p:spPr>
          <a:xfrm>
            <a:off x="711200" y="1409700"/>
            <a:ext cx="7264400" cy="477012"/>
          </a:xfrm>
          <a:prstGeom prst="rect">
            <a:avLst/>
          </a:prstGeom>
        </p:spPr>
        <p:txBody>
          <a:bodyPr wrap="square" lIns="0" rIns="0" tIns="0" bIns="0"/>
          <a:lstStyle/>
          <a:p>
            <a:pPr algn="l" lvl="0"/>
            <a:r>
              <a:rPr lang="zh-CN" sz="1800" b="1">
                <a:solidFill>
                  <a:srgbClr val="1D2B23"/>
                </a:solidFill>
                <a:latin typeface="黑体"/>
                <a:ea typeface="黑体"/>
              </a:rPr>
              <a:t>结合所学知识，分析新时代党和国家事业取得辉煌成就的原因。</a:t>
            </a:r>
          </a:p>
        </p:txBody>
      </p:sp>
      <p:sp>
        <p:nvSpPr>
          <p:cNvPr id="1398" name="p13b0_sh"/>
          <p:cNvSpPr/>
          <p:nvPr/>
        </p:nvSpPr>
        <p:spPr>
          <a:xfrm>
            <a:off x="584200" y="2305812"/>
            <a:ext cx="7518400" cy="1056005"/>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399" name="p13b0"/>
          <p:cNvSpPr/>
          <p:nvPr/>
        </p:nvSpPr>
        <p:spPr>
          <a:xfrm>
            <a:off x="558800" y="2255012"/>
            <a:ext cx="7569200" cy="1056005"/>
          </a:xfrm>
          <a:prstGeom prst="roundRect">
            <a:avLst>
              <a:gd name="adj" fmla="val 8000"/>
            </a:avLst>
          </a:prstGeom>
          <a:solidFill>
            <a:srgbClr val="E9EFE9"/>
          </a:solidFill>
          <a:ln w="15875">
            <a:solidFill>
              <a:srgbClr val="1F6383"/>
            </a:solidFill>
          </a:ln>
        </p:spPr>
        <p:txBody>
          <a:bodyPr rtlCol="0" anchor="ctr"/>
          <a:lstStyle/>
          <a:p/>
        </p:txBody>
      </p:sp>
      <p:sp>
        <p:nvSpPr>
          <p:cNvPr id="1400" name="p13b0_n"/>
          <p:cNvSpPr/>
          <p:nvPr/>
        </p:nvSpPr>
        <p:spPr>
          <a:xfrm>
            <a:off x="685800" y="2369312"/>
            <a:ext cx="381000" cy="381000"/>
          </a:xfrm>
          <a:prstGeom prst="roundRect">
            <a:avLst>
              <a:gd name="adj" fmla="val 8000"/>
            </a:avLst>
          </a:prstGeom>
          <a:gradFill rotWithShape="1">
            <a:gsLst>
              <a:gs pos="0">
                <a:srgbClr val="1F6383"/>
              </a:gs>
              <a:gs pos="100000">
                <a:srgbClr val="1F6383">
                  <a:alpha val="55000"/>
                </a:srgbClr>
              </a:gs>
            </a:gsLst>
            <a:lin ang="8100000" scaled="1"/>
          </a:gradFill>
          <a:ln>
            <a:noFill/>
          </a:ln>
        </p:spPr>
        <p:txBody>
          <a:bodyPr rtlCol="0" anchor="ctr"/>
          <a:lstStyle/>
          <a:p/>
        </p:txBody>
      </p:sp>
      <p:sp>
        <p:nvSpPr>
          <p:cNvPr id="1401" name="p13b0_nt"/>
          <p:cNvSpPr txBox="1"/>
          <p:nvPr/>
        </p:nvSpPr>
        <p:spPr>
          <a:xfrm>
            <a:off x="685800" y="2432812"/>
            <a:ext cx="381000" cy="254000"/>
          </a:xfrm>
          <a:prstGeom prst="rect">
            <a:avLst/>
          </a:prstGeom>
        </p:spPr>
        <p:txBody>
          <a:bodyPr wrap="square" lIns="0" rIns="0" tIns="0" bIns="0"/>
          <a:lstStyle/>
          <a:p>
            <a:pPr algn="ctr" lvl="0"/>
            <a:r>
              <a:rPr lang="zh-CN" sz="1400" b="1">
                <a:solidFill>
                  <a:srgbClr val="1D2B23"/>
                </a:solidFill>
                <a:latin typeface="黑体"/>
                <a:ea typeface="黑体"/>
              </a:rPr>
              <a:t>01</a:t>
            </a:r>
          </a:p>
        </p:txBody>
      </p:sp>
      <p:sp>
        <p:nvSpPr>
          <p:cNvPr id="1402" name="p13b0_t"/>
          <p:cNvSpPr txBox="1"/>
          <p:nvPr/>
        </p:nvSpPr>
        <p:spPr>
          <a:xfrm>
            <a:off x="1193800" y="2356612"/>
            <a:ext cx="6781800" cy="389255"/>
          </a:xfrm>
          <a:prstGeom prst="rect">
            <a:avLst/>
          </a:prstGeom>
        </p:spPr>
        <p:txBody>
          <a:bodyPr wrap="square" lIns="0" rIns="0" tIns="0" bIns="0"/>
          <a:lstStyle/>
          <a:p>
            <a:pPr algn="l" lvl="0"/>
            <a:r>
              <a:rPr lang="zh-CN" sz="1700" b="1">
                <a:solidFill>
                  <a:srgbClr val="1D2B23"/>
                </a:solidFill>
                <a:latin typeface="黑体"/>
                <a:ea typeface="黑体"/>
              </a:rPr>
              <a:t>先看现象</a:t>
            </a:r>
          </a:p>
        </p:txBody>
      </p:sp>
      <p:sp>
        <p:nvSpPr>
          <p:cNvPr id="1403" name="p13b0_b"/>
          <p:cNvSpPr txBox="1"/>
          <p:nvPr/>
        </p:nvSpPr>
        <p:spPr>
          <a:xfrm>
            <a:off x="1193800" y="2796667"/>
            <a:ext cx="6781800" cy="361950"/>
          </a:xfrm>
          <a:prstGeom prst="rect">
            <a:avLst/>
          </a:prstGeom>
        </p:spPr>
        <p:txBody>
          <a:bodyPr wrap="square" lIns="0" rIns="0" tIns="0" bIns="0"/>
          <a:lstStyle/>
          <a:p>
            <a:pPr algn="l" lvl="0"/>
            <a:r>
              <a:rPr lang="zh-CN" sz="1500">
                <a:solidFill>
                  <a:srgbClr val="2E4438"/>
                </a:solidFill>
                <a:latin typeface="楷体"/>
                <a:ea typeface="楷体"/>
              </a:rPr>
              <a:t>把成就摆出来，看清它到底变在哪里。</a:t>
            </a:r>
          </a:p>
        </p:txBody>
      </p:sp>
      <p:sp>
        <p:nvSpPr>
          <p:cNvPr id="1404" name="p13b1_sh"/>
          <p:cNvSpPr/>
          <p:nvPr/>
        </p:nvSpPr>
        <p:spPr>
          <a:xfrm>
            <a:off x="584200" y="3463417"/>
            <a:ext cx="7518400" cy="1056005"/>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405" name="p13b1"/>
          <p:cNvSpPr/>
          <p:nvPr/>
        </p:nvSpPr>
        <p:spPr>
          <a:xfrm>
            <a:off x="558800" y="3412617"/>
            <a:ext cx="7569200" cy="1056005"/>
          </a:xfrm>
          <a:prstGeom prst="roundRect">
            <a:avLst>
              <a:gd name="adj" fmla="val 8000"/>
            </a:avLst>
          </a:prstGeom>
          <a:solidFill>
            <a:srgbClr val="E9EFE9"/>
          </a:solidFill>
          <a:ln w="15875">
            <a:solidFill>
              <a:srgbClr val="1F6383"/>
            </a:solidFill>
          </a:ln>
        </p:spPr>
        <p:txBody>
          <a:bodyPr rtlCol="0" anchor="ctr"/>
          <a:lstStyle/>
          <a:p/>
        </p:txBody>
      </p:sp>
      <p:sp>
        <p:nvSpPr>
          <p:cNvPr id="1406" name="p13b1_n"/>
          <p:cNvSpPr/>
          <p:nvPr/>
        </p:nvSpPr>
        <p:spPr>
          <a:xfrm>
            <a:off x="685800" y="3526917"/>
            <a:ext cx="381000" cy="381000"/>
          </a:xfrm>
          <a:prstGeom prst="roundRect">
            <a:avLst>
              <a:gd name="adj" fmla="val 8000"/>
            </a:avLst>
          </a:prstGeom>
          <a:gradFill rotWithShape="1">
            <a:gsLst>
              <a:gs pos="0">
                <a:srgbClr val="1F6383"/>
              </a:gs>
              <a:gs pos="100000">
                <a:srgbClr val="1F6383">
                  <a:alpha val="55000"/>
                </a:srgbClr>
              </a:gs>
            </a:gsLst>
            <a:lin ang="8100000" scaled="1"/>
          </a:gradFill>
          <a:ln>
            <a:noFill/>
          </a:ln>
        </p:spPr>
        <p:txBody>
          <a:bodyPr rtlCol="0" anchor="ctr"/>
          <a:lstStyle/>
          <a:p/>
        </p:txBody>
      </p:sp>
      <p:sp>
        <p:nvSpPr>
          <p:cNvPr id="1407" name="p13b1_nt"/>
          <p:cNvSpPr txBox="1"/>
          <p:nvPr/>
        </p:nvSpPr>
        <p:spPr>
          <a:xfrm>
            <a:off x="685800" y="3590417"/>
            <a:ext cx="381000" cy="254000"/>
          </a:xfrm>
          <a:prstGeom prst="rect">
            <a:avLst/>
          </a:prstGeom>
        </p:spPr>
        <p:txBody>
          <a:bodyPr wrap="square" lIns="0" rIns="0" tIns="0" bIns="0"/>
          <a:lstStyle/>
          <a:p>
            <a:pPr algn="ctr" lvl="0"/>
            <a:r>
              <a:rPr lang="zh-CN" sz="1400" b="1">
                <a:solidFill>
                  <a:srgbClr val="1D2B23"/>
                </a:solidFill>
                <a:latin typeface="黑体"/>
                <a:ea typeface="黑体"/>
              </a:rPr>
              <a:t>02</a:t>
            </a:r>
          </a:p>
        </p:txBody>
      </p:sp>
      <p:sp>
        <p:nvSpPr>
          <p:cNvPr id="1408" name="p13b1_t"/>
          <p:cNvSpPr txBox="1"/>
          <p:nvPr/>
        </p:nvSpPr>
        <p:spPr>
          <a:xfrm>
            <a:off x="1193800" y="3514217"/>
            <a:ext cx="6781800" cy="389255"/>
          </a:xfrm>
          <a:prstGeom prst="rect">
            <a:avLst/>
          </a:prstGeom>
        </p:spPr>
        <p:txBody>
          <a:bodyPr wrap="square" lIns="0" rIns="0" tIns="0" bIns="0"/>
          <a:lstStyle/>
          <a:p>
            <a:pPr algn="l" lvl="0"/>
            <a:r>
              <a:rPr lang="zh-CN" sz="1700" b="1">
                <a:solidFill>
                  <a:srgbClr val="1D2B23"/>
                </a:solidFill>
                <a:latin typeface="黑体"/>
                <a:ea typeface="黑体"/>
              </a:rPr>
              <a:t>再用工具</a:t>
            </a:r>
          </a:p>
        </p:txBody>
      </p:sp>
      <p:sp>
        <p:nvSpPr>
          <p:cNvPr id="1409" name="p13b1_b"/>
          <p:cNvSpPr txBox="1"/>
          <p:nvPr/>
        </p:nvSpPr>
        <p:spPr>
          <a:xfrm>
            <a:off x="1193800" y="3954272"/>
            <a:ext cx="6781800" cy="361950"/>
          </a:xfrm>
          <a:prstGeom prst="rect">
            <a:avLst/>
          </a:prstGeom>
        </p:spPr>
        <p:txBody>
          <a:bodyPr wrap="square" lIns="0" rIns="0" tIns="0" bIns="0"/>
          <a:lstStyle/>
          <a:p>
            <a:pPr algn="l" lvl="0"/>
            <a:r>
              <a:rPr lang="zh-CN" sz="1500">
                <a:solidFill>
                  <a:srgbClr val="2E4438"/>
                </a:solidFill>
                <a:latin typeface="楷体"/>
                <a:ea typeface="楷体"/>
              </a:rPr>
              <a:t>用“四步解码法”把原因一层层问出来。</a:t>
            </a:r>
          </a:p>
        </p:txBody>
      </p:sp>
      <p:sp>
        <p:nvSpPr>
          <p:cNvPr id="1410" name="p13b2_sh"/>
          <p:cNvSpPr/>
          <p:nvPr/>
        </p:nvSpPr>
        <p:spPr>
          <a:xfrm>
            <a:off x="584200" y="4621022"/>
            <a:ext cx="7518400" cy="1056005"/>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411" name="p13b2"/>
          <p:cNvSpPr/>
          <p:nvPr/>
        </p:nvSpPr>
        <p:spPr>
          <a:xfrm>
            <a:off x="558800" y="4570222"/>
            <a:ext cx="7569200" cy="1056005"/>
          </a:xfrm>
          <a:prstGeom prst="roundRect">
            <a:avLst>
              <a:gd name="adj" fmla="val 8000"/>
            </a:avLst>
          </a:prstGeom>
          <a:solidFill>
            <a:srgbClr val="E9EFE9"/>
          </a:solidFill>
          <a:ln w="15875">
            <a:solidFill>
              <a:srgbClr val="1F6383"/>
            </a:solidFill>
          </a:ln>
        </p:spPr>
        <p:txBody>
          <a:bodyPr rtlCol="0" anchor="ctr"/>
          <a:lstStyle/>
          <a:p/>
        </p:txBody>
      </p:sp>
      <p:sp>
        <p:nvSpPr>
          <p:cNvPr id="1412" name="p13b2_n"/>
          <p:cNvSpPr/>
          <p:nvPr/>
        </p:nvSpPr>
        <p:spPr>
          <a:xfrm>
            <a:off x="685800" y="4684522"/>
            <a:ext cx="381000" cy="381000"/>
          </a:xfrm>
          <a:prstGeom prst="roundRect">
            <a:avLst>
              <a:gd name="adj" fmla="val 8000"/>
            </a:avLst>
          </a:prstGeom>
          <a:gradFill rotWithShape="1">
            <a:gsLst>
              <a:gs pos="0">
                <a:srgbClr val="1F6383"/>
              </a:gs>
              <a:gs pos="100000">
                <a:srgbClr val="1F6383">
                  <a:alpha val="55000"/>
                </a:srgbClr>
              </a:gs>
            </a:gsLst>
            <a:lin ang="8100000" scaled="1"/>
          </a:gradFill>
          <a:ln>
            <a:noFill/>
          </a:ln>
        </p:spPr>
        <p:txBody>
          <a:bodyPr rtlCol="0" anchor="ctr"/>
          <a:lstStyle/>
          <a:p/>
        </p:txBody>
      </p:sp>
      <p:sp>
        <p:nvSpPr>
          <p:cNvPr id="1413" name="p13b2_nt"/>
          <p:cNvSpPr txBox="1"/>
          <p:nvPr/>
        </p:nvSpPr>
        <p:spPr>
          <a:xfrm>
            <a:off x="685800" y="4748022"/>
            <a:ext cx="381000" cy="254000"/>
          </a:xfrm>
          <a:prstGeom prst="rect">
            <a:avLst/>
          </a:prstGeom>
        </p:spPr>
        <p:txBody>
          <a:bodyPr wrap="square" lIns="0" rIns="0" tIns="0" bIns="0"/>
          <a:lstStyle/>
          <a:p>
            <a:pPr algn="ctr" lvl="0"/>
            <a:r>
              <a:rPr lang="zh-CN" sz="1400" b="1">
                <a:solidFill>
                  <a:srgbClr val="1D2B23"/>
                </a:solidFill>
                <a:latin typeface="黑体"/>
                <a:ea typeface="黑体"/>
              </a:rPr>
              <a:t>03</a:t>
            </a:r>
          </a:p>
        </p:txBody>
      </p:sp>
      <p:sp>
        <p:nvSpPr>
          <p:cNvPr id="1414" name="p13b2_t"/>
          <p:cNvSpPr txBox="1"/>
          <p:nvPr/>
        </p:nvSpPr>
        <p:spPr>
          <a:xfrm>
            <a:off x="1193800" y="4671822"/>
            <a:ext cx="6781800" cy="389255"/>
          </a:xfrm>
          <a:prstGeom prst="rect">
            <a:avLst/>
          </a:prstGeom>
        </p:spPr>
        <p:txBody>
          <a:bodyPr wrap="square" lIns="0" rIns="0" tIns="0" bIns="0"/>
          <a:lstStyle/>
          <a:p>
            <a:pPr algn="l" lvl="0"/>
            <a:r>
              <a:rPr lang="zh-CN" sz="1700" b="1">
                <a:solidFill>
                  <a:srgbClr val="1D2B23"/>
                </a:solidFill>
                <a:latin typeface="黑体"/>
                <a:ea typeface="黑体"/>
              </a:rPr>
              <a:t>写成解说</a:t>
            </a:r>
          </a:p>
        </p:txBody>
      </p:sp>
      <p:sp>
        <p:nvSpPr>
          <p:cNvPr id="1415" name="p13b2_b"/>
          <p:cNvSpPr txBox="1"/>
          <p:nvPr/>
        </p:nvSpPr>
        <p:spPr>
          <a:xfrm>
            <a:off x="1193800" y="5111877"/>
            <a:ext cx="6781800" cy="361950"/>
          </a:xfrm>
          <a:prstGeom prst="rect">
            <a:avLst/>
          </a:prstGeom>
        </p:spPr>
        <p:txBody>
          <a:bodyPr wrap="square" lIns="0" rIns="0" tIns="0" bIns="0"/>
          <a:lstStyle/>
          <a:p>
            <a:pPr algn="l" lvl="0"/>
            <a:r>
              <a:rPr lang="zh-CN" sz="1500">
                <a:solidFill>
                  <a:srgbClr val="2E4438"/>
                </a:solidFill>
                <a:latin typeface="楷体"/>
                <a:ea typeface="楷体"/>
              </a:rPr>
              <a:t>把结论写进展板解说词，让证据自己说话。</a:t>
            </a:r>
          </a:p>
        </p:txBody>
      </p:sp>
    </p:spTree>
  </p:cSld>
  <p:clrMapOvr>
    <a:masterClrMapping/>
  </p:clrMapOvr>
  <p:transition xmlns:p="http://schemas.openxmlformats.org/presentationml/2006/mai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416"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417" name="hd_secbar"/>
          <p:cNvSpPr/>
          <p:nvPr/>
        </p:nvSpPr>
        <p:spPr>
          <a:xfrm>
            <a:off x="609600" y="317500"/>
            <a:ext cx="44450" cy="228600"/>
          </a:xfrm>
          <a:prstGeom prst="rect">
            <a:avLst/>
          </a:prstGeom>
          <a:gradFill rotWithShape="1">
            <a:gsLst>
              <a:gs pos="0">
                <a:srgbClr val="1F6383"/>
              </a:gs>
              <a:gs pos="100000">
                <a:srgbClr val="6FC7E8">
                  <a:alpha val="100000"/>
                </a:srgbClr>
              </a:gs>
            </a:gsLst>
            <a:lin ang="5400000" scaled="1"/>
          </a:gradFill>
          <a:ln>
            <a:noFill/>
          </a:ln>
        </p:spPr>
        <p:txBody>
          <a:bodyPr rtlCol="0" anchor="ctr"/>
          <a:lstStyle/>
          <a:p/>
        </p:txBody>
      </p:sp>
      <p:sp>
        <p:nvSpPr>
          <p:cNvPr id="1418" name="hd_sec"/>
          <p:cNvSpPr txBox="1"/>
          <p:nvPr/>
        </p:nvSpPr>
        <p:spPr>
          <a:xfrm>
            <a:off x="736600" y="317500"/>
            <a:ext cx="3476600" cy="228600"/>
          </a:xfrm>
          <a:prstGeom prst="rect">
            <a:avLst/>
          </a:prstGeom>
        </p:spPr>
        <p:txBody>
          <a:bodyPr wrap="square" lIns="0" rIns="0" tIns="0" bIns="0"/>
          <a:lstStyle/>
          <a:p>
            <a:pPr algn="l" lvl="0"/>
            <a:r>
              <a:rPr lang="zh-CN" sz="1400" b="1">
                <a:solidFill>
                  <a:srgbClr val="1F6383"/>
                </a:solidFill>
                <a:latin typeface="黑体"/>
                <a:ea typeface="黑体"/>
              </a:rPr>
              <a:t>子任务二 · 撰写解说——解码新成就</a:t>
            </a:r>
          </a:p>
        </p:txBody>
      </p:sp>
      <p:sp>
        <p:nvSpPr>
          <p:cNvPr id="1419"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黄河之变 · 从 226 天到 27 年</a:t>
            </a:r>
          </a:p>
        </p:txBody>
      </p:sp>
      <p:sp>
        <p:nvSpPr>
          <p:cNvPr id="1420" name="hd_rule2"/>
          <p:cNvSpPr/>
          <p:nvPr/>
        </p:nvSpPr>
        <p:spPr>
          <a:xfrm>
            <a:off x="558800" y="1143000"/>
            <a:ext cx="1625600" cy="44450"/>
          </a:xfrm>
          <a:prstGeom prst="rect">
            <a:avLst/>
          </a:prstGeom>
          <a:gradFill rotWithShape="1">
            <a:gsLst>
              <a:gs pos="0">
                <a:srgbClr val="1F6383"/>
              </a:gs>
              <a:gs pos="100000">
                <a:srgbClr val="6FC7E8">
                  <a:alpha val="100000"/>
                </a:srgbClr>
              </a:gs>
            </a:gsLst>
            <a:lin ang="0" scaled="1"/>
          </a:gradFill>
          <a:ln>
            <a:noFill/>
          </a:ln>
        </p:spPr>
        <p:txBody>
          <a:bodyPr rtlCol="0" anchor="ctr"/>
          <a:lstStyle/>
          <a:p/>
        </p:txBody>
      </p:sp>
      <p:sp>
        <p:nvSpPr>
          <p:cNvPr id="1421" name="hd_rule"/>
          <p:cNvSpPr/>
          <p:nvPr/>
        </p:nvSpPr>
        <p:spPr>
          <a:xfrm>
            <a:off x="2260600" y="1158240"/>
            <a:ext cx="5867400" cy="19050"/>
          </a:xfrm>
          <a:prstGeom prst="rect">
            <a:avLst/>
          </a:prstGeom>
          <a:solidFill>
            <a:srgbClr val="6FC7E8">
              <a:alpha val="40000"/>
            </a:srgbClr>
          </a:solidFill>
          <a:ln>
            <a:noFill/>
          </a:ln>
        </p:spPr>
        <p:txBody>
          <a:bodyPr rtlCol="0" anchor="ctr"/>
          <a:lstStyle/>
          <a:p/>
        </p:txBody>
      </p:sp>
      <p:cxnSp>
        <p:nvCxnSpPr>
          <p:cNvPr id="1422" name="rb_rule"/>
          <p:cNvCxnSpPr/>
          <p:nvPr/>
        </p:nvCxnSpPr>
        <p:spPr>
          <a:xfrm>
            <a:off x="8280400" y="1422400"/>
            <a:ext cx="0" cy="4267200"/>
          </a:xfrm>
          <a:prstGeom prst="straightConnector1">
            <a:avLst/>
          </a:prstGeom>
          <a:ln w="19050">
            <a:solidFill>
              <a:srgbClr val="7E9A85"/>
            </a:solidFill>
          </a:ln>
        </p:spPr>
      </p:cxnSp>
      <p:sp>
        <p:nvSpPr>
          <p:cNvPr id="1423" name="rb_chip_a"/>
          <p:cNvSpPr/>
          <p:nvPr/>
        </p:nvSpPr>
        <p:spPr>
          <a:xfrm>
            <a:off x="8229600" y="1219200"/>
            <a:ext cx="152400" cy="152400"/>
          </a:xfrm>
          <a:prstGeom prst="rect">
            <a:avLst/>
          </a:prstGeom>
          <a:gradFill rotWithShape="1">
            <a:gsLst>
              <a:gs pos="0">
                <a:srgbClr val="6FC7E8"/>
              </a:gs>
              <a:gs pos="100000">
                <a:srgbClr val="1F6383">
                  <a:alpha val="100000"/>
                </a:srgbClr>
              </a:gs>
            </a:gsLst>
            <a:lin ang="8100000" scaled="1"/>
          </a:gradFill>
          <a:ln>
            <a:noFill/>
          </a:ln>
        </p:spPr>
        <p:txBody>
          <a:bodyPr rtlCol="0" anchor="ctr"/>
          <a:lstStyle/>
          <a:p/>
        </p:txBody>
      </p:sp>
      <p:sp>
        <p:nvSpPr>
          <p:cNvPr id="1424" name="rb_chip_b"/>
          <p:cNvSpPr/>
          <p:nvPr/>
        </p:nvSpPr>
        <p:spPr>
          <a:xfrm>
            <a:off x="8280400" y="1193800"/>
            <a:ext cx="101600" cy="101600"/>
          </a:xfrm>
          <a:prstGeom prst="rect">
            <a:avLst/>
          </a:prstGeom>
          <a:solidFill>
            <a:srgbClr val="1F6383"/>
          </a:solidFill>
          <a:ln>
            <a:noFill/>
          </a:ln>
        </p:spPr>
        <p:txBody>
          <a:bodyPr rtlCol="0" anchor="ctr"/>
          <a:lstStyle/>
          <a:p/>
        </p:txBody>
      </p:sp>
      <p:sp>
        <p:nvSpPr>
          <p:cNvPr id="1425"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426"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427" name="rb_tagrule"/>
          <p:cNvCxnSpPr/>
          <p:nvPr/>
        </p:nvCxnSpPr>
        <p:spPr>
          <a:xfrm>
            <a:off x="11226800" y="2260600"/>
            <a:ext cx="482600" cy="0"/>
          </a:xfrm>
          <a:prstGeom prst="straightConnector1">
            <a:avLst/>
          </a:prstGeom>
          <a:ln w="12700">
            <a:solidFill>
              <a:srgbClr val="7E9A85"/>
            </a:solidFill>
          </a:ln>
        </p:spPr>
      </p:cxnSp>
      <p:sp>
        <p:nvSpPr>
          <p:cNvPr id="1428"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6FC7E8"/>
                </a:solidFill>
                <a:latin typeface="黑体"/>
                <a:ea typeface="黑体"/>
              </a:rPr>
              <a:t>14 / 42</a:t>
            </a:r>
          </a:p>
        </p:txBody>
      </p:sp>
      <p:sp>
        <p:nvSpPr>
          <p:cNvPr id="1429" name="p14tag_sh"/>
          <p:cNvSpPr/>
          <p:nvPr/>
        </p:nvSpPr>
        <p:spPr>
          <a:xfrm>
            <a:off x="584200" y="13208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430" name="p14tag"/>
          <p:cNvSpPr/>
          <p:nvPr/>
        </p:nvSpPr>
        <p:spPr>
          <a:xfrm>
            <a:off x="558800" y="1270000"/>
            <a:ext cx="7569200" cy="654812"/>
          </a:xfrm>
          <a:prstGeom prst="roundRect">
            <a:avLst>
              <a:gd name="adj" fmla="val 8000"/>
            </a:avLst>
          </a:prstGeom>
          <a:solidFill>
            <a:srgbClr val="E9EFE9"/>
          </a:solidFill>
          <a:ln w="15875">
            <a:solidFill>
              <a:srgbClr val="1F6383"/>
            </a:solidFill>
          </a:ln>
        </p:spPr>
        <p:txBody>
          <a:bodyPr rtlCol="0" anchor="ctr"/>
          <a:lstStyle/>
          <a:p/>
        </p:txBody>
      </p:sp>
      <p:sp>
        <p:nvSpPr>
          <p:cNvPr id="1431" name="p14tag_cap"/>
          <p:cNvSpPr/>
          <p:nvPr/>
        </p:nvSpPr>
        <p:spPr>
          <a:xfrm>
            <a:off x="647700" y="1346200"/>
            <a:ext cx="50800" cy="502412"/>
          </a:xfrm>
          <a:prstGeom prst="rect">
            <a:avLst/>
          </a:prstGeom>
          <a:gradFill rotWithShape="1">
            <a:gsLst>
              <a:gs pos="0">
                <a:srgbClr val="1F6383"/>
              </a:gs>
              <a:gs pos="100000">
                <a:srgbClr val="1F6383">
                  <a:alpha val="10000"/>
                </a:srgbClr>
              </a:gs>
            </a:gsLst>
            <a:lin ang="5400000" scaled="1"/>
          </a:gradFill>
          <a:ln>
            <a:noFill/>
          </a:ln>
        </p:spPr>
        <p:txBody>
          <a:bodyPr rtlCol="0" anchor="ctr"/>
          <a:lstStyle/>
          <a:p/>
        </p:txBody>
      </p:sp>
      <p:sp>
        <p:nvSpPr>
          <p:cNvPr id="1432" name="p14tag_t"/>
          <p:cNvSpPr txBox="1"/>
          <p:nvPr/>
        </p:nvSpPr>
        <p:spPr>
          <a:xfrm>
            <a:off x="711200" y="1358900"/>
            <a:ext cx="7264400" cy="477012"/>
          </a:xfrm>
          <a:prstGeom prst="rect">
            <a:avLst/>
          </a:prstGeom>
        </p:spPr>
        <p:txBody>
          <a:bodyPr wrap="square" lIns="0" rIns="0" tIns="0" bIns="0"/>
          <a:lstStyle/>
          <a:p>
            <a:pPr algn="l" lvl="0"/>
            <a:r>
              <a:rPr lang="zh-CN" sz="1800" b="1">
                <a:solidFill>
                  <a:srgbClr val="1D2B23"/>
                </a:solidFill>
                <a:latin typeface="黑体"/>
                <a:ea typeface="黑体"/>
              </a:rPr>
              <a:t>以黄河流域生态保护和高质量发展为例</a:t>
            </a:r>
          </a:p>
        </p:txBody>
      </p:sp>
      <p:sp>
        <p:nvSpPr>
          <p:cNvPr id="1433" name="p14n1_pl"/>
          <p:cNvSpPr/>
          <p:nvPr/>
        </p:nvSpPr>
        <p:spPr>
          <a:xfrm>
            <a:off x="558800" y="2153412"/>
            <a:ext cx="1905000" cy="949960"/>
          </a:xfrm>
          <a:prstGeom prst="roundRect">
            <a:avLst>
              <a:gd name="adj" fmla="val 8000"/>
            </a:avLst>
          </a:prstGeom>
          <a:solidFill>
            <a:srgbClr val="E9EFE9"/>
          </a:solidFill>
          <a:ln w="19050">
            <a:solidFill>
              <a:srgbClr val="1F6383"/>
            </a:solidFill>
          </a:ln>
        </p:spPr>
        <p:txBody>
          <a:bodyPr rtlCol="0" anchor="ctr"/>
          <a:lstStyle/>
          <a:p/>
        </p:txBody>
      </p:sp>
      <p:sp>
        <p:nvSpPr>
          <p:cNvPr id="1434" name="p14n1_t"/>
          <p:cNvSpPr txBox="1"/>
          <p:nvPr/>
        </p:nvSpPr>
        <p:spPr>
          <a:xfrm>
            <a:off x="558800" y="2229612"/>
            <a:ext cx="1905000" cy="396240"/>
          </a:xfrm>
          <a:prstGeom prst="rect">
            <a:avLst/>
          </a:prstGeom>
        </p:spPr>
        <p:txBody>
          <a:bodyPr wrap="square" lIns="0" rIns="0" tIns="0" bIns="0"/>
          <a:lstStyle/>
          <a:p>
            <a:pPr algn="ctr" lvl="0"/>
            <a:r>
              <a:rPr lang="zh-CN" sz="2400" b="1">
                <a:solidFill>
                  <a:srgbClr val="1F6383"/>
                </a:solidFill>
                <a:latin typeface="黑体"/>
                <a:ea typeface="黑体"/>
              </a:rPr>
              <a:t>226 天</a:t>
            </a:r>
          </a:p>
        </p:txBody>
      </p:sp>
      <p:sp>
        <p:nvSpPr>
          <p:cNvPr id="1435" name="p14n1_l"/>
          <p:cNvSpPr txBox="1"/>
          <p:nvPr/>
        </p:nvSpPr>
        <p:spPr>
          <a:xfrm>
            <a:off x="558800" y="2676652"/>
            <a:ext cx="1905000" cy="325120"/>
          </a:xfrm>
          <a:prstGeom prst="rect">
            <a:avLst/>
          </a:prstGeom>
        </p:spPr>
        <p:txBody>
          <a:bodyPr wrap="square" lIns="0" rIns="0" tIns="0" bIns="0"/>
          <a:lstStyle/>
          <a:p>
            <a:pPr algn="ctr" lvl="0"/>
            <a:r>
              <a:rPr lang="zh-CN" sz="1400">
                <a:solidFill>
                  <a:srgbClr val="2E4438"/>
                </a:solidFill>
                <a:latin typeface="楷体"/>
                <a:ea typeface="楷体"/>
              </a:rPr>
              <a:t>1997 年断流天数</a:t>
            </a:r>
          </a:p>
        </p:txBody>
      </p:sp>
      <p:sp>
        <p:nvSpPr>
          <p:cNvPr id="1436" name="p14n2_pl"/>
          <p:cNvSpPr/>
          <p:nvPr/>
        </p:nvSpPr>
        <p:spPr>
          <a:xfrm>
            <a:off x="2616200" y="2153412"/>
            <a:ext cx="1905000" cy="949960"/>
          </a:xfrm>
          <a:prstGeom prst="roundRect">
            <a:avLst>
              <a:gd name="adj" fmla="val 8000"/>
            </a:avLst>
          </a:prstGeom>
          <a:solidFill>
            <a:srgbClr val="E9EFE9"/>
          </a:solidFill>
          <a:ln w="19050">
            <a:solidFill>
              <a:srgbClr val="1F6383"/>
            </a:solidFill>
          </a:ln>
        </p:spPr>
        <p:txBody>
          <a:bodyPr rtlCol="0" anchor="ctr"/>
          <a:lstStyle/>
          <a:p/>
        </p:txBody>
      </p:sp>
      <p:sp>
        <p:nvSpPr>
          <p:cNvPr id="1437" name="p14n2_t"/>
          <p:cNvSpPr txBox="1"/>
          <p:nvPr/>
        </p:nvSpPr>
        <p:spPr>
          <a:xfrm>
            <a:off x="2616200" y="2229612"/>
            <a:ext cx="1905000" cy="396240"/>
          </a:xfrm>
          <a:prstGeom prst="rect">
            <a:avLst/>
          </a:prstGeom>
        </p:spPr>
        <p:txBody>
          <a:bodyPr wrap="square" lIns="0" rIns="0" tIns="0" bIns="0"/>
          <a:lstStyle/>
          <a:p>
            <a:pPr algn="ctr" lvl="0"/>
            <a:r>
              <a:rPr lang="zh-CN" sz="2400" b="1">
                <a:solidFill>
                  <a:srgbClr val="1F6383"/>
                </a:solidFill>
                <a:latin typeface="黑体"/>
                <a:ea typeface="黑体"/>
              </a:rPr>
              <a:t>27 年</a:t>
            </a:r>
          </a:p>
        </p:txBody>
      </p:sp>
      <p:sp>
        <p:nvSpPr>
          <p:cNvPr id="1438" name="p14n2_l"/>
          <p:cNvSpPr txBox="1"/>
          <p:nvPr/>
        </p:nvSpPr>
        <p:spPr>
          <a:xfrm>
            <a:off x="2616200" y="2676652"/>
            <a:ext cx="1905000" cy="325120"/>
          </a:xfrm>
          <a:prstGeom prst="rect">
            <a:avLst/>
          </a:prstGeom>
        </p:spPr>
        <p:txBody>
          <a:bodyPr wrap="square" lIns="0" rIns="0" tIns="0" bIns="0"/>
          <a:lstStyle/>
          <a:p>
            <a:pPr algn="ctr" lvl="0"/>
            <a:r>
              <a:rPr lang="zh-CN" sz="1400">
                <a:solidFill>
                  <a:srgbClr val="2E4438"/>
                </a:solidFill>
                <a:latin typeface="楷体"/>
                <a:ea typeface="楷体"/>
              </a:rPr>
              <a:t>连续不断流</a:t>
            </a:r>
          </a:p>
        </p:txBody>
      </p:sp>
      <p:sp>
        <p:nvSpPr>
          <p:cNvPr id="1439" name="p14t_sh"/>
          <p:cNvSpPr/>
          <p:nvPr/>
        </p:nvSpPr>
        <p:spPr>
          <a:xfrm>
            <a:off x="4749800" y="2204212"/>
            <a:ext cx="3352800" cy="958088"/>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440" name="p14t"/>
          <p:cNvSpPr/>
          <p:nvPr/>
        </p:nvSpPr>
        <p:spPr>
          <a:xfrm>
            <a:off x="4724400" y="2153412"/>
            <a:ext cx="3403600" cy="958088"/>
          </a:xfrm>
          <a:prstGeom prst="roundRect">
            <a:avLst>
              <a:gd name="adj" fmla="val 8000"/>
            </a:avLst>
          </a:prstGeom>
          <a:solidFill>
            <a:srgbClr val="E9EFE9"/>
          </a:solidFill>
          <a:ln w="15875">
            <a:solidFill>
              <a:srgbClr val="1F6383"/>
            </a:solidFill>
          </a:ln>
        </p:spPr>
        <p:txBody>
          <a:bodyPr rtlCol="0" anchor="ctr"/>
          <a:lstStyle/>
          <a:p/>
        </p:txBody>
      </p:sp>
      <p:sp>
        <p:nvSpPr>
          <p:cNvPr id="1441" name="p14t_le"/>
          <p:cNvSpPr/>
          <p:nvPr/>
        </p:nvSpPr>
        <p:spPr>
          <a:xfrm>
            <a:off x="4749800" y="2267712"/>
            <a:ext cx="44450" cy="729488"/>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442" name="p14t_b"/>
          <p:cNvSpPr txBox="1"/>
          <p:nvPr/>
        </p:nvSpPr>
        <p:spPr>
          <a:xfrm>
            <a:off x="4876800" y="2267712"/>
            <a:ext cx="3098800" cy="653288"/>
          </a:xfrm>
          <a:prstGeom prst="rect">
            <a:avLst/>
          </a:prstGeom>
        </p:spPr>
        <p:txBody>
          <a:bodyPr wrap="square" lIns="0" rIns="0" tIns="0" bIns="0"/>
          <a:lstStyle/>
          <a:p>
            <a:pPr algn="l" lvl="0"/>
            <a:r>
              <a:rPr lang="zh-CN" sz="1600">
                <a:solidFill>
                  <a:srgbClr val="2E4438"/>
                </a:solidFill>
                <a:latin typeface="楷体"/>
                <a:ea typeface="楷体"/>
              </a:rPr>
              <a:t>1972—1999 年，28 年间黄</a:t>
            </a:r>
          </a:p>
          <a:p>
            <a:pPr algn="l" lvl="0"/>
            <a:r>
              <a:rPr lang="zh-CN" sz="1600">
                <a:solidFill>
                  <a:srgbClr val="2E4438"/>
                </a:solidFill>
                <a:latin typeface="楷体"/>
                <a:ea typeface="楷体"/>
              </a:rPr>
              <a:t>河有 22 年断流。</a:t>
            </a:r>
          </a:p>
        </p:txBody>
      </p:sp>
      <p:sp>
        <p:nvSpPr>
          <p:cNvPr id="1443" name="p14t2_sh"/>
          <p:cNvSpPr/>
          <p:nvPr/>
        </p:nvSpPr>
        <p:spPr>
          <a:xfrm>
            <a:off x="584200" y="3390900"/>
            <a:ext cx="7518400" cy="958088"/>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444" name="p14t2"/>
          <p:cNvSpPr/>
          <p:nvPr/>
        </p:nvSpPr>
        <p:spPr>
          <a:xfrm>
            <a:off x="558800" y="3340100"/>
            <a:ext cx="7569200" cy="958088"/>
          </a:xfrm>
          <a:prstGeom prst="roundRect">
            <a:avLst>
              <a:gd name="adj" fmla="val 8000"/>
            </a:avLst>
          </a:prstGeom>
          <a:solidFill>
            <a:srgbClr val="E9EFE9"/>
          </a:solidFill>
          <a:ln w="15875">
            <a:solidFill>
              <a:srgbClr val="1F6383"/>
            </a:solidFill>
          </a:ln>
        </p:spPr>
        <p:txBody>
          <a:bodyPr rtlCol="0" anchor="ctr"/>
          <a:lstStyle/>
          <a:p/>
        </p:txBody>
      </p:sp>
      <p:sp>
        <p:nvSpPr>
          <p:cNvPr id="1445" name="p14t2_le"/>
          <p:cNvSpPr/>
          <p:nvPr/>
        </p:nvSpPr>
        <p:spPr>
          <a:xfrm>
            <a:off x="584200" y="3454400"/>
            <a:ext cx="44450" cy="729488"/>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446" name="p14t2_b"/>
          <p:cNvSpPr txBox="1"/>
          <p:nvPr/>
        </p:nvSpPr>
        <p:spPr>
          <a:xfrm>
            <a:off x="711200" y="3454400"/>
            <a:ext cx="7264400" cy="653288"/>
          </a:xfrm>
          <a:prstGeom prst="rect">
            <a:avLst/>
          </a:prstGeom>
        </p:spPr>
        <p:txBody>
          <a:bodyPr wrap="square" lIns="0" rIns="0" tIns="0" bIns="0"/>
          <a:lstStyle/>
          <a:p>
            <a:pPr algn="l" lvl="0"/>
            <a:r>
              <a:rPr lang="zh-CN" sz="1600">
                <a:solidFill>
                  <a:srgbClr val="2E4438"/>
                </a:solidFill>
                <a:latin typeface="楷体"/>
                <a:ea typeface="楷体"/>
              </a:rPr>
              <a:t>今天，黄河已实现自 1999 年以来连续 27 年不断流；干流连续 4 年</a:t>
            </a:r>
          </a:p>
          <a:p>
            <a:pPr algn="l" lvl="0"/>
            <a:r>
              <a:rPr lang="zh-CN" sz="1600">
                <a:solidFill>
                  <a:srgbClr val="2E4438"/>
                </a:solidFill>
                <a:latin typeface="楷体"/>
                <a:ea typeface="楷体"/>
              </a:rPr>
              <a:t>稳定保持 Ⅱ 类水质。</a:t>
            </a:r>
          </a:p>
        </p:txBody>
      </p:sp>
      <p:sp>
        <p:nvSpPr>
          <p:cNvPr id="1447" name="p14q_sh"/>
          <p:cNvSpPr/>
          <p:nvPr/>
        </p:nvSpPr>
        <p:spPr>
          <a:xfrm>
            <a:off x="584200" y="4552188"/>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448" name="p14q"/>
          <p:cNvSpPr/>
          <p:nvPr/>
        </p:nvSpPr>
        <p:spPr>
          <a:xfrm>
            <a:off x="558800" y="4501388"/>
            <a:ext cx="7569200" cy="618744"/>
          </a:xfrm>
          <a:prstGeom prst="roundRect">
            <a:avLst>
              <a:gd name="adj" fmla="val 8000"/>
            </a:avLst>
          </a:prstGeom>
          <a:solidFill>
            <a:srgbClr val="E9EFE9"/>
          </a:solidFill>
          <a:ln w="15875">
            <a:solidFill>
              <a:srgbClr val="1F6383"/>
            </a:solidFill>
          </a:ln>
        </p:spPr>
        <p:txBody>
          <a:bodyPr rtlCol="0" anchor="ctr"/>
          <a:lstStyle/>
          <a:p/>
        </p:txBody>
      </p:sp>
      <p:sp>
        <p:nvSpPr>
          <p:cNvPr id="1449" name="p14q_cap"/>
          <p:cNvSpPr/>
          <p:nvPr/>
        </p:nvSpPr>
        <p:spPr>
          <a:xfrm>
            <a:off x="647700" y="4577588"/>
            <a:ext cx="50800" cy="466344"/>
          </a:xfrm>
          <a:prstGeom prst="rect">
            <a:avLst/>
          </a:prstGeom>
          <a:gradFill rotWithShape="1">
            <a:gsLst>
              <a:gs pos="0">
                <a:srgbClr val="1F6383"/>
              </a:gs>
              <a:gs pos="100000">
                <a:srgbClr val="1F6383">
                  <a:alpha val="10000"/>
                </a:srgbClr>
              </a:gs>
            </a:gsLst>
            <a:lin ang="5400000" scaled="1"/>
          </a:gradFill>
          <a:ln>
            <a:noFill/>
          </a:ln>
        </p:spPr>
        <p:txBody>
          <a:bodyPr rtlCol="0" anchor="ctr"/>
          <a:lstStyle/>
          <a:p/>
        </p:txBody>
      </p:sp>
      <p:sp>
        <p:nvSpPr>
          <p:cNvPr id="1450" name="p14q_t"/>
          <p:cNvSpPr txBox="1"/>
          <p:nvPr/>
        </p:nvSpPr>
        <p:spPr>
          <a:xfrm>
            <a:off x="711200" y="4590288"/>
            <a:ext cx="7264400" cy="440944"/>
          </a:xfrm>
          <a:prstGeom prst="rect">
            <a:avLst/>
          </a:prstGeom>
        </p:spPr>
        <p:txBody>
          <a:bodyPr wrap="square" lIns="0" rIns="0" tIns="0" bIns="0"/>
          <a:lstStyle/>
          <a:p>
            <a:pPr algn="l" lvl="0"/>
            <a:r>
              <a:rPr lang="zh-CN" sz="1600" b="1">
                <a:solidFill>
                  <a:srgbClr val="1D2B23"/>
                </a:solidFill>
                <a:latin typeface="黑体"/>
                <a:ea typeface="黑体"/>
              </a:rPr>
              <a:t>从 226 天断流到连续 27 年不断流，究竟是什么原因导致黄河之变？</a:t>
            </a:r>
          </a:p>
        </p:txBody>
      </p:sp>
    </p:spTree>
  </p:cSld>
  <p:clrMapOvr>
    <a:masterClrMapping/>
  </p:clrMapOvr>
  <p:transition xmlns:p="http://schemas.openxmlformats.org/presentationml/2006/mai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451"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452" name="hd_secbar"/>
          <p:cNvSpPr/>
          <p:nvPr/>
        </p:nvSpPr>
        <p:spPr>
          <a:xfrm>
            <a:off x="609600" y="317500"/>
            <a:ext cx="44450" cy="228600"/>
          </a:xfrm>
          <a:prstGeom prst="rect">
            <a:avLst/>
          </a:prstGeom>
          <a:gradFill rotWithShape="1">
            <a:gsLst>
              <a:gs pos="0">
                <a:srgbClr val="1F6383"/>
              </a:gs>
              <a:gs pos="100000">
                <a:srgbClr val="6FC7E8">
                  <a:alpha val="100000"/>
                </a:srgbClr>
              </a:gs>
            </a:gsLst>
            <a:lin ang="5400000" scaled="1"/>
          </a:gradFill>
          <a:ln>
            <a:noFill/>
          </a:ln>
        </p:spPr>
        <p:txBody>
          <a:bodyPr rtlCol="0" anchor="ctr"/>
          <a:lstStyle/>
          <a:p/>
        </p:txBody>
      </p:sp>
      <p:sp>
        <p:nvSpPr>
          <p:cNvPr id="1453" name="hd_sec"/>
          <p:cNvSpPr txBox="1"/>
          <p:nvPr/>
        </p:nvSpPr>
        <p:spPr>
          <a:xfrm>
            <a:off x="736600" y="317500"/>
            <a:ext cx="3476600" cy="228600"/>
          </a:xfrm>
          <a:prstGeom prst="rect">
            <a:avLst/>
          </a:prstGeom>
        </p:spPr>
        <p:txBody>
          <a:bodyPr wrap="square" lIns="0" rIns="0" tIns="0" bIns="0"/>
          <a:lstStyle/>
          <a:p>
            <a:pPr algn="l" lvl="0"/>
            <a:r>
              <a:rPr lang="zh-CN" sz="1400" b="1">
                <a:solidFill>
                  <a:srgbClr val="1F6383"/>
                </a:solidFill>
                <a:latin typeface="黑体"/>
                <a:ea typeface="黑体"/>
              </a:rPr>
              <a:t>子任务二 · 撰写解说——解码新成就</a:t>
            </a:r>
          </a:p>
        </p:txBody>
      </p:sp>
      <p:sp>
        <p:nvSpPr>
          <p:cNvPr id="1454"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黄河之变 · 五条线索</a:t>
            </a:r>
          </a:p>
        </p:txBody>
      </p:sp>
      <p:sp>
        <p:nvSpPr>
          <p:cNvPr id="1455" name="hd_rule2"/>
          <p:cNvSpPr/>
          <p:nvPr/>
        </p:nvSpPr>
        <p:spPr>
          <a:xfrm>
            <a:off x="558800" y="1143000"/>
            <a:ext cx="1625600" cy="44450"/>
          </a:xfrm>
          <a:prstGeom prst="rect">
            <a:avLst/>
          </a:prstGeom>
          <a:gradFill rotWithShape="1">
            <a:gsLst>
              <a:gs pos="0">
                <a:srgbClr val="1F6383"/>
              </a:gs>
              <a:gs pos="100000">
                <a:srgbClr val="6FC7E8">
                  <a:alpha val="100000"/>
                </a:srgbClr>
              </a:gs>
            </a:gsLst>
            <a:lin ang="0" scaled="1"/>
          </a:gradFill>
          <a:ln>
            <a:noFill/>
          </a:ln>
        </p:spPr>
        <p:txBody>
          <a:bodyPr rtlCol="0" anchor="ctr"/>
          <a:lstStyle/>
          <a:p/>
        </p:txBody>
      </p:sp>
      <p:sp>
        <p:nvSpPr>
          <p:cNvPr id="1456" name="hd_rule"/>
          <p:cNvSpPr/>
          <p:nvPr/>
        </p:nvSpPr>
        <p:spPr>
          <a:xfrm>
            <a:off x="2260600" y="1158240"/>
            <a:ext cx="5867400" cy="19050"/>
          </a:xfrm>
          <a:prstGeom prst="rect">
            <a:avLst/>
          </a:prstGeom>
          <a:solidFill>
            <a:srgbClr val="6FC7E8">
              <a:alpha val="40000"/>
            </a:srgbClr>
          </a:solidFill>
          <a:ln>
            <a:noFill/>
          </a:ln>
        </p:spPr>
        <p:txBody>
          <a:bodyPr rtlCol="0" anchor="ctr"/>
          <a:lstStyle/>
          <a:p/>
        </p:txBody>
      </p:sp>
      <p:cxnSp>
        <p:nvCxnSpPr>
          <p:cNvPr id="1457" name="rb_rule"/>
          <p:cNvCxnSpPr/>
          <p:nvPr/>
        </p:nvCxnSpPr>
        <p:spPr>
          <a:xfrm>
            <a:off x="8280400" y="1422400"/>
            <a:ext cx="0" cy="4267200"/>
          </a:xfrm>
          <a:prstGeom prst="straightConnector1">
            <a:avLst/>
          </a:prstGeom>
          <a:ln w="19050">
            <a:solidFill>
              <a:srgbClr val="7E9A85"/>
            </a:solidFill>
          </a:ln>
        </p:spPr>
      </p:cxnSp>
      <p:sp>
        <p:nvSpPr>
          <p:cNvPr id="1458" name="rb_chip_a"/>
          <p:cNvSpPr/>
          <p:nvPr/>
        </p:nvSpPr>
        <p:spPr>
          <a:xfrm>
            <a:off x="8229600" y="1219200"/>
            <a:ext cx="152400" cy="152400"/>
          </a:xfrm>
          <a:prstGeom prst="rect">
            <a:avLst/>
          </a:prstGeom>
          <a:gradFill rotWithShape="1">
            <a:gsLst>
              <a:gs pos="0">
                <a:srgbClr val="6FC7E8"/>
              </a:gs>
              <a:gs pos="100000">
                <a:srgbClr val="1F6383">
                  <a:alpha val="100000"/>
                </a:srgbClr>
              </a:gs>
            </a:gsLst>
            <a:lin ang="8100000" scaled="1"/>
          </a:gradFill>
          <a:ln>
            <a:noFill/>
          </a:ln>
        </p:spPr>
        <p:txBody>
          <a:bodyPr rtlCol="0" anchor="ctr"/>
          <a:lstStyle/>
          <a:p/>
        </p:txBody>
      </p:sp>
      <p:sp>
        <p:nvSpPr>
          <p:cNvPr id="1459" name="rb_chip_b"/>
          <p:cNvSpPr/>
          <p:nvPr/>
        </p:nvSpPr>
        <p:spPr>
          <a:xfrm>
            <a:off x="8280400" y="1193800"/>
            <a:ext cx="101600" cy="101600"/>
          </a:xfrm>
          <a:prstGeom prst="rect">
            <a:avLst/>
          </a:prstGeom>
          <a:solidFill>
            <a:srgbClr val="1F6383"/>
          </a:solidFill>
          <a:ln>
            <a:noFill/>
          </a:ln>
        </p:spPr>
        <p:txBody>
          <a:bodyPr rtlCol="0" anchor="ctr"/>
          <a:lstStyle/>
          <a:p/>
        </p:txBody>
      </p:sp>
      <p:sp>
        <p:nvSpPr>
          <p:cNvPr id="1460"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461"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462" name="rb_tagrule"/>
          <p:cNvCxnSpPr/>
          <p:nvPr/>
        </p:nvCxnSpPr>
        <p:spPr>
          <a:xfrm>
            <a:off x="11226800" y="2260600"/>
            <a:ext cx="482600" cy="0"/>
          </a:xfrm>
          <a:prstGeom prst="straightConnector1">
            <a:avLst/>
          </a:prstGeom>
          <a:ln w="12700">
            <a:solidFill>
              <a:srgbClr val="7E9A85"/>
            </a:solidFill>
          </a:ln>
        </p:spPr>
      </p:cxnSp>
      <p:sp>
        <p:nvSpPr>
          <p:cNvPr id="1463"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6FC7E8"/>
                </a:solidFill>
                <a:latin typeface="黑体"/>
                <a:ea typeface="黑体"/>
              </a:rPr>
              <a:t>15 / 42</a:t>
            </a:r>
          </a:p>
        </p:txBody>
      </p:sp>
      <p:sp>
        <p:nvSpPr>
          <p:cNvPr id="1464" name="lead_sh"/>
          <p:cNvSpPr/>
          <p:nvPr/>
        </p:nvSpPr>
        <p:spPr>
          <a:xfrm>
            <a:off x="584200" y="1346200"/>
            <a:ext cx="7518400" cy="907288"/>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465" name="lead"/>
          <p:cNvSpPr/>
          <p:nvPr/>
        </p:nvSpPr>
        <p:spPr>
          <a:xfrm>
            <a:off x="558800" y="1295400"/>
            <a:ext cx="7569200" cy="907288"/>
          </a:xfrm>
          <a:prstGeom prst="roundRect">
            <a:avLst>
              <a:gd name="adj" fmla="val 8000"/>
            </a:avLst>
          </a:prstGeom>
          <a:solidFill>
            <a:srgbClr val="E9EFE9"/>
          </a:solidFill>
          <a:ln w="15875">
            <a:solidFill>
              <a:srgbClr val="1F6383"/>
            </a:solidFill>
          </a:ln>
        </p:spPr>
        <p:txBody>
          <a:bodyPr rtlCol="0" anchor="ctr"/>
          <a:lstStyle/>
          <a:p/>
        </p:txBody>
      </p:sp>
      <p:sp>
        <p:nvSpPr>
          <p:cNvPr id="1466" name="lead_cap"/>
          <p:cNvSpPr/>
          <p:nvPr/>
        </p:nvSpPr>
        <p:spPr>
          <a:xfrm>
            <a:off x="647700" y="1371600"/>
            <a:ext cx="50800" cy="754888"/>
          </a:xfrm>
          <a:prstGeom prst="rect">
            <a:avLst/>
          </a:prstGeom>
          <a:gradFill rotWithShape="1">
            <a:gsLst>
              <a:gs pos="0">
                <a:srgbClr val="1F6383"/>
              </a:gs>
              <a:gs pos="100000">
                <a:srgbClr val="1F6383">
                  <a:alpha val="10000"/>
                </a:srgbClr>
              </a:gs>
            </a:gsLst>
            <a:lin ang="5400000" scaled="1"/>
          </a:gradFill>
          <a:ln>
            <a:noFill/>
          </a:ln>
        </p:spPr>
        <p:txBody>
          <a:bodyPr rtlCol="0" anchor="ctr"/>
          <a:lstStyle/>
          <a:p/>
        </p:txBody>
      </p:sp>
      <p:sp>
        <p:nvSpPr>
          <p:cNvPr id="1467" name="lead_t"/>
          <p:cNvSpPr txBox="1"/>
          <p:nvPr/>
        </p:nvSpPr>
        <p:spPr>
          <a:xfrm>
            <a:off x="711200" y="1384300"/>
            <a:ext cx="7264400" cy="729488"/>
          </a:xfrm>
          <a:prstGeom prst="rect">
            <a:avLst/>
          </a:prstGeom>
        </p:spPr>
        <p:txBody>
          <a:bodyPr wrap="square" lIns="0" rIns="0" tIns="0" bIns="0"/>
          <a:lstStyle/>
          <a:p>
            <a:pPr algn="l" lvl="0"/>
            <a:r>
              <a:rPr lang="zh-CN" sz="1600">
                <a:solidFill>
                  <a:srgbClr val="1D2B23"/>
                </a:solidFill>
                <a:latin typeface="楷体"/>
                <a:ea typeface="楷体"/>
              </a:rPr>
              <a:t>带着这个问题，先找五条线索——每一条都是“黄河之变”的一段证据</a:t>
            </a:r>
          </a:p>
          <a:p>
            <a:pPr algn="l" lvl="0"/>
            <a:r>
              <a:rPr lang="zh-CN" sz="1600">
                <a:solidFill>
                  <a:srgbClr val="1D2B23"/>
                </a:solidFill>
                <a:latin typeface="楷体"/>
                <a:ea typeface="楷体"/>
              </a:rPr>
              <a:t>链。</a:t>
            </a:r>
          </a:p>
        </p:txBody>
      </p:sp>
      <p:graphicFrame>
        <p:nvGraphicFramePr>
          <p:cNvPr id="1468" name="p15tbl"/>
          <p:cNvGraphicFramePr/>
          <p:nvPr/>
        </p:nvGraphicFramePr>
        <p:xfrm>
          <a:off x="558800" y="2456688"/>
          <a:ext cx="7569200" cy="2794000"/>
        </p:xfrm>
        <a:graphic>
          <a:graphicData uri="http://schemas.openxmlformats.org/drawingml/2006/table">
            <a:tbl>
              <a:tblPr firstRow="1" bandRow="0">
                <a:tableStyleId>{5C22544A-7EE6-4342-B048-85BDC9FD1C3A}</a:tableStyleId>
              </a:tblPr>
              <a:tblGrid>
                <a:gridCol w="3784600"/>
                <a:gridCol w="3784600"/>
              </a:tblGrid>
              <a:tr h="465666">
                <a:tc>
                  <a:txBody>
                    <a:bodyPr/>
                    <a:lstStyle/>
                    <a:p>
                      <a:r>
                        <a:rPr lang="zh-CN" sz="1400" b="1">
                          <a:solidFill>
                            <a:srgbClr val="1F2937"/>
                          </a:solidFill>
                        </a:rPr>
                        <a:t>线索</a:t>
                      </a:r>
                    </a:p>
                  </a:txBody>
                  <a:tcPr anchor="ctr">
                    <a:lnL>
                      <a:noFill/>
                    </a:lnL>
                    <a:lnR>
                      <a:noFill/>
                    </a:lnR>
                    <a:lnT>
                      <a:noFill/>
                    </a:lnT>
                    <a:lnB>
                      <a:noFill/>
                    </a:lnB>
                    <a:solidFill>
                      <a:srgbClr val="DDEBF7"/>
                    </a:solidFill>
                    <a:marL l="45720" r="45720" t="22860" b="22860"/>
                  </a:tcPr>
                </a:tc>
                <a:tc>
                  <a:txBody>
                    <a:bodyPr/>
                    <a:lstStyle/>
                    <a:p>
                      <a:r>
                        <a:rPr lang="zh-CN" sz="1400" b="1">
                          <a:solidFill>
                            <a:srgbClr val="1F2937"/>
                          </a:solidFill>
                        </a:rPr>
                        <a:t>事实</a:t>
                      </a:r>
                    </a:p>
                  </a:txBody>
                  <a:tcPr anchor="ctr">
                    <a:lnL>
                      <a:noFill/>
                    </a:lnL>
                    <a:lnR>
                      <a:noFill/>
                    </a:lnR>
                    <a:lnT>
                      <a:noFill/>
                    </a:lnT>
                    <a:lnB>
                      <a:noFill/>
                    </a:lnB>
                    <a:solidFill>
                      <a:srgbClr val="DDEBF7"/>
                    </a:solidFill>
                    <a:marL l="45720" r="45720" t="22860" b="22860"/>
                  </a:tcPr>
                </a:tc>
              </a:tr>
              <a:tr h="465666">
                <a:tc>
                  <a:txBody>
                    <a:bodyPr/>
                    <a:lstStyle/>
                    <a:p>
                      <a:r>
                        <a:rPr lang="zh-CN" sz="1400">
                          <a:solidFill>
                            <a:srgbClr val="1F2937"/>
                          </a:solidFill>
                        </a:rPr>
                        <a:t>1. 水量统一调度</a:t>
                      </a:r>
                    </a:p>
                  </a:txBody>
                  <a:tcPr anchor="ctr">
                    <a:lnL>
                      <a:noFill/>
                    </a:lnL>
                    <a:lnR>
                      <a:noFill/>
                    </a:lnR>
                    <a:lnT>
                      <a:noFill/>
                    </a:lnT>
                    <a:lnB>
                      <a:noFill/>
                    </a:lnB>
                    <a:noFill/>
                    <a:marL l="45720" r="45720" t="22860" b="22860"/>
                  </a:tcPr>
                </a:tc>
                <a:tc>
                  <a:txBody>
                    <a:bodyPr/>
                    <a:lstStyle/>
                    <a:p>
                      <a:r>
                        <a:rPr lang="zh-CN" sz="1400">
                          <a:solidFill>
                            <a:srgbClr val="1F2937"/>
                          </a:solidFill>
                        </a:rPr>
                        <a:t>1999 年起实施全河统一调度，统筹分配流域水资源，守住河道生态流量，终结断流。</a:t>
                      </a:r>
                    </a:p>
                  </a:txBody>
                  <a:tcPr anchor="ctr">
                    <a:lnL>
                      <a:noFill/>
                    </a:lnL>
                    <a:lnR>
                      <a:noFill/>
                    </a:lnR>
                    <a:lnT>
                      <a:noFill/>
                    </a:lnT>
                    <a:lnB>
                      <a:noFill/>
                    </a:lnB>
                    <a:noFill/>
                    <a:marL l="45720" r="45720" t="22860" b="22860"/>
                  </a:tcPr>
                </a:tc>
              </a:tr>
              <a:tr h="465666">
                <a:tc>
                  <a:txBody>
                    <a:bodyPr/>
                    <a:lstStyle/>
                    <a:p>
                      <a:r>
                        <a:rPr lang="zh-CN" sz="1400">
                          <a:solidFill>
                            <a:srgbClr val="1F2937"/>
                          </a:solidFill>
                        </a:rPr>
                        <a:t>2. 九省区协同治污</a:t>
                      </a:r>
                    </a:p>
                  </a:txBody>
                  <a:tcPr anchor="ctr">
                    <a:lnL>
                      <a:noFill/>
                    </a:lnL>
                    <a:lnR>
                      <a:noFill/>
                    </a:lnR>
                    <a:lnT>
                      <a:noFill/>
                    </a:lnT>
                    <a:lnB>
                      <a:noFill/>
                    </a:lnB>
                    <a:noFill/>
                    <a:marL l="45720" r="45720" t="22860" b="22860"/>
                  </a:tcPr>
                </a:tc>
                <a:tc>
                  <a:txBody>
                    <a:bodyPr/>
                    <a:lstStyle/>
                    <a:p>
                      <a:r>
                        <a:rPr lang="zh-CN" sz="1400">
                          <a:solidFill>
                            <a:srgbClr val="1F2937"/>
                          </a:solidFill>
                        </a:rPr>
                        <a:t>沿黄九省跨区域联防，上下游协同治理污染，推动流域水质稳步提升。</a:t>
                      </a:r>
                    </a:p>
                  </a:txBody>
                  <a:tcPr anchor="ctr">
                    <a:lnL>
                      <a:noFill/>
                    </a:lnL>
                    <a:lnR>
                      <a:noFill/>
                    </a:lnR>
                    <a:lnT>
                      <a:noFill/>
                    </a:lnT>
                    <a:lnB>
                      <a:noFill/>
                    </a:lnB>
                    <a:noFill/>
                    <a:marL l="45720" r="45720" t="22860" b="22860"/>
                  </a:tcPr>
                </a:tc>
              </a:tr>
              <a:tr h="465666">
                <a:tc>
                  <a:txBody>
                    <a:bodyPr/>
                    <a:lstStyle/>
                    <a:p>
                      <a:r>
                        <a:rPr lang="zh-CN" sz="1400">
                          <a:solidFill>
                            <a:srgbClr val="1F2937"/>
                          </a:solidFill>
                        </a:rPr>
                        <a:t>3. 生态补水</a:t>
                      </a:r>
                    </a:p>
                  </a:txBody>
                  <a:tcPr anchor="ctr">
                    <a:lnL>
                      <a:noFill/>
                    </a:lnL>
                    <a:lnR>
                      <a:noFill/>
                    </a:lnR>
                    <a:lnT>
                      <a:noFill/>
                    </a:lnT>
                    <a:lnB>
                      <a:noFill/>
                    </a:lnB>
                    <a:noFill/>
                    <a:marL l="45720" r="45720" t="22860" b="22860"/>
                  </a:tcPr>
                </a:tc>
                <a:tc>
                  <a:txBody>
                    <a:bodyPr/>
                    <a:lstStyle/>
                    <a:p>
                      <a:r>
                        <a:rPr lang="zh-CN" sz="1400">
                          <a:solidFill>
                            <a:srgbClr val="1F2937"/>
                          </a:solidFill>
                        </a:rPr>
                        <a:t>常态化向河口、湿地补水，修复流域湿地生态，保障河流健康生命。</a:t>
                      </a:r>
                    </a:p>
                  </a:txBody>
                  <a:tcPr anchor="ctr">
                    <a:lnL>
                      <a:noFill/>
                    </a:lnL>
                    <a:lnR>
                      <a:noFill/>
                    </a:lnR>
                    <a:lnT>
                      <a:noFill/>
                    </a:lnT>
                    <a:lnB>
                      <a:noFill/>
                    </a:lnB>
                    <a:noFill/>
                    <a:marL l="45720" r="45720" t="22860" b="22860"/>
                  </a:tcPr>
                </a:tc>
              </a:tr>
              <a:tr h="465666">
                <a:tc>
                  <a:txBody>
                    <a:bodyPr/>
                    <a:lstStyle/>
                    <a:p>
                      <a:r>
                        <a:rPr lang="zh-CN" sz="1400">
                          <a:solidFill>
                            <a:srgbClr val="1F2937"/>
                          </a:solidFill>
                        </a:rPr>
                        <a:t>4. 水土流失治理</a:t>
                      </a:r>
                    </a:p>
                  </a:txBody>
                  <a:tcPr anchor="ctr">
                    <a:lnL>
                      <a:noFill/>
                    </a:lnL>
                    <a:lnR>
                      <a:noFill/>
                    </a:lnR>
                    <a:lnT>
                      <a:noFill/>
                    </a:lnT>
                    <a:lnB>
                      <a:noFill/>
                    </a:lnB>
                    <a:noFill/>
                    <a:marL l="45720" r="45720" t="22860" b="22860"/>
                  </a:tcPr>
                </a:tc>
                <a:tc>
                  <a:txBody>
                    <a:bodyPr/>
                    <a:lstStyle/>
                    <a:p>
                      <a:r>
                        <a:rPr lang="zh-CN" sz="1400">
                          <a:solidFill>
                            <a:srgbClr val="1F2937"/>
                          </a:solidFill>
                        </a:rPr>
                        <a:t>黄土高原持续开展植被修复与小流域治理，水土流失实现面积、强度双下降。</a:t>
                      </a:r>
                    </a:p>
                  </a:txBody>
                  <a:tcPr anchor="ctr">
                    <a:lnL>
                      <a:noFill/>
                    </a:lnL>
                    <a:lnR>
                      <a:noFill/>
                    </a:lnR>
                    <a:lnT>
                      <a:noFill/>
                    </a:lnT>
                    <a:lnB>
                      <a:noFill/>
                    </a:lnB>
                    <a:noFill/>
                    <a:marL l="45720" r="45720" t="22860" b="22860"/>
                  </a:tcPr>
                </a:tc>
              </a:tr>
              <a:tr h="465666">
                <a:tc>
                  <a:txBody>
                    <a:bodyPr/>
                    <a:lstStyle/>
                    <a:p>
                      <a:r>
                        <a:rPr lang="zh-CN" sz="1400">
                          <a:solidFill>
                            <a:srgbClr val="1F2937"/>
                          </a:solidFill>
                        </a:rPr>
                        <a:t>5. 《黄河保护法》护航</a:t>
                      </a:r>
                    </a:p>
                  </a:txBody>
                  <a:tcPr anchor="ctr">
                    <a:lnL>
                      <a:noFill/>
                    </a:lnL>
                    <a:lnR>
                      <a:noFill/>
                    </a:lnR>
                    <a:lnT>
                      <a:noFill/>
                    </a:lnT>
                    <a:lnB>
                      <a:noFill/>
                    </a:lnB>
                    <a:noFill/>
                    <a:marL l="45720" r="45720" t="22860" b="22860"/>
                  </a:tcPr>
                </a:tc>
                <a:tc>
                  <a:txBody>
                    <a:bodyPr/>
                    <a:lstStyle/>
                    <a:p>
                      <a:r>
                        <a:rPr lang="zh-CN" sz="1400">
                          <a:solidFill>
                            <a:srgbClr val="1F2937"/>
                          </a:solidFill>
                        </a:rPr>
                        <a:t>将黄河保护的各项制度固化为法律，用法治保障黄河长治久安。</a:t>
                      </a:r>
                    </a:p>
                  </a:txBody>
                  <a:tcPr anchor="ctr">
                    <a:lnL>
                      <a:noFill/>
                    </a:lnL>
                    <a:lnR>
                      <a:noFill/>
                    </a:lnR>
                    <a:lnT>
                      <a:noFill/>
                    </a:lnT>
                    <a:lnB>
                      <a:noFill/>
                    </a:lnB>
                    <a:noFill/>
                    <a:marL l="45720" r="45720" t="22860" b="22860"/>
                  </a:tcPr>
                </a:tc>
              </a:tr>
            </a:tbl>
          </a:graphicData>
        </a:graphic>
      </p:graphicFrame>
    </p:spTree>
  </p:cSld>
  <p:clrMapOvr>
    <a:masterClrMapping/>
  </p:clrMapOvr>
  <p:transition xmlns:p="http://schemas.openxmlformats.org/presentationml/2006/mai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469"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470" name="hd_secbar"/>
          <p:cNvSpPr/>
          <p:nvPr/>
        </p:nvSpPr>
        <p:spPr>
          <a:xfrm>
            <a:off x="609600" y="317500"/>
            <a:ext cx="44450" cy="228600"/>
          </a:xfrm>
          <a:prstGeom prst="rect">
            <a:avLst/>
          </a:prstGeom>
          <a:gradFill rotWithShape="1">
            <a:gsLst>
              <a:gs pos="0">
                <a:srgbClr val="1F6383"/>
              </a:gs>
              <a:gs pos="100000">
                <a:srgbClr val="6FC7E8">
                  <a:alpha val="100000"/>
                </a:srgbClr>
              </a:gs>
            </a:gsLst>
            <a:lin ang="5400000" scaled="1"/>
          </a:gradFill>
          <a:ln>
            <a:noFill/>
          </a:ln>
        </p:spPr>
        <p:txBody>
          <a:bodyPr rtlCol="0" anchor="ctr"/>
          <a:lstStyle/>
          <a:p/>
        </p:txBody>
      </p:sp>
      <p:sp>
        <p:nvSpPr>
          <p:cNvPr id="1471" name="hd_sec"/>
          <p:cNvSpPr txBox="1"/>
          <p:nvPr/>
        </p:nvSpPr>
        <p:spPr>
          <a:xfrm>
            <a:off x="736600" y="317500"/>
            <a:ext cx="3476600" cy="228600"/>
          </a:xfrm>
          <a:prstGeom prst="rect">
            <a:avLst/>
          </a:prstGeom>
        </p:spPr>
        <p:txBody>
          <a:bodyPr wrap="square" lIns="0" rIns="0" tIns="0" bIns="0"/>
          <a:lstStyle/>
          <a:p>
            <a:pPr algn="l" lvl="0"/>
            <a:r>
              <a:rPr lang="zh-CN" sz="1400" b="1">
                <a:solidFill>
                  <a:srgbClr val="1F6383"/>
                </a:solidFill>
                <a:latin typeface="黑体"/>
                <a:ea typeface="黑体"/>
              </a:rPr>
              <a:t>子任务二 · 撰写解说——解码新成就</a:t>
            </a:r>
          </a:p>
        </p:txBody>
      </p:sp>
      <p:sp>
        <p:nvSpPr>
          <p:cNvPr id="1472"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思维工具 · 四步解码法</a:t>
            </a:r>
          </a:p>
        </p:txBody>
      </p:sp>
      <p:sp>
        <p:nvSpPr>
          <p:cNvPr id="1473" name="hd_rule2"/>
          <p:cNvSpPr/>
          <p:nvPr/>
        </p:nvSpPr>
        <p:spPr>
          <a:xfrm>
            <a:off x="558800" y="1143000"/>
            <a:ext cx="1625600" cy="44450"/>
          </a:xfrm>
          <a:prstGeom prst="rect">
            <a:avLst/>
          </a:prstGeom>
          <a:gradFill rotWithShape="1">
            <a:gsLst>
              <a:gs pos="0">
                <a:srgbClr val="1F6383"/>
              </a:gs>
              <a:gs pos="100000">
                <a:srgbClr val="6FC7E8">
                  <a:alpha val="100000"/>
                </a:srgbClr>
              </a:gs>
            </a:gsLst>
            <a:lin ang="0" scaled="1"/>
          </a:gradFill>
          <a:ln>
            <a:noFill/>
          </a:ln>
        </p:spPr>
        <p:txBody>
          <a:bodyPr rtlCol="0" anchor="ctr"/>
          <a:lstStyle/>
          <a:p/>
        </p:txBody>
      </p:sp>
      <p:sp>
        <p:nvSpPr>
          <p:cNvPr id="1474" name="hd_rule"/>
          <p:cNvSpPr/>
          <p:nvPr/>
        </p:nvSpPr>
        <p:spPr>
          <a:xfrm>
            <a:off x="2260600" y="1158240"/>
            <a:ext cx="5867400" cy="19050"/>
          </a:xfrm>
          <a:prstGeom prst="rect">
            <a:avLst/>
          </a:prstGeom>
          <a:solidFill>
            <a:srgbClr val="6FC7E8">
              <a:alpha val="40000"/>
            </a:srgbClr>
          </a:solidFill>
          <a:ln>
            <a:noFill/>
          </a:ln>
        </p:spPr>
        <p:txBody>
          <a:bodyPr rtlCol="0" anchor="ctr"/>
          <a:lstStyle/>
          <a:p/>
        </p:txBody>
      </p:sp>
      <p:cxnSp>
        <p:nvCxnSpPr>
          <p:cNvPr id="1475" name="rb_rule"/>
          <p:cNvCxnSpPr/>
          <p:nvPr/>
        </p:nvCxnSpPr>
        <p:spPr>
          <a:xfrm>
            <a:off x="8280400" y="1422400"/>
            <a:ext cx="0" cy="4267200"/>
          </a:xfrm>
          <a:prstGeom prst="straightConnector1">
            <a:avLst/>
          </a:prstGeom>
          <a:ln w="19050">
            <a:solidFill>
              <a:srgbClr val="7E9A85"/>
            </a:solidFill>
          </a:ln>
        </p:spPr>
      </p:cxnSp>
      <p:sp>
        <p:nvSpPr>
          <p:cNvPr id="1476" name="rb_chip_a"/>
          <p:cNvSpPr/>
          <p:nvPr/>
        </p:nvSpPr>
        <p:spPr>
          <a:xfrm>
            <a:off x="8229600" y="1219200"/>
            <a:ext cx="152400" cy="152400"/>
          </a:xfrm>
          <a:prstGeom prst="rect">
            <a:avLst/>
          </a:prstGeom>
          <a:gradFill rotWithShape="1">
            <a:gsLst>
              <a:gs pos="0">
                <a:srgbClr val="6FC7E8"/>
              </a:gs>
              <a:gs pos="100000">
                <a:srgbClr val="1F6383">
                  <a:alpha val="100000"/>
                </a:srgbClr>
              </a:gs>
            </a:gsLst>
            <a:lin ang="8100000" scaled="1"/>
          </a:gradFill>
          <a:ln>
            <a:noFill/>
          </a:ln>
        </p:spPr>
        <p:txBody>
          <a:bodyPr rtlCol="0" anchor="ctr"/>
          <a:lstStyle/>
          <a:p/>
        </p:txBody>
      </p:sp>
      <p:sp>
        <p:nvSpPr>
          <p:cNvPr id="1477" name="rb_chip_b"/>
          <p:cNvSpPr/>
          <p:nvPr/>
        </p:nvSpPr>
        <p:spPr>
          <a:xfrm>
            <a:off x="8280400" y="1193800"/>
            <a:ext cx="101600" cy="101600"/>
          </a:xfrm>
          <a:prstGeom prst="rect">
            <a:avLst/>
          </a:prstGeom>
          <a:solidFill>
            <a:srgbClr val="1F6383"/>
          </a:solidFill>
          <a:ln>
            <a:noFill/>
          </a:ln>
        </p:spPr>
        <p:txBody>
          <a:bodyPr rtlCol="0" anchor="ctr"/>
          <a:lstStyle/>
          <a:p/>
        </p:txBody>
      </p:sp>
      <p:sp>
        <p:nvSpPr>
          <p:cNvPr id="1478"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479"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480" name="rb_tagrule"/>
          <p:cNvCxnSpPr/>
          <p:nvPr/>
        </p:nvCxnSpPr>
        <p:spPr>
          <a:xfrm>
            <a:off x="11226800" y="2260600"/>
            <a:ext cx="482600" cy="0"/>
          </a:xfrm>
          <a:prstGeom prst="straightConnector1">
            <a:avLst/>
          </a:prstGeom>
          <a:ln w="12700">
            <a:solidFill>
              <a:srgbClr val="7E9A85"/>
            </a:solidFill>
          </a:ln>
        </p:spPr>
      </p:cxnSp>
      <p:sp>
        <p:nvSpPr>
          <p:cNvPr id="1481"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6FC7E8"/>
                </a:solidFill>
                <a:latin typeface="黑体"/>
                <a:ea typeface="黑体"/>
              </a:rPr>
              <a:t>16 / 42</a:t>
            </a:r>
          </a:p>
        </p:txBody>
      </p:sp>
      <p:sp>
        <p:nvSpPr>
          <p:cNvPr id="1482" name="p16tag_sh"/>
          <p:cNvSpPr/>
          <p:nvPr/>
        </p:nvSpPr>
        <p:spPr>
          <a:xfrm>
            <a:off x="584200" y="13208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483" name="p16tag"/>
          <p:cNvSpPr/>
          <p:nvPr/>
        </p:nvSpPr>
        <p:spPr>
          <a:xfrm>
            <a:off x="558800" y="1270000"/>
            <a:ext cx="7569200" cy="654812"/>
          </a:xfrm>
          <a:prstGeom prst="roundRect">
            <a:avLst>
              <a:gd name="adj" fmla="val 8000"/>
            </a:avLst>
          </a:prstGeom>
          <a:solidFill>
            <a:srgbClr val="E9EFE9"/>
          </a:solidFill>
          <a:ln w="15875">
            <a:solidFill>
              <a:srgbClr val="1F6383"/>
            </a:solidFill>
          </a:ln>
        </p:spPr>
        <p:txBody>
          <a:bodyPr rtlCol="0" anchor="ctr"/>
          <a:lstStyle/>
          <a:p/>
        </p:txBody>
      </p:sp>
      <p:sp>
        <p:nvSpPr>
          <p:cNvPr id="1484" name="p16tag_cap"/>
          <p:cNvSpPr/>
          <p:nvPr/>
        </p:nvSpPr>
        <p:spPr>
          <a:xfrm>
            <a:off x="647700" y="1346200"/>
            <a:ext cx="50800" cy="502412"/>
          </a:xfrm>
          <a:prstGeom prst="rect">
            <a:avLst/>
          </a:prstGeom>
          <a:gradFill rotWithShape="1">
            <a:gsLst>
              <a:gs pos="0">
                <a:srgbClr val="1F6383"/>
              </a:gs>
              <a:gs pos="100000">
                <a:srgbClr val="1F6383">
                  <a:alpha val="10000"/>
                </a:srgbClr>
              </a:gs>
            </a:gsLst>
            <a:lin ang="5400000" scaled="1"/>
          </a:gradFill>
          <a:ln>
            <a:noFill/>
          </a:ln>
        </p:spPr>
        <p:txBody>
          <a:bodyPr rtlCol="0" anchor="ctr"/>
          <a:lstStyle/>
          <a:p/>
        </p:txBody>
      </p:sp>
      <p:sp>
        <p:nvSpPr>
          <p:cNvPr id="1485" name="p16tag_t"/>
          <p:cNvSpPr txBox="1"/>
          <p:nvPr/>
        </p:nvSpPr>
        <p:spPr>
          <a:xfrm>
            <a:off x="711200" y="1358900"/>
            <a:ext cx="7264400" cy="477012"/>
          </a:xfrm>
          <a:prstGeom prst="rect">
            <a:avLst/>
          </a:prstGeom>
        </p:spPr>
        <p:txBody>
          <a:bodyPr wrap="square" lIns="0" rIns="0" tIns="0" bIns="0"/>
          <a:lstStyle/>
          <a:p>
            <a:pPr algn="l" lvl="0"/>
            <a:r>
              <a:rPr lang="zh-CN" sz="1800" b="1">
                <a:solidFill>
                  <a:srgbClr val="1D2B23"/>
                </a:solidFill>
                <a:latin typeface="黑体"/>
                <a:ea typeface="黑体"/>
              </a:rPr>
              <a:t>思维工具 · 四步解码法</a:t>
            </a:r>
          </a:p>
        </p:txBody>
      </p:sp>
      <p:sp>
        <p:nvSpPr>
          <p:cNvPr id="1486" name="rc0_sh"/>
          <p:cNvSpPr/>
          <p:nvPr/>
        </p:nvSpPr>
        <p:spPr>
          <a:xfrm>
            <a:off x="584200" y="2204212"/>
            <a:ext cx="1727200" cy="290195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487" name="rc0"/>
          <p:cNvSpPr/>
          <p:nvPr/>
        </p:nvSpPr>
        <p:spPr>
          <a:xfrm>
            <a:off x="558800" y="2153412"/>
            <a:ext cx="1778000" cy="2901950"/>
          </a:xfrm>
          <a:prstGeom prst="roundRect">
            <a:avLst>
              <a:gd name="adj" fmla="val 8000"/>
            </a:avLst>
          </a:prstGeom>
          <a:solidFill>
            <a:srgbClr val="E9EFE9"/>
          </a:solidFill>
          <a:ln w="15875">
            <a:solidFill>
              <a:srgbClr val="1F6383"/>
            </a:solidFill>
          </a:ln>
        </p:spPr>
        <p:txBody>
          <a:bodyPr rtlCol="0" anchor="ctr"/>
          <a:lstStyle/>
          <a:p/>
        </p:txBody>
      </p:sp>
      <p:sp>
        <p:nvSpPr>
          <p:cNvPr id="1488" name="rc0_le"/>
          <p:cNvSpPr/>
          <p:nvPr/>
        </p:nvSpPr>
        <p:spPr>
          <a:xfrm>
            <a:off x="584200" y="2267712"/>
            <a:ext cx="44450" cy="2673350"/>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489" name="rc0_t"/>
          <p:cNvSpPr txBox="1"/>
          <p:nvPr/>
        </p:nvSpPr>
        <p:spPr>
          <a:xfrm>
            <a:off x="711200" y="2267712"/>
            <a:ext cx="1473200" cy="374142"/>
          </a:xfrm>
          <a:prstGeom prst="rect">
            <a:avLst/>
          </a:prstGeom>
        </p:spPr>
        <p:txBody>
          <a:bodyPr wrap="square" lIns="0" rIns="0" tIns="0" bIns="0"/>
          <a:lstStyle/>
          <a:p>
            <a:pPr algn="l" lvl="0"/>
            <a:r>
              <a:rPr lang="zh-CN" sz="1700" b="1">
                <a:solidFill>
                  <a:srgbClr val="1F6383"/>
                </a:solidFill>
                <a:latin typeface="黑体"/>
                <a:ea typeface="黑体"/>
              </a:rPr>
              <a:t>1　问机制</a:t>
            </a:r>
          </a:p>
        </p:txBody>
      </p:sp>
      <p:sp>
        <p:nvSpPr>
          <p:cNvPr id="1490" name="rc0_b"/>
          <p:cNvSpPr txBox="1"/>
          <p:nvPr/>
        </p:nvSpPr>
        <p:spPr>
          <a:xfrm>
            <a:off x="711200" y="2768854"/>
            <a:ext cx="1473200" cy="2096008"/>
          </a:xfrm>
          <a:prstGeom prst="rect">
            <a:avLst/>
          </a:prstGeom>
        </p:spPr>
        <p:txBody>
          <a:bodyPr wrap="square" lIns="0" rIns="0" tIns="0" bIns="0"/>
          <a:lstStyle/>
          <a:p>
            <a:pPr algn="l" lvl="0"/>
            <a:r>
              <a:rPr lang="zh-CN" sz="1600">
                <a:solidFill>
                  <a:srgbClr val="2E4438"/>
                </a:solidFill>
                <a:latin typeface="楷体"/>
                <a:ea typeface="楷体"/>
              </a:rPr>
              <a:t>它是怎么“</a:t>
            </a:r>
          </a:p>
          <a:p>
            <a:pPr algn="l" lvl="0"/>
            <a:r>
              <a:rPr lang="zh-CN" sz="1600">
                <a:solidFill>
                  <a:srgbClr val="2E4438"/>
                </a:solidFill>
                <a:latin typeface="楷体"/>
                <a:ea typeface="楷体"/>
              </a:rPr>
              <a:t>变”回来的？</a:t>
            </a:r>
          </a:p>
          <a:p>
            <a:pPr algn="l" lvl="0"/>
            <a:r>
              <a:rPr lang="zh-CN" sz="1600">
                <a:solidFill>
                  <a:srgbClr val="2E4438"/>
                </a:solidFill>
                <a:latin typeface="楷体"/>
                <a:ea typeface="楷体"/>
              </a:rPr>
              <a:t>把“怎么做</a:t>
            </a:r>
          </a:p>
          <a:p>
            <a:pPr algn="l" lvl="0"/>
            <a:r>
              <a:rPr lang="zh-CN" sz="1600">
                <a:solidFill>
                  <a:srgbClr val="2E4438"/>
                </a:solidFill>
                <a:latin typeface="楷体"/>
                <a:ea typeface="楷体"/>
              </a:rPr>
              <a:t>到的”说清</a:t>
            </a:r>
          </a:p>
          <a:p>
            <a:pPr algn="l" lvl="0"/>
            <a:r>
              <a:rPr lang="zh-CN" sz="1600">
                <a:solidFill>
                  <a:srgbClr val="2E4438"/>
                </a:solidFill>
                <a:latin typeface="楷体"/>
                <a:ea typeface="楷体"/>
              </a:rPr>
              <a:t>楚——这是</a:t>
            </a:r>
          </a:p>
          <a:p>
            <a:pPr algn="l" lvl="0"/>
            <a:r>
              <a:rPr lang="zh-CN" sz="1600">
                <a:solidFill>
                  <a:srgbClr val="2E4438"/>
                </a:solidFill>
                <a:latin typeface="楷体"/>
                <a:ea typeface="楷体"/>
              </a:rPr>
              <a:t>推理的起点。</a:t>
            </a:r>
          </a:p>
          <a:p>
            <a:pPr algn="l" lvl="0"/>
            <a:r>
              <a:rPr lang="zh-CN" sz="1600">
                <a:solidFill>
                  <a:srgbClr val="2E4438"/>
                </a:solidFill>
                <a:latin typeface="楷体"/>
                <a:ea typeface="楷体"/>
              </a:rPr>
              <a:t/>
            </a:r>
          </a:p>
        </p:txBody>
      </p:sp>
      <p:sp>
        <p:nvSpPr>
          <p:cNvPr id="1491" name="rc1_sh"/>
          <p:cNvSpPr/>
          <p:nvPr/>
        </p:nvSpPr>
        <p:spPr>
          <a:xfrm>
            <a:off x="2514600" y="2204212"/>
            <a:ext cx="1727200" cy="290195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492" name="rc1"/>
          <p:cNvSpPr/>
          <p:nvPr/>
        </p:nvSpPr>
        <p:spPr>
          <a:xfrm>
            <a:off x="2489200" y="2153412"/>
            <a:ext cx="1778000" cy="2901950"/>
          </a:xfrm>
          <a:prstGeom prst="roundRect">
            <a:avLst>
              <a:gd name="adj" fmla="val 8000"/>
            </a:avLst>
          </a:prstGeom>
          <a:solidFill>
            <a:srgbClr val="E9EFE9"/>
          </a:solidFill>
          <a:ln w="15875">
            <a:solidFill>
              <a:srgbClr val="1F6383"/>
            </a:solidFill>
          </a:ln>
        </p:spPr>
        <p:txBody>
          <a:bodyPr rtlCol="0" anchor="ctr"/>
          <a:lstStyle/>
          <a:p/>
        </p:txBody>
      </p:sp>
      <p:sp>
        <p:nvSpPr>
          <p:cNvPr id="1493" name="rc1_le"/>
          <p:cNvSpPr/>
          <p:nvPr/>
        </p:nvSpPr>
        <p:spPr>
          <a:xfrm>
            <a:off x="2514600" y="2267712"/>
            <a:ext cx="44450" cy="2673350"/>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494" name="rc1_t"/>
          <p:cNvSpPr txBox="1"/>
          <p:nvPr/>
        </p:nvSpPr>
        <p:spPr>
          <a:xfrm>
            <a:off x="2641600" y="2411984"/>
            <a:ext cx="1473200" cy="374142"/>
          </a:xfrm>
          <a:prstGeom prst="rect">
            <a:avLst/>
          </a:prstGeom>
        </p:spPr>
        <p:txBody>
          <a:bodyPr wrap="square" lIns="0" rIns="0" tIns="0" bIns="0"/>
          <a:lstStyle/>
          <a:p>
            <a:pPr algn="l" lvl="0"/>
            <a:r>
              <a:rPr lang="zh-CN" sz="1700" b="1">
                <a:solidFill>
                  <a:srgbClr val="1F6383"/>
                </a:solidFill>
                <a:latin typeface="黑体"/>
                <a:ea typeface="黑体"/>
              </a:rPr>
              <a:t>2　反证</a:t>
            </a:r>
          </a:p>
        </p:txBody>
      </p:sp>
      <p:sp>
        <p:nvSpPr>
          <p:cNvPr id="1495" name="rc1_b"/>
          <p:cNvSpPr txBox="1"/>
          <p:nvPr/>
        </p:nvSpPr>
        <p:spPr>
          <a:xfrm>
            <a:off x="2641600" y="2913126"/>
            <a:ext cx="1473200" cy="1807464"/>
          </a:xfrm>
          <a:prstGeom prst="rect">
            <a:avLst/>
          </a:prstGeom>
        </p:spPr>
        <p:txBody>
          <a:bodyPr wrap="square" lIns="0" rIns="0" tIns="0" bIns="0"/>
          <a:lstStyle/>
          <a:p>
            <a:pPr algn="l" lvl="0"/>
            <a:r>
              <a:rPr lang="zh-CN" sz="1600">
                <a:solidFill>
                  <a:srgbClr val="2E4438"/>
                </a:solidFill>
                <a:latin typeface="楷体"/>
                <a:ea typeface="楷体"/>
              </a:rPr>
              <a:t>假如没有它，</a:t>
            </a:r>
          </a:p>
          <a:p>
            <a:pPr algn="l" lvl="0"/>
            <a:r>
              <a:rPr lang="zh-CN" sz="1600">
                <a:solidFill>
                  <a:srgbClr val="2E4438"/>
                </a:solidFill>
                <a:latin typeface="楷体"/>
                <a:ea typeface="楷体"/>
              </a:rPr>
              <a:t>还成不成？</a:t>
            </a:r>
          </a:p>
          <a:p>
            <a:pPr algn="l" lvl="0"/>
            <a:r>
              <a:rPr lang="zh-CN" sz="1600">
                <a:solidFill>
                  <a:srgbClr val="2E4438"/>
                </a:solidFill>
                <a:latin typeface="楷体"/>
                <a:ea typeface="楷体"/>
              </a:rPr>
              <a:t>用“如果没</a:t>
            </a:r>
          </a:p>
          <a:p>
            <a:pPr algn="l" lvl="0"/>
            <a:r>
              <a:rPr lang="zh-CN" sz="1600">
                <a:solidFill>
                  <a:srgbClr val="2E4438"/>
                </a:solidFill>
                <a:latin typeface="楷体"/>
                <a:ea typeface="楷体"/>
              </a:rPr>
              <a:t>有……会怎</a:t>
            </a:r>
          </a:p>
          <a:p>
            <a:pPr algn="l" lvl="0"/>
            <a:r>
              <a:rPr lang="zh-CN" sz="1600">
                <a:solidFill>
                  <a:srgbClr val="2E4438"/>
                </a:solidFill>
                <a:latin typeface="楷体"/>
                <a:ea typeface="楷体"/>
              </a:rPr>
              <a:t>样”做反事</a:t>
            </a:r>
          </a:p>
          <a:p>
            <a:pPr algn="l" lvl="0"/>
            <a:r>
              <a:rPr lang="zh-CN" sz="1600">
                <a:solidFill>
                  <a:srgbClr val="2E4438"/>
                </a:solidFill>
                <a:latin typeface="楷体"/>
                <a:ea typeface="楷体"/>
              </a:rPr>
              <a:t>实追问。</a:t>
            </a:r>
          </a:p>
        </p:txBody>
      </p:sp>
      <p:sp>
        <p:nvSpPr>
          <p:cNvPr id="1496" name="rc2_sh"/>
          <p:cNvSpPr/>
          <p:nvPr/>
        </p:nvSpPr>
        <p:spPr>
          <a:xfrm>
            <a:off x="4445000" y="2204212"/>
            <a:ext cx="1727200" cy="290195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497" name="rc2"/>
          <p:cNvSpPr/>
          <p:nvPr/>
        </p:nvSpPr>
        <p:spPr>
          <a:xfrm>
            <a:off x="4419600" y="2153412"/>
            <a:ext cx="1778000" cy="2901950"/>
          </a:xfrm>
          <a:prstGeom prst="roundRect">
            <a:avLst>
              <a:gd name="adj" fmla="val 8000"/>
            </a:avLst>
          </a:prstGeom>
          <a:solidFill>
            <a:srgbClr val="E9EFE9"/>
          </a:solidFill>
          <a:ln w="15875">
            <a:solidFill>
              <a:srgbClr val="1F6383"/>
            </a:solidFill>
          </a:ln>
        </p:spPr>
        <p:txBody>
          <a:bodyPr rtlCol="0" anchor="ctr"/>
          <a:lstStyle/>
          <a:p/>
        </p:txBody>
      </p:sp>
      <p:sp>
        <p:nvSpPr>
          <p:cNvPr id="1498" name="rc2_le"/>
          <p:cNvSpPr/>
          <p:nvPr/>
        </p:nvSpPr>
        <p:spPr>
          <a:xfrm>
            <a:off x="4445000" y="2267712"/>
            <a:ext cx="44450" cy="2673350"/>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499" name="rc2_t"/>
          <p:cNvSpPr txBox="1"/>
          <p:nvPr/>
        </p:nvSpPr>
        <p:spPr>
          <a:xfrm>
            <a:off x="4572000" y="2411984"/>
            <a:ext cx="1473200" cy="374142"/>
          </a:xfrm>
          <a:prstGeom prst="rect">
            <a:avLst/>
          </a:prstGeom>
        </p:spPr>
        <p:txBody>
          <a:bodyPr wrap="square" lIns="0" rIns="0" tIns="0" bIns="0"/>
          <a:lstStyle/>
          <a:p>
            <a:pPr algn="l" lvl="0"/>
            <a:r>
              <a:rPr lang="zh-CN" sz="1700" b="1">
                <a:solidFill>
                  <a:srgbClr val="1F6383"/>
                </a:solidFill>
                <a:latin typeface="黑体"/>
                <a:ea typeface="黑体"/>
              </a:rPr>
              <a:t>3　比较</a:t>
            </a:r>
          </a:p>
        </p:txBody>
      </p:sp>
      <p:sp>
        <p:nvSpPr>
          <p:cNvPr id="1500" name="rc2_b"/>
          <p:cNvSpPr txBox="1"/>
          <p:nvPr/>
        </p:nvSpPr>
        <p:spPr>
          <a:xfrm>
            <a:off x="4572000" y="2913126"/>
            <a:ext cx="1473200" cy="1807464"/>
          </a:xfrm>
          <a:prstGeom prst="rect">
            <a:avLst/>
          </a:prstGeom>
        </p:spPr>
        <p:txBody>
          <a:bodyPr wrap="square" lIns="0" rIns="0" tIns="0" bIns="0"/>
          <a:lstStyle/>
          <a:p>
            <a:pPr algn="l" lvl="0"/>
            <a:r>
              <a:rPr lang="zh-CN" sz="1600">
                <a:solidFill>
                  <a:srgbClr val="2E4438"/>
                </a:solidFill>
                <a:latin typeface="楷体"/>
                <a:ea typeface="楷体"/>
              </a:rPr>
              <a:t>别人为什么</a:t>
            </a:r>
          </a:p>
          <a:p>
            <a:pPr algn="l" lvl="0"/>
            <a:r>
              <a:rPr lang="zh-CN" sz="1600">
                <a:solidFill>
                  <a:srgbClr val="2E4438"/>
                </a:solidFill>
                <a:latin typeface="楷体"/>
                <a:ea typeface="楷体"/>
              </a:rPr>
              <a:t>做不到？横</a:t>
            </a:r>
          </a:p>
          <a:p>
            <a:pPr algn="l" lvl="0"/>
            <a:r>
              <a:rPr lang="zh-CN" sz="1600">
                <a:solidFill>
                  <a:srgbClr val="2E4438"/>
                </a:solidFill>
                <a:latin typeface="楷体"/>
                <a:ea typeface="楷体"/>
              </a:rPr>
              <a:t>向对照，找</a:t>
            </a:r>
          </a:p>
          <a:p>
            <a:pPr algn="l" lvl="0"/>
            <a:r>
              <a:rPr lang="zh-CN" sz="1600">
                <a:solidFill>
                  <a:srgbClr val="2E4438"/>
                </a:solidFill>
                <a:latin typeface="楷体"/>
                <a:ea typeface="楷体"/>
              </a:rPr>
              <a:t>出“我们比</a:t>
            </a:r>
          </a:p>
          <a:p>
            <a:pPr algn="l" lvl="0"/>
            <a:r>
              <a:rPr lang="zh-CN" sz="1600">
                <a:solidFill>
                  <a:srgbClr val="2E4438"/>
                </a:solidFill>
                <a:latin typeface="楷体"/>
                <a:ea typeface="楷体"/>
              </a:rPr>
              <a:t>别的国家多</a:t>
            </a:r>
          </a:p>
          <a:p>
            <a:pPr algn="l" lvl="0"/>
            <a:r>
              <a:rPr lang="zh-CN" sz="1600">
                <a:solidFill>
                  <a:srgbClr val="2E4438"/>
                </a:solidFill>
                <a:latin typeface="楷体"/>
                <a:ea typeface="楷体"/>
              </a:rPr>
              <a:t>什么”。</a:t>
            </a:r>
          </a:p>
        </p:txBody>
      </p:sp>
      <p:sp>
        <p:nvSpPr>
          <p:cNvPr id="1501" name="rc3_sh"/>
          <p:cNvSpPr/>
          <p:nvPr/>
        </p:nvSpPr>
        <p:spPr>
          <a:xfrm>
            <a:off x="6375400" y="2204212"/>
            <a:ext cx="1727200" cy="290195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502" name="rc3"/>
          <p:cNvSpPr/>
          <p:nvPr/>
        </p:nvSpPr>
        <p:spPr>
          <a:xfrm>
            <a:off x="6350000" y="2153412"/>
            <a:ext cx="1778000" cy="2901950"/>
          </a:xfrm>
          <a:prstGeom prst="roundRect">
            <a:avLst>
              <a:gd name="adj" fmla="val 8000"/>
            </a:avLst>
          </a:prstGeom>
          <a:solidFill>
            <a:srgbClr val="E9EFE9"/>
          </a:solidFill>
          <a:ln w="15875">
            <a:solidFill>
              <a:srgbClr val="1F6383"/>
            </a:solidFill>
          </a:ln>
        </p:spPr>
        <p:txBody>
          <a:bodyPr rtlCol="0" anchor="ctr"/>
          <a:lstStyle/>
          <a:p/>
        </p:txBody>
      </p:sp>
      <p:sp>
        <p:nvSpPr>
          <p:cNvPr id="1503" name="rc3_le"/>
          <p:cNvSpPr/>
          <p:nvPr/>
        </p:nvSpPr>
        <p:spPr>
          <a:xfrm>
            <a:off x="6375400" y="2267712"/>
            <a:ext cx="44450" cy="2673350"/>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504" name="rc3_t"/>
          <p:cNvSpPr txBox="1"/>
          <p:nvPr/>
        </p:nvSpPr>
        <p:spPr>
          <a:xfrm>
            <a:off x="6502400" y="2267712"/>
            <a:ext cx="1473200" cy="374142"/>
          </a:xfrm>
          <a:prstGeom prst="rect">
            <a:avLst/>
          </a:prstGeom>
        </p:spPr>
        <p:txBody>
          <a:bodyPr wrap="square" lIns="0" rIns="0" tIns="0" bIns="0"/>
          <a:lstStyle/>
          <a:p>
            <a:pPr algn="l" lvl="0"/>
            <a:r>
              <a:rPr lang="zh-CN" sz="1700" b="1">
                <a:solidFill>
                  <a:srgbClr val="1F6383"/>
                </a:solidFill>
                <a:latin typeface="黑体"/>
                <a:ea typeface="黑体"/>
              </a:rPr>
              <a:t>4　归纳</a:t>
            </a:r>
          </a:p>
        </p:txBody>
      </p:sp>
      <p:sp>
        <p:nvSpPr>
          <p:cNvPr id="1505" name="rc3_b"/>
          <p:cNvSpPr txBox="1"/>
          <p:nvPr/>
        </p:nvSpPr>
        <p:spPr>
          <a:xfrm>
            <a:off x="6502400" y="2768854"/>
            <a:ext cx="1473200" cy="2096008"/>
          </a:xfrm>
          <a:prstGeom prst="rect">
            <a:avLst/>
          </a:prstGeom>
        </p:spPr>
        <p:txBody>
          <a:bodyPr wrap="square" lIns="0" rIns="0" tIns="0" bIns="0"/>
          <a:lstStyle/>
          <a:p>
            <a:pPr algn="l" lvl="0"/>
            <a:r>
              <a:rPr lang="zh-CN" sz="1600">
                <a:solidFill>
                  <a:srgbClr val="2E4438"/>
                </a:solidFill>
                <a:latin typeface="楷体"/>
                <a:ea typeface="楷体"/>
              </a:rPr>
              <a:t>能不能用课</a:t>
            </a:r>
          </a:p>
          <a:p>
            <a:pPr algn="l" lvl="0"/>
            <a:r>
              <a:rPr lang="zh-CN" sz="1600">
                <a:solidFill>
                  <a:srgbClr val="2E4438"/>
                </a:solidFill>
                <a:latin typeface="楷体"/>
                <a:ea typeface="楷体"/>
              </a:rPr>
              <a:t>本来验证？</a:t>
            </a:r>
          </a:p>
          <a:p>
            <a:pPr algn="l" lvl="0"/>
            <a:r>
              <a:rPr lang="zh-CN" sz="1600">
                <a:solidFill>
                  <a:srgbClr val="2E4438"/>
                </a:solidFill>
                <a:latin typeface="楷体"/>
                <a:ea typeface="楷体"/>
              </a:rPr>
              <a:t>把原因抽取</a:t>
            </a:r>
          </a:p>
          <a:p>
            <a:pPr algn="l" lvl="0"/>
            <a:r>
              <a:rPr lang="zh-CN" sz="1600">
                <a:solidFill>
                  <a:srgbClr val="2E4438"/>
                </a:solidFill>
                <a:latin typeface="楷体"/>
                <a:ea typeface="楷体"/>
              </a:rPr>
              <a:t>归并，再用</a:t>
            </a:r>
          </a:p>
          <a:p>
            <a:pPr algn="l" lvl="0"/>
            <a:r>
              <a:rPr lang="zh-CN" sz="1600">
                <a:solidFill>
                  <a:srgbClr val="2E4438"/>
                </a:solidFill>
                <a:latin typeface="楷体"/>
                <a:ea typeface="楷体"/>
              </a:rPr>
              <a:t>课本原文验</a:t>
            </a:r>
          </a:p>
          <a:p>
            <a:pPr algn="l" lvl="0"/>
            <a:r>
              <a:rPr lang="zh-CN" sz="1600">
                <a:solidFill>
                  <a:srgbClr val="2E4438"/>
                </a:solidFill>
                <a:latin typeface="楷体"/>
                <a:ea typeface="楷体"/>
              </a:rPr>
              <a:t>证——论从</a:t>
            </a:r>
          </a:p>
          <a:p>
            <a:pPr algn="l" lvl="0"/>
            <a:r>
              <a:rPr lang="zh-CN" sz="1600">
                <a:solidFill>
                  <a:srgbClr val="2E4438"/>
                </a:solidFill>
                <a:latin typeface="楷体"/>
                <a:ea typeface="楷体"/>
              </a:rPr>
              <a:t>史出。</a:t>
            </a:r>
          </a:p>
        </p:txBody>
      </p:sp>
    </p:spTree>
  </p:cSld>
  <p:clrMapOvr>
    <a:masterClrMapping/>
  </p:clrMapOvr>
  <p:transition xmlns:p="http://schemas.openxmlformats.org/presentationml/2006/main" spd="med">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506"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507" name="hd_secbar"/>
          <p:cNvSpPr/>
          <p:nvPr/>
        </p:nvSpPr>
        <p:spPr>
          <a:xfrm>
            <a:off x="609600" y="317500"/>
            <a:ext cx="44450" cy="228600"/>
          </a:xfrm>
          <a:prstGeom prst="rect">
            <a:avLst/>
          </a:prstGeom>
          <a:gradFill rotWithShape="1">
            <a:gsLst>
              <a:gs pos="0">
                <a:srgbClr val="1F6383"/>
              </a:gs>
              <a:gs pos="100000">
                <a:srgbClr val="6FC7E8">
                  <a:alpha val="100000"/>
                </a:srgbClr>
              </a:gs>
            </a:gsLst>
            <a:lin ang="5400000" scaled="1"/>
          </a:gradFill>
          <a:ln>
            <a:noFill/>
          </a:ln>
        </p:spPr>
        <p:txBody>
          <a:bodyPr rtlCol="0" anchor="ctr"/>
          <a:lstStyle/>
          <a:p/>
        </p:txBody>
      </p:sp>
      <p:sp>
        <p:nvSpPr>
          <p:cNvPr id="1508" name="hd_sec"/>
          <p:cNvSpPr txBox="1"/>
          <p:nvPr/>
        </p:nvSpPr>
        <p:spPr>
          <a:xfrm>
            <a:off x="736600" y="317500"/>
            <a:ext cx="3476600" cy="228600"/>
          </a:xfrm>
          <a:prstGeom prst="rect">
            <a:avLst/>
          </a:prstGeom>
        </p:spPr>
        <p:txBody>
          <a:bodyPr wrap="square" lIns="0" rIns="0" tIns="0" bIns="0"/>
          <a:lstStyle/>
          <a:p>
            <a:pPr algn="l" lvl="0"/>
            <a:r>
              <a:rPr lang="zh-CN" sz="1400" b="1">
                <a:solidFill>
                  <a:srgbClr val="1F6383"/>
                </a:solidFill>
                <a:latin typeface="黑体"/>
                <a:ea typeface="黑体"/>
              </a:rPr>
              <a:t>子任务二 · 撰写解说——解码新成就</a:t>
            </a:r>
          </a:p>
        </p:txBody>
      </p:sp>
      <p:sp>
        <p:nvSpPr>
          <p:cNvPr id="1509"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四步解码法 · 用在这条河上</a:t>
            </a:r>
          </a:p>
        </p:txBody>
      </p:sp>
      <p:sp>
        <p:nvSpPr>
          <p:cNvPr id="1510" name="hd_rule2"/>
          <p:cNvSpPr/>
          <p:nvPr/>
        </p:nvSpPr>
        <p:spPr>
          <a:xfrm>
            <a:off x="558800" y="1143000"/>
            <a:ext cx="1625600" cy="44450"/>
          </a:xfrm>
          <a:prstGeom prst="rect">
            <a:avLst/>
          </a:prstGeom>
          <a:gradFill rotWithShape="1">
            <a:gsLst>
              <a:gs pos="0">
                <a:srgbClr val="1F6383"/>
              </a:gs>
              <a:gs pos="100000">
                <a:srgbClr val="6FC7E8">
                  <a:alpha val="100000"/>
                </a:srgbClr>
              </a:gs>
            </a:gsLst>
            <a:lin ang="0" scaled="1"/>
          </a:gradFill>
          <a:ln>
            <a:noFill/>
          </a:ln>
        </p:spPr>
        <p:txBody>
          <a:bodyPr rtlCol="0" anchor="ctr"/>
          <a:lstStyle/>
          <a:p/>
        </p:txBody>
      </p:sp>
      <p:sp>
        <p:nvSpPr>
          <p:cNvPr id="1511" name="hd_rule"/>
          <p:cNvSpPr/>
          <p:nvPr/>
        </p:nvSpPr>
        <p:spPr>
          <a:xfrm>
            <a:off x="2260600" y="1158240"/>
            <a:ext cx="5867400" cy="19050"/>
          </a:xfrm>
          <a:prstGeom prst="rect">
            <a:avLst/>
          </a:prstGeom>
          <a:solidFill>
            <a:srgbClr val="6FC7E8">
              <a:alpha val="40000"/>
            </a:srgbClr>
          </a:solidFill>
          <a:ln>
            <a:noFill/>
          </a:ln>
        </p:spPr>
        <p:txBody>
          <a:bodyPr rtlCol="0" anchor="ctr"/>
          <a:lstStyle/>
          <a:p/>
        </p:txBody>
      </p:sp>
      <p:cxnSp>
        <p:nvCxnSpPr>
          <p:cNvPr id="1512" name="rb_rule"/>
          <p:cNvCxnSpPr/>
          <p:nvPr/>
        </p:nvCxnSpPr>
        <p:spPr>
          <a:xfrm>
            <a:off x="8280400" y="1422400"/>
            <a:ext cx="0" cy="4267200"/>
          </a:xfrm>
          <a:prstGeom prst="straightConnector1">
            <a:avLst/>
          </a:prstGeom>
          <a:ln w="19050">
            <a:solidFill>
              <a:srgbClr val="7E9A85"/>
            </a:solidFill>
          </a:ln>
        </p:spPr>
      </p:cxnSp>
      <p:sp>
        <p:nvSpPr>
          <p:cNvPr id="1513" name="rb_chip_a"/>
          <p:cNvSpPr/>
          <p:nvPr/>
        </p:nvSpPr>
        <p:spPr>
          <a:xfrm>
            <a:off x="8229600" y="1219200"/>
            <a:ext cx="152400" cy="152400"/>
          </a:xfrm>
          <a:prstGeom prst="rect">
            <a:avLst/>
          </a:prstGeom>
          <a:gradFill rotWithShape="1">
            <a:gsLst>
              <a:gs pos="0">
                <a:srgbClr val="6FC7E8"/>
              </a:gs>
              <a:gs pos="100000">
                <a:srgbClr val="1F6383">
                  <a:alpha val="100000"/>
                </a:srgbClr>
              </a:gs>
            </a:gsLst>
            <a:lin ang="8100000" scaled="1"/>
          </a:gradFill>
          <a:ln>
            <a:noFill/>
          </a:ln>
        </p:spPr>
        <p:txBody>
          <a:bodyPr rtlCol="0" anchor="ctr"/>
          <a:lstStyle/>
          <a:p/>
        </p:txBody>
      </p:sp>
      <p:sp>
        <p:nvSpPr>
          <p:cNvPr id="1514" name="rb_chip_b"/>
          <p:cNvSpPr/>
          <p:nvPr/>
        </p:nvSpPr>
        <p:spPr>
          <a:xfrm>
            <a:off x="8280400" y="1193800"/>
            <a:ext cx="101600" cy="101600"/>
          </a:xfrm>
          <a:prstGeom prst="rect">
            <a:avLst/>
          </a:prstGeom>
          <a:solidFill>
            <a:srgbClr val="1F6383"/>
          </a:solidFill>
          <a:ln>
            <a:noFill/>
          </a:ln>
        </p:spPr>
        <p:txBody>
          <a:bodyPr rtlCol="0" anchor="ctr"/>
          <a:lstStyle/>
          <a:p/>
        </p:txBody>
      </p:sp>
      <p:sp>
        <p:nvSpPr>
          <p:cNvPr id="1515"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516"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517" name="rb_tagrule"/>
          <p:cNvCxnSpPr/>
          <p:nvPr/>
        </p:nvCxnSpPr>
        <p:spPr>
          <a:xfrm>
            <a:off x="11226800" y="2260600"/>
            <a:ext cx="482600" cy="0"/>
          </a:xfrm>
          <a:prstGeom prst="straightConnector1">
            <a:avLst/>
          </a:prstGeom>
          <a:ln w="12700">
            <a:solidFill>
              <a:srgbClr val="7E9A85"/>
            </a:solidFill>
          </a:ln>
        </p:spPr>
      </p:cxnSp>
      <p:sp>
        <p:nvSpPr>
          <p:cNvPr id="1518"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6FC7E8"/>
                </a:solidFill>
                <a:latin typeface="黑体"/>
                <a:ea typeface="黑体"/>
              </a:rPr>
              <a:t>17 / 42</a:t>
            </a:r>
          </a:p>
        </p:txBody>
      </p:sp>
      <p:sp>
        <p:nvSpPr>
          <p:cNvPr id="1519" name="p17tag_sh"/>
          <p:cNvSpPr/>
          <p:nvPr/>
        </p:nvSpPr>
        <p:spPr>
          <a:xfrm>
            <a:off x="584200" y="13208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520" name="p17tag"/>
          <p:cNvSpPr/>
          <p:nvPr/>
        </p:nvSpPr>
        <p:spPr>
          <a:xfrm>
            <a:off x="558800" y="1270000"/>
            <a:ext cx="7569200" cy="654812"/>
          </a:xfrm>
          <a:prstGeom prst="roundRect">
            <a:avLst>
              <a:gd name="adj" fmla="val 8000"/>
            </a:avLst>
          </a:prstGeom>
          <a:solidFill>
            <a:srgbClr val="E9EFE9"/>
          </a:solidFill>
          <a:ln w="15875">
            <a:solidFill>
              <a:srgbClr val="1F6383"/>
            </a:solidFill>
          </a:ln>
        </p:spPr>
        <p:txBody>
          <a:bodyPr rtlCol="0" anchor="ctr"/>
          <a:lstStyle/>
          <a:p/>
        </p:txBody>
      </p:sp>
      <p:sp>
        <p:nvSpPr>
          <p:cNvPr id="1521" name="p17tag_cap"/>
          <p:cNvSpPr/>
          <p:nvPr/>
        </p:nvSpPr>
        <p:spPr>
          <a:xfrm>
            <a:off x="647700" y="1346200"/>
            <a:ext cx="50800" cy="502412"/>
          </a:xfrm>
          <a:prstGeom prst="rect">
            <a:avLst/>
          </a:prstGeom>
          <a:gradFill rotWithShape="1">
            <a:gsLst>
              <a:gs pos="0">
                <a:srgbClr val="1F6383"/>
              </a:gs>
              <a:gs pos="100000">
                <a:srgbClr val="1F6383">
                  <a:alpha val="10000"/>
                </a:srgbClr>
              </a:gs>
            </a:gsLst>
            <a:lin ang="5400000" scaled="1"/>
          </a:gradFill>
          <a:ln>
            <a:noFill/>
          </a:ln>
        </p:spPr>
        <p:txBody>
          <a:bodyPr rtlCol="0" anchor="ctr"/>
          <a:lstStyle/>
          <a:p/>
        </p:txBody>
      </p:sp>
      <p:sp>
        <p:nvSpPr>
          <p:cNvPr id="1522" name="p17tag_t"/>
          <p:cNvSpPr txBox="1"/>
          <p:nvPr/>
        </p:nvSpPr>
        <p:spPr>
          <a:xfrm>
            <a:off x="711200" y="1358900"/>
            <a:ext cx="7264400" cy="477012"/>
          </a:xfrm>
          <a:prstGeom prst="rect">
            <a:avLst/>
          </a:prstGeom>
        </p:spPr>
        <p:txBody>
          <a:bodyPr wrap="square" lIns="0" rIns="0" tIns="0" bIns="0"/>
          <a:lstStyle/>
          <a:p>
            <a:pPr algn="l" lvl="0"/>
            <a:r>
              <a:rPr lang="zh-CN" sz="1800" b="1">
                <a:solidFill>
                  <a:srgbClr val="1D2B23"/>
                </a:solidFill>
                <a:latin typeface="黑体"/>
                <a:ea typeface="黑体"/>
              </a:rPr>
              <a:t>四步解码法 · 用在这条河上</a:t>
            </a:r>
          </a:p>
        </p:txBody>
      </p:sp>
      <p:sp>
        <p:nvSpPr>
          <p:cNvPr id="1523" name="rc0_sh"/>
          <p:cNvSpPr/>
          <p:nvPr/>
        </p:nvSpPr>
        <p:spPr>
          <a:xfrm>
            <a:off x="584200" y="2204212"/>
            <a:ext cx="1727200" cy="2036318"/>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524" name="rc0"/>
          <p:cNvSpPr/>
          <p:nvPr/>
        </p:nvSpPr>
        <p:spPr>
          <a:xfrm>
            <a:off x="558800" y="2153412"/>
            <a:ext cx="1778000" cy="2036318"/>
          </a:xfrm>
          <a:prstGeom prst="roundRect">
            <a:avLst>
              <a:gd name="adj" fmla="val 8000"/>
            </a:avLst>
          </a:prstGeom>
          <a:solidFill>
            <a:srgbClr val="E9EFE9"/>
          </a:solidFill>
          <a:ln w="15875">
            <a:solidFill>
              <a:srgbClr val="1F6383"/>
            </a:solidFill>
          </a:ln>
        </p:spPr>
        <p:txBody>
          <a:bodyPr rtlCol="0" anchor="ctr"/>
          <a:lstStyle/>
          <a:p/>
        </p:txBody>
      </p:sp>
      <p:sp>
        <p:nvSpPr>
          <p:cNvPr id="1525" name="rc0_le"/>
          <p:cNvSpPr/>
          <p:nvPr/>
        </p:nvSpPr>
        <p:spPr>
          <a:xfrm>
            <a:off x="584200" y="2267712"/>
            <a:ext cx="44450" cy="1807718"/>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526" name="rc0_t"/>
          <p:cNvSpPr txBox="1"/>
          <p:nvPr/>
        </p:nvSpPr>
        <p:spPr>
          <a:xfrm>
            <a:off x="711200" y="2267712"/>
            <a:ext cx="1473200" cy="374142"/>
          </a:xfrm>
          <a:prstGeom prst="rect">
            <a:avLst/>
          </a:prstGeom>
        </p:spPr>
        <p:txBody>
          <a:bodyPr wrap="square" lIns="0" rIns="0" tIns="0" bIns="0"/>
          <a:lstStyle/>
          <a:p>
            <a:pPr algn="l" lvl="0"/>
            <a:r>
              <a:rPr lang="zh-CN" sz="1700" b="1">
                <a:solidFill>
                  <a:srgbClr val="1F6383"/>
                </a:solidFill>
                <a:latin typeface="黑体"/>
                <a:ea typeface="黑体"/>
              </a:rPr>
              <a:t>1　问机制</a:t>
            </a:r>
          </a:p>
        </p:txBody>
      </p:sp>
      <p:sp>
        <p:nvSpPr>
          <p:cNvPr id="1527" name="rc0_b"/>
          <p:cNvSpPr txBox="1"/>
          <p:nvPr/>
        </p:nvSpPr>
        <p:spPr>
          <a:xfrm>
            <a:off x="711200" y="2768854"/>
            <a:ext cx="1473200" cy="1230376"/>
          </a:xfrm>
          <a:prstGeom prst="rect">
            <a:avLst/>
          </a:prstGeom>
        </p:spPr>
        <p:txBody>
          <a:bodyPr wrap="square" lIns="0" rIns="0" tIns="0" bIns="0"/>
          <a:lstStyle/>
          <a:p>
            <a:pPr algn="l" lvl="0"/>
            <a:r>
              <a:rPr lang="zh-CN" sz="1600">
                <a:solidFill>
                  <a:srgbClr val="2E4438"/>
                </a:solidFill>
                <a:latin typeface="楷体"/>
                <a:ea typeface="楷体"/>
              </a:rPr>
              <a:t>统一调度、</a:t>
            </a:r>
          </a:p>
          <a:p>
            <a:pPr algn="l" lvl="0"/>
            <a:r>
              <a:rPr lang="zh-CN" sz="1600">
                <a:solidFill>
                  <a:srgbClr val="2E4438"/>
                </a:solidFill>
                <a:latin typeface="楷体"/>
                <a:ea typeface="楷体"/>
              </a:rPr>
              <a:t>九省协同、</a:t>
            </a:r>
          </a:p>
          <a:p>
            <a:pPr algn="l" lvl="0"/>
            <a:r>
              <a:rPr lang="zh-CN" sz="1600">
                <a:solidFill>
                  <a:srgbClr val="2E4438"/>
                </a:solidFill>
                <a:latin typeface="楷体"/>
                <a:ea typeface="楷体"/>
              </a:rPr>
              <a:t>生态补水、</a:t>
            </a:r>
          </a:p>
          <a:p>
            <a:pPr algn="l" lvl="0"/>
            <a:r>
              <a:rPr lang="zh-CN" sz="1600">
                <a:solidFill>
                  <a:srgbClr val="2E4438"/>
                </a:solidFill>
                <a:latin typeface="楷体"/>
                <a:ea typeface="楷体"/>
              </a:rPr>
              <a:t>法治护航。</a:t>
            </a:r>
          </a:p>
        </p:txBody>
      </p:sp>
      <p:sp>
        <p:nvSpPr>
          <p:cNvPr id="1528" name="rc1_sh"/>
          <p:cNvSpPr/>
          <p:nvPr/>
        </p:nvSpPr>
        <p:spPr>
          <a:xfrm>
            <a:off x="2514600" y="2204212"/>
            <a:ext cx="1727200" cy="2036318"/>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529" name="rc1"/>
          <p:cNvSpPr/>
          <p:nvPr/>
        </p:nvSpPr>
        <p:spPr>
          <a:xfrm>
            <a:off x="2489200" y="2153412"/>
            <a:ext cx="1778000" cy="2036318"/>
          </a:xfrm>
          <a:prstGeom prst="roundRect">
            <a:avLst>
              <a:gd name="adj" fmla="val 8000"/>
            </a:avLst>
          </a:prstGeom>
          <a:solidFill>
            <a:srgbClr val="E9EFE9"/>
          </a:solidFill>
          <a:ln w="15875">
            <a:solidFill>
              <a:srgbClr val="1F6383"/>
            </a:solidFill>
          </a:ln>
        </p:spPr>
        <p:txBody>
          <a:bodyPr rtlCol="0" anchor="ctr"/>
          <a:lstStyle/>
          <a:p/>
        </p:txBody>
      </p:sp>
      <p:sp>
        <p:nvSpPr>
          <p:cNvPr id="1530" name="rc1_le"/>
          <p:cNvSpPr/>
          <p:nvPr/>
        </p:nvSpPr>
        <p:spPr>
          <a:xfrm>
            <a:off x="2514600" y="2267712"/>
            <a:ext cx="44450" cy="1807718"/>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531" name="rc1_t"/>
          <p:cNvSpPr txBox="1"/>
          <p:nvPr/>
        </p:nvSpPr>
        <p:spPr>
          <a:xfrm>
            <a:off x="2641600" y="2267712"/>
            <a:ext cx="1473200" cy="374142"/>
          </a:xfrm>
          <a:prstGeom prst="rect">
            <a:avLst/>
          </a:prstGeom>
        </p:spPr>
        <p:txBody>
          <a:bodyPr wrap="square" lIns="0" rIns="0" tIns="0" bIns="0"/>
          <a:lstStyle/>
          <a:p>
            <a:pPr algn="l" lvl="0"/>
            <a:r>
              <a:rPr lang="zh-CN" sz="1700" b="1">
                <a:solidFill>
                  <a:srgbClr val="1F6383"/>
                </a:solidFill>
                <a:latin typeface="黑体"/>
                <a:ea typeface="黑体"/>
              </a:rPr>
              <a:t>2　反证</a:t>
            </a:r>
          </a:p>
        </p:txBody>
      </p:sp>
      <p:sp>
        <p:nvSpPr>
          <p:cNvPr id="1532" name="rc1_b"/>
          <p:cNvSpPr txBox="1"/>
          <p:nvPr/>
        </p:nvSpPr>
        <p:spPr>
          <a:xfrm>
            <a:off x="2641600" y="2768854"/>
            <a:ext cx="1473200" cy="1230376"/>
          </a:xfrm>
          <a:prstGeom prst="rect">
            <a:avLst/>
          </a:prstGeom>
        </p:spPr>
        <p:txBody>
          <a:bodyPr wrap="square" lIns="0" rIns="0" tIns="0" bIns="0"/>
          <a:lstStyle/>
          <a:p>
            <a:pPr algn="l" lvl="0"/>
            <a:r>
              <a:rPr lang="zh-CN" sz="1600">
                <a:solidFill>
                  <a:srgbClr val="2E4438"/>
                </a:solidFill>
                <a:latin typeface="楷体"/>
                <a:ea typeface="楷体"/>
              </a:rPr>
              <a:t>没有党中央</a:t>
            </a:r>
          </a:p>
          <a:p>
            <a:pPr algn="l" lvl="0"/>
            <a:r>
              <a:rPr lang="zh-CN" sz="1600">
                <a:solidFill>
                  <a:srgbClr val="2E4438"/>
                </a:solidFill>
                <a:latin typeface="楷体"/>
                <a:ea typeface="楷体"/>
              </a:rPr>
              <a:t>集中统一领</a:t>
            </a:r>
          </a:p>
          <a:p>
            <a:pPr algn="l" lvl="0"/>
            <a:r>
              <a:rPr lang="zh-CN" sz="1600">
                <a:solidFill>
                  <a:srgbClr val="2E4438"/>
                </a:solidFill>
                <a:latin typeface="楷体"/>
                <a:ea typeface="楷体"/>
              </a:rPr>
              <a:t>导，跨九省</a:t>
            </a:r>
          </a:p>
          <a:p>
            <a:pPr algn="l" lvl="0"/>
            <a:r>
              <a:rPr lang="zh-CN" sz="1600">
                <a:solidFill>
                  <a:srgbClr val="2E4438"/>
                </a:solidFill>
                <a:latin typeface="楷体"/>
                <a:ea typeface="楷体"/>
              </a:rPr>
              <a:t>工程难成。</a:t>
            </a:r>
          </a:p>
        </p:txBody>
      </p:sp>
      <p:sp>
        <p:nvSpPr>
          <p:cNvPr id="1533" name="rc2_sh"/>
          <p:cNvSpPr/>
          <p:nvPr/>
        </p:nvSpPr>
        <p:spPr>
          <a:xfrm>
            <a:off x="4445000" y="2204212"/>
            <a:ext cx="1727200" cy="2036318"/>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534" name="rc2"/>
          <p:cNvSpPr/>
          <p:nvPr/>
        </p:nvSpPr>
        <p:spPr>
          <a:xfrm>
            <a:off x="4419600" y="2153412"/>
            <a:ext cx="1778000" cy="2036318"/>
          </a:xfrm>
          <a:prstGeom prst="roundRect">
            <a:avLst>
              <a:gd name="adj" fmla="val 8000"/>
            </a:avLst>
          </a:prstGeom>
          <a:solidFill>
            <a:srgbClr val="E9EFE9"/>
          </a:solidFill>
          <a:ln w="15875">
            <a:solidFill>
              <a:srgbClr val="1F6383"/>
            </a:solidFill>
          </a:ln>
        </p:spPr>
        <p:txBody>
          <a:bodyPr rtlCol="0" anchor="ctr"/>
          <a:lstStyle/>
          <a:p/>
        </p:txBody>
      </p:sp>
      <p:sp>
        <p:nvSpPr>
          <p:cNvPr id="1535" name="rc2_le"/>
          <p:cNvSpPr/>
          <p:nvPr/>
        </p:nvSpPr>
        <p:spPr>
          <a:xfrm>
            <a:off x="4445000" y="2267712"/>
            <a:ext cx="44450" cy="1807718"/>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536" name="rc2_t"/>
          <p:cNvSpPr txBox="1"/>
          <p:nvPr/>
        </p:nvSpPr>
        <p:spPr>
          <a:xfrm>
            <a:off x="4572000" y="2411984"/>
            <a:ext cx="1473200" cy="374142"/>
          </a:xfrm>
          <a:prstGeom prst="rect">
            <a:avLst/>
          </a:prstGeom>
        </p:spPr>
        <p:txBody>
          <a:bodyPr wrap="square" lIns="0" rIns="0" tIns="0" bIns="0"/>
          <a:lstStyle/>
          <a:p>
            <a:pPr algn="l" lvl="0"/>
            <a:r>
              <a:rPr lang="zh-CN" sz="1700" b="1">
                <a:solidFill>
                  <a:srgbClr val="1F6383"/>
                </a:solidFill>
                <a:latin typeface="黑体"/>
                <a:ea typeface="黑体"/>
              </a:rPr>
              <a:t>3　比较</a:t>
            </a:r>
          </a:p>
        </p:txBody>
      </p:sp>
      <p:sp>
        <p:nvSpPr>
          <p:cNvPr id="1537" name="rc2_b"/>
          <p:cNvSpPr txBox="1"/>
          <p:nvPr/>
        </p:nvSpPr>
        <p:spPr>
          <a:xfrm>
            <a:off x="4572000" y="2913126"/>
            <a:ext cx="1473200" cy="941832"/>
          </a:xfrm>
          <a:prstGeom prst="rect">
            <a:avLst/>
          </a:prstGeom>
        </p:spPr>
        <p:txBody>
          <a:bodyPr wrap="square" lIns="0" rIns="0" tIns="0" bIns="0"/>
          <a:lstStyle/>
          <a:p>
            <a:pPr algn="l" lvl="0"/>
            <a:r>
              <a:rPr lang="zh-CN" sz="1600">
                <a:solidFill>
                  <a:srgbClr val="2E4438"/>
                </a:solidFill>
                <a:latin typeface="楷体"/>
                <a:ea typeface="楷体"/>
              </a:rPr>
              <a:t>别国大河治</a:t>
            </a:r>
          </a:p>
          <a:p>
            <a:pPr algn="l" lvl="0"/>
            <a:r>
              <a:rPr lang="zh-CN" sz="1600">
                <a:solidFill>
                  <a:srgbClr val="2E4438"/>
                </a:solidFill>
                <a:latin typeface="楷体"/>
                <a:ea typeface="楷体"/>
              </a:rPr>
              <a:t>理常因跨区</a:t>
            </a:r>
          </a:p>
          <a:p>
            <a:pPr algn="l" lvl="0"/>
            <a:r>
              <a:rPr lang="zh-CN" sz="1600">
                <a:solidFill>
                  <a:srgbClr val="2E4438"/>
                </a:solidFill>
                <a:latin typeface="楷体"/>
                <a:ea typeface="楷体"/>
              </a:rPr>
              <a:t>协调失败。</a:t>
            </a:r>
          </a:p>
        </p:txBody>
      </p:sp>
      <p:sp>
        <p:nvSpPr>
          <p:cNvPr id="1538" name="rc3_sh"/>
          <p:cNvSpPr/>
          <p:nvPr/>
        </p:nvSpPr>
        <p:spPr>
          <a:xfrm>
            <a:off x="6375400" y="2204212"/>
            <a:ext cx="1727200" cy="2036318"/>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539" name="rc3"/>
          <p:cNvSpPr/>
          <p:nvPr/>
        </p:nvSpPr>
        <p:spPr>
          <a:xfrm>
            <a:off x="6350000" y="2153412"/>
            <a:ext cx="1778000" cy="2036318"/>
          </a:xfrm>
          <a:prstGeom prst="roundRect">
            <a:avLst>
              <a:gd name="adj" fmla="val 8000"/>
            </a:avLst>
          </a:prstGeom>
          <a:solidFill>
            <a:srgbClr val="E9EFE9"/>
          </a:solidFill>
          <a:ln w="15875">
            <a:solidFill>
              <a:srgbClr val="1F6383"/>
            </a:solidFill>
          </a:ln>
        </p:spPr>
        <p:txBody>
          <a:bodyPr rtlCol="0" anchor="ctr"/>
          <a:lstStyle/>
          <a:p/>
        </p:txBody>
      </p:sp>
      <p:sp>
        <p:nvSpPr>
          <p:cNvPr id="1540" name="rc3_le"/>
          <p:cNvSpPr/>
          <p:nvPr/>
        </p:nvSpPr>
        <p:spPr>
          <a:xfrm>
            <a:off x="6375400" y="2267712"/>
            <a:ext cx="44450" cy="1807718"/>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541" name="rc3_t"/>
          <p:cNvSpPr txBox="1"/>
          <p:nvPr/>
        </p:nvSpPr>
        <p:spPr>
          <a:xfrm>
            <a:off x="6502400" y="2267712"/>
            <a:ext cx="1473200" cy="374142"/>
          </a:xfrm>
          <a:prstGeom prst="rect">
            <a:avLst/>
          </a:prstGeom>
        </p:spPr>
        <p:txBody>
          <a:bodyPr wrap="square" lIns="0" rIns="0" tIns="0" bIns="0"/>
          <a:lstStyle/>
          <a:p>
            <a:pPr algn="l" lvl="0"/>
            <a:r>
              <a:rPr lang="zh-CN" sz="1700" b="1">
                <a:solidFill>
                  <a:srgbClr val="1F6383"/>
                </a:solidFill>
                <a:latin typeface="黑体"/>
                <a:ea typeface="黑体"/>
              </a:rPr>
              <a:t>4　归纳</a:t>
            </a:r>
          </a:p>
        </p:txBody>
      </p:sp>
      <p:sp>
        <p:nvSpPr>
          <p:cNvPr id="1542" name="rc3_b"/>
          <p:cNvSpPr txBox="1"/>
          <p:nvPr/>
        </p:nvSpPr>
        <p:spPr>
          <a:xfrm>
            <a:off x="6502400" y="2768854"/>
            <a:ext cx="1473200" cy="1230376"/>
          </a:xfrm>
          <a:prstGeom prst="rect">
            <a:avLst/>
          </a:prstGeom>
        </p:spPr>
        <p:txBody>
          <a:bodyPr wrap="square" lIns="0" rIns="0" tIns="0" bIns="0"/>
          <a:lstStyle/>
          <a:p>
            <a:pPr algn="l" lvl="0"/>
            <a:r>
              <a:rPr lang="zh-CN" sz="1600">
                <a:solidFill>
                  <a:srgbClr val="2E4438"/>
                </a:solidFill>
                <a:latin typeface="楷体"/>
                <a:ea typeface="楷体"/>
              </a:rPr>
              <a:t>抽象出不可</a:t>
            </a:r>
          </a:p>
          <a:p>
            <a:pPr algn="l" lvl="0"/>
            <a:r>
              <a:rPr lang="zh-CN" sz="1600">
                <a:solidFill>
                  <a:srgbClr val="2E4438"/>
                </a:solidFill>
                <a:latin typeface="楷体"/>
                <a:ea typeface="楷体"/>
              </a:rPr>
              <a:t>替代的条件，</a:t>
            </a:r>
          </a:p>
          <a:p>
            <a:pPr algn="l" lvl="0"/>
            <a:r>
              <a:rPr lang="zh-CN" sz="1600">
                <a:solidFill>
                  <a:srgbClr val="2E4438"/>
                </a:solidFill>
                <a:latin typeface="楷体"/>
                <a:ea typeface="楷体"/>
              </a:rPr>
              <a:t>再用课本验</a:t>
            </a:r>
          </a:p>
          <a:p>
            <a:pPr algn="l" lvl="0"/>
            <a:r>
              <a:rPr lang="zh-CN" sz="1600">
                <a:solidFill>
                  <a:srgbClr val="2E4438"/>
                </a:solidFill>
                <a:latin typeface="楷体"/>
                <a:ea typeface="楷体"/>
              </a:rPr>
              <a:t>证。</a:t>
            </a:r>
          </a:p>
        </p:txBody>
      </p:sp>
      <p:sp>
        <p:nvSpPr>
          <p:cNvPr id="1543" name="p17sum_sh"/>
          <p:cNvSpPr/>
          <p:nvPr/>
        </p:nvSpPr>
        <p:spPr>
          <a:xfrm>
            <a:off x="584200" y="4469130"/>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544" name="p17sum"/>
          <p:cNvSpPr/>
          <p:nvPr/>
        </p:nvSpPr>
        <p:spPr>
          <a:xfrm>
            <a:off x="558800" y="4418330"/>
            <a:ext cx="7569200" cy="618744"/>
          </a:xfrm>
          <a:prstGeom prst="roundRect">
            <a:avLst>
              <a:gd name="adj" fmla="val 8000"/>
            </a:avLst>
          </a:prstGeom>
          <a:solidFill>
            <a:srgbClr val="E9EFE9"/>
          </a:solidFill>
          <a:ln w="15875">
            <a:solidFill>
              <a:srgbClr val="1F6383"/>
            </a:solidFill>
          </a:ln>
        </p:spPr>
        <p:txBody>
          <a:bodyPr rtlCol="0" anchor="ctr"/>
          <a:lstStyle/>
          <a:p/>
        </p:txBody>
      </p:sp>
      <p:sp>
        <p:nvSpPr>
          <p:cNvPr id="1545" name="p17sum_cap"/>
          <p:cNvSpPr/>
          <p:nvPr/>
        </p:nvSpPr>
        <p:spPr>
          <a:xfrm>
            <a:off x="647700" y="4494530"/>
            <a:ext cx="50800" cy="466344"/>
          </a:xfrm>
          <a:prstGeom prst="rect">
            <a:avLst/>
          </a:prstGeom>
          <a:gradFill rotWithShape="1">
            <a:gsLst>
              <a:gs pos="0">
                <a:srgbClr val="1F6383"/>
              </a:gs>
              <a:gs pos="100000">
                <a:srgbClr val="1F6383">
                  <a:alpha val="10000"/>
                </a:srgbClr>
              </a:gs>
            </a:gsLst>
            <a:lin ang="5400000" scaled="1"/>
          </a:gradFill>
          <a:ln>
            <a:noFill/>
          </a:ln>
        </p:spPr>
        <p:txBody>
          <a:bodyPr rtlCol="0" anchor="ctr"/>
          <a:lstStyle/>
          <a:p/>
        </p:txBody>
      </p:sp>
      <p:sp>
        <p:nvSpPr>
          <p:cNvPr id="1546" name="p17sum_t"/>
          <p:cNvSpPr txBox="1"/>
          <p:nvPr/>
        </p:nvSpPr>
        <p:spPr>
          <a:xfrm>
            <a:off x="711200" y="4507230"/>
            <a:ext cx="7264400" cy="440944"/>
          </a:xfrm>
          <a:prstGeom prst="rect">
            <a:avLst/>
          </a:prstGeom>
        </p:spPr>
        <p:txBody>
          <a:bodyPr wrap="square" lIns="0" rIns="0" tIns="0" bIns="0"/>
          <a:lstStyle/>
          <a:p>
            <a:pPr algn="l" lvl="0"/>
            <a:r>
              <a:rPr lang="zh-CN" sz="1600" b="1">
                <a:solidFill>
                  <a:srgbClr val="1D2B23"/>
                </a:solidFill>
                <a:latin typeface="黑体"/>
                <a:ea typeface="黑体"/>
              </a:rPr>
              <a:t>四步走完，答案就不是“背”出来的，而是推出来的。</a:t>
            </a:r>
          </a:p>
        </p:txBody>
      </p:sp>
    </p:spTree>
  </p:cSld>
  <p:clrMapOvr>
    <a:masterClrMapping/>
  </p:clrMapOvr>
  <p:transition xmlns:p="http://schemas.openxmlformats.org/presentationml/2006/mai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547"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548" name="hd_secbar"/>
          <p:cNvSpPr/>
          <p:nvPr/>
        </p:nvSpPr>
        <p:spPr>
          <a:xfrm>
            <a:off x="609600" y="317500"/>
            <a:ext cx="44450" cy="228600"/>
          </a:xfrm>
          <a:prstGeom prst="rect">
            <a:avLst/>
          </a:prstGeom>
          <a:gradFill rotWithShape="1">
            <a:gsLst>
              <a:gs pos="0">
                <a:srgbClr val="1F6383"/>
              </a:gs>
              <a:gs pos="100000">
                <a:srgbClr val="6FC7E8">
                  <a:alpha val="100000"/>
                </a:srgbClr>
              </a:gs>
            </a:gsLst>
            <a:lin ang="5400000" scaled="1"/>
          </a:gradFill>
          <a:ln>
            <a:noFill/>
          </a:ln>
        </p:spPr>
        <p:txBody>
          <a:bodyPr rtlCol="0" anchor="ctr"/>
          <a:lstStyle/>
          <a:p/>
        </p:txBody>
      </p:sp>
      <p:sp>
        <p:nvSpPr>
          <p:cNvPr id="1549" name="hd_sec"/>
          <p:cNvSpPr txBox="1"/>
          <p:nvPr/>
        </p:nvSpPr>
        <p:spPr>
          <a:xfrm>
            <a:off x="736600" y="317500"/>
            <a:ext cx="3476600" cy="228600"/>
          </a:xfrm>
          <a:prstGeom prst="rect">
            <a:avLst/>
          </a:prstGeom>
        </p:spPr>
        <p:txBody>
          <a:bodyPr wrap="square" lIns="0" rIns="0" tIns="0" bIns="0"/>
          <a:lstStyle/>
          <a:p>
            <a:pPr algn="l" lvl="0"/>
            <a:r>
              <a:rPr lang="zh-CN" sz="1400" b="1">
                <a:solidFill>
                  <a:srgbClr val="1F6383"/>
                </a:solidFill>
                <a:latin typeface="黑体"/>
                <a:ea typeface="黑体"/>
              </a:rPr>
              <a:t>子任务二 · 撰写解说——解码新成就</a:t>
            </a:r>
          </a:p>
        </p:txBody>
      </p:sp>
      <p:sp>
        <p:nvSpPr>
          <p:cNvPr id="1550"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四大原因 · 成就背后的密码</a:t>
            </a:r>
          </a:p>
        </p:txBody>
      </p:sp>
      <p:sp>
        <p:nvSpPr>
          <p:cNvPr id="1551" name="hd_rule2"/>
          <p:cNvSpPr/>
          <p:nvPr/>
        </p:nvSpPr>
        <p:spPr>
          <a:xfrm>
            <a:off x="558800" y="1143000"/>
            <a:ext cx="1625600" cy="44450"/>
          </a:xfrm>
          <a:prstGeom prst="rect">
            <a:avLst/>
          </a:prstGeom>
          <a:gradFill rotWithShape="1">
            <a:gsLst>
              <a:gs pos="0">
                <a:srgbClr val="1F6383"/>
              </a:gs>
              <a:gs pos="100000">
                <a:srgbClr val="6FC7E8">
                  <a:alpha val="100000"/>
                </a:srgbClr>
              </a:gs>
            </a:gsLst>
            <a:lin ang="0" scaled="1"/>
          </a:gradFill>
          <a:ln>
            <a:noFill/>
          </a:ln>
        </p:spPr>
        <p:txBody>
          <a:bodyPr rtlCol="0" anchor="ctr"/>
          <a:lstStyle/>
          <a:p/>
        </p:txBody>
      </p:sp>
      <p:sp>
        <p:nvSpPr>
          <p:cNvPr id="1552" name="hd_rule"/>
          <p:cNvSpPr/>
          <p:nvPr/>
        </p:nvSpPr>
        <p:spPr>
          <a:xfrm>
            <a:off x="2260600" y="1158240"/>
            <a:ext cx="5867400" cy="19050"/>
          </a:xfrm>
          <a:prstGeom prst="rect">
            <a:avLst/>
          </a:prstGeom>
          <a:solidFill>
            <a:srgbClr val="6FC7E8">
              <a:alpha val="40000"/>
            </a:srgbClr>
          </a:solidFill>
          <a:ln>
            <a:noFill/>
          </a:ln>
        </p:spPr>
        <p:txBody>
          <a:bodyPr rtlCol="0" anchor="ctr"/>
          <a:lstStyle/>
          <a:p/>
        </p:txBody>
      </p:sp>
      <p:cxnSp>
        <p:nvCxnSpPr>
          <p:cNvPr id="1553" name="rb_rule"/>
          <p:cNvCxnSpPr/>
          <p:nvPr/>
        </p:nvCxnSpPr>
        <p:spPr>
          <a:xfrm>
            <a:off x="8280400" y="1422400"/>
            <a:ext cx="0" cy="4267200"/>
          </a:xfrm>
          <a:prstGeom prst="straightConnector1">
            <a:avLst/>
          </a:prstGeom>
          <a:ln w="19050">
            <a:solidFill>
              <a:srgbClr val="7E9A85"/>
            </a:solidFill>
          </a:ln>
        </p:spPr>
      </p:cxnSp>
      <p:sp>
        <p:nvSpPr>
          <p:cNvPr id="1554" name="rb_chip_a"/>
          <p:cNvSpPr/>
          <p:nvPr/>
        </p:nvSpPr>
        <p:spPr>
          <a:xfrm>
            <a:off x="8229600" y="1219200"/>
            <a:ext cx="152400" cy="152400"/>
          </a:xfrm>
          <a:prstGeom prst="rect">
            <a:avLst/>
          </a:prstGeom>
          <a:gradFill rotWithShape="1">
            <a:gsLst>
              <a:gs pos="0">
                <a:srgbClr val="6FC7E8"/>
              </a:gs>
              <a:gs pos="100000">
                <a:srgbClr val="1F6383">
                  <a:alpha val="100000"/>
                </a:srgbClr>
              </a:gs>
            </a:gsLst>
            <a:lin ang="8100000" scaled="1"/>
          </a:gradFill>
          <a:ln>
            <a:noFill/>
          </a:ln>
        </p:spPr>
        <p:txBody>
          <a:bodyPr rtlCol="0" anchor="ctr"/>
          <a:lstStyle/>
          <a:p/>
        </p:txBody>
      </p:sp>
      <p:sp>
        <p:nvSpPr>
          <p:cNvPr id="1555" name="rb_chip_b"/>
          <p:cNvSpPr/>
          <p:nvPr/>
        </p:nvSpPr>
        <p:spPr>
          <a:xfrm>
            <a:off x="8280400" y="1193800"/>
            <a:ext cx="101600" cy="101600"/>
          </a:xfrm>
          <a:prstGeom prst="rect">
            <a:avLst/>
          </a:prstGeom>
          <a:solidFill>
            <a:srgbClr val="1F6383"/>
          </a:solidFill>
          <a:ln>
            <a:noFill/>
          </a:ln>
        </p:spPr>
        <p:txBody>
          <a:bodyPr rtlCol="0" anchor="ctr"/>
          <a:lstStyle/>
          <a:p/>
        </p:txBody>
      </p:sp>
      <p:sp>
        <p:nvSpPr>
          <p:cNvPr id="1556"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557"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558" name="rb_tagrule"/>
          <p:cNvCxnSpPr/>
          <p:nvPr/>
        </p:nvCxnSpPr>
        <p:spPr>
          <a:xfrm>
            <a:off x="11226800" y="2260600"/>
            <a:ext cx="482600" cy="0"/>
          </a:xfrm>
          <a:prstGeom prst="straightConnector1">
            <a:avLst/>
          </a:prstGeom>
          <a:ln w="12700">
            <a:solidFill>
              <a:srgbClr val="7E9A85"/>
            </a:solidFill>
          </a:ln>
        </p:spPr>
      </p:cxnSp>
      <p:sp>
        <p:nvSpPr>
          <p:cNvPr id="1559"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6FC7E8"/>
                </a:solidFill>
                <a:latin typeface="黑体"/>
                <a:ea typeface="黑体"/>
              </a:rPr>
              <a:t>18 / 42</a:t>
            </a:r>
          </a:p>
        </p:txBody>
      </p:sp>
      <p:sp>
        <p:nvSpPr>
          <p:cNvPr id="1560" name="p18q_sh"/>
          <p:cNvSpPr/>
          <p:nvPr/>
        </p:nvSpPr>
        <p:spPr>
          <a:xfrm>
            <a:off x="584200" y="13208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561" name="p18q"/>
          <p:cNvSpPr/>
          <p:nvPr/>
        </p:nvSpPr>
        <p:spPr>
          <a:xfrm>
            <a:off x="558800" y="1270000"/>
            <a:ext cx="7569200" cy="654812"/>
          </a:xfrm>
          <a:prstGeom prst="roundRect">
            <a:avLst>
              <a:gd name="adj" fmla="val 8000"/>
            </a:avLst>
          </a:prstGeom>
          <a:solidFill>
            <a:srgbClr val="E9EFE9"/>
          </a:solidFill>
          <a:ln w="15875">
            <a:solidFill>
              <a:srgbClr val="1F6383"/>
            </a:solidFill>
          </a:ln>
        </p:spPr>
        <p:txBody>
          <a:bodyPr rtlCol="0" anchor="ctr"/>
          <a:lstStyle/>
          <a:p/>
        </p:txBody>
      </p:sp>
      <p:sp>
        <p:nvSpPr>
          <p:cNvPr id="1562" name="p18q_cap"/>
          <p:cNvSpPr/>
          <p:nvPr/>
        </p:nvSpPr>
        <p:spPr>
          <a:xfrm>
            <a:off x="647700" y="1346200"/>
            <a:ext cx="50800" cy="502412"/>
          </a:xfrm>
          <a:prstGeom prst="rect">
            <a:avLst/>
          </a:prstGeom>
          <a:gradFill rotWithShape="1">
            <a:gsLst>
              <a:gs pos="0">
                <a:srgbClr val="1F6383"/>
              </a:gs>
              <a:gs pos="100000">
                <a:srgbClr val="1F6383">
                  <a:alpha val="10000"/>
                </a:srgbClr>
              </a:gs>
            </a:gsLst>
            <a:lin ang="5400000" scaled="1"/>
          </a:gradFill>
          <a:ln>
            <a:noFill/>
          </a:ln>
        </p:spPr>
        <p:txBody>
          <a:bodyPr rtlCol="0" anchor="ctr"/>
          <a:lstStyle/>
          <a:p/>
        </p:txBody>
      </p:sp>
      <p:sp>
        <p:nvSpPr>
          <p:cNvPr id="1563" name="p18q_t"/>
          <p:cNvSpPr txBox="1"/>
          <p:nvPr/>
        </p:nvSpPr>
        <p:spPr>
          <a:xfrm>
            <a:off x="711200" y="1358900"/>
            <a:ext cx="7264400" cy="477012"/>
          </a:xfrm>
          <a:prstGeom prst="rect">
            <a:avLst/>
          </a:prstGeom>
        </p:spPr>
        <p:txBody>
          <a:bodyPr wrap="square" lIns="0" rIns="0" tIns="0" bIns="0"/>
          <a:lstStyle/>
          <a:p>
            <a:pPr algn="l" lvl="0"/>
            <a:r>
              <a:rPr lang="zh-CN" sz="1800" b="1">
                <a:solidFill>
                  <a:srgbClr val="1D2B23"/>
                </a:solidFill>
                <a:latin typeface="黑体"/>
                <a:ea typeface="黑体"/>
              </a:rPr>
              <a:t>新时代党和国家事业取得辉煌成就的原因是什么？</a:t>
            </a:r>
          </a:p>
        </p:txBody>
      </p:sp>
      <p:sp>
        <p:nvSpPr>
          <p:cNvPr id="1564" name="rc0_sh"/>
          <p:cNvSpPr/>
          <p:nvPr/>
        </p:nvSpPr>
        <p:spPr>
          <a:xfrm>
            <a:off x="584200" y="2229612"/>
            <a:ext cx="1727200" cy="2324862"/>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565" name="rc0"/>
          <p:cNvSpPr/>
          <p:nvPr/>
        </p:nvSpPr>
        <p:spPr>
          <a:xfrm>
            <a:off x="558800" y="2178812"/>
            <a:ext cx="1778000" cy="2324862"/>
          </a:xfrm>
          <a:prstGeom prst="roundRect">
            <a:avLst>
              <a:gd name="adj" fmla="val 8000"/>
            </a:avLst>
          </a:prstGeom>
          <a:solidFill>
            <a:srgbClr val="E9EFE9"/>
          </a:solidFill>
          <a:ln w="15875">
            <a:solidFill>
              <a:srgbClr val="1F6383"/>
            </a:solidFill>
          </a:ln>
        </p:spPr>
        <p:txBody>
          <a:bodyPr rtlCol="0" anchor="ctr"/>
          <a:lstStyle/>
          <a:p/>
        </p:txBody>
      </p:sp>
      <p:sp>
        <p:nvSpPr>
          <p:cNvPr id="1566" name="rc0_le"/>
          <p:cNvSpPr/>
          <p:nvPr/>
        </p:nvSpPr>
        <p:spPr>
          <a:xfrm>
            <a:off x="584200" y="2293112"/>
            <a:ext cx="44450" cy="2096262"/>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567" name="rc0_t"/>
          <p:cNvSpPr txBox="1"/>
          <p:nvPr/>
        </p:nvSpPr>
        <p:spPr>
          <a:xfrm>
            <a:off x="711200" y="2293112"/>
            <a:ext cx="1473200" cy="374142"/>
          </a:xfrm>
          <a:prstGeom prst="rect">
            <a:avLst/>
          </a:prstGeom>
        </p:spPr>
        <p:txBody>
          <a:bodyPr wrap="square" lIns="0" rIns="0" tIns="0" bIns="0"/>
          <a:lstStyle/>
          <a:p>
            <a:pPr algn="l" lvl="0"/>
            <a:r>
              <a:rPr lang="zh-CN" sz="1700" b="1">
                <a:solidFill>
                  <a:srgbClr val="1F6383"/>
                </a:solidFill>
                <a:latin typeface="黑体"/>
                <a:ea typeface="黑体"/>
              </a:rPr>
              <a:t>科学指引</a:t>
            </a:r>
          </a:p>
        </p:txBody>
      </p:sp>
      <p:sp>
        <p:nvSpPr>
          <p:cNvPr id="1568" name="rc0_b"/>
          <p:cNvSpPr txBox="1"/>
          <p:nvPr/>
        </p:nvSpPr>
        <p:spPr>
          <a:xfrm>
            <a:off x="711200" y="2794254"/>
            <a:ext cx="1473200" cy="1518920"/>
          </a:xfrm>
          <a:prstGeom prst="rect">
            <a:avLst/>
          </a:prstGeom>
        </p:spPr>
        <p:txBody>
          <a:bodyPr wrap="square" lIns="0" rIns="0" tIns="0" bIns="0"/>
          <a:lstStyle/>
          <a:p>
            <a:pPr algn="l" lvl="0"/>
            <a:r>
              <a:rPr lang="zh-CN" sz="1600">
                <a:solidFill>
                  <a:srgbClr val="2E4438"/>
                </a:solidFill>
                <a:latin typeface="楷体"/>
                <a:ea typeface="楷体"/>
              </a:rPr>
              <a:t>习近平新时</a:t>
            </a:r>
          </a:p>
          <a:p>
            <a:pPr algn="l" lvl="0"/>
            <a:r>
              <a:rPr lang="zh-CN" sz="1600">
                <a:solidFill>
                  <a:srgbClr val="2E4438"/>
                </a:solidFill>
                <a:latin typeface="楷体"/>
                <a:ea typeface="楷体"/>
              </a:rPr>
              <a:t>代中国特色</a:t>
            </a:r>
          </a:p>
          <a:p>
            <a:pPr algn="l" lvl="0"/>
            <a:r>
              <a:rPr lang="zh-CN" sz="1600">
                <a:solidFill>
                  <a:srgbClr val="2E4438"/>
                </a:solidFill>
                <a:latin typeface="楷体"/>
                <a:ea typeface="楷体"/>
              </a:rPr>
              <a:t>社会主义思</a:t>
            </a:r>
          </a:p>
          <a:p>
            <a:pPr algn="l" lvl="0"/>
            <a:r>
              <a:rPr lang="zh-CN" sz="1600">
                <a:solidFill>
                  <a:srgbClr val="2E4438"/>
                </a:solidFill>
                <a:latin typeface="楷体"/>
                <a:ea typeface="楷体"/>
              </a:rPr>
              <a:t>想的科学指</a:t>
            </a:r>
          </a:p>
          <a:p>
            <a:pPr algn="l" lvl="0"/>
            <a:r>
              <a:rPr lang="zh-CN" sz="1600">
                <a:solidFill>
                  <a:srgbClr val="2E4438"/>
                </a:solidFill>
                <a:latin typeface="楷体"/>
                <a:ea typeface="楷体"/>
              </a:rPr>
              <a:t>导。</a:t>
            </a:r>
          </a:p>
        </p:txBody>
      </p:sp>
      <p:sp>
        <p:nvSpPr>
          <p:cNvPr id="1569" name="rc1_sh"/>
          <p:cNvSpPr/>
          <p:nvPr/>
        </p:nvSpPr>
        <p:spPr>
          <a:xfrm>
            <a:off x="2514600" y="2229612"/>
            <a:ext cx="1727200" cy="2324862"/>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570" name="rc1"/>
          <p:cNvSpPr/>
          <p:nvPr/>
        </p:nvSpPr>
        <p:spPr>
          <a:xfrm>
            <a:off x="2489200" y="2178812"/>
            <a:ext cx="1778000" cy="2324862"/>
          </a:xfrm>
          <a:prstGeom prst="roundRect">
            <a:avLst>
              <a:gd name="adj" fmla="val 8000"/>
            </a:avLst>
          </a:prstGeom>
          <a:solidFill>
            <a:srgbClr val="E9EFE9"/>
          </a:solidFill>
          <a:ln w="15875">
            <a:solidFill>
              <a:srgbClr val="1F6383"/>
            </a:solidFill>
          </a:ln>
        </p:spPr>
        <p:txBody>
          <a:bodyPr rtlCol="0" anchor="ctr"/>
          <a:lstStyle/>
          <a:p/>
        </p:txBody>
      </p:sp>
      <p:sp>
        <p:nvSpPr>
          <p:cNvPr id="1571" name="rc1_le"/>
          <p:cNvSpPr/>
          <p:nvPr/>
        </p:nvSpPr>
        <p:spPr>
          <a:xfrm>
            <a:off x="2514600" y="2293112"/>
            <a:ext cx="44450" cy="2096262"/>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572" name="rc1_t"/>
          <p:cNvSpPr txBox="1"/>
          <p:nvPr/>
        </p:nvSpPr>
        <p:spPr>
          <a:xfrm>
            <a:off x="2641600" y="2581656"/>
            <a:ext cx="1473200" cy="374142"/>
          </a:xfrm>
          <a:prstGeom prst="rect">
            <a:avLst/>
          </a:prstGeom>
        </p:spPr>
        <p:txBody>
          <a:bodyPr wrap="square" lIns="0" rIns="0" tIns="0" bIns="0"/>
          <a:lstStyle/>
          <a:p>
            <a:pPr algn="l" lvl="0"/>
            <a:r>
              <a:rPr lang="zh-CN" sz="1700" b="1">
                <a:solidFill>
                  <a:srgbClr val="1F6383"/>
                </a:solidFill>
                <a:latin typeface="黑体"/>
                <a:ea typeface="黑体"/>
              </a:rPr>
              <a:t>党的领导</a:t>
            </a:r>
          </a:p>
        </p:txBody>
      </p:sp>
      <p:sp>
        <p:nvSpPr>
          <p:cNvPr id="1573" name="rc1_b"/>
          <p:cNvSpPr txBox="1"/>
          <p:nvPr/>
        </p:nvSpPr>
        <p:spPr>
          <a:xfrm>
            <a:off x="2641600" y="3082798"/>
            <a:ext cx="1473200" cy="941832"/>
          </a:xfrm>
          <a:prstGeom prst="rect">
            <a:avLst/>
          </a:prstGeom>
        </p:spPr>
        <p:txBody>
          <a:bodyPr wrap="square" lIns="0" rIns="0" tIns="0" bIns="0"/>
          <a:lstStyle/>
          <a:p>
            <a:pPr algn="l" lvl="0"/>
            <a:r>
              <a:rPr lang="zh-CN" sz="1600">
                <a:solidFill>
                  <a:srgbClr val="2E4438"/>
                </a:solidFill>
                <a:latin typeface="楷体"/>
                <a:ea typeface="楷体"/>
              </a:rPr>
              <a:t>坚持和加强</a:t>
            </a:r>
          </a:p>
          <a:p>
            <a:pPr algn="l" lvl="0"/>
            <a:r>
              <a:rPr lang="zh-CN" sz="1600">
                <a:solidFill>
                  <a:srgbClr val="2E4438"/>
                </a:solidFill>
                <a:latin typeface="楷体"/>
                <a:ea typeface="楷体"/>
              </a:rPr>
              <a:t>党的全面领</a:t>
            </a:r>
          </a:p>
          <a:p>
            <a:pPr algn="l" lvl="0"/>
            <a:r>
              <a:rPr lang="zh-CN" sz="1600">
                <a:solidFill>
                  <a:srgbClr val="2E4438"/>
                </a:solidFill>
                <a:latin typeface="楷体"/>
                <a:ea typeface="楷体"/>
              </a:rPr>
              <a:t>导。</a:t>
            </a:r>
          </a:p>
        </p:txBody>
      </p:sp>
      <p:sp>
        <p:nvSpPr>
          <p:cNvPr id="1574" name="rc2_sh"/>
          <p:cNvSpPr/>
          <p:nvPr/>
        </p:nvSpPr>
        <p:spPr>
          <a:xfrm>
            <a:off x="4445000" y="2229612"/>
            <a:ext cx="1727200" cy="2324862"/>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575" name="rc2"/>
          <p:cNvSpPr/>
          <p:nvPr/>
        </p:nvSpPr>
        <p:spPr>
          <a:xfrm>
            <a:off x="4419600" y="2178812"/>
            <a:ext cx="1778000" cy="2324862"/>
          </a:xfrm>
          <a:prstGeom prst="roundRect">
            <a:avLst>
              <a:gd name="adj" fmla="val 8000"/>
            </a:avLst>
          </a:prstGeom>
          <a:solidFill>
            <a:srgbClr val="E9EFE9"/>
          </a:solidFill>
          <a:ln w="15875">
            <a:solidFill>
              <a:srgbClr val="1F6383"/>
            </a:solidFill>
          </a:ln>
        </p:spPr>
        <p:txBody>
          <a:bodyPr rtlCol="0" anchor="ctr"/>
          <a:lstStyle/>
          <a:p/>
        </p:txBody>
      </p:sp>
      <p:sp>
        <p:nvSpPr>
          <p:cNvPr id="1576" name="rc2_le"/>
          <p:cNvSpPr/>
          <p:nvPr/>
        </p:nvSpPr>
        <p:spPr>
          <a:xfrm>
            <a:off x="4445000" y="2293112"/>
            <a:ext cx="44450" cy="2096262"/>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577" name="rc2_t"/>
          <p:cNvSpPr txBox="1"/>
          <p:nvPr/>
        </p:nvSpPr>
        <p:spPr>
          <a:xfrm>
            <a:off x="4572000" y="2437384"/>
            <a:ext cx="1473200" cy="374142"/>
          </a:xfrm>
          <a:prstGeom prst="rect">
            <a:avLst/>
          </a:prstGeom>
        </p:spPr>
        <p:txBody>
          <a:bodyPr wrap="square" lIns="0" rIns="0" tIns="0" bIns="0"/>
          <a:lstStyle/>
          <a:p>
            <a:pPr algn="l" lvl="0"/>
            <a:r>
              <a:rPr lang="zh-CN" sz="1700" b="1">
                <a:solidFill>
                  <a:srgbClr val="1F6383"/>
                </a:solidFill>
                <a:latin typeface="黑体"/>
                <a:ea typeface="黑体"/>
              </a:rPr>
              <a:t>制度优势</a:t>
            </a:r>
          </a:p>
        </p:txBody>
      </p:sp>
      <p:sp>
        <p:nvSpPr>
          <p:cNvPr id="1578" name="rc2_b"/>
          <p:cNvSpPr txBox="1"/>
          <p:nvPr/>
        </p:nvSpPr>
        <p:spPr>
          <a:xfrm>
            <a:off x="4572000" y="2938526"/>
            <a:ext cx="1473200" cy="1230376"/>
          </a:xfrm>
          <a:prstGeom prst="rect">
            <a:avLst/>
          </a:prstGeom>
        </p:spPr>
        <p:txBody>
          <a:bodyPr wrap="square" lIns="0" rIns="0" tIns="0" bIns="0"/>
          <a:lstStyle/>
          <a:p>
            <a:pPr algn="l" lvl="0"/>
            <a:r>
              <a:rPr lang="zh-CN" sz="1600">
                <a:solidFill>
                  <a:srgbClr val="2E4438"/>
                </a:solidFill>
                <a:latin typeface="楷体"/>
                <a:ea typeface="楷体"/>
              </a:rPr>
              <a:t>中国特色社</a:t>
            </a:r>
          </a:p>
          <a:p>
            <a:pPr algn="l" lvl="0"/>
            <a:r>
              <a:rPr lang="zh-CN" sz="1600">
                <a:solidFill>
                  <a:srgbClr val="2E4438"/>
                </a:solidFill>
                <a:latin typeface="楷体"/>
                <a:ea typeface="楷体"/>
              </a:rPr>
              <a:t>会主义制度</a:t>
            </a:r>
          </a:p>
          <a:p>
            <a:pPr algn="l" lvl="0"/>
            <a:r>
              <a:rPr lang="zh-CN" sz="1600">
                <a:solidFill>
                  <a:srgbClr val="2E4438"/>
                </a:solidFill>
                <a:latin typeface="楷体"/>
                <a:ea typeface="楷体"/>
              </a:rPr>
              <a:t>具有显著优</a:t>
            </a:r>
          </a:p>
          <a:p>
            <a:pPr algn="l" lvl="0"/>
            <a:r>
              <a:rPr lang="zh-CN" sz="1600">
                <a:solidFill>
                  <a:srgbClr val="2E4438"/>
                </a:solidFill>
                <a:latin typeface="楷体"/>
                <a:ea typeface="楷体"/>
              </a:rPr>
              <a:t>势。</a:t>
            </a:r>
          </a:p>
        </p:txBody>
      </p:sp>
      <p:sp>
        <p:nvSpPr>
          <p:cNvPr id="1579" name="rc3_sh"/>
          <p:cNvSpPr/>
          <p:nvPr/>
        </p:nvSpPr>
        <p:spPr>
          <a:xfrm>
            <a:off x="6375400" y="2229612"/>
            <a:ext cx="1727200" cy="2324862"/>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580" name="rc3"/>
          <p:cNvSpPr/>
          <p:nvPr/>
        </p:nvSpPr>
        <p:spPr>
          <a:xfrm>
            <a:off x="6350000" y="2178812"/>
            <a:ext cx="1778000" cy="2324862"/>
          </a:xfrm>
          <a:prstGeom prst="roundRect">
            <a:avLst>
              <a:gd name="adj" fmla="val 8000"/>
            </a:avLst>
          </a:prstGeom>
          <a:solidFill>
            <a:srgbClr val="E9EFE9"/>
          </a:solidFill>
          <a:ln w="15875">
            <a:solidFill>
              <a:srgbClr val="1F6383"/>
            </a:solidFill>
          </a:ln>
        </p:spPr>
        <p:txBody>
          <a:bodyPr rtlCol="0" anchor="ctr"/>
          <a:lstStyle/>
          <a:p/>
        </p:txBody>
      </p:sp>
      <p:sp>
        <p:nvSpPr>
          <p:cNvPr id="1581" name="rc3_le"/>
          <p:cNvSpPr/>
          <p:nvPr/>
        </p:nvSpPr>
        <p:spPr>
          <a:xfrm>
            <a:off x="6375400" y="2293112"/>
            <a:ext cx="44450" cy="2096262"/>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582" name="rc3_t"/>
          <p:cNvSpPr txBox="1"/>
          <p:nvPr/>
        </p:nvSpPr>
        <p:spPr>
          <a:xfrm>
            <a:off x="6502400" y="2581656"/>
            <a:ext cx="1473200" cy="374142"/>
          </a:xfrm>
          <a:prstGeom prst="rect">
            <a:avLst/>
          </a:prstGeom>
        </p:spPr>
        <p:txBody>
          <a:bodyPr wrap="square" lIns="0" rIns="0" tIns="0" bIns="0"/>
          <a:lstStyle/>
          <a:p>
            <a:pPr algn="l" lvl="0"/>
            <a:r>
              <a:rPr lang="zh-CN" sz="1700" b="1">
                <a:solidFill>
                  <a:srgbClr val="1F6383"/>
                </a:solidFill>
                <a:latin typeface="黑体"/>
                <a:ea typeface="黑体"/>
              </a:rPr>
              <a:t>人民至上</a:t>
            </a:r>
          </a:p>
        </p:txBody>
      </p:sp>
      <p:sp>
        <p:nvSpPr>
          <p:cNvPr id="1583" name="rc3_b"/>
          <p:cNvSpPr txBox="1"/>
          <p:nvPr/>
        </p:nvSpPr>
        <p:spPr>
          <a:xfrm>
            <a:off x="6502400" y="3082798"/>
            <a:ext cx="1473200" cy="941832"/>
          </a:xfrm>
          <a:prstGeom prst="rect">
            <a:avLst/>
          </a:prstGeom>
        </p:spPr>
        <p:txBody>
          <a:bodyPr wrap="square" lIns="0" rIns="0" tIns="0" bIns="0"/>
          <a:lstStyle/>
          <a:p>
            <a:pPr algn="l" lvl="0"/>
            <a:r>
              <a:rPr lang="zh-CN" sz="1600">
                <a:solidFill>
                  <a:srgbClr val="2E4438"/>
                </a:solidFill>
                <a:latin typeface="楷体"/>
                <a:ea typeface="楷体"/>
              </a:rPr>
              <a:t>坚持以人民</a:t>
            </a:r>
          </a:p>
          <a:p>
            <a:pPr algn="l" lvl="0"/>
            <a:r>
              <a:rPr lang="zh-CN" sz="1600">
                <a:solidFill>
                  <a:srgbClr val="2E4438"/>
                </a:solidFill>
                <a:latin typeface="楷体"/>
                <a:ea typeface="楷体"/>
              </a:rPr>
              <a:t>为中心的发</a:t>
            </a:r>
          </a:p>
          <a:p>
            <a:pPr algn="l" lvl="0"/>
            <a:r>
              <a:rPr lang="zh-CN" sz="1600">
                <a:solidFill>
                  <a:srgbClr val="2E4438"/>
                </a:solidFill>
                <a:latin typeface="楷体"/>
                <a:ea typeface="楷体"/>
              </a:rPr>
              <a:t>展思想。</a:t>
            </a:r>
          </a:p>
        </p:txBody>
      </p:sp>
      <p:sp>
        <p:nvSpPr>
          <p:cNvPr id="1584" name="p18task_sh"/>
          <p:cNvSpPr/>
          <p:nvPr/>
        </p:nvSpPr>
        <p:spPr>
          <a:xfrm>
            <a:off x="584200" y="4783074"/>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585" name="p18task"/>
          <p:cNvSpPr/>
          <p:nvPr/>
        </p:nvSpPr>
        <p:spPr>
          <a:xfrm>
            <a:off x="558800" y="4732274"/>
            <a:ext cx="7569200" cy="618744"/>
          </a:xfrm>
          <a:prstGeom prst="roundRect">
            <a:avLst>
              <a:gd name="adj" fmla="val 8000"/>
            </a:avLst>
          </a:prstGeom>
          <a:solidFill>
            <a:srgbClr val="E9EFE9"/>
          </a:solidFill>
          <a:ln w="15875">
            <a:solidFill>
              <a:srgbClr val="1F6383"/>
            </a:solidFill>
          </a:ln>
        </p:spPr>
        <p:txBody>
          <a:bodyPr rtlCol="0" anchor="ctr"/>
          <a:lstStyle/>
          <a:p/>
        </p:txBody>
      </p:sp>
      <p:sp>
        <p:nvSpPr>
          <p:cNvPr id="1586" name="p18task_cap"/>
          <p:cNvSpPr/>
          <p:nvPr/>
        </p:nvSpPr>
        <p:spPr>
          <a:xfrm>
            <a:off x="647700" y="4808474"/>
            <a:ext cx="50800" cy="466344"/>
          </a:xfrm>
          <a:prstGeom prst="rect">
            <a:avLst/>
          </a:prstGeom>
          <a:gradFill rotWithShape="1">
            <a:gsLst>
              <a:gs pos="0">
                <a:srgbClr val="1F6383"/>
              </a:gs>
              <a:gs pos="100000">
                <a:srgbClr val="1F6383">
                  <a:alpha val="10000"/>
                </a:srgbClr>
              </a:gs>
            </a:gsLst>
            <a:lin ang="5400000" scaled="1"/>
          </a:gradFill>
          <a:ln>
            <a:noFill/>
          </a:ln>
        </p:spPr>
        <p:txBody>
          <a:bodyPr rtlCol="0" anchor="ctr"/>
          <a:lstStyle/>
          <a:p/>
        </p:txBody>
      </p:sp>
      <p:sp>
        <p:nvSpPr>
          <p:cNvPr id="1587" name="p18task_t"/>
          <p:cNvSpPr txBox="1"/>
          <p:nvPr/>
        </p:nvSpPr>
        <p:spPr>
          <a:xfrm>
            <a:off x="711200" y="4821174"/>
            <a:ext cx="7264400" cy="440944"/>
          </a:xfrm>
          <a:prstGeom prst="rect">
            <a:avLst/>
          </a:prstGeom>
        </p:spPr>
        <p:txBody>
          <a:bodyPr wrap="square" lIns="0" rIns="0" tIns="0" bIns="0"/>
          <a:lstStyle/>
          <a:p>
            <a:pPr algn="l" lvl="0"/>
            <a:r>
              <a:rPr lang="zh-CN" sz="1600" b="1">
                <a:solidFill>
                  <a:srgbClr val="1D2B23"/>
                </a:solidFill>
                <a:latin typeface="黑体"/>
                <a:ea typeface="黑体"/>
              </a:rPr>
              <a:t>小组合作探究：根据四大原因，撰写成就解码解说词。</a:t>
            </a:r>
          </a:p>
        </p:txBody>
      </p:sp>
    </p:spTree>
  </p:cSld>
  <p:clrMapOvr>
    <a:masterClrMapping/>
  </p:clrMapOvr>
  <p:transition xmlns:p="http://schemas.openxmlformats.org/presentationml/2006/main" spd="med">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588"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589" name="hd_secbar"/>
          <p:cNvSpPr/>
          <p:nvPr/>
        </p:nvSpPr>
        <p:spPr>
          <a:xfrm>
            <a:off x="609600" y="317500"/>
            <a:ext cx="44450" cy="228600"/>
          </a:xfrm>
          <a:prstGeom prst="rect">
            <a:avLst/>
          </a:prstGeom>
          <a:gradFill rotWithShape="1">
            <a:gsLst>
              <a:gs pos="0">
                <a:srgbClr val="1F6383"/>
              </a:gs>
              <a:gs pos="100000">
                <a:srgbClr val="6FC7E8">
                  <a:alpha val="100000"/>
                </a:srgbClr>
              </a:gs>
            </a:gsLst>
            <a:lin ang="5400000" scaled="1"/>
          </a:gradFill>
          <a:ln>
            <a:noFill/>
          </a:ln>
        </p:spPr>
        <p:txBody>
          <a:bodyPr rtlCol="0" anchor="ctr"/>
          <a:lstStyle/>
          <a:p/>
        </p:txBody>
      </p:sp>
      <p:sp>
        <p:nvSpPr>
          <p:cNvPr id="1590" name="hd_sec"/>
          <p:cNvSpPr txBox="1"/>
          <p:nvPr/>
        </p:nvSpPr>
        <p:spPr>
          <a:xfrm>
            <a:off x="736600" y="317500"/>
            <a:ext cx="3476600" cy="228600"/>
          </a:xfrm>
          <a:prstGeom prst="rect">
            <a:avLst/>
          </a:prstGeom>
        </p:spPr>
        <p:txBody>
          <a:bodyPr wrap="square" lIns="0" rIns="0" tIns="0" bIns="0"/>
          <a:lstStyle/>
          <a:p>
            <a:pPr algn="l" lvl="0"/>
            <a:r>
              <a:rPr lang="zh-CN" sz="1400" b="1">
                <a:solidFill>
                  <a:srgbClr val="1F6383"/>
                </a:solidFill>
                <a:latin typeface="黑体"/>
                <a:ea typeface="黑体"/>
              </a:rPr>
              <a:t>子任务二 · 撰写解说——解码新成就</a:t>
            </a:r>
          </a:p>
        </p:txBody>
      </p:sp>
      <p:sp>
        <p:nvSpPr>
          <p:cNvPr id="1591"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解说词脚手架 · 三段话</a:t>
            </a:r>
          </a:p>
        </p:txBody>
      </p:sp>
      <p:sp>
        <p:nvSpPr>
          <p:cNvPr id="1592" name="hd_rule2"/>
          <p:cNvSpPr/>
          <p:nvPr/>
        </p:nvSpPr>
        <p:spPr>
          <a:xfrm>
            <a:off x="558800" y="1143000"/>
            <a:ext cx="1625600" cy="44450"/>
          </a:xfrm>
          <a:prstGeom prst="rect">
            <a:avLst/>
          </a:prstGeom>
          <a:gradFill rotWithShape="1">
            <a:gsLst>
              <a:gs pos="0">
                <a:srgbClr val="1F6383"/>
              </a:gs>
              <a:gs pos="100000">
                <a:srgbClr val="6FC7E8">
                  <a:alpha val="100000"/>
                </a:srgbClr>
              </a:gs>
            </a:gsLst>
            <a:lin ang="0" scaled="1"/>
          </a:gradFill>
          <a:ln>
            <a:noFill/>
          </a:ln>
        </p:spPr>
        <p:txBody>
          <a:bodyPr rtlCol="0" anchor="ctr"/>
          <a:lstStyle/>
          <a:p/>
        </p:txBody>
      </p:sp>
      <p:sp>
        <p:nvSpPr>
          <p:cNvPr id="1593" name="hd_rule"/>
          <p:cNvSpPr/>
          <p:nvPr/>
        </p:nvSpPr>
        <p:spPr>
          <a:xfrm>
            <a:off x="2260600" y="1158240"/>
            <a:ext cx="5867400" cy="19050"/>
          </a:xfrm>
          <a:prstGeom prst="rect">
            <a:avLst/>
          </a:prstGeom>
          <a:solidFill>
            <a:srgbClr val="6FC7E8">
              <a:alpha val="40000"/>
            </a:srgbClr>
          </a:solidFill>
          <a:ln>
            <a:noFill/>
          </a:ln>
        </p:spPr>
        <p:txBody>
          <a:bodyPr rtlCol="0" anchor="ctr"/>
          <a:lstStyle/>
          <a:p/>
        </p:txBody>
      </p:sp>
      <p:cxnSp>
        <p:nvCxnSpPr>
          <p:cNvPr id="1594" name="rb_rule"/>
          <p:cNvCxnSpPr/>
          <p:nvPr/>
        </p:nvCxnSpPr>
        <p:spPr>
          <a:xfrm>
            <a:off x="8280400" y="1422400"/>
            <a:ext cx="0" cy="4267200"/>
          </a:xfrm>
          <a:prstGeom prst="straightConnector1">
            <a:avLst/>
          </a:prstGeom>
          <a:ln w="19050">
            <a:solidFill>
              <a:srgbClr val="7E9A85"/>
            </a:solidFill>
          </a:ln>
        </p:spPr>
      </p:cxnSp>
      <p:sp>
        <p:nvSpPr>
          <p:cNvPr id="1595" name="rb_chip_a"/>
          <p:cNvSpPr/>
          <p:nvPr/>
        </p:nvSpPr>
        <p:spPr>
          <a:xfrm>
            <a:off x="8229600" y="1219200"/>
            <a:ext cx="152400" cy="152400"/>
          </a:xfrm>
          <a:prstGeom prst="rect">
            <a:avLst/>
          </a:prstGeom>
          <a:gradFill rotWithShape="1">
            <a:gsLst>
              <a:gs pos="0">
                <a:srgbClr val="6FC7E8"/>
              </a:gs>
              <a:gs pos="100000">
                <a:srgbClr val="1F6383">
                  <a:alpha val="100000"/>
                </a:srgbClr>
              </a:gs>
            </a:gsLst>
            <a:lin ang="8100000" scaled="1"/>
          </a:gradFill>
          <a:ln>
            <a:noFill/>
          </a:ln>
        </p:spPr>
        <p:txBody>
          <a:bodyPr rtlCol="0" anchor="ctr"/>
          <a:lstStyle/>
          <a:p/>
        </p:txBody>
      </p:sp>
      <p:sp>
        <p:nvSpPr>
          <p:cNvPr id="1596" name="rb_chip_b"/>
          <p:cNvSpPr/>
          <p:nvPr/>
        </p:nvSpPr>
        <p:spPr>
          <a:xfrm>
            <a:off x="8280400" y="1193800"/>
            <a:ext cx="101600" cy="101600"/>
          </a:xfrm>
          <a:prstGeom prst="rect">
            <a:avLst/>
          </a:prstGeom>
          <a:solidFill>
            <a:srgbClr val="1F6383"/>
          </a:solidFill>
          <a:ln>
            <a:noFill/>
          </a:ln>
        </p:spPr>
        <p:txBody>
          <a:bodyPr rtlCol="0" anchor="ctr"/>
          <a:lstStyle/>
          <a:p/>
        </p:txBody>
      </p:sp>
      <p:sp>
        <p:nvSpPr>
          <p:cNvPr id="1597"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598"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599" name="rb_tagrule"/>
          <p:cNvCxnSpPr/>
          <p:nvPr/>
        </p:nvCxnSpPr>
        <p:spPr>
          <a:xfrm>
            <a:off x="11226800" y="2260600"/>
            <a:ext cx="482600" cy="0"/>
          </a:xfrm>
          <a:prstGeom prst="straightConnector1">
            <a:avLst/>
          </a:prstGeom>
          <a:ln w="12700">
            <a:solidFill>
              <a:srgbClr val="7E9A85"/>
            </a:solidFill>
          </a:ln>
        </p:spPr>
      </p:cxnSp>
      <p:sp>
        <p:nvSpPr>
          <p:cNvPr id="1600"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6FC7E8"/>
                </a:solidFill>
                <a:latin typeface="黑体"/>
                <a:ea typeface="黑体"/>
              </a:rPr>
              <a:t>19 / 42</a:t>
            </a:r>
          </a:p>
        </p:txBody>
      </p:sp>
      <p:sp>
        <p:nvSpPr>
          <p:cNvPr id="1601" name="lead_sh"/>
          <p:cNvSpPr/>
          <p:nvPr/>
        </p:nvSpPr>
        <p:spPr>
          <a:xfrm>
            <a:off x="584200" y="1371600"/>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602" name="lead"/>
          <p:cNvSpPr/>
          <p:nvPr/>
        </p:nvSpPr>
        <p:spPr>
          <a:xfrm>
            <a:off x="558800" y="1320800"/>
            <a:ext cx="7569200" cy="618744"/>
          </a:xfrm>
          <a:prstGeom prst="roundRect">
            <a:avLst>
              <a:gd name="adj" fmla="val 8000"/>
            </a:avLst>
          </a:prstGeom>
          <a:solidFill>
            <a:srgbClr val="E9EFE9"/>
          </a:solidFill>
          <a:ln w="15875">
            <a:solidFill>
              <a:srgbClr val="1F6383"/>
            </a:solidFill>
          </a:ln>
        </p:spPr>
        <p:txBody>
          <a:bodyPr rtlCol="0" anchor="ctr"/>
          <a:lstStyle/>
          <a:p/>
        </p:txBody>
      </p:sp>
      <p:sp>
        <p:nvSpPr>
          <p:cNvPr id="1603" name="lead_cap"/>
          <p:cNvSpPr/>
          <p:nvPr/>
        </p:nvSpPr>
        <p:spPr>
          <a:xfrm>
            <a:off x="647700" y="1397000"/>
            <a:ext cx="50800" cy="466344"/>
          </a:xfrm>
          <a:prstGeom prst="rect">
            <a:avLst/>
          </a:prstGeom>
          <a:gradFill rotWithShape="1">
            <a:gsLst>
              <a:gs pos="0">
                <a:srgbClr val="1F6383"/>
              </a:gs>
              <a:gs pos="100000">
                <a:srgbClr val="1F6383">
                  <a:alpha val="10000"/>
                </a:srgbClr>
              </a:gs>
            </a:gsLst>
            <a:lin ang="5400000" scaled="1"/>
          </a:gradFill>
          <a:ln>
            <a:noFill/>
          </a:ln>
        </p:spPr>
        <p:txBody>
          <a:bodyPr rtlCol="0" anchor="ctr"/>
          <a:lstStyle/>
          <a:p/>
        </p:txBody>
      </p:sp>
      <p:sp>
        <p:nvSpPr>
          <p:cNvPr id="1604" name="lead_t"/>
          <p:cNvSpPr txBox="1"/>
          <p:nvPr/>
        </p:nvSpPr>
        <p:spPr>
          <a:xfrm>
            <a:off x="711200" y="1409700"/>
            <a:ext cx="7264400" cy="440944"/>
          </a:xfrm>
          <a:prstGeom prst="rect">
            <a:avLst/>
          </a:prstGeom>
        </p:spPr>
        <p:txBody>
          <a:bodyPr wrap="square" lIns="0" rIns="0" tIns="0" bIns="0"/>
          <a:lstStyle/>
          <a:p>
            <a:pPr algn="l" lvl="0"/>
            <a:r>
              <a:rPr lang="zh-CN" sz="1600">
                <a:solidFill>
                  <a:srgbClr val="1D2B23"/>
                </a:solidFill>
                <a:latin typeface="楷体"/>
                <a:ea typeface="楷体"/>
              </a:rPr>
              <a:t>解说词脚手架：三段话，把一块展板讲清楚。</a:t>
            </a:r>
          </a:p>
        </p:txBody>
      </p:sp>
      <p:sp>
        <p:nvSpPr>
          <p:cNvPr id="1605" name="p19b0_sh"/>
          <p:cNvSpPr/>
          <p:nvPr/>
        </p:nvSpPr>
        <p:spPr>
          <a:xfrm>
            <a:off x="584200" y="2269744"/>
            <a:ext cx="7518400" cy="1056005"/>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606" name="p19b0"/>
          <p:cNvSpPr/>
          <p:nvPr/>
        </p:nvSpPr>
        <p:spPr>
          <a:xfrm>
            <a:off x="558800" y="2218944"/>
            <a:ext cx="7569200" cy="1056005"/>
          </a:xfrm>
          <a:prstGeom prst="roundRect">
            <a:avLst>
              <a:gd name="adj" fmla="val 8000"/>
            </a:avLst>
          </a:prstGeom>
          <a:solidFill>
            <a:srgbClr val="E9EFE9"/>
          </a:solidFill>
          <a:ln w="15875">
            <a:solidFill>
              <a:srgbClr val="1F6383"/>
            </a:solidFill>
          </a:ln>
        </p:spPr>
        <p:txBody>
          <a:bodyPr rtlCol="0" anchor="ctr"/>
          <a:lstStyle/>
          <a:p/>
        </p:txBody>
      </p:sp>
      <p:sp>
        <p:nvSpPr>
          <p:cNvPr id="1607" name="p19b0_n"/>
          <p:cNvSpPr/>
          <p:nvPr/>
        </p:nvSpPr>
        <p:spPr>
          <a:xfrm>
            <a:off x="685800" y="2333244"/>
            <a:ext cx="381000" cy="381000"/>
          </a:xfrm>
          <a:prstGeom prst="roundRect">
            <a:avLst>
              <a:gd name="adj" fmla="val 8000"/>
            </a:avLst>
          </a:prstGeom>
          <a:gradFill rotWithShape="1">
            <a:gsLst>
              <a:gs pos="0">
                <a:srgbClr val="1F6383"/>
              </a:gs>
              <a:gs pos="100000">
                <a:srgbClr val="1F6383">
                  <a:alpha val="55000"/>
                </a:srgbClr>
              </a:gs>
            </a:gsLst>
            <a:lin ang="8100000" scaled="1"/>
          </a:gradFill>
          <a:ln>
            <a:noFill/>
          </a:ln>
        </p:spPr>
        <p:txBody>
          <a:bodyPr rtlCol="0" anchor="ctr"/>
          <a:lstStyle/>
          <a:p/>
        </p:txBody>
      </p:sp>
      <p:sp>
        <p:nvSpPr>
          <p:cNvPr id="1608" name="p19b0_nt"/>
          <p:cNvSpPr txBox="1"/>
          <p:nvPr/>
        </p:nvSpPr>
        <p:spPr>
          <a:xfrm>
            <a:off x="685800" y="2396744"/>
            <a:ext cx="381000" cy="254000"/>
          </a:xfrm>
          <a:prstGeom prst="rect">
            <a:avLst/>
          </a:prstGeom>
        </p:spPr>
        <p:txBody>
          <a:bodyPr wrap="square" lIns="0" rIns="0" tIns="0" bIns="0"/>
          <a:lstStyle/>
          <a:p>
            <a:pPr algn="ctr" lvl="0"/>
            <a:r>
              <a:rPr lang="zh-CN" sz="1400" b="1">
                <a:solidFill>
                  <a:srgbClr val="1D2B23"/>
                </a:solidFill>
                <a:latin typeface="黑体"/>
                <a:ea typeface="黑体"/>
              </a:rPr>
              <a:t>01</a:t>
            </a:r>
          </a:p>
        </p:txBody>
      </p:sp>
      <p:sp>
        <p:nvSpPr>
          <p:cNvPr id="1609" name="p19b0_t"/>
          <p:cNvSpPr txBox="1"/>
          <p:nvPr/>
        </p:nvSpPr>
        <p:spPr>
          <a:xfrm>
            <a:off x="1193800" y="2320544"/>
            <a:ext cx="6781800" cy="389255"/>
          </a:xfrm>
          <a:prstGeom prst="rect">
            <a:avLst/>
          </a:prstGeom>
        </p:spPr>
        <p:txBody>
          <a:bodyPr wrap="square" lIns="0" rIns="0" tIns="0" bIns="0"/>
          <a:lstStyle/>
          <a:p>
            <a:pPr algn="l" lvl="0"/>
            <a:r>
              <a:rPr lang="zh-CN" sz="1700" b="1">
                <a:solidFill>
                  <a:srgbClr val="1D2B23"/>
                </a:solidFill>
                <a:latin typeface="黑体"/>
                <a:ea typeface="黑体"/>
              </a:rPr>
              <a:t>第一段　展示成就</a:t>
            </a:r>
          </a:p>
        </p:txBody>
      </p:sp>
      <p:sp>
        <p:nvSpPr>
          <p:cNvPr id="1610" name="p19b0_b"/>
          <p:cNvSpPr txBox="1"/>
          <p:nvPr/>
        </p:nvSpPr>
        <p:spPr>
          <a:xfrm>
            <a:off x="1193800" y="2760599"/>
            <a:ext cx="6781800" cy="361950"/>
          </a:xfrm>
          <a:prstGeom prst="rect">
            <a:avLst/>
          </a:prstGeom>
        </p:spPr>
        <p:txBody>
          <a:bodyPr wrap="square" lIns="0" rIns="0" tIns="0" bIns="0"/>
          <a:lstStyle/>
          <a:p>
            <a:pPr algn="l" lvl="0"/>
            <a:r>
              <a:rPr lang="zh-CN" sz="1500">
                <a:solidFill>
                  <a:srgbClr val="2E4438"/>
                </a:solidFill>
                <a:latin typeface="楷体"/>
                <a:ea typeface="楷体"/>
              </a:rPr>
              <a:t>这一块展板展示了怎样的成就？用事实和数据说话。</a:t>
            </a:r>
          </a:p>
        </p:txBody>
      </p:sp>
      <p:sp>
        <p:nvSpPr>
          <p:cNvPr id="1611" name="p19b1_sh"/>
          <p:cNvSpPr/>
          <p:nvPr/>
        </p:nvSpPr>
        <p:spPr>
          <a:xfrm>
            <a:off x="584200" y="3427349"/>
            <a:ext cx="7518400" cy="1056005"/>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612" name="p19b1"/>
          <p:cNvSpPr/>
          <p:nvPr/>
        </p:nvSpPr>
        <p:spPr>
          <a:xfrm>
            <a:off x="558800" y="3376549"/>
            <a:ext cx="7569200" cy="1056005"/>
          </a:xfrm>
          <a:prstGeom prst="roundRect">
            <a:avLst>
              <a:gd name="adj" fmla="val 8000"/>
            </a:avLst>
          </a:prstGeom>
          <a:solidFill>
            <a:srgbClr val="E9EFE9"/>
          </a:solidFill>
          <a:ln w="15875">
            <a:solidFill>
              <a:srgbClr val="1F6383"/>
            </a:solidFill>
          </a:ln>
        </p:spPr>
        <p:txBody>
          <a:bodyPr rtlCol="0" anchor="ctr"/>
          <a:lstStyle/>
          <a:p/>
        </p:txBody>
      </p:sp>
      <p:sp>
        <p:nvSpPr>
          <p:cNvPr id="1613" name="p19b1_n"/>
          <p:cNvSpPr/>
          <p:nvPr/>
        </p:nvSpPr>
        <p:spPr>
          <a:xfrm>
            <a:off x="685800" y="3490849"/>
            <a:ext cx="381000" cy="381000"/>
          </a:xfrm>
          <a:prstGeom prst="roundRect">
            <a:avLst>
              <a:gd name="adj" fmla="val 8000"/>
            </a:avLst>
          </a:prstGeom>
          <a:gradFill rotWithShape="1">
            <a:gsLst>
              <a:gs pos="0">
                <a:srgbClr val="1F6383"/>
              </a:gs>
              <a:gs pos="100000">
                <a:srgbClr val="1F6383">
                  <a:alpha val="55000"/>
                </a:srgbClr>
              </a:gs>
            </a:gsLst>
            <a:lin ang="8100000" scaled="1"/>
          </a:gradFill>
          <a:ln>
            <a:noFill/>
          </a:ln>
        </p:spPr>
        <p:txBody>
          <a:bodyPr rtlCol="0" anchor="ctr"/>
          <a:lstStyle/>
          <a:p/>
        </p:txBody>
      </p:sp>
      <p:sp>
        <p:nvSpPr>
          <p:cNvPr id="1614" name="p19b1_nt"/>
          <p:cNvSpPr txBox="1"/>
          <p:nvPr/>
        </p:nvSpPr>
        <p:spPr>
          <a:xfrm>
            <a:off x="685800" y="3554349"/>
            <a:ext cx="381000" cy="254000"/>
          </a:xfrm>
          <a:prstGeom prst="rect">
            <a:avLst/>
          </a:prstGeom>
        </p:spPr>
        <p:txBody>
          <a:bodyPr wrap="square" lIns="0" rIns="0" tIns="0" bIns="0"/>
          <a:lstStyle/>
          <a:p>
            <a:pPr algn="ctr" lvl="0"/>
            <a:r>
              <a:rPr lang="zh-CN" sz="1400" b="1">
                <a:solidFill>
                  <a:srgbClr val="1D2B23"/>
                </a:solidFill>
                <a:latin typeface="黑体"/>
                <a:ea typeface="黑体"/>
              </a:rPr>
              <a:t>02</a:t>
            </a:r>
          </a:p>
        </p:txBody>
      </p:sp>
      <p:sp>
        <p:nvSpPr>
          <p:cNvPr id="1615" name="p19b1_t"/>
          <p:cNvSpPr txBox="1"/>
          <p:nvPr/>
        </p:nvSpPr>
        <p:spPr>
          <a:xfrm>
            <a:off x="1193800" y="3478149"/>
            <a:ext cx="6781800" cy="389255"/>
          </a:xfrm>
          <a:prstGeom prst="rect">
            <a:avLst/>
          </a:prstGeom>
        </p:spPr>
        <p:txBody>
          <a:bodyPr wrap="square" lIns="0" rIns="0" tIns="0" bIns="0"/>
          <a:lstStyle/>
          <a:p>
            <a:pPr algn="l" lvl="0"/>
            <a:r>
              <a:rPr lang="zh-CN" sz="1700" b="1">
                <a:solidFill>
                  <a:srgbClr val="1D2B23"/>
                </a:solidFill>
                <a:latin typeface="黑体"/>
                <a:ea typeface="黑体"/>
              </a:rPr>
              <a:t>第二段　解码原因</a:t>
            </a:r>
          </a:p>
        </p:txBody>
      </p:sp>
      <p:sp>
        <p:nvSpPr>
          <p:cNvPr id="1616" name="p19b1_b"/>
          <p:cNvSpPr txBox="1"/>
          <p:nvPr/>
        </p:nvSpPr>
        <p:spPr>
          <a:xfrm>
            <a:off x="1193800" y="3918204"/>
            <a:ext cx="6781800" cy="361950"/>
          </a:xfrm>
          <a:prstGeom prst="rect">
            <a:avLst/>
          </a:prstGeom>
        </p:spPr>
        <p:txBody>
          <a:bodyPr wrap="square" lIns="0" rIns="0" tIns="0" bIns="0"/>
          <a:lstStyle/>
          <a:p>
            <a:pPr algn="l" lvl="0"/>
            <a:r>
              <a:rPr lang="zh-CN" sz="1500">
                <a:solidFill>
                  <a:srgbClr val="2E4438"/>
                </a:solidFill>
                <a:latin typeface="楷体"/>
                <a:ea typeface="楷体"/>
              </a:rPr>
              <a:t>取得这样的成就，原因是什么？用四步解码法推出来。</a:t>
            </a:r>
          </a:p>
        </p:txBody>
      </p:sp>
      <p:sp>
        <p:nvSpPr>
          <p:cNvPr id="1617" name="p19b2_sh"/>
          <p:cNvSpPr/>
          <p:nvPr/>
        </p:nvSpPr>
        <p:spPr>
          <a:xfrm>
            <a:off x="584200" y="4584954"/>
            <a:ext cx="7518400" cy="1056005"/>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618" name="p19b2"/>
          <p:cNvSpPr/>
          <p:nvPr/>
        </p:nvSpPr>
        <p:spPr>
          <a:xfrm>
            <a:off x="558800" y="4534154"/>
            <a:ext cx="7569200" cy="1056005"/>
          </a:xfrm>
          <a:prstGeom prst="roundRect">
            <a:avLst>
              <a:gd name="adj" fmla="val 8000"/>
            </a:avLst>
          </a:prstGeom>
          <a:solidFill>
            <a:srgbClr val="E9EFE9"/>
          </a:solidFill>
          <a:ln w="15875">
            <a:solidFill>
              <a:srgbClr val="1F6383"/>
            </a:solidFill>
          </a:ln>
        </p:spPr>
        <p:txBody>
          <a:bodyPr rtlCol="0" anchor="ctr"/>
          <a:lstStyle/>
          <a:p/>
        </p:txBody>
      </p:sp>
      <p:sp>
        <p:nvSpPr>
          <p:cNvPr id="1619" name="p19b2_n"/>
          <p:cNvSpPr/>
          <p:nvPr/>
        </p:nvSpPr>
        <p:spPr>
          <a:xfrm>
            <a:off x="685800" y="4648454"/>
            <a:ext cx="381000" cy="381000"/>
          </a:xfrm>
          <a:prstGeom prst="roundRect">
            <a:avLst>
              <a:gd name="adj" fmla="val 8000"/>
            </a:avLst>
          </a:prstGeom>
          <a:gradFill rotWithShape="1">
            <a:gsLst>
              <a:gs pos="0">
                <a:srgbClr val="1F6383"/>
              </a:gs>
              <a:gs pos="100000">
                <a:srgbClr val="1F6383">
                  <a:alpha val="55000"/>
                </a:srgbClr>
              </a:gs>
            </a:gsLst>
            <a:lin ang="8100000" scaled="1"/>
          </a:gradFill>
          <a:ln>
            <a:noFill/>
          </a:ln>
        </p:spPr>
        <p:txBody>
          <a:bodyPr rtlCol="0" anchor="ctr"/>
          <a:lstStyle/>
          <a:p/>
        </p:txBody>
      </p:sp>
      <p:sp>
        <p:nvSpPr>
          <p:cNvPr id="1620" name="p19b2_nt"/>
          <p:cNvSpPr txBox="1"/>
          <p:nvPr/>
        </p:nvSpPr>
        <p:spPr>
          <a:xfrm>
            <a:off x="685800" y="4711954"/>
            <a:ext cx="381000" cy="254000"/>
          </a:xfrm>
          <a:prstGeom prst="rect">
            <a:avLst/>
          </a:prstGeom>
        </p:spPr>
        <p:txBody>
          <a:bodyPr wrap="square" lIns="0" rIns="0" tIns="0" bIns="0"/>
          <a:lstStyle/>
          <a:p>
            <a:pPr algn="ctr" lvl="0"/>
            <a:r>
              <a:rPr lang="zh-CN" sz="1400" b="1">
                <a:solidFill>
                  <a:srgbClr val="1D2B23"/>
                </a:solidFill>
                <a:latin typeface="黑体"/>
                <a:ea typeface="黑体"/>
              </a:rPr>
              <a:t>03</a:t>
            </a:r>
          </a:p>
        </p:txBody>
      </p:sp>
      <p:sp>
        <p:nvSpPr>
          <p:cNvPr id="1621" name="p19b2_t"/>
          <p:cNvSpPr txBox="1"/>
          <p:nvPr/>
        </p:nvSpPr>
        <p:spPr>
          <a:xfrm>
            <a:off x="1193800" y="4635754"/>
            <a:ext cx="6781800" cy="389255"/>
          </a:xfrm>
          <a:prstGeom prst="rect">
            <a:avLst/>
          </a:prstGeom>
        </p:spPr>
        <p:txBody>
          <a:bodyPr wrap="square" lIns="0" rIns="0" tIns="0" bIns="0"/>
          <a:lstStyle/>
          <a:p>
            <a:pPr algn="l" lvl="0"/>
            <a:r>
              <a:rPr lang="zh-CN" sz="1700" b="1">
                <a:solidFill>
                  <a:srgbClr val="1D2B23"/>
                </a:solidFill>
                <a:latin typeface="黑体"/>
                <a:ea typeface="黑体"/>
              </a:rPr>
              <a:t>第三段　联系自身</a:t>
            </a:r>
          </a:p>
        </p:txBody>
      </p:sp>
      <p:sp>
        <p:nvSpPr>
          <p:cNvPr id="1622" name="p19b2_b"/>
          <p:cNvSpPr txBox="1"/>
          <p:nvPr/>
        </p:nvSpPr>
        <p:spPr>
          <a:xfrm>
            <a:off x="1193800" y="5075809"/>
            <a:ext cx="6781800" cy="361950"/>
          </a:xfrm>
          <a:prstGeom prst="rect">
            <a:avLst/>
          </a:prstGeom>
        </p:spPr>
        <p:txBody>
          <a:bodyPr wrap="square" lIns="0" rIns="0" tIns="0" bIns="0"/>
          <a:lstStyle/>
          <a:p>
            <a:pPr algn="l" lvl="0"/>
            <a:r>
              <a:rPr lang="zh-CN" sz="1500">
                <a:solidFill>
                  <a:srgbClr val="2E4438"/>
                </a:solidFill>
                <a:latin typeface="楷体"/>
                <a:ea typeface="楷体"/>
              </a:rPr>
              <a:t>这启示我们今后如何做？把结论接到自己的生活上。</a:t>
            </a:r>
          </a:p>
        </p:txBody>
      </p:sp>
    </p:spTree>
  </p:cSld>
  <p:clrMapOvr>
    <a:masterClrMapping/>
  </p:clrMapOvr>
  <p:transition xmlns:p="http://schemas.openxmlformats.org/presentationml/2006/main" spd="med">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623"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624" name="hd_secbar"/>
          <p:cNvSpPr/>
          <p:nvPr/>
        </p:nvSpPr>
        <p:spPr>
          <a:xfrm>
            <a:off x="609600" y="317500"/>
            <a:ext cx="44450" cy="228600"/>
          </a:xfrm>
          <a:prstGeom prst="rect">
            <a:avLst/>
          </a:prstGeom>
          <a:gradFill rotWithShape="1">
            <a:gsLst>
              <a:gs pos="0">
                <a:srgbClr val="1F6383"/>
              </a:gs>
              <a:gs pos="100000">
                <a:srgbClr val="6FC7E8">
                  <a:alpha val="100000"/>
                </a:srgbClr>
              </a:gs>
            </a:gsLst>
            <a:lin ang="5400000" scaled="1"/>
          </a:gradFill>
          <a:ln>
            <a:noFill/>
          </a:ln>
        </p:spPr>
        <p:txBody>
          <a:bodyPr rtlCol="0" anchor="ctr"/>
          <a:lstStyle/>
          <a:p/>
        </p:txBody>
      </p:sp>
      <p:sp>
        <p:nvSpPr>
          <p:cNvPr id="1625" name="hd_sec"/>
          <p:cNvSpPr txBox="1"/>
          <p:nvPr/>
        </p:nvSpPr>
        <p:spPr>
          <a:xfrm>
            <a:off x="736600" y="317500"/>
            <a:ext cx="3476600" cy="228600"/>
          </a:xfrm>
          <a:prstGeom prst="rect">
            <a:avLst/>
          </a:prstGeom>
        </p:spPr>
        <p:txBody>
          <a:bodyPr wrap="square" lIns="0" rIns="0" tIns="0" bIns="0"/>
          <a:lstStyle/>
          <a:p>
            <a:pPr algn="l" lvl="0"/>
            <a:r>
              <a:rPr lang="zh-CN" sz="1400" b="1">
                <a:solidFill>
                  <a:srgbClr val="1F6383"/>
                </a:solidFill>
                <a:latin typeface="黑体"/>
                <a:ea typeface="黑体"/>
              </a:rPr>
              <a:t>子任务二 · 撰写解说——解码新成就</a:t>
            </a:r>
          </a:p>
        </p:txBody>
      </p:sp>
      <p:sp>
        <p:nvSpPr>
          <p:cNvPr id="1626"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小组合作探究成果 · 解说词示例</a:t>
            </a:r>
          </a:p>
        </p:txBody>
      </p:sp>
      <p:sp>
        <p:nvSpPr>
          <p:cNvPr id="1627" name="hd_rule2"/>
          <p:cNvSpPr/>
          <p:nvPr/>
        </p:nvSpPr>
        <p:spPr>
          <a:xfrm>
            <a:off x="558800" y="1143000"/>
            <a:ext cx="1625600" cy="44450"/>
          </a:xfrm>
          <a:prstGeom prst="rect">
            <a:avLst/>
          </a:prstGeom>
          <a:gradFill rotWithShape="1">
            <a:gsLst>
              <a:gs pos="0">
                <a:srgbClr val="1F6383"/>
              </a:gs>
              <a:gs pos="100000">
                <a:srgbClr val="6FC7E8">
                  <a:alpha val="100000"/>
                </a:srgbClr>
              </a:gs>
            </a:gsLst>
            <a:lin ang="0" scaled="1"/>
          </a:gradFill>
          <a:ln>
            <a:noFill/>
          </a:ln>
        </p:spPr>
        <p:txBody>
          <a:bodyPr rtlCol="0" anchor="ctr"/>
          <a:lstStyle/>
          <a:p/>
        </p:txBody>
      </p:sp>
      <p:sp>
        <p:nvSpPr>
          <p:cNvPr id="1628" name="hd_rule"/>
          <p:cNvSpPr/>
          <p:nvPr/>
        </p:nvSpPr>
        <p:spPr>
          <a:xfrm>
            <a:off x="2260600" y="1158240"/>
            <a:ext cx="5867400" cy="19050"/>
          </a:xfrm>
          <a:prstGeom prst="rect">
            <a:avLst/>
          </a:prstGeom>
          <a:solidFill>
            <a:srgbClr val="6FC7E8">
              <a:alpha val="40000"/>
            </a:srgbClr>
          </a:solidFill>
          <a:ln>
            <a:noFill/>
          </a:ln>
        </p:spPr>
        <p:txBody>
          <a:bodyPr rtlCol="0" anchor="ctr"/>
          <a:lstStyle/>
          <a:p/>
        </p:txBody>
      </p:sp>
      <p:cxnSp>
        <p:nvCxnSpPr>
          <p:cNvPr id="1629" name="rb_rule"/>
          <p:cNvCxnSpPr/>
          <p:nvPr/>
        </p:nvCxnSpPr>
        <p:spPr>
          <a:xfrm>
            <a:off x="8280400" y="1422400"/>
            <a:ext cx="0" cy="4267200"/>
          </a:xfrm>
          <a:prstGeom prst="straightConnector1">
            <a:avLst/>
          </a:prstGeom>
          <a:ln w="19050">
            <a:solidFill>
              <a:srgbClr val="7E9A85"/>
            </a:solidFill>
          </a:ln>
        </p:spPr>
      </p:cxnSp>
      <p:sp>
        <p:nvSpPr>
          <p:cNvPr id="1630" name="rb_chip_a"/>
          <p:cNvSpPr/>
          <p:nvPr/>
        </p:nvSpPr>
        <p:spPr>
          <a:xfrm>
            <a:off x="8229600" y="1219200"/>
            <a:ext cx="152400" cy="152400"/>
          </a:xfrm>
          <a:prstGeom prst="rect">
            <a:avLst/>
          </a:prstGeom>
          <a:gradFill rotWithShape="1">
            <a:gsLst>
              <a:gs pos="0">
                <a:srgbClr val="6FC7E8"/>
              </a:gs>
              <a:gs pos="100000">
                <a:srgbClr val="1F6383">
                  <a:alpha val="100000"/>
                </a:srgbClr>
              </a:gs>
            </a:gsLst>
            <a:lin ang="8100000" scaled="1"/>
          </a:gradFill>
          <a:ln>
            <a:noFill/>
          </a:ln>
        </p:spPr>
        <p:txBody>
          <a:bodyPr rtlCol="0" anchor="ctr"/>
          <a:lstStyle/>
          <a:p/>
        </p:txBody>
      </p:sp>
      <p:sp>
        <p:nvSpPr>
          <p:cNvPr id="1631" name="rb_chip_b"/>
          <p:cNvSpPr/>
          <p:nvPr/>
        </p:nvSpPr>
        <p:spPr>
          <a:xfrm>
            <a:off x="8280400" y="1193800"/>
            <a:ext cx="101600" cy="101600"/>
          </a:xfrm>
          <a:prstGeom prst="rect">
            <a:avLst/>
          </a:prstGeom>
          <a:solidFill>
            <a:srgbClr val="1F6383"/>
          </a:solidFill>
          <a:ln>
            <a:noFill/>
          </a:ln>
        </p:spPr>
        <p:txBody>
          <a:bodyPr rtlCol="0" anchor="ctr"/>
          <a:lstStyle/>
          <a:p/>
        </p:txBody>
      </p:sp>
      <p:sp>
        <p:nvSpPr>
          <p:cNvPr id="1632"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633"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634" name="rb_tagrule"/>
          <p:cNvCxnSpPr/>
          <p:nvPr/>
        </p:nvCxnSpPr>
        <p:spPr>
          <a:xfrm>
            <a:off x="11226800" y="2260600"/>
            <a:ext cx="482600" cy="0"/>
          </a:xfrm>
          <a:prstGeom prst="straightConnector1">
            <a:avLst/>
          </a:prstGeom>
          <a:ln w="12700">
            <a:solidFill>
              <a:srgbClr val="7E9A85"/>
            </a:solidFill>
          </a:ln>
        </p:spPr>
      </p:cxnSp>
      <p:sp>
        <p:nvSpPr>
          <p:cNvPr id="1635"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6FC7E8"/>
                </a:solidFill>
                <a:latin typeface="黑体"/>
                <a:ea typeface="黑体"/>
              </a:rPr>
              <a:t>20 / 42</a:t>
            </a:r>
          </a:p>
        </p:txBody>
      </p:sp>
      <p:sp>
        <p:nvSpPr>
          <p:cNvPr id="1636" name="p20tag_sh"/>
          <p:cNvSpPr/>
          <p:nvPr/>
        </p:nvSpPr>
        <p:spPr>
          <a:xfrm>
            <a:off x="584200" y="13208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637" name="p20tag"/>
          <p:cNvSpPr/>
          <p:nvPr/>
        </p:nvSpPr>
        <p:spPr>
          <a:xfrm>
            <a:off x="558800" y="1270000"/>
            <a:ext cx="7569200" cy="654812"/>
          </a:xfrm>
          <a:prstGeom prst="roundRect">
            <a:avLst>
              <a:gd name="adj" fmla="val 8000"/>
            </a:avLst>
          </a:prstGeom>
          <a:solidFill>
            <a:srgbClr val="E9EFE9"/>
          </a:solidFill>
          <a:ln w="15875">
            <a:solidFill>
              <a:srgbClr val="1F6383"/>
            </a:solidFill>
          </a:ln>
        </p:spPr>
        <p:txBody>
          <a:bodyPr rtlCol="0" anchor="ctr"/>
          <a:lstStyle/>
          <a:p/>
        </p:txBody>
      </p:sp>
      <p:sp>
        <p:nvSpPr>
          <p:cNvPr id="1638" name="p20tag_cap"/>
          <p:cNvSpPr/>
          <p:nvPr/>
        </p:nvSpPr>
        <p:spPr>
          <a:xfrm>
            <a:off x="647700" y="1346200"/>
            <a:ext cx="50800" cy="502412"/>
          </a:xfrm>
          <a:prstGeom prst="rect">
            <a:avLst/>
          </a:prstGeom>
          <a:gradFill rotWithShape="1">
            <a:gsLst>
              <a:gs pos="0">
                <a:srgbClr val="1F6383"/>
              </a:gs>
              <a:gs pos="100000">
                <a:srgbClr val="1F6383">
                  <a:alpha val="10000"/>
                </a:srgbClr>
              </a:gs>
            </a:gsLst>
            <a:lin ang="5400000" scaled="1"/>
          </a:gradFill>
          <a:ln>
            <a:noFill/>
          </a:ln>
        </p:spPr>
        <p:txBody>
          <a:bodyPr rtlCol="0" anchor="ctr"/>
          <a:lstStyle/>
          <a:p/>
        </p:txBody>
      </p:sp>
      <p:sp>
        <p:nvSpPr>
          <p:cNvPr id="1639" name="p20tag_t"/>
          <p:cNvSpPr txBox="1"/>
          <p:nvPr/>
        </p:nvSpPr>
        <p:spPr>
          <a:xfrm>
            <a:off x="711200" y="1358900"/>
            <a:ext cx="7264400" cy="477012"/>
          </a:xfrm>
          <a:prstGeom prst="rect">
            <a:avLst/>
          </a:prstGeom>
        </p:spPr>
        <p:txBody>
          <a:bodyPr wrap="square" lIns="0" rIns="0" tIns="0" bIns="0"/>
          <a:lstStyle/>
          <a:p>
            <a:pPr algn="l" lvl="0"/>
            <a:r>
              <a:rPr lang="zh-CN" sz="1800" b="1">
                <a:solidFill>
                  <a:srgbClr val="1D2B23"/>
                </a:solidFill>
                <a:latin typeface="黑体"/>
                <a:ea typeface="黑体"/>
              </a:rPr>
              <a:t>小组合作探究成果 · 解说词示例</a:t>
            </a:r>
          </a:p>
        </p:txBody>
      </p:sp>
      <p:sp>
        <p:nvSpPr>
          <p:cNvPr id="1640" name="p20t_sh"/>
          <p:cNvSpPr/>
          <p:nvPr/>
        </p:nvSpPr>
        <p:spPr>
          <a:xfrm>
            <a:off x="584200" y="2204212"/>
            <a:ext cx="7518400" cy="2400808"/>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641" name="p20t"/>
          <p:cNvSpPr/>
          <p:nvPr/>
        </p:nvSpPr>
        <p:spPr>
          <a:xfrm>
            <a:off x="558800" y="2153412"/>
            <a:ext cx="7569200" cy="2400808"/>
          </a:xfrm>
          <a:prstGeom prst="roundRect">
            <a:avLst>
              <a:gd name="adj" fmla="val 8000"/>
            </a:avLst>
          </a:prstGeom>
          <a:solidFill>
            <a:srgbClr val="F0E8D8"/>
          </a:solidFill>
          <a:ln w="15875">
            <a:solidFill>
              <a:srgbClr val="1F6383"/>
            </a:solidFill>
          </a:ln>
        </p:spPr>
        <p:txBody>
          <a:bodyPr rtlCol="0" anchor="ctr"/>
          <a:lstStyle/>
          <a:p/>
        </p:txBody>
      </p:sp>
      <p:sp>
        <p:nvSpPr>
          <p:cNvPr id="1642" name="p20t_le"/>
          <p:cNvSpPr/>
          <p:nvPr/>
        </p:nvSpPr>
        <p:spPr>
          <a:xfrm>
            <a:off x="584200" y="2267712"/>
            <a:ext cx="44450" cy="2172208"/>
          </a:xfrm>
          <a:prstGeom prst="rect">
            <a:avLst/>
          </a:prstGeom>
          <a:gradFill rotWithShape="1">
            <a:gsLst>
              <a:gs pos="0">
                <a:srgbClr val="1F6383"/>
              </a:gs>
              <a:gs pos="100000">
                <a:srgbClr val="1F6383">
                  <a:alpha val="0"/>
                </a:srgbClr>
              </a:gs>
            </a:gsLst>
            <a:lin ang="5400000" scaled="1"/>
          </a:gradFill>
          <a:ln>
            <a:noFill/>
          </a:ln>
        </p:spPr>
        <p:txBody>
          <a:bodyPr rtlCol="0" anchor="ctr"/>
          <a:lstStyle/>
          <a:p/>
        </p:txBody>
      </p:sp>
      <p:sp>
        <p:nvSpPr>
          <p:cNvPr id="1643" name="p20t_b"/>
          <p:cNvSpPr txBox="1"/>
          <p:nvPr/>
        </p:nvSpPr>
        <p:spPr>
          <a:xfrm>
            <a:off x="711200" y="2267712"/>
            <a:ext cx="7264400" cy="2096008"/>
          </a:xfrm>
          <a:prstGeom prst="rect">
            <a:avLst/>
          </a:prstGeom>
        </p:spPr>
        <p:txBody>
          <a:bodyPr wrap="square" lIns="0" rIns="0" tIns="0" bIns="0"/>
          <a:lstStyle/>
          <a:p>
            <a:pPr algn="l" lvl="0"/>
            <a:r>
              <a:rPr lang="zh-CN" sz="1600">
                <a:solidFill>
                  <a:srgbClr val="2E4438"/>
                </a:solidFill>
                <a:latin typeface="楷体"/>
                <a:ea typeface="楷体"/>
              </a:rPr>
              <a:t>黄河，从 226 天断流到连续 27 年不断流。</a:t>
            </a:r>
          </a:p>
          <a:p>
            <a:pPr algn="l" lvl="0"/>
            <a:r>
              <a:rPr lang="zh-CN" sz="1600">
                <a:solidFill>
                  <a:srgbClr val="2E4438"/>
                </a:solidFill>
                <a:latin typeface="楷体"/>
                <a:ea typeface="楷体"/>
              </a:rPr>
              <a:t>这条母亲河的“重生”告诉我们：奇迹不是凭空发生的。</a:t>
            </a:r>
          </a:p>
          <a:p>
            <a:pPr algn="l" lvl="0"/>
            <a:r>
              <a:rPr lang="zh-CN" sz="1600">
                <a:solidFill>
                  <a:srgbClr val="2E4438"/>
                </a:solidFill>
                <a:latin typeface="楷体"/>
                <a:ea typeface="楷体"/>
              </a:rPr>
              <a:t>它的背后，站着党的全面领导、科学理论的指引、制度的优势和人民至</a:t>
            </a:r>
          </a:p>
          <a:p>
            <a:pPr algn="l" lvl="0"/>
            <a:r>
              <a:rPr lang="zh-CN" sz="1600">
                <a:solidFill>
                  <a:srgbClr val="2E4438"/>
                </a:solidFill>
                <a:latin typeface="楷体"/>
                <a:ea typeface="楷体"/>
              </a:rPr>
              <a:t>上的立场。</a:t>
            </a:r>
          </a:p>
          <a:p>
            <a:pPr algn="l" lvl="0"/>
            <a:r>
              <a:rPr lang="zh-CN" sz="1600">
                <a:solidFill>
                  <a:srgbClr val="2E4438"/>
                </a:solidFill>
                <a:latin typeface="楷体"/>
                <a:ea typeface="楷体"/>
              </a:rPr>
              <a:t>从断流到安澜，这条大河的变迁，就是国家发展奇迹的生动缩影。</a:t>
            </a:r>
          </a:p>
          <a:p>
            <a:pPr algn="l" lvl="0"/>
            <a:r>
              <a:rPr lang="zh-CN" sz="1600">
                <a:solidFill>
                  <a:srgbClr val="2E4438"/>
                </a:solidFill>
                <a:latin typeface="楷体"/>
                <a:ea typeface="楷体"/>
              </a:rPr>
              <a:t>解码成就，不是为了记住几个结论，而是学会用这把钥匙，去读懂我们</a:t>
            </a:r>
          </a:p>
          <a:p>
            <a:pPr algn="l" lvl="0"/>
            <a:r>
              <a:rPr lang="zh-CN" sz="1600">
                <a:solidFill>
                  <a:srgbClr val="2E4438"/>
                </a:solidFill>
                <a:latin typeface="楷体"/>
                <a:ea typeface="楷体"/>
              </a:rPr>
              <a:t>的国家。</a:t>
            </a:r>
          </a:p>
        </p:txBody>
      </p:sp>
    </p:spTree>
  </p:cSld>
  <p:clrMapOvr>
    <a:masterClrMapping/>
  </p:clrMapOvr>
  <p:transition xmlns:p="http://schemas.openxmlformats.org/presentationml/2006/main" spd="med">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644"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645" name="hd_secbar"/>
          <p:cNvSpPr/>
          <p:nvPr/>
        </p:nvSpPr>
        <p:spPr>
          <a:xfrm>
            <a:off x="609600" y="317500"/>
            <a:ext cx="44450" cy="228600"/>
          </a:xfrm>
          <a:prstGeom prst="rect">
            <a:avLst/>
          </a:prstGeom>
          <a:gradFill rotWithShape="1">
            <a:gsLst>
              <a:gs pos="0">
                <a:srgbClr val="8E3F2E"/>
              </a:gs>
              <a:gs pos="100000">
                <a:srgbClr val="EE8A72">
                  <a:alpha val="100000"/>
                </a:srgbClr>
              </a:gs>
            </a:gsLst>
            <a:lin ang="5400000" scaled="1"/>
          </a:gradFill>
          <a:ln>
            <a:noFill/>
          </a:ln>
        </p:spPr>
        <p:txBody>
          <a:bodyPr rtlCol="0" anchor="ctr"/>
          <a:lstStyle/>
          <a:p/>
        </p:txBody>
      </p:sp>
      <p:sp>
        <p:nvSpPr>
          <p:cNvPr id="1646" name="hd_sec"/>
          <p:cNvSpPr txBox="1"/>
          <p:nvPr/>
        </p:nvSpPr>
        <p:spPr>
          <a:xfrm>
            <a:off x="736600" y="317500"/>
            <a:ext cx="3476600" cy="228600"/>
          </a:xfrm>
          <a:prstGeom prst="rect">
            <a:avLst/>
          </a:prstGeom>
        </p:spPr>
        <p:txBody>
          <a:bodyPr wrap="square" lIns="0" rIns="0" tIns="0" bIns="0"/>
          <a:lstStyle/>
          <a:p>
            <a:pPr algn="l" lvl="0"/>
            <a:r>
              <a:rPr lang="zh-CN" sz="1400" b="1">
                <a:solidFill>
                  <a:srgbClr val="8E3F2E"/>
                </a:solidFill>
                <a:latin typeface="黑体"/>
                <a:ea typeface="黑体"/>
              </a:rPr>
              <a:t>子任务三 · 拓展策展——循迹盐湖行</a:t>
            </a:r>
          </a:p>
        </p:txBody>
      </p:sp>
      <p:sp>
        <p:nvSpPr>
          <p:cNvPr id="1647"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子任务三 · 拓展策展——循迹盐湖行</a:t>
            </a:r>
          </a:p>
        </p:txBody>
      </p:sp>
      <p:sp>
        <p:nvSpPr>
          <p:cNvPr id="1648" name="hd_rule2"/>
          <p:cNvSpPr/>
          <p:nvPr/>
        </p:nvSpPr>
        <p:spPr>
          <a:xfrm>
            <a:off x="558800" y="1143000"/>
            <a:ext cx="1625600" cy="44450"/>
          </a:xfrm>
          <a:prstGeom prst="rect">
            <a:avLst/>
          </a:prstGeom>
          <a:gradFill rotWithShape="1">
            <a:gsLst>
              <a:gs pos="0">
                <a:srgbClr val="8E3F2E"/>
              </a:gs>
              <a:gs pos="100000">
                <a:srgbClr val="EE8A72">
                  <a:alpha val="100000"/>
                </a:srgbClr>
              </a:gs>
            </a:gsLst>
            <a:lin ang="0" scaled="1"/>
          </a:gradFill>
          <a:ln>
            <a:noFill/>
          </a:ln>
        </p:spPr>
        <p:txBody>
          <a:bodyPr rtlCol="0" anchor="ctr"/>
          <a:lstStyle/>
          <a:p/>
        </p:txBody>
      </p:sp>
      <p:sp>
        <p:nvSpPr>
          <p:cNvPr id="1649" name="hd_rule"/>
          <p:cNvSpPr/>
          <p:nvPr/>
        </p:nvSpPr>
        <p:spPr>
          <a:xfrm>
            <a:off x="2260600" y="1158240"/>
            <a:ext cx="5867400" cy="19050"/>
          </a:xfrm>
          <a:prstGeom prst="rect">
            <a:avLst/>
          </a:prstGeom>
          <a:solidFill>
            <a:srgbClr val="EE8A72">
              <a:alpha val="40000"/>
            </a:srgbClr>
          </a:solidFill>
          <a:ln>
            <a:noFill/>
          </a:ln>
        </p:spPr>
        <p:txBody>
          <a:bodyPr rtlCol="0" anchor="ctr"/>
          <a:lstStyle/>
          <a:p/>
        </p:txBody>
      </p:sp>
      <p:cxnSp>
        <p:nvCxnSpPr>
          <p:cNvPr id="1650" name="rb_rule"/>
          <p:cNvCxnSpPr/>
          <p:nvPr/>
        </p:nvCxnSpPr>
        <p:spPr>
          <a:xfrm>
            <a:off x="8280400" y="1422400"/>
            <a:ext cx="0" cy="4267200"/>
          </a:xfrm>
          <a:prstGeom prst="straightConnector1">
            <a:avLst/>
          </a:prstGeom>
          <a:ln w="19050">
            <a:solidFill>
              <a:srgbClr val="7E9A85"/>
            </a:solidFill>
          </a:ln>
        </p:spPr>
      </p:cxnSp>
      <p:sp>
        <p:nvSpPr>
          <p:cNvPr id="1651" name="rb_chip_a"/>
          <p:cNvSpPr/>
          <p:nvPr/>
        </p:nvSpPr>
        <p:spPr>
          <a:xfrm>
            <a:off x="8229600" y="1219200"/>
            <a:ext cx="152400" cy="152400"/>
          </a:xfrm>
          <a:prstGeom prst="rect">
            <a:avLst/>
          </a:prstGeom>
          <a:gradFill rotWithShape="1">
            <a:gsLst>
              <a:gs pos="0">
                <a:srgbClr val="EE8A72"/>
              </a:gs>
              <a:gs pos="100000">
                <a:srgbClr val="8E3F2E">
                  <a:alpha val="100000"/>
                </a:srgbClr>
              </a:gs>
            </a:gsLst>
            <a:lin ang="8100000" scaled="1"/>
          </a:gradFill>
          <a:ln>
            <a:noFill/>
          </a:ln>
        </p:spPr>
        <p:txBody>
          <a:bodyPr rtlCol="0" anchor="ctr"/>
          <a:lstStyle/>
          <a:p/>
        </p:txBody>
      </p:sp>
      <p:sp>
        <p:nvSpPr>
          <p:cNvPr id="1652" name="rb_chip_b"/>
          <p:cNvSpPr/>
          <p:nvPr/>
        </p:nvSpPr>
        <p:spPr>
          <a:xfrm>
            <a:off x="8280400" y="1193800"/>
            <a:ext cx="101600" cy="101600"/>
          </a:xfrm>
          <a:prstGeom prst="rect">
            <a:avLst/>
          </a:prstGeom>
          <a:solidFill>
            <a:srgbClr val="8E3F2E"/>
          </a:solidFill>
          <a:ln>
            <a:noFill/>
          </a:ln>
        </p:spPr>
        <p:txBody>
          <a:bodyPr rtlCol="0" anchor="ctr"/>
          <a:lstStyle/>
          <a:p/>
        </p:txBody>
      </p:sp>
      <p:sp>
        <p:nvSpPr>
          <p:cNvPr id="1653"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654"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655" name="rb_tagrule"/>
          <p:cNvCxnSpPr/>
          <p:nvPr/>
        </p:nvCxnSpPr>
        <p:spPr>
          <a:xfrm>
            <a:off x="11226800" y="2260600"/>
            <a:ext cx="482600" cy="0"/>
          </a:xfrm>
          <a:prstGeom prst="straightConnector1">
            <a:avLst/>
          </a:prstGeom>
          <a:ln w="12700">
            <a:solidFill>
              <a:srgbClr val="7E9A85"/>
            </a:solidFill>
          </a:ln>
        </p:spPr>
      </p:cxnSp>
      <p:sp>
        <p:nvSpPr>
          <p:cNvPr id="1656"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E8A72"/>
                </a:solidFill>
                <a:latin typeface="黑体"/>
                <a:ea typeface="黑体"/>
              </a:rPr>
              <a:t>21 / 42</a:t>
            </a:r>
          </a:p>
        </p:txBody>
      </p:sp>
      <p:sp>
        <p:nvSpPr>
          <p:cNvPr id="1657" name="p21task_sh"/>
          <p:cNvSpPr/>
          <p:nvPr/>
        </p:nvSpPr>
        <p:spPr>
          <a:xfrm>
            <a:off x="584200" y="13716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658" name="p21task"/>
          <p:cNvSpPr/>
          <p:nvPr/>
        </p:nvSpPr>
        <p:spPr>
          <a:xfrm>
            <a:off x="558800" y="1320800"/>
            <a:ext cx="7569200" cy="654812"/>
          </a:xfrm>
          <a:prstGeom prst="roundRect">
            <a:avLst>
              <a:gd name="adj" fmla="val 8000"/>
            </a:avLst>
          </a:prstGeom>
          <a:solidFill>
            <a:srgbClr val="E9EFE9"/>
          </a:solidFill>
          <a:ln w="15875">
            <a:solidFill>
              <a:srgbClr val="8E3F2E"/>
            </a:solidFill>
          </a:ln>
        </p:spPr>
        <p:txBody>
          <a:bodyPr rtlCol="0" anchor="ctr"/>
          <a:lstStyle/>
          <a:p/>
        </p:txBody>
      </p:sp>
      <p:sp>
        <p:nvSpPr>
          <p:cNvPr id="1659" name="p21task_cap"/>
          <p:cNvSpPr/>
          <p:nvPr/>
        </p:nvSpPr>
        <p:spPr>
          <a:xfrm>
            <a:off x="647700" y="1397000"/>
            <a:ext cx="50800" cy="502412"/>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660" name="p21task_t"/>
          <p:cNvSpPr txBox="1"/>
          <p:nvPr/>
        </p:nvSpPr>
        <p:spPr>
          <a:xfrm>
            <a:off x="711200" y="1409700"/>
            <a:ext cx="7264400" cy="477012"/>
          </a:xfrm>
          <a:prstGeom prst="rect">
            <a:avLst/>
          </a:prstGeom>
        </p:spPr>
        <p:txBody>
          <a:bodyPr wrap="square" lIns="0" rIns="0" tIns="0" bIns="0"/>
          <a:lstStyle/>
          <a:p>
            <a:pPr algn="l" lvl="0"/>
            <a:r>
              <a:rPr lang="zh-CN" sz="1800" b="1">
                <a:solidFill>
                  <a:srgbClr val="1D2B23"/>
                </a:solidFill>
                <a:latin typeface="黑体"/>
                <a:ea typeface="黑体"/>
              </a:rPr>
              <a:t>围绕展览主题，立足家乡的变化发展，开展一次研学活动。</a:t>
            </a:r>
          </a:p>
        </p:txBody>
      </p:sp>
      <p:sp>
        <p:nvSpPr>
          <p:cNvPr id="1661" name="p21b0_sh"/>
          <p:cNvSpPr/>
          <p:nvPr/>
        </p:nvSpPr>
        <p:spPr>
          <a:xfrm>
            <a:off x="584200" y="2305812"/>
            <a:ext cx="7518400" cy="1056005"/>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662" name="p21b0"/>
          <p:cNvSpPr/>
          <p:nvPr/>
        </p:nvSpPr>
        <p:spPr>
          <a:xfrm>
            <a:off x="558800" y="2255012"/>
            <a:ext cx="7569200" cy="1056005"/>
          </a:xfrm>
          <a:prstGeom prst="roundRect">
            <a:avLst>
              <a:gd name="adj" fmla="val 8000"/>
            </a:avLst>
          </a:prstGeom>
          <a:solidFill>
            <a:srgbClr val="E9EFE9"/>
          </a:solidFill>
          <a:ln w="15875">
            <a:solidFill>
              <a:srgbClr val="8E3F2E"/>
            </a:solidFill>
          </a:ln>
        </p:spPr>
        <p:txBody>
          <a:bodyPr rtlCol="0" anchor="ctr"/>
          <a:lstStyle/>
          <a:p/>
        </p:txBody>
      </p:sp>
      <p:sp>
        <p:nvSpPr>
          <p:cNvPr id="1663" name="p21b0_n"/>
          <p:cNvSpPr/>
          <p:nvPr/>
        </p:nvSpPr>
        <p:spPr>
          <a:xfrm>
            <a:off x="685800" y="2369312"/>
            <a:ext cx="381000" cy="381000"/>
          </a:xfrm>
          <a:prstGeom prst="roundRect">
            <a:avLst>
              <a:gd name="adj" fmla="val 8000"/>
            </a:avLst>
          </a:prstGeom>
          <a:gradFill rotWithShape="1">
            <a:gsLst>
              <a:gs pos="0">
                <a:srgbClr val="8E3F2E"/>
              </a:gs>
              <a:gs pos="100000">
                <a:srgbClr val="8E3F2E">
                  <a:alpha val="55000"/>
                </a:srgbClr>
              </a:gs>
            </a:gsLst>
            <a:lin ang="8100000" scaled="1"/>
          </a:gradFill>
          <a:ln>
            <a:noFill/>
          </a:ln>
        </p:spPr>
        <p:txBody>
          <a:bodyPr rtlCol="0" anchor="ctr"/>
          <a:lstStyle/>
          <a:p/>
        </p:txBody>
      </p:sp>
      <p:sp>
        <p:nvSpPr>
          <p:cNvPr id="1664" name="p21b0_nt"/>
          <p:cNvSpPr txBox="1"/>
          <p:nvPr/>
        </p:nvSpPr>
        <p:spPr>
          <a:xfrm>
            <a:off x="685800" y="2432812"/>
            <a:ext cx="381000" cy="254000"/>
          </a:xfrm>
          <a:prstGeom prst="rect">
            <a:avLst/>
          </a:prstGeom>
        </p:spPr>
        <p:txBody>
          <a:bodyPr wrap="square" lIns="0" rIns="0" tIns="0" bIns="0"/>
          <a:lstStyle/>
          <a:p>
            <a:pPr algn="ctr" lvl="0"/>
            <a:r>
              <a:rPr lang="zh-CN" sz="1400" b="1">
                <a:solidFill>
                  <a:srgbClr val="1D2B23"/>
                </a:solidFill>
                <a:latin typeface="黑体"/>
                <a:ea typeface="黑体"/>
              </a:rPr>
              <a:t>01</a:t>
            </a:r>
          </a:p>
        </p:txBody>
      </p:sp>
      <p:sp>
        <p:nvSpPr>
          <p:cNvPr id="1665" name="p21b0_t"/>
          <p:cNvSpPr txBox="1"/>
          <p:nvPr/>
        </p:nvSpPr>
        <p:spPr>
          <a:xfrm>
            <a:off x="1193800" y="2356612"/>
            <a:ext cx="6781800" cy="389255"/>
          </a:xfrm>
          <a:prstGeom prst="rect">
            <a:avLst/>
          </a:prstGeom>
        </p:spPr>
        <p:txBody>
          <a:bodyPr wrap="square" lIns="0" rIns="0" tIns="0" bIns="0"/>
          <a:lstStyle/>
          <a:p>
            <a:pPr algn="l" lvl="0"/>
            <a:r>
              <a:rPr lang="zh-CN" sz="1700" b="1">
                <a:solidFill>
                  <a:srgbClr val="1D2B23"/>
                </a:solidFill>
                <a:latin typeface="黑体"/>
                <a:ea typeface="黑体"/>
              </a:rPr>
              <a:t>选定线索</a:t>
            </a:r>
          </a:p>
        </p:txBody>
      </p:sp>
      <p:sp>
        <p:nvSpPr>
          <p:cNvPr id="1666" name="p21b0_b"/>
          <p:cNvSpPr txBox="1"/>
          <p:nvPr/>
        </p:nvSpPr>
        <p:spPr>
          <a:xfrm>
            <a:off x="1193800" y="2796667"/>
            <a:ext cx="6781800" cy="361950"/>
          </a:xfrm>
          <a:prstGeom prst="rect">
            <a:avLst/>
          </a:prstGeom>
        </p:spPr>
        <p:txBody>
          <a:bodyPr wrap="square" lIns="0" rIns="0" tIns="0" bIns="0"/>
          <a:lstStyle/>
          <a:p>
            <a:pPr algn="l" lvl="0"/>
            <a:r>
              <a:rPr lang="zh-CN" sz="1500">
                <a:solidFill>
                  <a:srgbClr val="2E4438"/>
                </a:solidFill>
                <a:latin typeface="楷体"/>
                <a:ea typeface="楷体"/>
              </a:rPr>
              <a:t>黄河流域生态保护和高质量发展 · 盐湖之变。</a:t>
            </a:r>
          </a:p>
        </p:txBody>
      </p:sp>
      <p:sp>
        <p:nvSpPr>
          <p:cNvPr id="1667" name="p21b1_sh"/>
          <p:cNvSpPr/>
          <p:nvPr/>
        </p:nvSpPr>
        <p:spPr>
          <a:xfrm>
            <a:off x="584200" y="3463417"/>
            <a:ext cx="7518400" cy="1056005"/>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668" name="p21b1"/>
          <p:cNvSpPr/>
          <p:nvPr/>
        </p:nvSpPr>
        <p:spPr>
          <a:xfrm>
            <a:off x="558800" y="3412617"/>
            <a:ext cx="7569200" cy="1056005"/>
          </a:xfrm>
          <a:prstGeom prst="roundRect">
            <a:avLst>
              <a:gd name="adj" fmla="val 8000"/>
            </a:avLst>
          </a:prstGeom>
          <a:solidFill>
            <a:srgbClr val="E9EFE9"/>
          </a:solidFill>
          <a:ln w="15875">
            <a:solidFill>
              <a:srgbClr val="8E3F2E"/>
            </a:solidFill>
          </a:ln>
        </p:spPr>
        <p:txBody>
          <a:bodyPr rtlCol="0" anchor="ctr"/>
          <a:lstStyle/>
          <a:p/>
        </p:txBody>
      </p:sp>
      <p:sp>
        <p:nvSpPr>
          <p:cNvPr id="1669" name="p21b1_n"/>
          <p:cNvSpPr/>
          <p:nvPr/>
        </p:nvSpPr>
        <p:spPr>
          <a:xfrm>
            <a:off x="685800" y="3526917"/>
            <a:ext cx="381000" cy="381000"/>
          </a:xfrm>
          <a:prstGeom prst="roundRect">
            <a:avLst>
              <a:gd name="adj" fmla="val 8000"/>
            </a:avLst>
          </a:prstGeom>
          <a:gradFill rotWithShape="1">
            <a:gsLst>
              <a:gs pos="0">
                <a:srgbClr val="8E3F2E"/>
              </a:gs>
              <a:gs pos="100000">
                <a:srgbClr val="8E3F2E">
                  <a:alpha val="55000"/>
                </a:srgbClr>
              </a:gs>
            </a:gsLst>
            <a:lin ang="8100000" scaled="1"/>
          </a:gradFill>
          <a:ln>
            <a:noFill/>
          </a:ln>
        </p:spPr>
        <p:txBody>
          <a:bodyPr rtlCol="0" anchor="ctr"/>
          <a:lstStyle/>
          <a:p/>
        </p:txBody>
      </p:sp>
      <p:sp>
        <p:nvSpPr>
          <p:cNvPr id="1670" name="p21b1_nt"/>
          <p:cNvSpPr txBox="1"/>
          <p:nvPr/>
        </p:nvSpPr>
        <p:spPr>
          <a:xfrm>
            <a:off x="685800" y="3590417"/>
            <a:ext cx="381000" cy="254000"/>
          </a:xfrm>
          <a:prstGeom prst="rect">
            <a:avLst/>
          </a:prstGeom>
        </p:spPr>
        <p:txBody>
          <a:bodyPr wrap="square" lIns="0" rIns="0" tIns="0" bIns="0"/>
          <a:lstStyle/>
          <a:p>
            <a:pPr algn="ctr" lvl="0"/>
            <a:r>
              <a:rPr lang="zh-CN" sz="1400" b="1">
                <a:solidFill>
                  <a:srgbClr val="1D2B23"/>
                </a:solidFill>
                <a:latin typeface="黑体"/>
                <a:ea typeface="黑体"/>
              </a:rPr>
              <a:t>02</a:t>
            </a:r>
          </a:p>
        </p:txBody>
      </p:sp>
      <p:sp>
        <p:nvSpPr>
          <p:cNvPr id="1671" name="p21b1_t"/>
          <p:cNvSpPr txBox="1"/>
          <p:nvPr/>
        </p:nvSpPr>
        <p:spPr>
          <a:xfrm>
            <a:off x="1193800" y="3514217"/>
            <a:ext cx="6781800" cy="389255"/>
          </a:xfrm>
          <a:prstGeom prst="rect">
            <a:avLst/>
          </a:prstGeom>
        </p:spPr>
        <p:txBody>
          <a:bodyPr wrap="square" lIns="0" rIns="0" tIns="0" bIns="0"/>
          <a:lstStyle/>
          <a:p>
            <a:pPr algn="l" lvl="0"/>
            <a:r>
              <a:rPr lang="zh-CN" sz="1700" b="1">
                <a:solidFill>
                  <a:srgbClr val="1D2B23"/>
                </a:solidFill>
                <a:latin typeface="黑体"/>
                <a:ea typeface="黑体"/>
              </a:rPr>
              <a:t>走进现场</a:t>
            </a:r>
          </a:p>
        </p:txBody>
      </p:sp>
      <p:sp>
        <p:nvSpPr>
          <p:cNvPr id="1672" name="p21b1_b"/>
          <p:cNvSpPr txBox="1"/>
          <p:nvPr/>
        </p:nvSpPr>
        <p:spPr>
          <a:xfrm>
            <a:off x="1193800" y="3954272"/>
            <a:ext cx="6781800" cy="361950"/>
          </a:xfrm>
          <a:prstGeom prst="rect">
            <a:avLst/>
          </a:prstGeom>
        </p:spPr>
        <p:txBody>
          <a:bodyPr wrap="square" lIns="0" rIns="0" tIns="0" bIns="0"/>
          <a:lstStyle/>
          <a:p>
            <a:pPr algn="l" lvl="0"/>
            <a:r>
              <a:rPr lang="zh-CN" sz="1500">
                <a:solidFill>
                  <a:srgbClr val="2E4438"/>
                </a:solidFill>
                <a:latin typeface="楷体"/>
                <a:ea typeface="楷体"/>
              </a:rPr>
              <a:t>实地走访或线上查阅，收集事实与数据。</a:t>
            </a:r>
          </a:p>
        </p:txBody>
      </p:sp>
      <p:sp>
        <p:nvSpPr>
          <p:cNvPr id="1673" name="p21b2_sh"/>
          <p:cNvSpPr/>
          <p:nvPr/>
        </p:nvSpPr>
        <p:spPr>
          <a:xfrm>
            <a:off x="584200" y="4621022"/>
            <a:ext cx="7518400" cy="1056005"/>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674" name="p21b2"/>
          <p:cNvSpPr/>
          <p:nvPr/>
        </p:nvSpPr>
        <p:spPr>
          <a:xfrm>
            <a:off x="558800" y="4570222"/>
            <a:ext cx="7569200" cy="1056005"/>
          </a:xfrm>
          <a:prstGeom prst="roundRect">
            <a:avLst>
              <a:gd name="adj" fmla="val 8000"/>
            </a:avLst>
          </a:prstGeom>
          <a:solidFill>
            <a:srgbClr val="E9EFE9"/>
          </a:solidFill>
          <a:ln w="15875">
            <a:solidFill>
              <a:srgbClr val="8E3F2E"/>
            </a:solidFill>
          </a:ln>
        </p:spPr>
        <p:txBody>
          <a:bodyPr rtlCol="0" anchor="ctr"/>
          <a:lstStyle/>
          <a:p/>
        </p:txBody>
      </p:sp>
      <p:sp>
        <p:nvSpPr>
          <p:cNvPr id="1675" name="p21b2_n"/>
          <p:cNvSpPr/>
          <p:nvPr/>
        </p:nvSpPr>
        <p:spPr>
          <a:xfrm>
            <a:off x="685800" y="4684522"/>
            <a:ext cx="381000" cy="381000"/>
          </a:xfrm>
          <a:prstGeom prst="roundRect">
            <a:avLst>
              <a:gd name="adj" fmla="val 8000"/>
            </a:avLst>
          </a:prstGeom>
          <a:gradFill rotWithShape="1">
            <a:gsLst>
              <a:gs pos="0">
                <a:srgbClr val="8E3F2E"/>
              </a:gs>
              <a:gs pos="100000">
                <a:srgbClr val="8E3F2E">
                  <a:alpha val="55000"/>
                </a:srgbClr>
              </a:gs>
            </a:gsLst>
            <a:lin ang="8100000" scaled="1"/>
          </a:gradFill>
          <a:ln>
            <a:noFill/>
          </a:ln>
        </p:spPr>
        <p:txBody>
          <a:bodyPr rtlCol="0" anchor="ctr"/>
          <a:lstStyle/>
          <a:p/>
        </p:txBody>
      </p:sp>
      <p:sp>
        <p:nvSpPr>
          <p:cNvPr id="1676" name="p21b2_nt"/>
          <p:cNvSpPr txBox="1"/>
          <p:nvPr/>
        </p:nvSpPr>
        <p:spPr>
          <a:xfrm>
            <a:off x="685800" y="4748022"/>
            <a:ext cx="381000" cy="254000"/>
          </a:xfrm>
          <a:prstGeom prst="rect">
            <a:avLst/>
          </a:prstGeom>
        </p:spPr>
        <p:txBody>
          <a:bodyPr wrap="square" lIns="0" rIns="0" tIns="0" bIns="0"/>
          <a:lstStyle/>
          <a:p>
            <a:pPr algn="ctr" lvl="0"/>
            <a:r>
              <a:rPr lang="zh-CN" sz="1400" b="1">
                <a:solidFill>
                  <a:srgbClr val="1D2B23"/>
                </a:solidFill>
                <a:latin typeface="黑体"/>
                <a:ea typeface="黑体"/>
              </a:rPr>
              <a:t>03</a:t>
            </a:r>
          </a:p>
        </p:txBody>
      </p:sp>
      <p:sp>
        <p:nvSpPr>
          <p:cNvPr id="1677" name="p21b2_t"/>
          <p:cNvSpPr txBox="1"/>
          <p:nvPr/>
        </p:nvSpPr>
        <p:spPr>
          <a:xfrm>
            <a:off x="1193800" y="4671822"/>
            <a:ext cx="6781800" cy="389255"/>
          </a:xfrm>
          <a:prstGeom prst="rect">
            <a:avLst/>
          </a:prstGeom>
        </p:spPr>
        <p:txBody>
          <a:bodyPr wrap="square" lIns="0" rIns="0" tIns="0" bIns="0"/>
          <a:lstStyle/>
          <a:p>
            <a:pPr algn="l" lvl="0"/>
            <a:r>
              <a:rPr lang="zh-CN" sz="1700" b="1">
                <a:solidFill>
                  <a:srgbClr val="1D2B23"/>
                </a:solidFill>
                <a:latin typeface="黑体"/>
                <a:ea typeface="黑体"/>
              </a:rPr>
              <a:t>形成成果</a:t>
            </a:r>
          </a:p>
        </p:txBody>
      </p:sp>
      <p:sp>
        <p:nvSpPr>
          <p:cNvPr id="1678" name="p21b2_b"/>
          <p:cNvSpPr txBox="1"/>
          <p:nvPr/>
        </p:nvSpPr>
        <p:spPr>
          <a:xfrm>
            <a:off x="1193800" y="5111877"/>
            <a:ext cx="6781800" cy="361950"/>
          </a:xfrm>
          <a:prstGeom prst="rect">
            <a:avLst/>
          </a:prstGeom>
        </p:spPr>
        <p:txBody>
          <a:bodyPr wrap="square" lIns="0" rIns="0" tIns="0" bIns="0"/>
          <a:lstStyle/>
          <a:p>
            <a:pPr algn="l" lvl="0"/>
            <a:r>
              <a:rPr lang="zh-CN" sz="1500">
                <a:solidFill>
                  <a:srgbClr val="2E4438"/>
                </a:solidFill>
                <a:latin typeface="楷体"/>
                <a:ea typeface="楷体"/>
              </a:rPr>
              <a:t>完成一份《家乡发展调研报告》。</a:t>
            </a:r>
          </a:p>
        </p:txBody>
      </p:sp>
    </p:spTree>
  </p:cSld>
  <p:clrMapOvr>
    <a:masterClrMapping/>
  </p:clrMapOvr>
  <p:transition xmlns:p="http://schemas.openxmlformats.org/presentationml/2006/mai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1679"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680" name="hd_secbar"/>
          <p:cNvSpPr/>
          <p:nvPr/>
        </p:nvSpPr>
        <p:spPr>
          <a:xfrm>
            <a:off x="609600" y="317500"/>
            <a:ext cx="44450" cy="228600"/>
          </a:xfrm>
          <a:prstGeom prst="rect">
            <a:avLst/>
          </a:prstGeom>
          <a:gradFill rotWithShape="1">
            <a:gsLst>
              <a:gs pos="0">
                <a:srgbClr val="8E3F2E"/>
              </a:gs>
              <a:gs pos="100000">
                <a:srgbClr val="EE8A72">
                  <a:alpha val="100000"/>
                </a:srgbClr>
              </a:gs>
            </a:gsLst>
            <a:lin ang="5400000" scaled="1"/>
          </a:gradFill>
          <a:ln>
            <a:noFill/>
          </a:ln>
        </p:spPr>
        <p:txBody>
          <a:bodyPr rtlCol="0" anchor="ctr"/>
          <a:lstStyle/>
          <a:p/>
        </p:txBody>
      </p:sp>
      <p:sp>
        <p:nvSpPr>
          <p:cNvPr id="1681" name="hd_sec"/>
          <p:cNvSpPr txBox="1"/>
          <p:nvPr/>
        </p:nvSpPr>
        <p:spPr>
          <a:xfrm>
            <a:off x="736600" y="317500"/>
            <a:ext cx="3476600" cy="228600"/>
          </a:xfrm>
          <a:prstGeom prst="rect">
            <a:avLst/>
          </a:prstGeom>
        </p:spPr>
        <p:txBody>
          <a:bodyPr wrap="square" lIns="0" rIns="0" tIns="0" bIns="0"/>
          <a:lstStyle/>
          <a:p>
            <a:pPr algn="l" lvl="0"/>
            <a:r>
              <a:rPr lang="zh-CN" sz="1400" b="1">
                <a:solidFill>
                  <a:srgbClr val="8E3F2E"/>
                </a:solidFill>
                <a:latin typeface="黑体"/>
                <a:ea typeface="黑体"/>
              </a:rPr>
              <a:t>子任务三 · 拓展策展——循迹盐湖行</a:t>
            </a:r>
          </a:p>
        </p:txBody>
      </p:sp>
      <p:sp>
        <p:nvSpPr>
          <p:cNvPr id="1682"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盐湖 · 从工业矿区到城市生态客厅</a:t>
            </a:r>
          </a:p>
        </p:txBody>
      </p:sp>
      <p:sp>
        <p:nvSpPr>
          <p:cNvPr id="1683" name="hd_rule2"/>
          <p:cNvSpPr/>
          <p:nvPr/>
        </p:nvSpPr>
        <p:spPr>
          <a:xfrm>
            <a:off x="558800" y="1143000"/>
            <a:ext cx="1625600" cy="44450"/>
          </a:xfrm>
          <a:prstGeom prst="rect">
            <a:avLst/>
          </a:prstGeom>
          <a:gradFill rotWithShape="1">
            <a:gsLst>
              <a:gs pos="0">
                <a:srgbClr val="8E3F2E"/>
              </a:gs>
              <a:gs pos="100000">
                <a:srgbClr val="EE8A72">
                  <a:alpha val="100000"/>
                </a:srgbClr>
              </a:gs>
            </a:gsLst>
            <a:lin ang="0" scaled="1"/>
          </a:gradFill>
          <a:ln>
            <a:noFill/>
          </a:ln>
        </p:spPr>
        <p:txBody>
          <a:bodyPr rtlCol="0" anchor="ctr"/>
          <a:lstStyle/>
          <a:p/>
        </p:txBody>
      </p:sp>
      <p:sp>
        <p:nvSpPr>
          <p:cNvPr id="1684" name="hd_rule"/>
          <p:cNvSpPr/>
          <p:nvPr/>
        </p:nvSpPr>
        <p:spPr>
          <a:xfrm>
            <a:off x="2260600" y="1158240"/>
            <a:ext cx="5867400" cy="19050"/>
          </a:xfrm>
          <a:prstGeom prst="rect">
            <a:avLst/>
          </a:prstGeom>
          <a:solidFill>
            <a:srgbClr val="EE8A72">
              <a:alpha val="40000"/>
            </a:srgbClr>
          </a:solidFill>
          <a:ln>
            <a:noFill/>
          </a:ln>
        </p:spPr>
        <p:txBody>
          <a:bodyPr rtlCol="0" anchor="ctr"/>
          <a:lstStyle/>
          <a:p/>
        </p:txBody>
      </p:sp>
      <p:cxnSp>
        <p:nvCxnSpPr>
          <p:cNvPr id="1685" name="rb_rule"/>
          <p:cNvCxnSpPr/>
          <p:nvPr/>
        </p:nvCxnSpPr>
        <p:spPr>
          <a:xfrm>
            <a:off x="8280400" y="1422400"/>
            <a:ext cx="0" cy="4267200"/>
          </a:xfrm>
          <a:prstGeom prst="straightConnector1">
            <a:avLst/>
          </a:prstGeom>
          <a:ln w="19050">
            <a:solidFill>
              <a:srgbClr val="7E9A85"/>
            </a:solidFill>
          </a:ln>
        </p:spPr>
      </p:cxnSp>
      <p:sp>
        <p:nvSpPr>
          <p:cNvPr id="1686" name="rb_chip_a"/>
          <p:cNvSpPr/>
          <p:nvPr/>
        </p:nvSpPr>
        <p:spPr>
          <a:xfrm>
            <a:off x="8229600" y="1219200"/>
            <a:ext cx="152400" cy="152400"/>
          </a:xfrm>
          <a:prstGeom prst="rect">
            <a:avLst/>
          </a:prstGeom>
          <a:gradFill rotWithShape="1">
            <a:gsLst>
              <a:gs pos="0">
                <a:srgbClr val="EE8A72"/>
              </a:gs>
              <a:gs pos="100000">
                <a:srgbClr val="8E3F2E">
                  <a:alpha val="100000"/>
                </a:srgbClr>
              </a:gs>
            </a:gsLst>
            <a:lin ang="8100000" scaled="1"/>
          </a:gradFill>
          <a:ln>
            <a:noFill/>
          </a:ln>
        </p:spPr>
        <p:txBody>
          <a:bodyPr rtlCol="0" anchor="ctr"/>
          <a:lstStyle/>
          <a:p/>
        </p:txBody>
      </p:sp>
      <p:sp>
        <p:nvSpPr>
          <p:cNvPr id="1687" name="rb_chip_b"/>
          <p:cNvSpPr/>
          <p:nvPr/>
        </p:nvSpPr>
        <p:spPr>
          <a:xfrm>
            <a:off x="8280400" y="1193800"/>
            <a:ext cx="101600" cy="101600"/>
          </a:xfrm>
          <a:prstGeom prst="rect">
            <a:avLst/>
          </a:prstGeom>
          <a:solidFill>
            <a:srgbClr val="8E3F2E"/>
          </a:solidFill>
          <a:ln>
            <a:noFill/>
          </a:ln>
        </p:spPr>
        <p:txBody>
          <a:bodyPr rtlCol="0" anchor="ctr"/>
          <a:lstStyle/>
          <a:p/>
        </p:txBody>
      </p:sp>
      <p:sp>
        <p:nvSpPr>
          <p:cNvPr id="1688"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689"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690" name="rb_tagrule"/>
          <p:cNvCxnSpPr/>
          <p:nvPr/>
        </p:nvCxnSpPr>
        <p:spPr>
          <a:xfrm>
            <a:off x="11226800" y="2260600"/>
            <a:ext cx="482600" cy="0"/>
          </a:xfrm>
          <a:prstGeom prst="straightConnector1">
            <a:avLst/>
          </a:prstGeom>
          <a:ln w="12700">
            <a:solidFill>
              <a:srgbClr val="7E9A85"/>
            </a:solidFill>
          </a:ln>
        </p:spPr>
      </p:cxnSp>
      <p:sp>
        <p:nvSpPr>
          <p:cNvPr id="1691"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E8A72"/>
                </a:solidFill>
                <a:latin typeface="黑体"/>
                <a:ea typeface="黑体"/>
              </a:rPr>
              <a:t>22 / 42</a:t>
            </a:r>
          </a:p>
        </p:txBody>
      </p:sp>
      <p:sp>
        <p:nvSpPr>
          <p:cNvPr id="1692" name="p22tag_sh"/>
          <p:cNvSpPr/>
          <p:nvPr/>
        </p:nvSpPr>
        <p:spPr>
          <a:xfrm>
            <a:off x="584200" y="13208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693" name="p22tag"/>
          <p:cNvSpPr/>
          <p:nvPr/>
        </p:nvSpPr>
        <p:spPr>
          <a:xfrm>
            <a:off x="558800" y="1270000"/>
            <a:ext cx="7569200" cy="654812"/>
          </a:xfrm>
          <a:prstGeom prst="roundRect">
            <a:avLst>
              <a:gd name="adj" fmla="val 8000"/>
            </a:avLst>
          </a:prstGeom>
          <a:solidFill>
            <a:srgbClr val="E9EFE9"/>
          </a:solidFill>
          <a:ln w="15875">
            <a:solidFill>
              <a:srgbClr val="8E3F2E"/>
            </a:solidFill>
          </a:ln>
        </p:spPr>
        <p:txBody>
          <a:bodyPr rtlCol="0" anchor="ctr"/>
          <a:lstStyle/>
          <a:p/>
        </p:txBody>
      </p:sp>
      <p:sp>
        <p:nvSpPr>
          <p:cNvPr id="1694" name="p22tag_cap"/>
          <p:cNvSpPr/>
          <p:nvPr/>
        </p:nvSpPr>
        <p:spPr>
          <a:xfrm>
            <a:off x="647700" y="1346200"/>
            <a:ext cx="50800" cy="502412"/>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695" name="p22tag_t"/>
          <p:cNvSpPr txBox="1"/>
          <p:nvPr/>
        </p:nvSpPr>
        <p:spPr>
          <a:xfrm>
            <a:off x="711200" y="1358900"/>
            <a:ext cx="7264400" cy="477012"/>
          </a:xfrm>
          <a:prstGeom prst="rect">
            <a:avLst/>
          </a:prstGeom>
        </p:spPr>
        <p:txBody>
          <a:bodyPr wrap="square" lIns="0" rIns="0" tIns="0" bIns="0"/>
          <a:lstStyle/>
          <a:p>
            <a:pPr algn="l" lvl="0"/>
            <a:r>
              <a:rPr lang="zh-CN" sz="1800" b="1">
                <a:solidFill>
                  <a:srgbClr val="1D2B23"/>
                </a:solidFill>
                <a:latin typeface="黑体"/>
                <a:ea typeface="黑体"/>
              </a:rPr>
              <a:t>实践活动 · 循迹盐湖行</a:t>
            </a:r>
          </a:p>
        </p:txBody>
      </p:sp>
      <p:sp>
        <p:nvSpPr>
          <p:cNvPr id="1696" name="p22img_bg_sh"/>
          <p:cNvSpPr/>
          <p:nvPr/>
        </p:nvSpPr>
        <p:spPr>
          <a:xfrm>
            <a:off x="469900" y="2064512"/>
            <a:ext cx="3987800" cy="28270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697" name="p22img_bg"/>
          <p:cNvSpPr/>
          <p:nvPr/>
        </p:nvSpPr>
        <p:spPr>
          <a:xfrm>
            <a:off x="444500" y="2013712"/>
            <a:ext cx="4038600" cy="2827020"/>
          </a:xfrm>
          <a:prstGeom prst="roundRect">
            <a:avLst>
              <a:gd name="adj" fmla="val 8000"/>
            </a:avLst>
          </a:prstGeom>
          <a:solidFill>
            <a:srgbClr val="E9EFE9"/>
          </a:solidFill>
          <a:ln w="15875">
            <a:solidFill>
              <a:srgbClr val="8E3F2E"/>
            </a:solidFill>
          </a:ln>
        </p:spPr>
        <p:txBody>
          <a:bodyPr rtlCol="0" anchor="ctr"/>
          <a:lstStyle/>
          <a:p/>
        </p:txBody>
      </p:sp>
      <p:sp>
        <p:nvSpPr>
          <p:cNvPr id="1698" name="p22img_bg_le"/>
          <p:cNvSpPr/>
          <p:nvPr/>
        </p:nvSpPr>
        <p:spPr>
          <a:xfrm>
            <a:off x="469900" y="2128012"/>
            <a:ext cx="44450" cy="2598420"/>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pic>
        <p:nvPicPr>
          <p:cNvPr id="1699" name="p22img"/>
          <p:cNvPicPr>
            <a:picLocks noChangeAspect="1"/>
          </p:cNvPicPr>
          <p:nvPr/>
        </p:nvPicPr>
        <p:blipFill>
          <a:blip r:embed="rId2"/>
          <a:stretch>
            <a:fillRect/>
          </a:stretch>
        </p:blipFill>
        <p:spPr>
          <a:xfrm>
            <a:off x="558800" y="2128012"/>
            <a:ext cx="3810000" cy="2235200"/>
          </a:xfrm>
          <a:prstGeom prst="rect">
            <a:avLst/>
          </a:prstGeom>
        </p:spPr>
      </p:pic>
      <p:sp>
        <p:nvSpPr>
          <p:cNvPr id="1700" name="p22img_cap"/>
          <p:cNvSpPr txBox="1"/>
          <p:nvPr/>
        </p:nvSpPr>
        <p:spPr>
          <a:xfrm>
            <a:off x="444500" y="4515612"/>
            <a:ext cx="4038600" cy="325120"/>
          </a:xfrm>
          <a:prstGeom prst="rect">
            <a:avLst/>
          </a:prstGeom>
        </p:spPr>
        <p:txBody>
          <a:bodyPr wrap="square" lIns="0" rIns="0" tIns="0" bIns="0"/>
          <a:lstStyle/>
          <a:p>
            <a:pPr algn="l" lvl="0"/>
            <a:r>
              <a:rPr lang="zh-CN" sz="1400">
                <a:solidFill>
                  <a:srgbClr val="465C4D"/>
                </a:solidFill>
                <a:latin typeface="楷体"/>
                <a:ea typeface="楷体"/>
              </a:rPr>
              <a:t>运城盐湖考察　图片来源：人民日报</a:t>
            </a:r>
          </a:p>
        </p:txBody>
      </p:sp>
      <p:sp>
        <p:nvSpPr>
          <p:cNvPr id="1701" name="p22q_sh"/>
          <p:cNvSpPr/>
          <p:nvPr/>
        </p:nvSpPr>
        <p:spPr>
          <a:xfrm>
            <a:off x="4826000" y="2064512"/>
            <a:ext cx="3276600" cy="290195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702" name="p22q"/>
          <p:cNvSpPr/>
          <p:nvPr/>
        </p:nvSpPr>
        <p:spPr>
          <a:xfrm>
            <a:off x="4800600" y="2013712"/>
            <a:ext cx="3327400" cy="2901950"/>
          </a:xfrm>
          <a:prstGeom prst="roundRect">
            <a:avLst>
              <a:gd name="adj" fmla="val 8000"/>
            </a:avLst>
          </a:prstGeom>
          <a:solidFill>
            <a:srgbClr val="F0E8D8"/>
          </a:solidFill>
          <a:ln w="15875">
            <a:solidFill>
              <a:srgbClr val="8E3F2E"/>
            </a:solidFill>
          </a:ln>
        </p:spPr>
        <p:txBody>
          <a:bodyPr rtlCol="0" anchor="ctr"/>
          <a:lstStyle/>
          <a:p/>
        </p:txBody>
      </p:sp>
      <p:sp>
        <p:nvSpPr>
          <p:cNvPr id="1703" name="p22q_le"/>
          <p:cNvSpPr/>
          <p:nvPr/>
        </p:nvSpPr>
        <p:spPr>
          <a:xfrm>
            <a:off x="4826000" y="2128012"/>
            <a:ext cx="44450" cy="2673350"/>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sp>
        <p:nvSpPr>
          <p:cNvPr id="1704" name="p22q_t"/>
          <p:cNvSpPr txBox="1"/>
          <p:nvPr/>
        </p:nvSpPr>
        <p:spPr>
          <a:xfrm>
            <a:off x="4953000" y="2128012"/>
            <a:ext cx="3022600" cy="374142"/>
          </a:xfrm>
          <a:prstGeom prst="rect">
            <a:avLst/>
          </a:prstGeom>
        </p:spPr>
        <p:txBody>
          <a:bodyPr wrap="square" lIns="0" rIns="0" tIns="0" bIns="0"/>
          <a:lstStyle/>
          <a:p>
            <a:pPr algn="l" lvl="0"/>
            <a:r>
              <a:rPr lang="zh-CN" sz="1700" b="1">
                <a:solidFill>
                  <a:srgbClr val="8E3F2E"/>
                </a:solidFill>
                <a:latin typeface="黑体"/>
                <a:ea typeface="黑体"/>
              </a:rPr>
              <a:t>总书记这样说</a:t>
            </a:r>
          </a:p>
        </p:txBody>
      </p:sp>
      <p:sp>
        <p:nvSpPr>
          <p:cNvPr id="1705" name="p22q_b"/>
          <p:cNvSpPr txBox="1"/>
          <p:nvPr/>
        </p:nvSpPr>
        <p:spPr>
          <a:xfrm>
            <a:off x="4953000" y="2629154"/>
            <a:ext cx="3022600" cy="2096008"/>
          </a:xfrm>
          <a:prstGeom prst="rect">
            <a:avLst/>
          </a:prstGeom>
        </p:spPr>
        <p:txBody>
          <a:bodyPr wrap="square" lIns="0" rIns="0" tIns="0" bIns="0"/>
          <a:lstStyle/>
          <a:p>
            <a:pPr algn="l" lvl="0"/>
            <a:r>
              <a:rPr lang="zh-CN" sz="1600">
                <a:solidFill>
                  <a:srgbClr val="2E4438"/>
                </a:solidFill>
                <a:latin typeface="楷体"/>
                <a:ea typeface="楷体"/>
              </a:rPr>
              <a:t>“盐湖的生态价值和功能越</a:t>
            </a:r>
          </a:p>
          <a:p>
            <a:pPr algn="l" lvl="0"/>
            <a:r>
              <a:rPr lang="zh-CN" sz="1600">
                <a:solidFill>
                  <a:srgbClr val="2E4438"/>
                </a:solidFill>
                <a:latin typeface="楷体"/>
                <a:ea typeface="楷体"/>
              </a:rPr>
              <a:t>来越重要，要统筹做好保护</a:t>
            </a:r>
          </a:p>
          <a:p>
            <a:pPr algn="l" lvl="0"/>
            <a:r>
              <a:rPr lang="zh-CN" sz="1600">
                <a:solidFill>
                  <a:srgbClr val="2E4438"/>
                </a:solidFill>
                <a:latin typeface="楷体"/>
                <a:ea typeface="楷体"/>
              </a:rPr>
              <a:t>利用工作，让盐湖独特的人</a:t>
            </a:r>
          </a:p>
          <a:p>
            <a:pPr algn="l" lvl="0"/>
            <a:r>
              <a:rPr lang="zh-CN" sz="1600">
                <a:solidFill>
                  <a:srgbClr val="2E4438"/>
                </a:solidFill>
                <a:latin typeface="楷体"/>
                <a:ea typeface="楷体"/>
              </a:rPr>
              <a:t>文历史资源和生态资源一代</a:t>
            </a:r>
          </a:p>
          <a:p>
            <a:pPr algn="l" lvl="0"/>
            <a:r>
              <a:rPr lang="zh-CN" sz="1600">
                <a:solidFill>
                  <a:srgbClr val="2E4438"/>
                </a:solidFill>
                <a:latin typeface="楷体"/>
                <a:ea typeface="楷体"/>
              </a:rPr>
              <a:t>代传承下去，逐步恢复其生</a:t>
            </a:r>
          </a:p>
          <a:p>
            <a:pPr algn="l" lvl="0"/>
            <a:r>
              <a:rPr lang="zh-CN" sz="1600">
                <a:solidFill>
                  <a:srgbClr val="2E4438"/>
                </a:solidFill>
                <a:latin typeface="楷体"/>
                <a:ea typeface="楷体"/>
              </a:rPr>
              <a:t>态功能，更好保护其历史文</a:t>
            </a:r>
          </a:p>
          <a:p>
            <a:pPr algn="l" lvl="0"/>
            <a:r>
              <a:rPr lang="zh-CN" sz="1600">
                <a:solidFill>
                  <a:srgbClr val="2E4438"/>
                </a:solidFill>
                <a:latin typeface="楷体"/>
                <a:ea typeface="楷体"/>
              </a:rPr>
              <a:t>化价值。”</a:t>
            </a:r>
          </a:p>
        </p:txBody>
      </p:sp>
      <p:sp>
        <p:nvSpPr>
          <p:cNvPr id="1706" name="p22ask_sh"/>
          <p:cNvSpPr/>
          <p:nvPr/>
        </p:nvSpPr>
        <p:spPr>
          <a:xfrm>
            <a:off x="584200" y="5056632"/>
            <a:ext cx="7518400" cy="582676"/>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707" name="p22ask"/>
          <p:cNvSpPr/>
          <p:nvPr/>
        </p:nvSpPr>
        <p:spPr>
          <a:xfrm>
            <a:off x="558800" y="5005832"/>
            <a:ext cx="7569200" cy="582676"/>
          </a:xfrm>
          <a:prstGeom prst="roundRect">
            <a:avLst>
              <a:gd name="adj" fmla="val 8000"/>
            </a:avLst>
          </a:prstGeom>
          <a:solidFill>
            <a:srgbClr val="F0E8D8"/>
          </a:solidFill>
          <a:ln w="15875">
            <a:solidFill>
              <a:srgbClr val="8E3F2E"/>
            </a:solidFill>
          </a:ln>
        </p:spPr>
        <p:txBody>
          <a:bodyPr rtlCol="0" anchor="ctr"/>
          <a:lstStyle/>
          <a:p/>
        </p:txBody>
      </p:sp>
      <p:sp>
        <p:nvSpPr>
          <p:cNvPr id="1708" name="p22ask_cap"/>
          <p:cNvSpPr/>
          <p:nvPr/>
        </p:nvSpPr>
        <p:spPr>
          <a:xfrm>
            <a:off x="647700" y="5082032"/>
            <a:ext cx="50800" cy="430276"/>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709" name="p22ask_t"/>
          <p:cNvSpPr txBox="1"/>
          <p:nvPr/>
        </p:nvSpPr>
        <p:spPr>
          <a:xfrm>
            <a:off x="711200" y="5094732"/>
            <a:ext cx="7264400" cy="404876"/>
          </a:xfrm>
          <a:prstGeom prst="rect">
            <a:avLst/>
          </a:prstGeom>
        </p:spPr>
        <p:txBody>
          <a:bodyPr wrap="square" lIns="0" rIns="0" tIns="0" bIns="0"/>
          <a:lstStyle/>
          <a:p>
            <a:pPr algn="l" lvl="0"/>
            <a:r>
              <a:rPr lang="zh-CN" sz="1400">
                <a:solidFill>
                  <a:srgbClr val="1D2B23"/>
                </a:solidFill>
                <a:latin typeface="楷体"/>
                <a:ea typeface="楷体"/>
              </a:rPr>
              <a:t>想一想｜一座千年盐湖的转身，靠的是什么？</a:t>
            </a:r>
          </a:p>
        </p:txBody>
      </p:sp>
    </p:spTree>
  </p:cSld>
  <p:clrMapOvr>
    <a:masterClrMapping/>
  </p:clrMapOvr>
  <p:transition xmlns:p="http://schemas.openxmlformats.org/presentationml/2006/main" spd="med">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710"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711" name="hd_secbar"/>
          <p:cNvSpPr/>
          <p:nvPr/>
        </p:nvSpPr>
        <p:spPr>
          <a:xfrm>
            <a:off x="609600" y="317500"/>
            <a:ext cx="44450" cy="228600"/>
          </a:xfrm>
          <a:prstGeom prst="rect">
            <a:avLst/>
          </a:prstGeom>
          <a:gradFill rotWithShape="1">
            <a:gsLst>
              <a:gs pos="0">
                <a:srgbClr val="8E3F2E"/>
              </a:gs>
              <a:gs pos="100000">
                <a:srgbClr val="EE8A72">
                  <a:alpha val="100000"/>
                </a:srgbClr>
              </a:gs>
            </a:gsLst>
            <a:lin ang="5400000" scaled="1"/>
          </a:gradFill>
          <a:ln>
            <a:noFill/>
          </a:ln>
        </p:spPr>
        <p:txBody>
          <a:bodyPr rtlCol="0" anchor="ctr"/>
          <a:lstStyle/>
          <a:p/>
        </p:txBody>
      </p:sp>
      <p:sp>
        <p:nvSpPr>
          <p:cNvPr id="1712" name="hd_sec"/>
          <p:cNvSpPr txBox="1"/>
          <p:nvPr/>
        </p:nvSpPr>
        <p:spPr>
          <a:xfrm>
            <a:off x="736600" y="317500"/>
            <a:ext cx="3476600" cy="228600"/>
          </a:xfrm>
          <a:prstGeom prst="rect">
            <a:avLst/>
          </a:prstGeom>
        </p:spPr>
        <p:txBody>
          <a:bodyPr wrap="square" lIns="0" rIns="0" tIns="0" bIns="0"/>
          <a:lstStyle/>
          <a:p>
            <a:pPr algn="l" lvl="0"/>
            <a:r>
              <a:rPr lang="zh-CN" sz="1400" b="1">
                <a:solidFill>
                  <a:srgbClr val="8E3F2E"/>
                </a:solidFill>
                <a:latin typeface="黑体"/>
                <a:ea typeface="黑体"/>
              </a:rPr>
              <a:t>子任务三 · 拓展策展——循迹盐湖行</a:t>
            </a:r>
          </a:p>
        </p:txBody>
      </p:sp>
      <p:sp>
        <p:nvSpPr>
          <p:cNvPr id="1713"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盐湖之变 · 两个维度看家乡</a:t>
            </a:r>
          </a:p>
        </p:txBody>
      </p:sp>
      <p:sp>
        <p:nvSpPr>
          <p:cNvPr id="1714" name="hd_rule2"/>
          <p:cNvSpPr/>
          <p:nvPr/>
        </p:nvSpPr>
        <p:spPr>
          <a:xfrm>
            <a:off x="558800" y="1143000"/>
            <a:ext cx="1625600" cy="44450"/>
          </a:xfrm>
          <a:prstGeom prst="rect">
            <a:avLst/>
          </a:prstGeom>
          <a:gradFill rotWithShape="1">
            <a:gsLst>
              <a:gs pos="0">
                <a:srgbClr val="8E3F2E"/>
              </a:gs>
              <a:gs pos="100000">
                <a:srgbClr val="EE8A72">
                  <a:alpha val="100000"/>
                </a:srgbClr>
              </a:gs>
            </a:gsLst>
            <a:lin ang="0" scaled="1"/>
          </a:gradFill>
          <a:ln>
            <a:noFill/>
          </a:ln>
        </p:spPr>
        <p:txBody>
          <a:bodyPr rtlCol="0" anchor="ctr"/>
          <a:lstStyle/>
          <a:p/>
        </p:txBody>
      </p:sp>
      <p:sp>
        <p:nvSpPr>
          <p:cNvPr id="1715" name="hd_rule"/>
          <p:cNvSpPr/>
          <p:nvPr/>
        </p:nvSpPr>
        <p:spPr>
          <a:xfrm>
            <a:off x="2260600" y="1158240"/>
            <a:ext cx="5867400" cy="19050"/>
          </a:xfrm>
          <a:prstGeom prst="rect">
            <a:avLst/>
          </a:prstGeom>
          <a:solidFill>
            <a:srgbClr val="EE8A72">
              <a:alpha val="40000"/>
            </a:srgbClr>
          </a:solidFill>
          <a:ln>
            <a:noFill/>
          </a:ln>
        </p:spPr>
        <p:txBody>
          <a:bodyPr rtlCol="0" anchor="ctr"/>
          <a:lstStyle/>
          <a:p/>
        </p:txBody>
      </p:sp>
      <p:cxnSp>
        <p:nvCxnSpPr>
          <p:cNvPr id="1716" name="rb_rule"/>
          <p:cNvCxnSpPr/>
          <p:nvPr/>
        </p:nvCxnSpPr>
        <p:spPr>
          <a:xfrm>
            <a:off x="8280400" y="1422400"/>
            <a:ext cx="0" cy="4267200"/>
          </a:xfrm>
          <a:prstGeom prst="straightConnector1">
            <a:avLst/>
          </a:prstGeom>
          <a:ln w="19050">
            <a:solidFill>
              <a:srgbClr val="7E9A85"/>
            </a:solidFill>
          </a:ln>
        </p:spPr>
      </p:cxnSp>
      <p:sp>
        <p:nvSpPr>
          <p:cNvPr id="1717" name="rb_chip_a"/>
          <p:cNvSpPr/>
          <p:nvPr/>
        </p:nvSpPr>
        <p:spPr>
          <a:xfrm>
            <a:off x="8229600" y="1219200"/>
            <a:ext cx="152400" cy="152400"/>
          </a:xfrm>
          <a:prstGeom prst="rect">
            <a:avLst/>
          </a:prstGeom>
          <a:gradFill rotWithShape="1">
            <a:gsLst>
              <a:gs pos="0">
                <a:srgbClr val="EE8A72"/>
              </a:gs>
              <a:gs pos="100000">
                <a:srgbClr val="8E3F2E">
                  <a:alpha val="100000"/>
                </a:srgbClr>
              </a:gs>
            </a:gsLst>
            <a:lin ang="8100000" scaled="1"/>
          </a:gradFill>
          <a:ln>
            <a:noFill/>
          </a:ln>
        </p:spPr>
        <p:txBody>
          <a:bodyPr rtlCol="0" anchor="ctr"/>
          <a:lstStyle/>
          <a:p/>
        </p:txBody>
      </p:sp>
      <p:sp>
        <p:nvSpPr>
          <p:cNvPr id="1718" name="rb_chip_b"/>
          <p:cNvSpPr/>
          <p:nvPr/>
        </p:nvSpPr>
        <p:spPr>
          <a:xfrm>
            <a:off x="8280400" y="1193800"/>
            <a:ext cx="101600" cy="101600"/>
          </a:xfrm>
          <a:prstGeom prst="rect">
            <a:avLst/>
          </a:prstGeom>
          <a:solidFill>
            <a:srgbClr val="8E3F2E"/>
          </a:solidFill>
          <a:ln>
            <a:noFill/>
          </a:ln>
        </p:spPr>
        <p:txBody>
          <a:bodyPr rtlCol="0" anchor="ctr"/>
          <a:lstStyle/>
          <a:p/>
        </p:txBody>
      </p:sp>
      <p:sp>
        <p:nvSpPr>
          <p:cNvPr id="1719"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720"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721" name="rb_tagrule"/>
          <p:cNvCxnSpPr/>
          <p:nvPr/>
        </p:nvCxnSpPr>
        <p:spPr>
          <a:xfrm>
            <a:off x="11226800" y="2260600"/>
            <a:ext cx="482600" cy="0"/>
          </a:xfrm>
          <a:prstGeom prst="straightConnector1">
            <a:avLst/>
          </a:prstGeom>
          <a:ln w="12700">
            <a:solidFill>
              <a:srgbClr val="7E9A85"/>
            </a:solidFill>
          </a:ln>
        </p:spPr>
      </p:cxnSp>
      <p:sp>
        <p:nvSpPr>
          <p:cNvPr id="1722"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E8A72"/>
                </a:solidFill>
                <a:latin typeface="黑体"/>
                <a:ea typeface="黑体"/>
              </a:rPr>
              <a:t>23 / 42</a:t>
            </a:r>
          </a:p>
        </p:txBody>
      </p:sp>
      <p:sp>
        <p:nvSpPr>
          <p:cNvPr id="1723" name="p23tag_sh"/>
          <p:cNvSpPr/>
          <p:nvPr/>
        </p:nvSpPr>
        <p:spPr>
          <a:xfrm>
            <a:off x="584200" y="13208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724" name="p23tag"/>
          <p:cNvSpPr/>
          <p:nvPr/>
        </p:nvSpPr>
        <p:spPr>
          <a:xfrm>
            <a:off x="558800" y="1270000"/>
            <a:ext cx="7569200" cy="654812"/>
          </a:xfrm>
          <a:prstGeom prst="roundRect">
            <a:avLst>
              <a:gd name="adj" fmla="val 8000"/>
            </a:avLst>
          </a:prstGeom>
          <a:solidFill>
            <a:srgbClr val="E9EFE9"/>
          </a:solidFill>
          <a:ln w="15875">
            <a:solidFill>
              <a:srgbClr val="8E3F2E"/>
            </a:solidFill>
          </a:ln>
        </p:spPr>
        <p:txBody>
          <a:bodyPr rtlCol="0" anchor="ctr"/>
          <a:lstStyle/>
          <a:p/>
        </p:txBody>
      </p:sp>
      <p:sp>
        <p:nvSpPr>
          <p:cNvPr id="1725" name="p23tag_cap"/>
          <p:cNvSpPr/>
          <p:nvPr/>
        </p:nvSpPr>
        <p:spPr>
          <a:xfrm>
            <a:off x="647700" y="1346200"/>
            <a:ext cx="50800" cy="502412"/>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726" name="p23tag_t"/>
          <p:cNvSpPr txBox="1"/>
          <p:nvPr/>
        </p:nvSpPr>
        <p:spPr>
          <a:xfrm>
            <a:off x="711200" y="1358900"/>
            <a:ext cx="7264400" cy="477012"/>
          </a:xfrm>
          <a:prstGeom prst="rect">
            <a:avLst/>
          </a:prstGeom>
        </p:spPr>
        <p:txBody>
          <a:bodyPr wrap="square" lIns="0" rIns="0" tIns="0" bIns="0"/>
          <a:lstStyle/>
          <a:p>
            <a:pPr algn="l" lvl="0"/>
            <a:r>
              <a:rPr lang="zh-CN" sz="1800" b="1">
                <a:solidFill>
                  <a:srgbClr val="1D2B23"/>
                </a:solidFill>
                <a:latin typeface="黑体"/>
                <a:ea typeface="黑体"/>
              </a:rPr>
              <a:t>盐湖之变 · 两个维度看家乡</a:t>
            </a:r>
          </a:p>
        </p:txBody>
      </p:sp>
      <p:sp>
        <p:nvSpPr>
          <p:cNvPr id="1727" name="p23a_sh"/>
          <p:cNvSpPr/>
          <p:nvPr/>
        </p:nvSpPr>
        <p:spPr>
          <a:xfrm>
            <a:off x="584200" y="2204212"/>
            <a:ext cx="3632200" cy="2613406"/>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728" name="p23a"/>
          <p:cNvSpPr/>
          <p:nvPr/>
        </p:nvSpPr>
        <p:spPr>
          <a:xfrm>
            <a:off x="558800" y="2153412"/>
            <a:ext cx="3683000" cy="2613406"/>
          </a:xfrm>
          <a:prstGeom prst="roundRect">
            <a:avLst>
              <a:gd name="adj" fmla="val 8000"/>
            </a:avLst>
          </a:prstGeom>
          <a:solidFill>
            <a:srgbClr val="E9EFE9"/>
          </a:solidFill>
          <a:ln w="15875">
            <a:solidFill>
              <a:srgbClr val="8E3F2E"/>
            </a:solidFill>
          </a:ln>
        </p:spPr>
        <p:txBody>
          <a:bodyPr rtlCol="0" anchor="ctr"/>
          <a:lstStyle/>
          <a:p/>
        </p:txBody>
      </p:sp>
      <p:sp>
        <p:nvSpPr>
          <p:cNvPr id="1729" name="p23a_le"/>
          <p:cNvSpPr/>
          <p:nvPr/>
        </p:nvSpPr>
        <p:spPr>
          <a:xfrm>
            <a:off x="584200" y="2267712"/>
            <a:ext cx="44450" cy="2384806"/>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sp>
        <p:nvSpPr>
          <p:cNvPr id="1730" name="p23a_t"/>
          <p:cNvSpPr txBox="1"/>
          <p:nvPr/>
        </p:nvSpPr>
        <p:spPr>
          <a:xfrm>
            <a:off x="711200" y="2267712"/>
            <a:ext cx="3378200" cy="374142"/>
          </a:xfrm>
          <a:prstGeom prst="rect">
            <a:avLst/>
          </a:prstGeom>
        </p:spPr>
        <p:txBody>
          <a:bodyPr wrap="square" lIns="0" rIns="0" tIns="0" bIns="0"/>
          <a:lstStyle/>
          <a:p>
            <a:pPr algn="l" lvl="0"/>
            <a:r>
              <a:rPr lang="zh-CN" sz="1700" b="1">
                <a:solidFill>
                  <a:srgbClr val="8E3F2E"/>
                </a:solidFill>
                <a:latin typeface="黑体"/>
                <a:ea typeface="黑体"/>
              </a:rPr>
              <a:t>文化之变 · 盐韵新生</a:t>
            </a:r>
          </a:p>
        </p:txBody>
      </p:sp>
      <p:sp>
        <p:nvSpPr>
          <p:cNvPr id="1731" name="p23a_b"/>
          <p:cNvSpPr txBox="1"/>
          <p:nvPr/>
        </p:nvSpPr>
        <p:spPr>
          <a:xfrm>
            <a:off x="711200" y="2768854"/>
            <a:ext cx="3378200" cy="1807464"/>
          </a:xfrm>
          <a:prstGeom prst="rect">
            <a:avLst/>
          </a:prstGeom>
        </p:spPr>
        <p:txBody>
          <a:bodyPr wrap="square" lIns="0" rIns="0" tIns="0" bIns="0"/>
          <a:lstStyle/>
          <a:p>
            <a:pPr algn="l" lvl="0"/>
            <a:r>
              <a:rPr lang="zh-CN" sz="1600">
                <a:solidFill>
                  <a:srgbClr val="2E4438"/>
                </a:solidFill>
                <a:latin typeface="楷体"/>
                <a:ea typeface="楷体"/>
              </a:rPr>
              <a:t>4600 余年采盐史：“一池河东</a:t>
            </a:r>
          </a:p>
          <a:p>
            <a:pPr algn="l" lvl="0"/>
            <a:r>
              <a:rPr lang="zh-CN" sz="1600">
                <a:solidFill>
                  <a:srgbClr val="2E4438"/>
                </a:solidFill>
                <a:latin typeface="楷体"/>
                <a:ea typeface="楷体"/>
              </a:rPr>
              <a:t>盐，半部华夏史”。河东池盐博</a:t>
            </a:r>
          </a:p>
          <a:p>
            <a:pPr algn="l" lvl="0"/>
            <a:r>
              <a:rPr lang="zh-CN" sz="1600">
                <a:solidFill>
                  <a:srgbClr val="2E4438"/>
                </a:solidFill>
                <a:latin typeface="楷体"/>
                <a:ea typeface="楷体"/>
              </a:rPr>
              <a:t>物馆建成开放；国家级非遗“五</a:t>
            </a:r>
          </a:p>
          <a:p>
            <a:pPr algn="l" lvl="0"/>
            <a:r>
              <a:rPr lang="zh-CN" sz="1600">
                <a:solidFill>
                  <a:srgbClr val="2E4438"/>
                </a:solidFill>
                <a:latin typeface="楷体"/>
                <a:ea typeface="楷体"/>
              </a:rPr>
              <a:t>步产盐法”建设体验项目；老厂</a:t>
            </a:r>
          </a:p>
          <a:p>
            <a:pPr algn="l" lvl="0"/>
            <a:r>
              <a:rPr lang="zh-CN" sz="1600">
                <a:solidFill>
                  <a:srgbClr val="2E4438"/>
                </a:solidFill>
                <a:latin typeface="楷体"/>
                <a:ea typeface="楷体"/>
              </a:rPr>
              <a:t>房变身盐梦长廊，“工业锈带”</a:t>
            </a:r>
          </a:p>
          <a:p>
            <a:pPr algn="l" lvl="0"/>
            <a:r>
              <a:rPr lang="zh-CN" sz="1600">
                <a:solidFill>
                  <a:srgbClr val="2E4438"/>
                </a:solidFill>
                <a:latin typeface="楷体"/>
                <a:ea typeface="楷体"/>
              </a:rPr>
              <a:t>转变为“文旅秀带”。</a:t>
            </a:r>
          </a:p>
        </p:txBody>
      </p:sp>
      <p:sp>
        <p:nvSpPr>
          <p:cNvPr id="1732" name="p23b_sh"/>
          <p:cNvSpPr/>
          <p:nvPr/>
        </p:nvSpPr>
        <p:spPr>
          <a:xfrm>
            <a:off x="4470400" y="2204212"/>
            <a:ext cx="3632200" cy="2613406"/>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733" name="p23b"/>
          <p:cNvSpPr/>
          <p:nvPr/>
        </p:nvSpPr>
        <p:spPr>
          <a:xfrm>
            <a:off x="4445000" y="2153412"/>
            <a:ext cx="3683000" cy="2613406"/>
          </a:xfrm>
          <a:prstGeom prst="roundRect">
            <a:avLst>
              <a:gd name="adj" fmla="val 8000"/>
            </a:avLst>
          </a:prstGeom>
          <a:solidFill>
            <a:srgbClr val="E9EFE9"/>
          </a:solidFill>
          <a:ln w="15875">
            <a:solidFill>
              <a:srgbClr val="8E3F2E"/>
            </a:solidFill>
          </a:ln>
        </p:spPr>
        <p:txBody>
          <a:bodyPr rtlCol="0" anchor="ctr"/>
          <a:lstStyle/>
          <a:p/>
        </p:txBody>
      </p:sp>
      <p:sp>
        <p:nvSpPr>
          <p:cNvPr id="1734" name="p23b_le"/>
          <p:cNvSpPr/>
          <p:nvPr/>
        </p:nvSpPr>
        <p:spPr>
          <a:xfrm>
            <a:off x="4470400" y="2267712"/>
            <a:ext cx="44450" cy="2384806"/>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sp>
        <p:nvSpPr>
          <p:cNvPr id="1735" name="p23b_t"/>
          <p:cNvSpPr txBox="1"/>
          <p:nvPr/>
        </p:nvSpPr>
        <p:spPr>
          <a:xfrm>
            <a:off x="4597400" y="2267712"/>
            <a:ext cx="3378200" cy="374142"/>
          </a:xfrm>
          <a:prstGeom prst="rect">
            <a:avLst/>
          </a:prstGeom>
        </p:spPr>
        <p:txBody>
          <a:bodyPr wrap="square" lIns="0" rIns="0" tIns="0" bIns="0"/>
          <a:lstStyle/>
          <a:p>
            <a:pPr algn="l" lvl="0"/>
            <a:r>
              <a:rPr lang="zh-CN" sz="1700" b="1">
                <a:solidFill>
                  <a:srgbClr val="8E3F2E"/>
                </a:solidFill>
                <a:latin typeface="黑体"/>
                <a:ea typeface="黑体"/>
              </a:rPr>
              <a:t>生态之变 · 退盐还湖</a:t>
            </a:r>
          </a:p>
        </p:txBody>
      </p:sp>
      <p:sp>
        <p:nvSpPr>
          <p:cNvPr id="1736" name="p23b_b"/>
          <p:cNvSpPr txBox="1"/>
          <p:nvPr/>
        </p:nvSpPr>
        <p:spPr>
          <a:xfrm>
            <a:off x="4597400" y="2768854"/>
            <a:ext cx="3378200" cy="1807464"/>
          </a:xfrm>
          <a:prstGeom prst="rect">
            <a:avLst/>
          </a:prstGeom>
        </p:spPr>
        <p:txBody>
          <a:bodyPr wrap="square" lIns="0" rIns="0" tIns="0" bIns="0"/>
          <a:lstStyle/>
          <a:p>
            <a:pPr algn="l" lvl="0"/>
            <a:r>
              <a:rPr lang="zh-CN" sz="1600">
                <a:solidFill>
                  <a:srgbClr val="2E4438"/>
                </a:solidFill>
                <a:latin typeface="楷体"/>
                <a:ea typeface="楷体"/>
              </a:rPr>
              <a:t>2020 年起全面叫停盐湖工业生</a:t>
            </a:r>
          </a:p>
          <a:p>
            <a:pPr algn="l" lvl="0"/>
            <a:r>
              <a:rPr lang="zh-CN" sz="1600">
                <a:solidFill>
                  <a:srgbClr val="2E4438"/>
                </a:solidFill>
                <a:latin typeface="楷体"/>
                <a:ea typeface="楷体"/>
              </a:rPr>
              <a:t>产，“治山、理水、净湖”一体</a:t>
            </a:r>
          </a:p>
          <a:p>
            <a:pPr algn="l" lvl="0"/>
            <a:r>
              <a:rPr lang="zh-CN" sz="1600">
                <a:solidFill>
                  <a:srgbClr val="2E4438"/>
                </a:solidFill>
                <a:latin typeface="楷体"/>
                <a:ea typeface="楷体"/>
              </a:rPr>
              <a:t>推进；27 个生态修复项目，累</a:t>
            </a:r>
          </a:p>
          <a:p>
            <a:pPr algn="l" lvl="0"/>
            <a:r>
              <a:rPr lang="zh-CN" sz="1600">
                <a:solidFill>
                  <a:srgbClr val="2E4438"/>
                </a:solidFill>
                <a:latin typeface="楷体"/>
                <a:ea typeface="楷体"/>
              </a:rPr>
              <a:t>计投入约 25.2 亿元；堤埝加</a:t>
            </a:r>
          </a:p>
          <a:p>
            <a:pPr algn="l" lvl="0"/>
            <a:r>
              <a:rPr lang="zh-CN" sz="1600">
                <a:solidFill>
                  <a:srgbClr val="2E4438"/>
                </a:solidFill>
                <a:latin typeface="楷体"/>
                <a:ea typeface="楷体"/>
              </a:rPr>
              <a:t>固 119.77 公里，入选全国首</a:t>
            </a:r>
          </a:p>
          <a:p>
            <a:pPr algn="l" lvl="0"/>
            <a:r>
              <a:rPr lang="zh-CN" sz="1600">
                <a:solidFill>
                  <a:srgbClr val="2E4438"/>
                </a:solidFill>
                <a:latin typeface="楷体"/>
                <a:ea typeface="楷体"/>
              </a:rPr>
              <a:t>批陆生野生动物重要栖息地名录。</a:t>
            </a:r>
          </a:p>
          <a:p>
            <a:pPr algn="l" lvl="0"/>
            <a:r>
              <a:rPr lang="zh-CN" sz="1600">
                <a:solidFill>
                  <a:srgbClr val="2E4438"/>
                </a:solidFill>
                <a:latin typeface="楷体"/>
                <a:ea typeface="楷体"/>
              </a:rPr>
              <a:t/>
            </a:r>
          </a:p>
        </p:txBody>
      </p:sp>
      <p:sp>
        <p:nvSpPr>
          <p:cNvPr id="1737" name="p23sum_sh"/>
          <p:cNvSpPr/>
          <p:nvPr/>
        </p:nvSpPr>
        <p:spPr>
          <a:xfrm>
            <a:off x="584200" y="5046218"/>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738" name="p23sum"/>
          <p:cNvSpPr/>
          <p:nvPr/>
        </p:nvSpPr>
        <p:spPr>
          <a:xfrm>
            <a:off x="558800" y="4995418"/>
            <a:ext cx="7569200" cy="618744"/>
          </a:xfrm>
          <a:prstGeom prst="roundRect">
            <a:avLst>
              <a:gd name="adj" fmla="val 8000"/>
            </a:avLst>
          </a:prstGeom>
          <a:solidFill>
            <a:srgbClr val="E9EFE9"/>
          </a:solidFill>
          <a:ln w="15875">
            <a:solidFill>
              <a:srgbClr val="8E3F2E"/>
            </a:solidFill>
          </a:ln>
        </p:spPr>
        <p:txBody>
          <a:bodyPr rtlCol="0" anchor="ctr"/>
          <a:lstStyle/>
          <a:p/>
        </p:txBody>
      </p:sp>
      <p:sp>
        <p:nvSpPr>
          <p:cNvPr id="1739" name="p23sum_cap"/>
          <p:cNvSpPr/>
          <p:nvPr/>
        </p:nvSpPr>
        <p:spPr>
          <a:xfrm>
            <a:off x="647700" y="5071618"/>
            <a:ext cx="50800" cy="466344"/>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740" name="p23sum_t"/>
          <p:cNvSpPr txBox="1"/>
          <p:nvPr/>
        </p:nvSpPr>
        <p:spPr>
          <a:xfrm>
            <a:off x="711200" y="5084318"/>
            <a:ext cx="7264400" cy="440944"/>
          </a:xfrm>
          <a:prstGeom prst="rect">
            <a:avLst/>
          </a:prstGeom>
        </p:spPr>
        <p:txBody>
          <a:bodyPr wrap="square" lIns="0" rIns="0" tIns="0" bIns="0"/>
          <a:lstStyle/>
          <a:p>
            <a:pPr algn="l" lvl="0"/>
            <a:r>
              <a:rPr lang="zh-CN" sz="1600" b="1">
                <a:solidFill>
                  <a:srgbClr val="1D2B23"/>
                </a:solidFill>
                <a:latin typeface="黑体"/>
                <a:ea typeface="黑体"/>
              </a:rPr>
              <a:t>一条盐湖，两种“变”：文化找到了新活法，生态找回了老样子。</a:t>
            </a:r>
          </a:p>
        </p:txBody>
      </p:sp>
    </p:spTree>
  </p:cSld>
  <p:clrMapOvr>
    <a:masterClrMapping/>
  </p:clrMapOvr>
  <p:transition xmlns:p="http://schemas.openxmlformats.org/presentationml/2006/main" spd="med">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741"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742" name="hd_secbar"/>
          <p:cNvSpPr/>
          <p:nvPr/>
        </p:nvSpPr>
        <p:spPr>
          <a:xfrm>
            <a:off x="609600" y="317500"/>
            <a:ext cx="44450" cy="228600"/>
          </a:xfrm>
          <a:prstGeom prst="rect">
            <a:avLst/>
          </a:prstGeom>
          <a:gradFill rotWithShape="1">
            <a:gsLst>
              <a:gs pos="0">
                <a:srgbClr val="8E3F2E"/>
              </a:gs>
              <a:gs pos="100000">
                <a:srgbClr val="EE8A72">
                  <a:alpha val="100000"/>
                </a:srgbClr>
              </a:gs>
            </a:gsLst>
            <a:lin ang="5400000" scaled="1"/>
          </a:gradFill>
          <a:ln>
            <a:noFill/>
          </a:ln>
        </p:spPr>
        <p:txBody>
          <a:bodyPr rtlCol="0" anchor="ctr"/>
          <a:lstStyle/>
          <a:p/>
        </p:txBody>
      </p:sp>
      <p:sp>
        <p:nvSpPr>
          <p:cNvPr id="1743" name="hd_sec"/>
          <p:cNvSpPr txBox="1"/>
          <p:nvPr/>
        </p:nvSpPr>
        <p:spPr>
          <a:xfrm>
            <a:off x="736600" y="317500"/>
            <a:ext cx="3476600" cy="228600"/>
          </a:xfrm>
          <a:prstGeom prst="rect">
            <a:avLst/>
          </a:prstGeom>
        </p:spPr>
        <p:txBody>
          <a:bodyPr wrap="square" lIns="0" rIns="0" tIns="0" bIns="0"/>
          <a:lstStyle/>
          <a:p>
            <a:pPr algn="l" lvl="0"/>
            <a:r>
              <a:rPr lang="zh-CN" sz="1400" b="1">
                <a:solidFill>
                  <a:srgbClr val="8E3F2E"/>
                </a:solidFill>
                <a:latin typeface="黑体"/>
                <a:ea typeface="黑体"/>
              </a:rPr>
              <a:t>子任务三 · 拓展策展——循迹盐湖行</a:t>
            </a:r>
          </a:p>
        </p:txBody>
      </p:sp>
      <p:sp>
        <p:nvSpPr>
          <p:cNvPr id="1744"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研学活动要求 · 五步走</a:t>
            </a:r>
          </a:p>
        </p:txBody>
      </p:sp>
      <p:sp>
        <p:nvSpPr>
          <p:cNvPr id="1745" name="hd_rule2"/>
          <p:cNvSpPr/>
          <p:nvPr/>
        </p:nvSpPr>
        <p:spPr>
          <a:xfrm>
            <a:off x="558800" y="1143000"/>
            <a:ext cx="1625600" cy="44450"/>
          </a:xfrm>
          <a:prstGeom prst="rect">
            <a:avLst/>
          </a:prstGeom>
          <a:gradFill rotWithShape="1">
            <a:gsLst>
              <a:gs pos="0">
                <a:srgbClr val="8E3F2E"/>
              </a:gs>
              <a:gs pos="100000">
                <a:srgbClr val="EE8A72">
                  <a:alpha val="100000"/>
                </a:srgbClr>
              </a:gs>
            </a:gsLst>
            <a:lin ang="0" scaled="1"/>
          </a:gradFill>
          <a:ln>
            <a:noFill/>
          </a:ln>
        </p:spPr>
        <p:txBody>
          <a:bodyPr rtlCol="0" anchor="ctr"/>
          <a:lstStyle/>
          <a:p/>
        </p:txBody>
      </p:sp>
      <p:sp>
        <p:nvSpPr>
          <p:cNvPr id="1746" name="hd_rule"/>
          <p:cNvSpPr/>
          <p:nvPr/>
        </p:nvSpPr>
        <p:spPr>
          <a:xfrm>
            <a:off x="2260600" y="1158240"/>
            <a:ext cx="5867400" cy="19050"/>
          </a:xfrm>
          <a:prstGeom prst="rect">
            <a:avLst/>
          </a:prstGeom>
          <a:solidFill>
            <a:srgbClr val="EE8A72">
              <a:alpha val="40000"/>
            </a:srgbClr>
          </a:solidFill>
          <a:ln>
            <a:noFill/>
          </a:ln>
        </p:spPr>
        <p:txBody>
          <a:bodyPr rtlCol="0" anchor="ctr"/>
          <a:lstStyle/>
          <a:p/>
        </p:txBody>
      </p:sp>
      <p:cxnSp>
        <p:nvCxnSpPr>
          <p:cNvPr id="1747" name="rb_rule"/>
          <p:cNvCxnSpPr/>
          <p:nvPr/>
        </p:nvCxnSpPr>
        <p:spPr>
          <a:xfrm>
            <a:off x="8280400" y="1422400"/>
            <a:ext cx="0" cy="4267200"/>
          </a:xfrm>
          <a:prstGeom prst="straightConnector1">
            <a:avLst/>
          </a:prstGeom>
          <a:ln w="19050">
            <a:solidFill>
              <a:srgbClr val="7E9A85"/>
            </a:solidFill>
          </a:ln>
        </p:spPr>
      </p:cxnSp>
      <p:sp>
        <p:nvSpPr>
          <p:cNvPr id="1748" name="rb_chip_a"/>
          <p:cNvSpPr/>
          <p:nvPr/>
        </p:nvSpPr>
        <p:spPr>
          <a:xfrm>
            <a:off x="8229600" y="1219200"/>
            <a:ext cx="152400" cy="152400"/>
          </a:xfrm>
          <a:prstGeom prst="rect">
            <a:avLst/>
          </a:prstGeom>
          <a:gradFill rotWithShape="1">
            <a:gsLst>
              <a:gs pos="0">
                <a:srgbClr val="EE8A72"/>
              </a:gs>
              <a:gs pos="100000">
                <a:srgbClr val="8E3F2E">
                  <a:alpha val="100000"/>
                </a:srgbClr>
              </a:gs>
            </a:gsLst>
            <a:lin ang="8100000" scaled="1"/>
          </a:gradFill>
          <a:ln>
            <a:noFill/>
          </a:ln>
        </p:spPr>
        <p:txBody>
          <a:bodyPr rtlCol="0" anchor="ctr"/>
          <a:lstStyle/>
          <a:p/>
        </p:txBody>
      </p:sp>
      <p:sp>
        <p:nvSpPr>
          <p:cNvPr id="1749" name="rb_chip_b"/>
          <p:cNvSpPr/>
          <p:nvPr/>
        </p:nvSpPr>
        <p:spPr>
          <a:xfrm>
            <a:off x="8280400" y="1193800"/>
            <a:ext cx="101600" cy="101600"/>
          </a:xfrm>
          <a:prstGeom prst="rect">
            <a:avLst/>
          </a:prstGeom>
          <a:solidFill>
            <a:srgbClr val="8E3F2E"/>
          </a:solidFill>
          <a:ln>
            <a:noFill/>
          </a:ln>
        </p:spPr>
        <p:txBody>
          <a:bodyPr rtlCol="0" anchor="ctr"/>
          <a:lstStyle/>
          <a:p/>
        </p:txBody>
      </p:sp>
      <p:sp>
        <p:nvSpPr>
          <p:cNvPr id="1750"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751"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752" name="rb_tagrule"/>
          <p:cNvCxnSpPr/>
          <p:nvPr/>
        </p:nvCxnSpPr>
        <p:spPr>
          <a:xfrm>
            <a:off x="11226800" y="2260600"/>
            <a:ext cx="482600" cy="0"/>
          </a:xfrm>
          <a:prstGeom prst="straightConnector1">
            <a:avLst/>
          </a:prstGeom>
          <a:ln w="12700">
            <a:solidFill>
              <a:srgbClr val="7E9A85"/>
            </a:solidFill>
          </a:ln>
        </p:spPr>
      </p:cxnSp>
      <p:sp>
        <p:nvSpPr>
          <p:cNvPr id="1753"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E8A72"/>
                </a:solidFill>
                <a:latin typeface="黑体"/>
                <a:ea typeface="黑体"/>
              </a:rPr>
              <a:t>24 / 42</a:t>
            </a:r>
          </a:p>
        </p:txBody>
      </p:sp>
      <p:sp>
        <p:nvSpPr>
          <p:cNvPr id="1754" name="lead_sh"/>
          <p:cNvSpPr/>
          <p:nvPr/>
        </p:nvSpPr>
        <p:spPr>
          <a:xfrm>
            <a:off x="584200" y="1346200"/>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755" name="lead"/>
          <p:cNvSpPr/>
          <p:nvPr/>
        </p:nvSpPr>
        <p:spPr>
          <a:xfrm>
            <a:off x="558800" y="1295400"/>
            <a:ext cx="7569200" cy="618744"/>
          </a:xfrm>
          <a:prstGeom prst="roundRect">
            <a:avLst>
              <a:gd name="adj" fmla="val 8000"/>
            </a:avLst>
          </a:prstGeom>
          <a:solidFill>
            <a:srgbClr val="E9EFE9"/>
          </a:solidFill>
          <a:ln w="15875">
            <a:solidFill>
              <a:srgbClr val="8E3F2E"/>
            </a:solidFill>
          </a:ln>
        </p:spPr>
        <p:txBody>
          <a:bodyPr rtlCol="0" anchor="ctr"/>
          <a:lstStyle/>
          <a:p/>
        </p:txBody>
      </p:sp>
      <p:sp>
        <p:nvSpPr>
          <p:cNvPr id="1756" name="lead_cap"/>
          <p:cNvSpPr/>
          <p:nvPr/>
        </p:nvSpPr>
        <p:spPr>
          <a:xfrm>
            <a:off x="647700" y="1371600"/>
            <a:ext cx="50800" cy="466344"/>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757" name="lead_t"/>
          <p:cNvSpPr txBox="1"/>
          <p:nvPr/>
        </p:nvSpPr>
        <p:spPr>
          <a:xfrm>
            <a:off x="711200" y="1384300"/>
            <a:ext cx="7264400" cy="440944"/>
          </a:xfrm>
          <a:prstGeom prst="rect">
            <a:avLst/>
          </a:prstGeom>
        </p:spPr>
        <p:txBody>
          <a:bodyPr wrap="square" lIns="0" rIns="0" tIns="0" bIns="0"/>
          <a:lstStyle/>
          <a:p>
            <a:pPr algn="l" lvl="0"/>
            <a:r>
              <a:rPr lang="zh-CN" sz="1600">
                <a:solidFill>
                  <a:srgbClr val="1D2B23"/>
                </a:solidFill>
                <a:latin typeface="楷体"/>
                <a:ea typeface="楷体"/>
              </a:rPr>
              <a:t>研学活动要求：把“看”变成“查”，把“感想”变成“证据”。</a:t>
            </a:r>
          </a:p>
        </p:txBody>
      </p:sp>
      <p:sp>
        <p:nvSpPr>
          <p:cNvPr id="1758" name="p24r0_sh"/>
          <p:cNvSpPr/>
          <p:nvPr/>
        </p:nvSpPr>
        <p:spPr>
          <a:xfrm>
            <a:off x="584200" y="2218944"/>
            <a:ext cx="7518400" cy="5842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759" name="p24r0"/>
          <p:cNvSpPr/>
          <p:nvPr/>
        </p:nvSpPr>
        <p:spPr>
          <a:xfrm>
            <a:off x="558800" y="2168144"/>
            <a:ext cx="7569200" cy="584200"/>
          </a:xfrm>
          <a:prstGeom prst="roundRect">
            <a:avLst>
              <a:gd name="adj" fmla="val 8000"/>
            </a:avLst>
          </a:prstGeom>
          <a:solidFill>
            <a:srgbClr val="E9EFE9"/>
          </a:solidFill>
          <a:ln w="15875">
            <a:solidFill>
              <a:srgbClr val="8E3F2E"/>
            </a:solidFill>
          </a:ln>
        </p:spPr>
        <p:txBody>
          <a:bodyPr rtlCol="0" anchor="ctr"/>
          <a:lstStyle/>
          <a:p/>
        </p:txBody>
      </p:sp>
      <p:sp>
        <p:nvSpPr>
          <p:cNvPr id="1760" name="p24r0_cap"/>
          <p:cNvSpPr/>
          <p:nvPr/>
        </p:nvSpPr>
        <p:spPr>
          <a:xfrm>
            <a:off x="647700" y="2244344"/>
            <a:ext cx="50800" cy="4318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761" name="p24r0_t"/>
          <p:cNvSpPr txBox="1"/>
          <p:nvPr/>
        </p:nvSpPr>
        <p:spPr>
          <a:xfrm>
            <a:off x="711200" y="2257044"/>
            <a:ext cx="7264400" cy="406400"/>
          </a:xfrm>
          <a:prstGeom prst="rect">
            <a:avLst/>
          </a:prstGeom>
        </p:spPr>
        <p:txBody>
          <a:bodyPr wrap="square" lIns="0" rIns="0" tIns="0" bIns="0"/>
          <a:lstStyle/>
          <a:p>
            <a:pPr algn="l" lvl="0"/>
            <a:r>
              <a:rPr lang="zh-CN" sz="1400">
                <a:solidFill>
                  <a:srgbClr val="1D2B23"/>
                </a:solidFill>
                <a:latin typeface="楷体"/>
                <a:ea typeface="楷体"/>
              </a:rPr>
              <a:t>先搜集｜搜集资料，了解家乡的变化发展。</a:t>
            </a:r>
          </a:p>
        </p:txBody>
      </p:sp>
      <p:sp>
        <p:nvSpPr>
          <p:cNvPr id="1762" name="p24r1_sh"/>
          <p:cNvSpPr/>
          <p:nvPr/>
        </p:nvSpPr>
        <p:spPr>
          <a:xfrm>
            <a:off x="584200" y="2879344"/>
            <a:ext cx="7518400" cy="5842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763" name="p24r1"/>
          <p:cNvSpPr/>
          <p:nvPr/>
        </p:nvSpPr>
        <p:spPr>
          <a:xfrm>
            <a:off x="558800" y="2828544"/>
            <a:ext cx="7569200" cy="584200"/>
          </a:xfrm>
          <a:prstGeom prst="roundRect">
            <a:avLst>
              <a:gd name="adj" fmla="val 8000"/>
            </a:avLst>
          </a:prstGeom>
          <a:solidFill>
            <a:srgbClr val="E9EFE9"/>
          </a:solidFill>
          <a:ln w="15875">
            <a:solidFill>
              <a:srgbClr val="8E3F2E"/>
            </a:solidFill>
          </a:ln>
        </p:spPr>
        <p:txBody>
          <a:bodyPr rtlCol="0" anchor="ctr"/>
          <a:lstStyle/>
          <a:p/>
        </p:txBody>
      </p:sp>
      <p:sp>
        <p:nvSpPr>
          <p:cNvPr id="1764" name="p24r1_cap"/>
          <p:cNvSpPr/>
          <p:nvPr/>
        </p:nvSpPr>
        <p:spPr>
          <a:xfrm>
            <a:off x="647700" y="2904744"/>
            <a:ext cx="50800" cy="4318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765" name="p24r1_t"/>
          <p:cNvSpPr txBox="1"/>
          <p:nvPr/>
        </p:nvSpPr>
        <p:spPr>
          <a:xfrm>
            <a:off x="711200" y="2917444"/>
            <a:ext cx="7264400" cy="406400"/>
          </a:xfrm>
          <a:prstGeom prst="rect">
            <a:avLst/>
          </a:prstGeom>
        </p:spPr>
        <p:txBody>
          <a:bodyPr wrap="square" lIns="0" rIns="0" tIns="0" bIns="0"/>
          <a:lstStyle/>
          <a:p>
            <a:pPr algn="l" lvl="0"/>
            <a:r>
              <a:rPr lang="zh-CN" sz="1400">
                <a:solidFill>
                  <a:srgbClr val="1D2B23"/>
                </a:solidFill>
                <a:latin typeface="楷体"/>
                <a:ea typeface="楷体"/>
              </a:rPr>
              <a:t>再规划｜分小组拟定活动方案，细化目的、对象、内容及方式。</a:t>
            </a:r>
          </a:p>
        </p:txBody>
      </p:sp>
      <p:sp>
        <p:nvSpPr>
          <p:cNvPr id="1766" name="p24r2_sh"/>
          <p:cNvSpPr/>
          <p:nvPr/>
        </p:nvSpPr>
        <p:spPr>
          <a:xfrm>
            <a:off x="584200" y="3539744"/>
            <a:ext cx="7518400" cy="5842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767" name="p24r2"/>
          <p:cNvSpPr/>
          <p:nvPr/>
        </p:nvSpPr>
        <p:spPr>
          <a:xfrm>
            <a:off x="558800" y="3488944"/>
            <a:ext cx="7569200" cy="584200"/>
          </a:xfrm>
          <a:prstGeom prst="roundRect">
            <a:avLst>
              <a:gd name="adj" fmla="val 8000"/>
            </a:avLst>
          </a:prstGeom>
          <a:solidFill>
            <a:srgbClr val="E9EFE9"/>
          </a:solidFill>
          <a:ln w="15875">
            <a:solidFill>
              <a:srgbClr val="8E3F2E"/>
            </a:solidFill>
          </a:ln>
        </p:spPr>
        <p:txBody>
          <a:bodyPr rtlCol="0" anchor="ctr"/>
          <a:lstStyle/>
          <a:p/>
        </p:txBody>
      </p:sp>
      <p:sp>
        <p:nvSpPr>
          <p:cNvPr id="1768" name="p24r2_cap"/>
          <p:cNvSpPr/>
          <p:nvPr/>
        </p:nvSpPr>
        <p:spPr>
          <a:xfrm>
            <a:off x="647700" y="3565144"/>
            <a:ext cx="50800" cy="4318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769" name="p24r2_t"/>
          <p:cNvSpPr txBox="1"/>
          <p:nvPr/>
        </p:nvSpPr>
        <p:spPr>
          <a:xfrm>
            <a:off x="711200" y="3577844"/>
            <a:ext cx="7264400" cy="406400"/>
          </a:xfrm>
          <a:prstGeom prst="rect">
            <a:avLst/>
          </a:prstGeom>
        </p:spPr>
        <p:txBody>
          <a:bodyPr wrap="square" lIns="0" rIns="0" tIns="0" bIns="0"/>
          <a:lstStyle/>
          <a:p>
            <a:pPr algn="l" lvl="0"/>
            <a:r>
              <a:rPr lang="zh-CN" sz="1400">
                <a:solidFill>
                  <a:srgbClr val="1D2B23"/>
                </a:solidFill>
                <a:latin typeface="楷体"/>
                <a:ea typeface="楷体"/>
              </a:rPr>
              <a:t>去现场｜走访调研，关注家乡的变化与主要问题，做好记录。</a:t>
            </a:r>
          </a:p>
        </p:txBody>
      </p:sp>
      <p:sp>
        <p:nvSpPr>
          <p:cNvPr id="1770" name="p24r3_sh"/>
          <p:cNvSpPr/>
          <p:nvPr/>
        </p:nvSpPr>
        <p:spPr>
          <a:xfrm>
            <a:off x="584200" y="4200144"/>
            <a:ext cx="7518400" cy="5842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771" name="p24r3"/>
          <p:cNvSpPr/>
          <p:nvPr/>
        </p:nvSpPr>
        <p:spPr>
          <a:xfrm>
            <a:off x="558800" y="4149344"/>
            <a:ext cx="7569200" cy="584200"/>
          </a:xfrm>
          <a:prstGeom prst="roundRect">
            <a:avLst>
              <a:gd name="adj" fmla="val 8000"/>
            </a:avLst>
          </a:prstGeom>
          <a:solidFill>
            <a:srgbClr val="E9EFE9"/>
          </a:solidFill>
          <a:ln w="15875">
            <a:solidFill>
              <a:srgbClr val="8E3F2E"/>
            </a:solidFill>
          </a:ln>
        </p:spPr>
        <p:txBody>
          <a:bodyPr rtlCol="0" anchor="ctr"/>
          <a:lstStyle/>
          <a:p/>
        </p:txBody>
      </p:sp>
      <p:sp>
        <p:nvSpPr>
          <p:cNvPr id="1772" name="p24r3_cap"/>
          <p:cNvSpPr/>
          <p:nvPr/>
        </p:nvSpPr>
        <p:spPr>
          <a:xfrm>
            <a:off x="647700" y="4225544"/>
            <a:ext cx="50800" cy="4318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773" name="p24r3_t"/>
          <p:cNvSpPr txBox="1"/>
          <p:nvPr/>
        </p:nvSpPr>
        <p:spPr>
          <a:xfrm>
            <a:off x="711200" y="4238244"/>
            <a:ext cx="7264400" cy="406400"/>
          </a:xfrm>
          <a:prstGeom prst="rect">
            <a:avLst/>
          </a:prstGeom>
        </p:spPr>
        <p:txBody>
          <a:bodyPr wrap="square" lIns="0" rIns="0" tIns="0" bIns="0"/>
          <a:lstStyle/>
          <a:p>
            <a:pPr algn="l" lvl="0"/>
            <a:r>
              <a:rPr lang="zh-CN" sz="1400">
                <a:solidFill>
                  <a:srgbClr val="1D2B23"/>
                </a:solidFill>
                <a:latin typeface="楷体"/>
                <a:ea typeface="楷体"/>
              </a:rPr>
              <a:t>做整理｜资料整理、分析、留存，提出针对性对策建议。</a:t>
            </a:r>
          </a:p>
        </p:txBody>
      </p:sp>
      <p:sp>
        <p:nvSpPr>
          <p:cNvPr id="1774" name="p24r4_sh"/>
          <p:cNvSpPr/>
          <p:nvPr/>
        </p:nvSpPr>
        <p:spPr>
          <a:xfrm>
            <a:off x="584200" y="4860544"/>
            <a:ext cx="7518400" cy="5842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775" name="p24r4"/>
          <p:cNvSpPr/>
          <p:nvPr/>
        </p:nvSpPr>
        <p:spPr>
          <a:xfrm>
            <a:off x="558800" y="4809744"/>
            <a:ext cx="7569200" cy="584200"/>
          </a:xfrm>
          <a:prstGeom prst="roundRect">
            <a:avLst>
              <a:gd name="adj" fmla="val 8000"/>
            </a:avLst>
          </a:prstGeom>
          <a:solidFill>
            <a:srgbClr val="E9EFE9"/>
          </a:solidFill>
          <a:ln w="15875">
            <a:solidFill>
              <a:srgbClr val="8E3F2E"/>
            </a:solidFill>
          </a:ln>
        </p:spPr>
        <p:txBody>
          <a:bodyPr rtlCol="0" anchor="ctr"/>
          <a:lstStyle/>
          <a:p/>
        </p:txBody>
      </p:sp>
      <p:sp>
        <p:nvSpPr>
          <p:cNvPr id="1776" name="p24r4_cap"/>
          <p:cNvSpPr/>
          <p:nvPr/>
        </p:nvSpPr>
        <p:spPr>
          <a:xfrm>
            <a:off x="647700" y="4885944"/>
            <a:ext cx="50800" cy="4318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777" name="p24r4_t"/>
          <p:cNvSpPr txBox="1"/>
          <p:nvPr/>
        </p:nvSpPr>
        <p:spPr>
          <a:xfrm>
            <a:off x="711200" y="4898644"/>
            <a:ext cx="7264400" cy="406400"/>
          </a:xfrm>
          <a:prstGeom prst="rect">
            <a:avLst/>
          </a:prstGeom>
        </p:spPr>
        <p:txBody>
          <a:bodyPr wrap="square" lIns="0" rIns="0" tIns="0" bIns="0"/>
          <a:lstStyle/>
          <a:p>
            <a:pPr algn="l" lvl="0"/>
            <a:r>
              <a:rPr lang="zh-CN" sz="1400">
                <a:solidFill>
                  <a:srgbClr val="1D2B23"/>
                </a:solidFill>
                <a:latin typeface="楷体"/>
                <a:ea typeface="楷体"/>
              </a:rPr>
              <a:t>出成果｜小组讨论交流，共同完成一篇调研报告。</a:t>
            </a:r>
          </a:p>
        </p:txBody>
      </p:sp>
    </p:spTree>
  </p:cSld>
  <p:clrMapOvr>
    <a:masterClrMapping/>
  </p:clrMapOvr>
  <p:transition xmlns:p="http://schemas.openxmlformats.org/presentationml/2006/main" spd="med">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778"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779" name="hd_secbar"/>
          <p:cNvSpPr/>
          <p:nvPr/>
        </p:nvSpPr>
        <p:spPr>
          <a:xfrm>
            <a:off x="609600" y="317500"/>
            <a:ext cx="44450" cy="228600"/>
          </a:xfrm>
          <a:prstGeom prst="rect">
            <a:avLst/>
          </a:prstGeom>
          <a:gradFill rotWithShape="1">
            <a:gsLst>
              <a:gs pos="0">
                <a:srgbClr val="8E3F2E"/>
              </a:gs>
              <a:gs pos="100000">
                <a:srgbClr val="EE8A72">
                  <a:alpha val="100000"/>
                </a:srgbClr>
              </a:gs>
            </a:gsLst>
            <a:lin ang="5400000" scaled="1"/>
          </a:gradFill>
          <a:ln>
            <a:noFill/>
          </a:ln>
        </p:spPr>
        <p:txBody>
          <a:bodyPr rtlCol="0" anchor="ctr"/>
          <a:lstStyle/>
          <a:p/>
        </p:txBody>
      </p:sp>
      <p:sp>
        <p:nvSpPr>
          <p:cNvPr id="1780" name="hd_sec"/>
          <p:cNvSpPr txBox="1"/>
          <p:nvPr/>
        </p:nvSpPr>
        <p:spPr>
          <a:xfrm>
            <a:off x="736600" y="317500"/>
            <a:ext cx="3476600" cy="228600"/>
          </a:xfrm>
          <a:prstGeom prst="rect">
            <a:avLst/>
          </a:prstGeom>
        </p:spPr>
        <p:txBody>
          <a:bodyPr wrap="square" lIns="0" rIns="0" tIns="0" bIns="0"/>
          <a:lstStyle/>
          <a:p>
            <a:pPr algn="l" lvl="0"/>
            <a:r>
              <a:rPr lang="zh-CN" sz="1400" b="1">
                <a:solidFill>
                  <a:srgbClr val="8E3F2E"/>
                </a:solidFill>
                <a:latin typeface="黑体"/>
                <a:ea typeface="黑体"/>
              </a:rPr>
              <a:t>子任务三 · 拓展策展——循迹盐湖行</a:t>
            </a:r>
          </a:p>
        </p:txBody>
      </p:sp>
      <p:sp>
        <p:nvSpPr>
          <p:cNvPr id="1781"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研学活动方案 · 七个要素</a:t>
            </a:r>
          </a:p>
        </p:txBody>
      </p:sp>
      <p:sp>
        <p:nvSpPr>
          <p:cNvPr id="1782" name="hd_rule2"/>
          <p:cNvSpPr/>
          <p:nvPr/>
        </p:nvSpPr>
        <p:spPr>
          <a:xfrm>
            <a:off x="558800" y="1143000"/>
            <a:ext cx="1625600" cy="44450"/>
          </a:xfrm>
          <a:prstGeom prst="rect">
            <a:avLst/>
          </a:prstGeom>
          <a:gradFill rotWithShape="1">
            <a:gsLst>
              <a:gs pos="0">
                <a:srgbClr val="8E3F2E"/>
              </a:gs>
              <a:gs pos="100000">
                <a:srgbClr val="EE8A72">
                  <a:alpha val="100000"/>
                </a:srgbClr>
              </a:gs>
            </a:gsLst>
            <a:lin ang="0" scaled="1"/>
          </a:gradFill>
          <a:ln>
            <a:noFill/>
          </a:ln>
        </p:spPr>
        <p:txBody>
          <a:bodyPr rtlCol="0" anchor="ctr"/>
          <a:lstStyle/>
          <a:p/>
        </p:txBody>
      </p:sp>
      <p:sp>
        <p:nvSpPr>
          <p:cNvPr id="1783" name="hd_rule"/>
          <p:cNvSpPr/>
          <p:nvPr/>
        </p:nvSpPr>
        <p:spPr>
          <a:xfrm>
            <a:off x="2260600" y="1158240"/>
            <a:ext cx="5867400" cy="19050"/>
          </a:xfrm>
          <a:prstGeom prst="rect">
            <a:avLst/>
          </a:prstGeom>
          <a:solidFill>
            <a:srgbClr val="EE8A72">
              <a:alpha val="40000"/>
            </a:srgbClr>
          </a:solidFill>
          <a:ln>
            <a:noFill/>
          </a:ln>
        </p:spPr>
        <p:txBody>
          <a:bodyPr rtlCol="0" anchor="ctr"/>
          <a:lstStyle/>
          <a:p/>
        </p:txBody>
      </p:sp>
      <p:cxnSp>
        <p:nvCxnSpPr>
          <p:cNvPr id="1784" name="rb_rule"/>
          <p:cNvCxnSpPr/>
          <p:nvPr/>
        </p:nvCxnSpPr>
        <p:spPr>
          <a:xfrm>
            <a:off x="8280400" y="1422400"/>
            <a:ext cx="0" cy="4267200"/>
          </a:xfrm>
          <a:prstGeom prst="straightConnector1">
            <a:avLst/>
          </a:prstGeom>
          <a:ln w="19050">
            <a:solidFill>
              <a:srgbClr val="7E9A85"/>
            </a:solidFill>
          </a:ln>
        </p:spPr>
      </p:cxnSp>
      <p:sp>
        <p:nvSpPr>
          <p:cNvPr id="1785" name="rb_chip_a"/>
          <p:cNvSpPr/>
          <p:nvPr/>
        </p:nvSpPr>
        <p:spPr>
          <a:xfrm>
            <a:off x="8229600" y="1219200"/>
            <a:ext cx="152400" cy="152400"/>
          </a:xfrm>
          <a:prstGeom prst="rect">
            <a:avLst/>
          </a:prstGeom>
          <a:gradFill rotWithShape="1">
            <a:gsLst>
              <a:gs pos="0">
                <a:srgbClr val="EE8A72"/>
              </a:gs>
              <a:gs pos="100000">
                <a:srgbClr val="8E3F2E">
                  <a:alpha val="100000"/>
                </a:srgbClr>
              </a:gs>
            </a:gsLst>
            <a:lin ang="8100000" scaled="1"/>
          </a:gradFill>
          <a:ln>
            <a:noFill/>
          </a:ln>
        </p:spPr>
        <p:txBody>
          <a:bodyPr rtlCol="0" anchor="ctr"/>
          <a:lstStyle/>
          <a:p/>
        </p:txBody>
      </p:sp>
      <p:sp>
        <p:nvSpPr>
          <p:cNvPr id="1786" name="rb_chip_b"/>
          <p:cNvSpPr/>
          <p:nvPr/>
        </p:nvSpPr>
        <p:spPr>
          <a:xfrm>
            <a:off x="8280400" y="1193800"/>
            <a:ext cx="101600" cy="101600"/>
          </a:xfrm>
          <a:prstGeom prst="rect">
            <a:avLst/>
          </a:prstGeom>
          <a:solidFill>
            <a:srgbClr val="8E3F2E"/>
          </a:solidFill>
          <a:ln>
            <a:noFill/>
          </a:ln>
        </p:spPr>
        <p:txBody>
          <a:bodyPr rtlCol="0" anchor="ctr"/>
          <a:lstStyle/>
          <a:p/>
        </p:txBody>
      </p:sp>
      <p:sp>
        <p:nvSpPr>
          <p:cNvPr id="1787"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788"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789" name="rb_tagrule"/>
          <p:cNvCxnSpPr/>
          <p:nvPr/>
        </p:nvCxnSpPr>
        <p:spPr>
          <a:xfrm>
            <a:off x="11226800" y="2260600"/>
            <a:ext cx="482600" cy="0"/>
          </a:xfrm>
          <a:prstGeom prst="straightConnector1">
            <a:avLst/>
          </a:prstGeom>
          <a:ln w="12700">
            <a:solidFill>
              <a:srgbClr val="7E9A85"/>
            </a:solidFill>
          </a:ln>
        </p:spPr>
      </p:cxnSp>
      <p:sp>
        <p:nvSpPr>
          <p:cNvPr id="1790"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E8A72"/>
                </a:solidFill>
                <a:latin typeface="黑体"/>
                <a:ea typeface="黑体"/>
              </a:rPr>
              <a:t>25 / 42</a:t>
            </a:r>
          </a:p>
        </p:txBody>
      </p:sp>
      <p:sp>
        <p:nvSpPr>
          <p:cNvPr id="1791" name="lead_sh"/>
          <p:cNvSpPr/>
          <p:nvPr/>
        </p:nvSpPr>
        <p:spPr>
          <a:xfrm>
            <a:off x="584200" y="1346200"/>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792" name="lead"/>
          <p:cNvSpPr/>
          <p:nvPr/>
        </p:nvSpPr>
        <p:spPr>
          <a:xfrm>
            <a:off x="558800" y="1295400"/>
            <a:ext cx="7569200" cy="618744"/>
          </a:xfrm>
          <a:prstGeom prst="roundRect">
            <a:avLst>
              <a:gd name="adj" fmla="val 8000"/>
            </a:avLst>
          </a:prstGeom>
          <a:solidFill>
            <a:srgbClr val="E9EFE9"/>
          </a:solidFill>
          <a:ln w="15875">
            <a:solidFill>
              <a:srgbClr val="8E3F2E"/>
            </a:solidFill>
          </a:ln>
        </p:spPr>
        <p:txBody>
          <a:bodyPr rtlCol="0" anchor="ctr"/>
          <a:lstStyle/>
          <a:p/>
        </p:txBody>
      </p:sp>
      <p:sp>
        <p:nvSpPr>
          <p:cNvPr id="1793" name="lead_cap"/>
          <p:cNvSpPr/>
          <p:nvPr/>
        </p:nvSpPr>
        <p:spPr>
          <a:xfrm>
            <a:off x="647700" y="1371600"/>
            <a:ext cx="50800" cy="466344"/>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794" name="lead_t"/>
          <p:cNvSpPr txBox="1"/>
          <p:nvPr/>
        </p:nvSpPr>
        <p:spPr>
          <a:xfrm>
            <a:off x="711200" y="1384300"/>
            <a:ext cx="7264400" cy="440944"/>
          </a:xfrm>
          <a:prstGeom prst="rect">
            <a:avLst/>
          </a:prstGeom>
        </p:spPr>
        <p:txBody>
          <a:bodyPr wrap="square" lIns="0" rIns="0" tIns="0" bIns="0"/>
          <a:lstStyle/>
          <a:p>
            <a:pPr algn="l" lvl="0"/>
            <a:r>
              <a:rPr lang="zh-CN" sz="1600">
                <a:solidFill>
                  <a:srgbClr val="1D2B23"/>
                </a:solidFill>
                <a:latin typeface="楷体"/>
                <a:ea typeface="楷体"/>
              </a:rPr>
              <a:t>研学活动方案：先把七个要素填满，再出发。</a:t>
            </a:r>
          </a:p>
        </p:txBody>
      </p:sp>
      <p:graphicFrame>
        <p:nvGraphicFramePr>
          <p:cNvPr id="1795" name="p25tbl"/>
          <p:cNvGraphicFramePr/>
          <p:nvPr/>
        </p:nvGraphicFramePr>
        <p:xfrm>
          <a:off x="558800" y="2142744"/>
          <a:ext cx="7569200" cy="3378200"/>
        </p:xfrm>
        <a:graphic>
          <a:graphicData uri="http://schemas.openxmlformats.org/drawingml/2006/table">
            <a:tbl>
              <a:tblPr firstRow="1" bandRow="0">
                <a:tableStyleId>{5C22544A-7EE6-4342-B048-85BDC9FD1C3A}</a:tableStyleId>
              </a:tblPr>
              <a:tblGrid>
                <a:gridCol w="3784600"/>
                <a:gridCol w="3784600"/>
              </a:tblGrid>
              <a:tr h="422275">
                <a:tc>
                  <a:txBody>
                    <a:bodyPr/>
                    <a:lstStyle/>
                    <a:p>
                      <a:r>
                        <a:rPr lang="zh-CN" sz="1400" b="1">
                          <a:solidFill>
                            <a:srgbClr val="1F2937"/>
                          </a:solidFill>
                        </a:rPr>
                        <a:t>要素</a:t>
                      </a:r>
                    </a:p>
                  </a:txBody>
                  <a:tcPr anchor="ctr">
                    <a:lnL>
                      <a:noFill/>
                    </a:lnL>
                    <a:lnR>
                      <a:noFill/>
                    </a:lnR>
                    <a:lnT>
                      <a:noFill/>
                    </a:lnT>
                    <a:lnB>
                      <a:noFill/>
                    </a:lnB>
                    <a:solidFill>
                      <a:srgbClr val="DDEBF7"/>
                    </a:solidFill>
                    <a:marL l="45720" r="45720" t="22860" b="22860"/>
                  </a:tcPr>
                </a:tc>
                <a:tc>
                  <a:txBody>
                    <a:bodyPr/>
                    <a:lstStyle/>
                    <a:p>
                      <a:r>
                        <a:rPr lang="zh-CN" sz="1400" b="1">
                          <a:solidFill>
                            <a:srgbClr val="1F2937"/>
                          </a:solidFill>
                        </a:rPr>
                        <a:t>填写指引</a:t>
                      </a:r>
                    </a:p>
                  </a:txBody>
                  <a:tcPr anchor="ctr">
                    <a:lnL>
                      <a:noFill/>
                    </a:lnL>
                    <a:lnR>
                      <a:noFill/>
                    </a:lnR>
                    <a:lnT>
                      <a:noFill/>
                    </a:lnT>
                    <a:lnB>
                      <a:noFill/>
                    </a:lnB>
                    <a:solidFill>
                      <a:srgbClr val="DDEBF7"/>
                    </a:solidFill>
                    <a:marL l="45720" r="45720" t="22860" b="22860"/>
                  </a:tcPr>
                </a:tc>
              </a:tr>
              <a:tr h="422275">
                <a:tc>
                  <a:txBody>
                    <a:bodyPr/>
                    <a:lstStyle/>
                    <a:p>
                      <a:r>
                        <a:rPr lang="zh-CN" sz="1400">
                          <a:solidFill>
                            <a:srgbClr val="1F2937"/>
                          </a:solidFill>
                        </a:rPr>
                        <a:t>1. 方案名称</a:t>
                      </a:r>
                    </a:p>
                  </a:txBody>
                  <a:tcPr anchor="ctr">
                    <a:lnL>
                      <a:noFill/>
                    </a:lnL>
                    <a:lnR>
                      <a:noFill/>
                    </a:lnR>
                    <a:lnT>
                      <a:noFill/>
                    </a:lnT>
                    <a:lnB>
                      <a:noFill/>
                    </a:lnB>
                    <a:noFill/>
                    <a:marL l="45720" r="45720" t="22860" b="22860"/>
                  </a:tcPr>
                </a:tc>
                <a:tc>
                  <a:txBody>
                    <a:bodyPr/>
                    <a:lstStyle/>
                    <a:p>
                      <a:r>
                        <a:rPr lang="zh-CN" sz="1400">
                          <a:solidFill>
                            <a:srgbClr val="1F2937"/>
                          </a:solidFill>
                        </a:rPr>
                        <a:t>简洁、有主题感，能体现“盐湖之变”</a:t>
                      </a:r>
                    </a:p>
                  </a:txBody>
                  <a:tcPr anchor="ctr">
                    <a:lnL>
                      <a:noFill/>
                    </a:lnL>
                    <a:lnR>
                      <a:noFill/>
                    </a:lnR>
                    <a:lnT>
                      <a:noFill/>
                    </a:lnT>
                    <a:lnB>
                      <a:noFill/>
                    </a:lnB>
                    <a:noFill/>
                    <a:marL l="45720" r="45720" t="22860" b="22860"/>
                  </a:tcPr>
                </a:tc>
              </a:tr>
              <a:tr h="422275">
                <a:tc>
                  <a:txBody>
                    <a:bodyPr/>
                    <a:lstStyle/>
                    <a:p>
                      <a:r>
                        <a:rPr lang="zh-CN" sz="1400">
                          <a:solidFill>
                            <a:srgbClr val="1F2937"/>
                          </a:solidFill>
                        </a:rPr>
                        <a:t>2. 调研目的</a:t>
                      </a:r>
                    </a:p>
                  </a:txBody>
                  <a:tcPr anchor="ctr">
                    <a:lnL>
                      <a:noFill/>
                    </a:lnL>
                    <a:lnR>
                      <a:noFill/>
                    </a:lnR>
                    <a:lnT>
                      <a:noFill/>
                    </a:lnT>
                    <a:lnB>
                      <a:noFill/>
                    </a:lnB>
                    <a:noFill/>
                    <a:marL l="45720" r="45720" t="22860" b="22860"/>
                  </a:tcPr>
                </a:tc>
                <a:tc>
                  <a:txBody>
                    <a:bodyPr/>
                    <a:lstStyle/>
                    <a:p>
                      <a:r>
                        <a:rPr lang="zh-CN" sz="1400">
                          <a:solidFill>
                            <a:srgbClr val="1F2937"/>
                          </a:solidFill>
                        </a:rPr>
                        <a:t>我们想弄清一个什么问题？</a:t>
                      </a:r>
                    </a:p>
                  </a:txBody>
                  <a:tcPr anchor="ctr">
                    <a:lnL>
                      <a:noFill/>
                    </a:lnL>
                    <a:lnR>
                      <a:noFill/>
                    </a:lnR>
                    <a:lnT>
                      <a:noFill/>
                    </a:lnT>
                    <a:lnB>
                      <a:noFill/>
                    </a:lnB>
                    <a:noFill/>
                    <a:marL l="45720" r="45720" t="22860" b="22860"/>
                  </a:tcPr>
                </a:tc>
              </a:tr>
              <a:tr h="422275">
                <a:tc>
                  <a:txBody>
                    <a:bodyPr/>
                    <a:lstStyle/>
                    <a:p>
                      <a:r>
                        <a:rPr lang="zh-CN" sz="1400">
                          <a:solidFill>
                            <a:srgbClr val="1F2937"/>
                          </a:solidFill>
                        </a:rPr>
                        <a:t>3. 调研方向</a:t>
                      </a:r>
                    </a:p>
                  </a:txBody>
                  <a:tcPr anchor="ctr">
                    <a:lnL>
                      <a:noFill/>
                    </a:lnL>
                    <a:lnR>
                      <a:noFill/>
                    </a:lnR>
                    <a:lnT>
                      <a:noFill/>
                    </a:lnT>
                    <a:lnB>
                      <a:noFill/>
                    </a:lnB>
                    <a:noFill/>
                    <a:marL l="45720" r="45720" t="22860" b="22860"/>
                  </a:tcPr>
                </a:tc>
                <a:tc>
                  <a:txBody>
                    <a:bodyPr/>
                    <a:lstStyle/>
                    <a:p>
                      <a:r>
                        <a:rPr lang="zh-CN" sz="1400">
                          <a:solidFill>
                            <a:srgbClr val="1F2937"/>
                          </a:solidFill>
                        </a:rPr>
                        <a:t>□ 生态　□ 文化　□ 经济</a:t>
                      </a:r>
                    </a:p>
                  </a:txBody>
                  <a:tcPr anchor="ctr">
                    <a:lnL>
                      <a:noFill/>
                    </a:lnL>
                    <a:lnR>
                      <a:noFill/>
                    </a:lnR>
                    <a:lnT>
                      <a:noFill/>
                    </a:lnT>
                    <a:lnB>
                      <a:noFill/>
                    </a:lnB>
                    <a:noFill/>
                    <a:marL l="45720" r="45720" t="22860" b="22860"/>
                  </a:tcPr>
                </a:tc>
              </a:tr>
              <a:tr h="422275">
                <a:tc>
                  <a:txBody>
                    <a:bodyPr/>
                    <a:lstStyle/>
                    <a:p>
                      <a:r>
                        <a:rPr lang="zh-CN" sz="1400">
                          <a:solidFill>
                            <a:srgbClr val="1F2937"/>
                          </a:solidFill>
                        </a:rPr>
                        <a:t>4. 调研对象</a:t>
                      </a:r>
                    </a:p>
                  </a:txBody>
                  <a:tcPr anchor="ctr">
                    <a:lnL>
                      <a:noFill/>
                    </a:lnL>
                    <a:lnR>
                      <a:noFill/>
                    </a:lnR>
                    <a:lnT>
                      <a:noFill/>
                    </a:lnT>
                    <a:lnB>
                      <a:noFill/>
                    </a:lnB>
                    <a:noFill/>
                    <a:marL l="45720" r="45720" t="22860" b="22860"/>
                  </a:tcPr>
                </a:tc>
                <a:tc>
                  <a:txBody>
                    <a:bodyPr/>
                    <a:lstStyle/>
                    <a:p>
                      <a:r>
                        <a:rPr lang="zh-CN" sz="1400">
                          <a:solidFill>
                            <a:srgbClr val="1F2937"/>
                          </a:solidFill>
                        </a:rPr>
                        <a:t>参考：盐湖管护人员 / 周边居民 / 景区游客 / 文旅部门工作人员</a:t>
                      </a:r>
                    </a:p>
                  </a:txBody>
                  <a:tcPr anchor="ctr">
                    <a:lnL>
                      <a:noFill/>
                    </a:lnL>
                    <a:lnR>
                      <a:noFill/>
                    </a:lnR>
                    <a:lnT>
                      <a:noFill/>
                    </a:lnT>
                    <a:lnB>
                      <a:noFill/>
                    </a:lnB>
                    <a:noFill/>
                    <a:marL l="45720" r="45720" t="22860" b="22860"/>
                  </a:tcPr>
                </a:tc>
              </a:tr>
              <a:tr h="422275">
                <a:tc>
                  <a:txBody>
                    <a:bodyPr/>
                    <a:lstStyle/>
                    <a:p>
                      <a:r>
                        <a:rPr lang="zh-CN" sz="1400">
                          <a:solidFill>
                            <a:srgbClr val="1F2937"/>
                          </a:solidFill>
                        </a:rPr>
                        <a:t>5. 调研方式</a:t>
                      </a:r>
                    </a:p>
                  </a:txBody>
                  <a:tcPr anchor="ctr">
                    <a:lnL>
                      <a:noFill/>
                    </a:lnL>
                    <a:lnR>
                      <a:noFill/>
                    </a:lnR>
                    <a:lnT>
                      <a:noFill/>
                    </a:lnT>
                    <a:lnB>
                      <a:noFill/>
                    </a:lnB>
                    <a:noFill/>
                    <a:marL l="45720" r="45720" t="22860" b="22860"/>
                  </a:tcPr>
                </a:tc>
                <a:tc>
                  <a:txBody>
                    <a:bodyPr/>
                    <a:lstStyle/>
                    <a:p>
                      <a:r>
                        <a:rPr lang="zh-CN" sz="1400">
                          <a:solidFill>
                            <a:srgbClr val="1F2937"/>
                          </a:solidFill>
                        </a:rPr>
                        <a:t>□ 现场访谈　□ 实地观察　□ 查阅官方文件、数据　□ 拍照记录</a:t>
                      </a:r>
                    </a:p>
                  </a:txBody>
                  <a:tcPr anchor="ctr">
                    <a:lnL>
                      <a:noFill/>
                    </a:lnL>
                    <a:lnR>
                      <a:noFill/>
                    </a:lnR>
                    <a:lnT>
                      <a:noFill/>
                    </a:lnT>
                    <a:lnB>
                      <a:noFill/>
                    </a:lnB>
                    <a:noFill/>
                    <a:marL l="45720" r="45720" t="22860" b="22860"/>
                  </a:tcPr>
                </a:tc>
              </a:tr>
              <a:tr h="422275">
                <a:tc>
                  <a:txBody>
                    <a:bodyPr/>
                    <a:lstStyle/>
                    <a:p>
                      <a:r>
                        <a:rPr lang="zh-CN" sz="1400">
                          <a:solidFill>
                            <a:srgbClr val="1F2937"/>
                          </a:solidFill>
                        </a:rPr>
                        <a:t>6. 成果形式</a:t>
                      </a:r>
                    </a:p>
                  </a:txBody>
                  <a:tcPr anchor="ctr">
                    <a:lnL>
                      <a:noFill/>
                    </a:lnL>
                    <a:lnR>
                      <a:noFill/>
                    </a:lnR>
                    <a:lnT>
                      <a:noFill/>
                    </a:lnT>
                    <a:lnB>
                      <a:noFill/>
                    </a:lnB>
                    <a:noFill/>
                    <a:marL l="45720" r="45720" t="22860" b="22860"/>
                  </a:tcPr>
                </a:tc>
                <a:tc>
                  <a:txBody>
                    <a:bodyPr/>
                    <a:lstStyle/>
                    <a:p>
                      <a:r>
                        <a:rPr lang="zh-CN" sz="1400">
                          <a:solidFill>
                            <a:srgbClr val="1F2937"/>
                          </a:solidFill>
                        </a:rPr>
                        <a:t>一份《家乡发展调研报告》（含事实、问题、对策）</a:t>
                      </a:r>
                    </a:p>
                  </a:txBody>
                  <a:tcPr anchor="ctr">
                    <a:lnL>
                      <a:noFill/>
                    </a:lnL>
                    <a:lnR>
                      <a:noFill/>
                    </a:lnR>
                    <a:lnT>
                      <a:noFill/>
                    </a:lnT>
                    <a:lnB>
                      <a:noFill/>
                    </a:lnB>
                    <a:noFill/>
                    <a:marL l="45720" r="45720" t="22860" b="22860"/>
                  </a:tcPr>
                </a:tc>
              </a:tr>
              <a:tr h="422275">
                <a:tc>
                  <a:txBody>
                    <a:bodyPr/>
                    <a:lstStyle/>
                    <a:p>
                      <a:r>
                        <a:rPr lang="zh-CN" sz="1400">
                          <a:solidFill>
                            <a:srgbClr val="1F2937"/>
                          </a:solidFill>
                        </a:rPr>
                        <a:t>7. 分工安排</a:t>
                      </a:r>
                    </a:p>
                  </a:txBody>
                  <a:tcPr anchor="ctr">
                    <a:lnL>
                      <a:noFill/>
                    </a:lnL>
                    <a:lnR>
                      <a:noFill/>
                    </a:lnR>
                    <a:lnT>
                      <a:noFill/>
                    </a:lnT>
                    <a:lnB>
                      <a:noFill/>
                    </a:lnB>
                    <a:noFill/>
                    <a:marL l="45720" r="45720" t="22860" b="22860"/>
                  </a:tcPr>
                </a:tc>
                <a:tc>
                  <a:txBody>
                    <a:bodyPr/>
                    <a:lstStyle/>
                    <a:p>
                      <a:r>
                        <a:rPr lang="zh-CN" sz="1400">
                          <a:solidFill>
                            <a:srgbClr val="1F2937"/>
                          </a:solidFill>
                        </a:rPr>
                        <a:t>资料员 / 记录员 / 汇报员 / 质疑员</a:t>
                      </a:r>
                    </a:p>
                  </a:txBody>
                  <a:tcPr anchor="ctr">
                    <a:lnL>
                      <a:noFill/>
                    </a:lnL>
                    <a:lnR>
                      <a:noFill/>
                    </a:lnR>
                    <a:lnT>
                      <a:noFill/>
                    </a:lnT>
                    <a:lnB>
                      <a:noFill/>
                    </a:lnB>
                    <a:noFill/>
                    <a:marL l="45720" r="45720" t="22860" b="22860"/>
                  </a:tcPr>
                </a:tc>
              </a:tr>
            </a:tbl>
          </a:graphicData>
        </a:graphic>
      </p:graphicFrame>
    </p:spTree>
  </p:cSld>
  <p:clrMapOvr>
    <a:masterClrMapping/>
  </p:clrMapOvr>
  <p:transition xmlns:p="http://schemas.openxmlformats.org/presentationml/2006/main" spd="med">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796"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797" name="hd_secbar"/>
          <p:cNvSpPr/>
          <p:nvPr/>
        </p:nvSpPr>
        <p:spPr>
          <a:xfrm>
            <a:off x="609600" y="317500"/>
            <a:ext cx="44450" cy="228600"/>
          </a:xfrm>
          <a:prstGeom prst="rect">
            <a:avLst/>
          </a:prstGeom>
          <a:gradFill rotWithShape="1">
            <a:gsLst>
              <a:gs pos="0">
                <a:srgbClr val="8E3F2E"/>
              </a:gs>
              <a:gs pos="100000">
                <a:srgbClr val="EE8A72">
                  <a:alpha val="100000"/>
                </a:srgbClr>
              </a:gs>
            </a:gsLst>
            <a:lin ang="5400000" scaled="1"/>
          </a:gradFill>
          <a:ln>
            <a:noFill/>
          </a:ln>
        </p:spPr>
        <p:txBody>
          <a:bodyPr rtlCol="0" anchor="ctr"/>
          <a:lstStyle/>
          <a:p/>
        </p:txBody>
      </p:sp>
      <p:sp>
        <p:nvSpPr>
          <p:cNvPr id="1798" name="hd_sec"/>
          <p:cNvSpPr txBox="1"/>
          <p:nvPr/>
        </p:nvSpPr>
        <p:spPr>
          <a:xfrm>
            <a:off x="736600" y="317500"/>
            <a:ext cx="3476600" cy="228600"/>
          </a:xfrm>
          <a:prstGeom prst="rect">
            <a:avLst/>
          </a:prstGeom>
        </p:spPr>
        <p:txBody>
          <a:bodyPr wrap="square" lIns="0" rIns="0" tIns="0" bIns="0"/>
          <a:lstStyle/>
          <a:p>
            <a:pPr algn="l" lvl="0"/>
            <a:r>
              <a:rPr lang="zh-CN" sz="1400" b="1">
                <a:solidFill>
                  <a:srgbClr val="8E3F2E"/>
                </a:solidFill>
                <a:latin typeface="黑体"/>
                <a:ea typeface="黑体"/>
              </a:rPr>
              <a:t>子任务三 · 拓展策展——循迹盐湖行</a:t>
            </a:r>
          </a:p>
        </p:txBody>
      </p:sp>
      <p:sp>
        <p:nvSpPr>
          <p:cNvPr id="1799"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调研报告 · 封面与分工</a:t>
            </a:r>
          </a:p>
        </p:txBody>
      </p:sp>
      <p:sp>
        <p:nvSpPr>
          <p:cNvPr id="1800" name="hd_rule2"/>
          <p:cNvSpPr/>
          <p:nvPr/>
        </p:nvSpPr>
        <p:spPr>
          <a:xfrm>
            <a:off x="558800" y="1143000"/>
            <a:ext cx="1625600" cy="44450"/>
          </a:xfrm>
          <a:prstGeom prst="rect">
            <a:avLst/>
          </a:prstGeom>
          <a:gradFill rotWithShape="1">
            <a:gsLst>
              <a:gs pos="0">
                <a:srgbClr val="8E3F2E"/>
              </a:gs>
              <a:gs pos="100000">
                <a:srgbClr val="EE8A72">
                  <a:alpha val="100000"/>
                </a:srgbClr>
              </a:gs>
            </a:gsLst>
            <a:lin ang="0" scaled="1"/>
          </a:gradFill>
          <a:ln>
            <a:noFill/>
          </a:ln>
        </p:spPr>
        <p:txBody>
          <a:bodyPr rtlCol="0" anchor="ctr"/>
          <a:lstStyle/>
          <a:p/>
        </p:txBody>
      </p:sp>
      <p:sp>
        <p:nvSpPr>
          <p:cNvPr id="1801" name="hd_rule"/>
          <p:cNvSpPr/>
          <p:nvPr/>
        </p:nvSpPr>
        <p:spPr>
          <a:xfrm>
            <a:off x="2260600" y="1158240"/>
            <a:ext cx="5867400" cy="19050"/>
          </a:xfrm>
          <a:prstGeom prst="rect">
            <a:avLst/>
          </a:prstGeom>
          <a:solidFill>
            <a:srgbClr val="EE8A72">
              <a:alpha val="40000"/>
            </a:srgbClr>
          </a:solidFill>
          <a:ln>
            <a:noFill/>
          </a:ln>
        </p:spPr>
        <p:txBody>
          <a:bodyPr rtlCol="0" anchor="ctr"/>
          <a:lstStyle/>
          <a:p/>
        </p:txBody>
      </p:sp>
      <p:cxnSp>
        <p:nvCxnSpPr>
          <p:cNvPr id="1802" name="rb_rule"/>
          <p:cNvCxnSpPr/>
          <p:nvPr/>
        </p:nvCxnSpPr>
        <p:spPr>
          <a:xfrm>
            <a:off x="8280400" y="1422400"/>
            <a:ext cx="0" cy="4267200"/>
          </a:xfrm>
          <a:prstGeom prst="straightConnector1">
            <a:avLst/>
          </a:prstGeom>
          <a:ln w="19050">
            <a:solidFill>
              <a:srgbClr val="7E9A85"/>
            </a:solidFill>
          </a:ln>
        </p:spPr>
      </p:cxnSp>
      <p:sp>
        <p:nvSpPr>
          <p:cNvPr id="1803" name="rb_chip_a"/>
          <p:cNvSpPr/>
          <p:nvPr/>
        </p:nvSpPr>
        <p:spPr>
          <a:xfrm>
            <a:off x="8229600" y="1219200"/>
            <a:ext cx="152400" cy="152400"/>
          </a:xfrm>
          <a:prstGeom prst="rect">
            <a:avLst/>
          </a:prstGeom>
          <a:gradFill rotWithShape="1">
            <a:gsLst>
              <a:gs pos="0">
                <a:srgbClr val="EE8A72"/>
              </a:gs>
              <a:gs pos="100000">
                <a:srgbClr val="8E3F2E">
                  <a:alpha val="100000"/>
                </a:srgbClr>
              </a:gs>
            </a:gsLst>
            <a:lin ang="8100000" scaled="1"/>
          </a:gradFill>
          <a:ln>
            <a:noFill/>
          </a:ln>
        </p:spPr>
        <p:txBody>
          <a:bodyPr rtlCol="0" anchor="ctr"/>
          <a:lstStyle/>
          <a:p/>
        </p:txBody>
      </p:sp>
      <p:sp>
        <p:nvSpPr>
          <p:cNvPr id="1804" name="rb_chip_b"/>
          <p:cNvSpPr/>
          <p:nvPr/>
        </p:nvSpPr>
        <p:spPr>
          <a:xfrm>
            <a:off x="8280400" y="1193800"/>
            <a:ext cx="101600" cy="101600"/>
          </a:xfrm>
          <a:prstGeom prst="rect">
            <a:avLst/>
          </a:prstGeom>
          <a:solidFill>
            <a:srgbClr val="8E3F2E"/>
          </a:solidFill>
          <a:ln>
            <a:noFill/>
          </a:ln>
        </p:spPr>
        <p:txBody>
          <a:bodyPr rtlCol="0" anchor="ctr"/>
          <a:lstStyle/>
          <a:p/>
        </p:txBody>
      </p:sp>
      <p:sp>
        <p:nvSpPr>
          <p:cNvPr id="1805"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806"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807" name="rb_tagrule"/>
          <p:cNvCxnSpPr/>
          <p:nvPr/>
        </p:nvCxnSpPr>
        <p:spPr>
          <a:xfrm>
            <a:off x="11226800" y="2260600"/>
            <a:ext cx="482600" cy="0"/>
          </a:xfrm>
          <a:prstGeom prst="straightConnector1">
            <a:avLst/>
          </a:prstGeom>
          <a:ln w="12700">
            <a:solidFill>
              <a:srgbClr val="7E9A85"/>
            </a:solidFill>
          </a:ln>
        </p:spPr>
      </p:cxnSp>
      <p:sp>
        <p:nvSpPr>
          <p:cNvPr id="1808"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E8A72"/>
                </a:solidFill>
                <a:latin typeface="黑体"/>
                <a:ea typeface="黑体"/>
              </a:rPr>
              <a:t>26 / 42</a:t>
            </a:r>
          </a:p>
        </p:txBody>
      </p:sp>
      <p:sp>
        <p:nvSpPr>
          <p:cNvPr id="1809" name="lead_sh"/>
          <p:cNvSpPr/>
          <p:nvPr/>
        </p:nvSpPr>
        <p:spPr>
          <a:xfrm>
            <a:off x="584200" y="1346200"/>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810" name="lead"/>
          <p:cNvSpPr/>
          <p:nvPr/>
        </p:nvSpPr>
        <p:spPr>
          <a:xfrm>
            <a:off x="558800" y="1295400"/>
            <a:ext cx="7569200" cy="618744"/>
          </a:xfrm>
          <a:prstGeom prst="roundRect">
            <a:avLst>
              <a:gd name="adj" fmla="val 8000"/>
            </a:avLst>
          </a:prstGeom>
          <a:solidFill>
            <a:srgbClr val="E9EFE9"/>
          </a:solidFill>
          <a:ln w="15875">
            <a:solidFill>
              <a:srgbClr val="8E3F2E"/>
            </a:solidFill>
          </a:ln>
        </p:spPr>
        <p:txBody>
          <a:bodyPr rtlCol="0" anchor="ctr"/>
          <a:lstStyle/>
          <a:p/>
        </p:txBody>
      </p:sp>
      <p:sp>
        <p:nvSpPr>
          <p:cNvPr id="1811" name="lead_cap"/>
          <p:cNvSpPr/>
          <p:nvPr/>
        </p:nvSpPr>
        <p:spPr>
          <a:xfrm>
            <a:off x="647700" y="1371600"/>
            <a:ext cx="50800" cy="466344"/>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812" name="lead_t"/>
          <p:cNvSpPr txBox="1"/>
          <p:nvPr/>
        </p:nvSpPr>
        <p:spPr>
          <a:xfrm>
            <a:off x="711200" y="1384300"/>
            <a:ext cx="7264400" cy="440944"/>
          </a:xfrm>
          <a:prstGeom prst="rect">
            <a:avLst/>
          </a:prstGeom>
        </p:spPr>
        <p:txBody>
          <a:bodyPr wrap="square" lIns="0" rIns="0" tIns="0" bIns="0"/>
          <a:lstStyle/>
          <a:p>
            <a:pPr algn="l" lvl="0"/>
            <a:r>
              <a:rPr lang="zh-CN" sz="1600">
                <a:solidFill>
                  <a:srgbClr val="1D2B23"/>
                </a:solidFill>
                <a:latin typeface="楷体"/>
                <a:ea typeface="楷体"/>
              </a:rPr>
              <a:t>《家乡发展调研报告》——先写好封面，让报告站得住。</a:t>
            </a:r>
          </a:p>
        </p:txBody>
      </p:sp>
      <p:sp>
        <p:nvSpPr>
          <p:cNvPr id="1813" name="p26t_sh"/>
          <p:cNvSpPr/>
          <p:nvPr/>
        </p:nvSpPr>
        <p:spPr>
          <a:xfrm>
            <a:off x="584200" y="2218944"/>
            <a:ext cx="7518400" cy="705612"/>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814" name="p26t"/>
          <p:cNvSpPr/>
          <p:nvPr/>
        </p:nvSpPr>
        <p:spPr>
          <a:xfrm>
            <a:off x="558800" y="2168144"/>
            <a:ext cx="7569200" cy="705612"/>
          </a:xfrm>
          <a:prstGeom prst="roundRect">
            <a:avLst>
              <a:gd name="adj" fmla="val 8000"/>
            </a:avLst>
          </a:prstGeom>
          <a:solidFill>
            <a:srgbClr val="E9EFE9"/>
          </a:solidFill>
          <a:ln w="15875">
            <a:solidFill>
              <a:srgbClr val="8E3F2E"/>
            </a:solidFill>
          </a:ln>
        </p:spPr>
        <p:txBody>
          <a:bodyPr rtlCol="0" anchor="ctr"/>
          <a:lstStyle/>
          <a:p/>
        </p:txBody>
      </p:sp>
      <p:sp>
        <p:nvSpPr>
          <p:cNvPr id="1815" name="p26t_le"/>
          <p:cNvSpPr/>
          <p:nvPr/>
        </p:nvSpPr>
        <p:spPr>
          <a:xfrm>
            <a:off x="584200" y="2282444"/>
            <a:ext cx="44450" cy="477012"/>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sp>
        <p:nvSpPr>
          <p:cNvPr id="1816" name="p26t_b"/>
          <p:cNvSpPr txBox="1"/>
          <p:nvPr/>
        </p:nvSpPr>
        <p:spPr>
          <a:xfrm>
            <a:off x="711200" y="2282444"/>
            <a:ext cx="7264400" cy="400812"/>
          </a:xfrm>
          <a:prstGeom prst="rect">
            <a:avLst/>
          </a:prstGeom>
        </p:spPr>
        <p:txBody>
          <a:bodyPr wrap="square" lIns="0" rIns="0" tIns="0" bIns="0"/>
          <a:lstStyle/>
          <a:p>
            <a:pPr algn="ctr" lvl="0"/>
            <a:r>
              <a:rPr lang="zh-CN" sz="1800">
                <a:solidFill>
                  <a:srgbClr val="2E4438"/>
                </a:solidFill>
                <a:latin typeface="楷体"/>
                <a:ea typeface="楷体"/>
              </a:rPr>
              <a:t>《＿＿＿＿＿＿发展调研报告》</a:t>
            </a:r>
          </a:p>
        </p:txBody>
      </p:sp>
      <p:sp>
        <p:nvSpPr>
          <p:cNvPr id="1817" name="p26a_sh"/>
          <p:cNvSpPr/>
          <p:nvPr/>
        </p:nvSpPr>
        <p:spPr>
          <a:xfrm>
            <a:off x="584200" y="3153156"/>
            <a:ext cx="3632200" cy="1747774"/>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818" name="p26a"/>
          <p:cNvSpPr/>
          <p:nvPr/>
        </p:nvSpPr>
        <p:spPr>
          <a:xfrm>
            <a:off x="558800" y="3102356"/>
            <a:ext cx="3683000" cy="1747774"/>
          </a:xfrm>
          <a:prstGeom prst="roundRect">
            <a:avLst>
              <a:gd name="adj" fmla="val 8000"/>
            </a:avLst>
          </a:prstGeom>
          <a:solidFill>
            <a:srgbClr val="E9EFE9"/>
          </a:solidFill>
          <a:ln w="15875">
            <a:solidFill>
              <a:srgbClr val="8E3F2E"/>
            </a:solidFill>
          </a:ln>
        </p:spPr>
        <p:txBody>
          <a:bodyPr rtlCol="0" anchor="ctr"/>
          <a:lstStyle/>
          <a:p/>
        </p:txBody>
      </p:sp>
      <p:sp>
        <p:nvSpPr>
          <p:cNvPr id="1819" name="p26a_le"/>
          <p:cNvSpPr/>
          <p:nvPr/>
        </p:nvSpPr>
        <p:spPr>
          <a:xfrm>
            <a:off x="584200" y="3216656"/>
            <a:ext cx="44450" cy="1519174"/>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sp>
        <p:nvSpPr>
          <p:cNvPr id="1820" name="p26a_t"/>
          <p:cNvSpPr txBox="1"/>
          <p:nvPr/>
        </p:nvSpPr>
        <p:spPr>
          <a:xfrm>
            <a:off x="711200" y="3216656"/>
            <a:ext cx="3378200" cy="374142"/>
          </a:xfrm>
          <a:prstGeom prst="rect">
            <a:avLst/>
          </a:prstGeom>
        </p:spPr>
        <p:txBody>
          <a:bodyPr wrap="square" lIns="0" rIns="0" tIns="0" bIns="0"/>
          <a:lstStyle/>
          <a:p>
            <a:pPr algn="l" lvl="0"/>
            <a:r>
              <a:rPr lang="zh-CN" sz="1700" b="1">
                <a:solidFill>
                  <a:srgbClr val="8E3F2E"/>
                </a:solidFill>
                <a:latin typeface="黑体"/>
                <a:ea typeface="黑体"/>
              </a:rPr>
              <a:t>报告基本信息</a:t>
            </a:r>
          </a:p>
        </p:txBody>
      </p:sp>
      <p:sp>
        <p:nvSpPr>
          <p:cNvPr id="1821" name="p26a_b"/>
          <p:cNvSpPr txBox="1"/>
          <p:nvPr/>
        </p:nvSpPr>
        <p:spPr>
          <a:xfrm>
            <a:off x="711200" y="3717798"/>
            <a:ext cx="3378200" cy="941832"/>
          </a:xfrm>
          <a:prstGeom prst="rect">
            <a:avLst/>
          </a:prstGeom>
        </p:spPr>
        <p:txBody>
          <a:bodyPr wrap="square" lIns="0" rIns="0" tIns="0" bIns="0"/>
          <a:lstStyle/>
          <a:p>
            <a:pPr algn="l" lvl="0"/>
            <a:r>
              <a:rPr lang="zh-CN" sz="1600">
                <a:solidFill>
                  <a:srgbClr val="2E4438"/>
                </a:solidFill>
                <a:latin typeface="楷体"/>
                <a:ea typeface="楷体"/>
              </a:rPr>
              <a:t>调研小组：＿＿＿＿＿</a:t>
            </a:r>
          </a:p>
          <a:p>
            <a:pPr algn="l" lvl="0"/>
            <a:r>
              <a:rPr lang="zh-CN" sz="1600">
                <a:solidFill>
                  <a:srgbClr val="2E4438"/>
                </a:solidFill>
                <a:latin typeface="楷体"/>
                <a:ea typeface="楷体"/>
              </a:rPr>
              <a:t>组　长：＿＿＿＿＿</a:t>
            </a:r>
          </a:p>
          <a:p>
            <a:pPr algn="l" lvl="0"/>
            <a:r>
              <a:rPr lang="zh-CN" sz="1600">
                <a:solidFill>
                  <a:srgbClr val="2E4438"/>
                </a:solidFill>
                <a:latin typeface="楷体"/>
                <a:ea typeface="楷体"/>
              </a:rPr>
              <a:t>日　期：＿＿＿＿＿</a:t>
            </a:r>
          </a:p>
        </p:txBody>
      </p:sp>
      <p:sp>
        <p:nvSpPr>
          <p:cNvPr id="1822" name="p26b_sh"/>
          <p:cNvSpPr/>
          <p:nvPr/>
        </p:nvSpPr>
        <p:spPr>
          <a:xfrm>
            <a:off x="4470400" y="3153156"/>
            <a:ext cx="3632200" cy="2036318"/>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823" name="p26b"/>
          <p:cNvSpPr/>
          <p:nvPr/>
        </p:nvSpPr>
        <p:spPr>
          <a:xfrm>
            <a:off x="4445000" y="3102356"/>
            <a:ext cx="3683000" cy="2036318"/>
          </a:xfrm>
          <a:prstGeom prst="roundRect">
            <a:avLst>
              <a:gd name="adj" fmla="val 8000"/>
            </a:avLst>
          </a:prstGeom>
          <a:solidFill>
            <a:srgbClr val="E9EFE9"/>
          </a:solidFill>
          <a:ln w="15875">
            <a:solidFill>
              <a:srgbClr val="8E3F2E"/>
            </a:solidFill>
          </a:ln>
        </p:spPr>
        <p:txBody>
          <a:bodyPr rtlCol="0" anchor="ctr"/>
          <a:lstStyle/>
          <a:p/>
        </p:txBody>
      </p:sp>
      <p:sp>
        <p:nvSpPr>
          <p:cNvPr id="1824" name="p26b_le"/>
          <p:cNvSpPr/>
          <p:nvPr/>
        </p:nvSpPr>
        <p:spPr>
          <a:xfrm>
            <a:off x="4470400" y="3216656"/>
            <a:ext cx="44450" cy="1807718"/>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sp>
        <p:nvSpPr>
          <p:cNvPr id="1825" name="p26b_t"/>
          <p:cNvSpPr txBox="1"/>
          <p:nvPr/>
        </p:nvSpPr>
        <p:spPr>
          <a:xfrm>
            <a:off x="4597400" y="3216656"/>
            <a:ext cx="3378200" cy="374142"/>
          </a:xfrm>
          <a:prstGeom prst="rect">
            <a:avLst/>
          </a:prstGeom>
        </p:spPr>
        <p:txBody>
          <a:bodyPr wrap="square" lIns="0" rIns="0" tIns="0" bIns="0"/>
          <a:lstStyle/>
          <a:p>
            <a:pPr algn="l" lvl="0"/>
            <a:r>
              <a:rPr lang="zh-CN" sz="1700" b="1">
                <a:solidFill>
                  <a:srgbClr val="8E3F2E"/>
                </a:solidFill>
                <a:latin typeface="黑体"/>
                <a:ea typeface="黑体"/>
              </a:rPr>
              <a:t>组员及分工</a:t>
            </a:r>
          </a:p>
        </p:txBody>
      </p:sp>
      <p:sp>
        <p:nvSpPr>
          <p:cNvPr id="1826" name="p26b_b"/>
          <p:cNvSpPr txBox="1"/>
          <p:nvPr/>
        </p:nvSpPr>
        <p:spPr>
          <a:xfrm>
            <a:off x="4597400" y="3717798"/>
            <a:ext cx="3378200" cy="1230376"/>
          </a:xfrm>
          <a:prstGeom prst="rect">
            <a:avLst/>
          </a:prstGeom>
        </p:spPr>
        <p:txBody>
          <a:bodyPr wrap="square" lIns="0" rIns="0" tIns="0" bIns="0"/>
          <a:lstStyle/>
          <a:p>
            <a:pPr algn="l" lvl="0"/>
            <a:r>
              <a:rPr lang="zh-CN" sz="1600">
                <a:solidFill>
                  <a:srgbClr val="2E4438"/>
                </a:solidFill>
                <a:latin typeface="楷体"/>
                <a:ea typeface="楷体"/>
              </a:rPr>
              <a:t>资料员：查与存</a:t>
            </a:r>
          </a:p>
          <a:p>
            <a:pPr algn="l" lvl="0"/>
            <a:r>
              <a:rPr lang="zh-CN" sz="1600">
                <a:solidFill>
                  <a:srgbClr val="2E4438"/>
                </a:solidFill>
                <a:latin typeface="楷体"/>
                <a:ea typeface="楷体"/>
              </a:rPr>
              <a:t>记录员：记与整</a:t>
            </a:r>
          </a:p>
          <a:p>
            <a:pPr algn="l" lvl="0"/>
            <a:r>
              <a:rPr lang="zh-CN" sz="1600">
                <a:solidFill>
                  <a:srgbClr val="2E4438"/>
                </a:solidFill>
                <a:latin typeface="楷体"/>
                <a:ea typeface="楷体"/>
              </a:rPr>
              <a:t>汇报员：讲与答</a:t>
            </a:r>
          </a:p>
          <a:p>
            <a:pPr algn="l" lvl="0"/>
            <a:r>
              <a:rPr lang="zh-CN" sz="1600">
                <a:solidFill>
                  <a:srgbClr val="2E4438"/>
                </a:solidFill>
                <a:latin typeface="楷体"/>
                <a:ea typeface="楷体"/>
              </a:rPr>
              <a:t>质疑员：问与追</a:t>
            </a:r>
          </a:p>
        </p:txBody>
      </p:sp>
    </p:spTree>
  </p:cSld>
  <p:clrMapOvr>
    <a:masterClrMapping/>
  </p:clrMapOvr>
  <p:transition xmlns:p="http://schemas.openxmlformats.org/presentationml/2006/main" spd="med">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827"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828" name="hd_secbar"/>
          <p:cNvSpPr/>
          <p:nvPr/>
        </p:nvSpPr>
        <p:spPr>
          <a:xfrm>
            <a:off x="609600" y="317500"/>
            <a:ext cx="44450" cy="228600"/>
          </a:xfrm>
          <a:prstGeom prst="rect">
            <a:avLst/>
          </a:prstGeom>
          <a:gradFill rotWithShape="1">
            <a:gsLst>
              <a:gs pos="0">
                <a:srgbClr val="8E3F2E"/>
              </a:gs>
              <a:gs pos="100000">
                <a:srgbClr val="EE8A72">
                  <a:alpha val="100000"/>
                </a:srgbClr>
              </a:gs>
            </a:gsLst>
            <a:lin ang="5400000" scaled="1"/>
          </a:gradFill>
          <a:ln>
            <a:noFill/>
          </a:ln>
        </p:spPr>
        <p:txBody>
          <a:bodyPr rtlCol="0" anchor="ctr"/>
          <a:lstStyle/>
          <a:p/>
        </p:txBody>
      </p:sp>
      <p:sp>
        <p:nvSpPr>
          <p:cNvPr id="1829" name="hd_sec"/>
          <p:cNvSpPr txBox="1"/>
          <p:nvPr/>
        </p:nvSpPr>
        <p:spPr>
          <a:xfrm>
            <a:off x="736600" y="317500"/>
            <a:ext cx="3476600" cy="228600"/>
          </a:xfrm>
          <a:prstGeom prst="rect">
            <a:avLst/>
          </a:prstGeom>
        </p:spPr>
        <p:txBody>
          <a:bodyPr wrap="square" lIns="0" rIns="0" tIns="0" bIns="0"/>
          <a:lstStyle/>
          <a:p>
            <a:pPr algn="l" lvl="0"/>
            <a:r>
              <a:rPr lang="zh-CN" sz="1400" b="1">
                <a:solidFill>
                  <a:srgbClr val="8E3F2E"/>
                </a:solidFill>
                <a:latin typeface="黑体"/>
                <a:ea typeface="黑体"/>
              </a:rPr>
              <a:t>子任务三 · 拓展策展——循迹盐湖行</a:t>
            </a:r>
          </a:p>
        </p:txBody>
      </p:sp>
      <p:sp>
        <p:nvSpPr>
          <p:cNvPr id="1830"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调研报告 · 七个部分</a:t>
            </a:r>
          </a:p>
        </p:txBody>
      </p:sp>
      <p:sp>
        <p:nvSpPr>
          <p:cNvPr id="1831" name="hd_rule2"/>
          <p:cNvSpPr/>
          <p:nvPr/>
        </p:nvSpPr>
        <p:spPr>
          <a:xfrm>
            <a:off x="558800" y="1143000"/>
            <a:ext cx="1625600" cy="44450"/>
          </a:xfrm>
          <a:prstGeom prst="rect">
            <a:avLst/>
          </a:prstGeom>
          <a:gradFill rotWithShape="1">
            <a:gsLst>
              <a:gs pos="0">
                <a:srgbClr val="8E3F2E"/>
              </a:gs>
              <a:gs pos="100000">
                <a:srgbClr val="EE8A72">
                  <a:alpha val="100000"/>
                </a:srgbClr>
              </a:gs>
            </a:gsLst>
            <a:lin ang="0" scaled="1"/>
          </a:gradFill>
          <a:ln>
            <a:noFill/>
          </a:ln>
        </p:spPr>
        <p:txBody>
          <a:bodyPr rtlCol="0" anchor="ctr"/>
          <a:lstStyle/>
          <a:p/>
        </p:txBody>
      </p:sp>
      <p:sp>
        <p:nvSpPr>
          <p:cNvPr id="1832" name="hd_rule"/>
          <p:cNvSpPr/>
          <p:nvPr/>
        </p:nvSpPr>
        <p:spPr>
          <a:xfrm>
            <a:off x="2260600" y="1158240"/>
            <a:ext cx="5867400" cy="19050"/>
          </a:xfrm>
          <a:prstGeom prst="rect">
            <a:avLst/>
          </a:prstGeom>
          <a:solidFill>
            <a:srgbClr val="EE8A72">
              <a:alpha val="40000"/>
            </a:srgbClr>
          </a:solidFill>
          <a:ln>
            <a:noFill/>
          </a:ln>
        </p:spPr>
        <p:txBody>
          <a:bodyPr rtlCol="0" anchor="ctr"/>
          <a:lstStyle/>
          <a:p/>
        </p:txBody>
      </p:sp>
      <p:cxnSp>
        <p:nvCxnSpPr>
          <p:cNvPr id="1833" name="rb_rule"/>
          <p:cNvCxnSpPr/>
          <p:nvPr/>
        </p:nvCxnSpPr>
        <p:spPr>
          <a:xfrm>
            <a:off x="8280400" y="1422400"/>
            <a:ext cx="0" cy="4267200"/>
          </a:xfrm>
          <a:prstGeom prst="straightConnector1">
            <a:avLst/>
          </a:prstGeom>
          <a:ln w="19050">
            <a:solidFill>
              <a:srgbClr val="7E9A85"/>
            </a:solidFill>
          </a:ln>
        </p:spPr>
      </p:cxnSp>
      <p:sp>
        <p:nvSpPr>
          <p:cNvPr id="1834" name="rb_chip_a"/>
          <p:cNvSpPr/>
          <p:nvPr/>
        </p:nvSpPr>
        <p:spPr>
          <a:xfrm>
            <a:off x="8229600" y="1219200"/>
            <a:ext cx="152400" cy="152400"/>
          </a:xfrm>
          <a:prstGeom prst="rect">
            <a:avLst/>
          </a:prstGeom>
          <a:gradFill rotWithShape="1">
            <a:gsLst>
              <a:gs pos="0">
                <a:srgbClr val="EE8A72"/>
              </a:gs>
              <a:gs pos="100000">
                <a:srgbClr val="8E3F2E">
                  <a:alpha val="100000"/>
                </a:srgbClr>
              </a:gs>
            </a:gsLst>
            <a:lin ang="8100000" scaled="1"/>
          </a:gradFill>
          <a:ln>
            <a:noFill/>
          </a:ln>
        </p:spPr>
        <p:txBody>
          <a:bodyPr rtlCol="0" anchor="ctr"/>
          <a:lstStyle/>
          <a:p/>
        </p:txBody>
      </p:sp>
      <p:sp>
        <p:nvSpPr>
          <p:cNvPr id="1835" name="rb_chip_b"/>
          <p:cNvSpPr/>
          <p:nvPr/>
        </p:nvSpPr>
        <p:spPr>
          <a:xfrm>
            <a:off x="8280400" y="1193800"/>
            <a:ext cx="101600" cy="101600"/>
          </a:xfrm>
          <a:prstGeom prst="rect">
            <a:avLst/>
          </a:prstGeom>
          <a:solidFill>
            <a:srgbClr val="8E3F2E"/>
          </a:solidFill>
          <a:ln>
            <a:noFill/>
          </a:ln>
        </p:spPr>
        <p:txBody>
          <a:bodyPr rtlCol="0" anchor="ctr"/>
          <a:lstStyle/>
          <a:p/>
        </p:txBody>
      </p:sp>
      <p:sp>
        <p:nvSpPr>
          <p:cNvPr id="1836"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837"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838" name="rb_tagrule"/>
          <p:cNvCxnSpPr/>
          <p:nvPr/>
        </p:nvCxnSpPr>
        <p:spPr>
          <a:xfrm>
            <a:off x="11226800" y="2260600"/>
            <a:ext cx="482600" cy="0"/>
          </a:xfrm>
          <a:prstGeom prst="straightConnector1">
            <a:avLst/>
          </a:prstGeom>
          <a:ln w="12700">
            <a:solidFill>
              <a:srgbClr val="7E9A85"/>
            </a:solidFill>
          </a:ln>
        </p:spPr>
      </p:cxnSp>
      <p:sp>
        <p:nvSpPr>
          <p:cNvPr id="1839"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E8A72"/>
                </a:solidFill>
                <a:latin typeface="黑体"/>
                <a:ea typeface="黑体"/>
              </a:rPr>
              <a:t>27 / 42</a:t>
            </a:r>
          </a:p>
        </p:txBody>
      </p:sp>
      <p:sp>
        <p:nvSpPr>
          <p:cNvPr id="1840" name="lead_sh"/>
          <p:cNvSpPr/>
          <p:nvPr/>
        </p:nvSpPr>
        <p:spPr>
          <a:xfrm>
            <a:off x="584200" y="1346200"/>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841" name="lead"/>
          <p:cNvSpPr/>
          <p:nvPr/>
        </p:nvSpPr>
        <p:spPr>
          <a:xfrm>
            <a:off x="558800" y="1295400"/>
            <a:ext cx="7569200" cy="618744"/>
          </a:xfrm>
          <a:prstGeom prst="roundRect">
            <a:avLst>
              <a:gd name="adj" fmla="val 8000"/>
            </a:avLst>
          </a:prstGeom>
          <a:solidFill>
            <a:srgbClr val="E9EFE9"/>
          </a:solidFill>
          <a:ln w="15875">
            <a:solidFill>
              <a:srgbClr val="8E3F2E"/>
            </a:solidFill>
          </a:ln>
        </p:spPr>
        <p:txBody>
          <a:bodyPr rtlCol="0" anchor="ctr"/>
          <a:lstStyle/>
          <a:p/>
        </p:txBody>
      </p:sp>
      <p:sp>
        <p:nvSpPr>
          <p:cNvPr id="1842" name="lead_cap"/>
          <p:cNvSpPr/>
          <p:nvPr/>
        </p:nvSpPr>
        <p:spPr>
          <a:xfrm>
            <a:off x="647700" y="1371600"/>
            <a:ext cx="50800" cy="466344"/>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843" name="lead_t"/>
          <p:cNvSpPr txBox="1"/>
          <p:nvPr/>
        </p:nvSpPr>
        <p:spPr>
          <a:xfrm>
            <a:off x="711200" y="1384300"/>
            <a:ext cx="7264400" cy="440944"/>
          </a:xfrm>
          <a:prstGeom prst="rect">
            <a:avLst/>
          </a:prstGeom>
        </p:spPr>
        <p:txBody>
          <a:bodyPr wrap="square" lIns="0" rIns="0" tIns="0" bIns="0"/>
          <a:lstStyle/>
          <a:p>
            <a:pPr algn="l" lvl="0"/>
            <a:r>
              <a:rPr lang="zh-CN" sz="1600">
                <a:solidFill>
                  <a:srgbClr val="1D2B23"/>
                </a:solidFill>
                <a:latin typeface="楷体"/>
                <a:ea typeface="楷体"/>
              </a:rPr>
              <a:t>《家乡发展调研报告》——七个部分，缺一项都不完整。</a:t>
            </a:r>
          </a:p>
        </p:txBody>
      </p:sp>
      <p:sp>
        <p:nvSpPr>
          <p:cNvPr id="1844" name="p27r0_sh"/>
          <p:cNvSpPr/>
          <p:nvPr/>
        </p:nvSpPr>
        <p:spPr>
          <a:xfrm>
            <a:off x="584200" y="2142744"/>
            <a:ext cx="7518400" cy="4572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845" name="p27r0"/>
          <p:cNvSpPr/>
          <p:nvPr/>
        </p:nvSpPr>
        <p:spPr>
          <a:xfrm>
            <a:off x="558800" y="2091944"/>
            <a:ext cx="7569200" cy="457200"/>
          </a:xfrm>
          <a:prstGeom prst="roundRect">
            <a:avLst>
              <a:gd name="adj" fmla="val 8000"/>
            </a:avLst>
          </a:prstGeom>
          <a:solidFill>
            <a:srgbClr val="E9EFE9"/>
          </a:solidFill>
          <a:ln w="15875">
            <a:solidFill>
              <a:srgbClr val="8E3F2E"/>
            </a:solidFill>
          </a:ln>
        </p:spPr>
        <p:txBody>
          <a:bodyPr rtlCol="0" anchor="ctr"/>
          <a:lstStyle/>
          <a:p/>
        </p:txBody>
      </p:sp>
      <p:sp>
        <p:nvSpPr>
          <p:cNvPr id="1846" name="p27r0_cap"/>
          <p:cNvSpPr/>
          <p:nvPr/>
        </p:nvSpPr>
        <p:spPr>
          <a:xfrm>
            <a:off x="647700" y="2168144"/>
            <a:ext cx="50800" cy="3048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847" name="p27r0_t"/>
          <p:cNvSpPr txBox="1"/>
          <p:nvPr/>
        </p:nvSpPr>
        <p:spPr>
          <a:xfrm>
            <a:off x="711200" y="2180844"/>
            <a:ext cx="7264400" cy="279400"/>
          </a:xfrm>
          <a:prstGeom prst="rect">
            <a:avLst/>
          </a:prstGeom>
        </p:spPr>
        <p:txBody>
          <a:bodyPr wrap="square" lIns="0" rIns="0" tIns="0" bIns="0"/>
          <a:lstStyle/>
          <a:p>
            <a:pPr algn="l" lvl="0"/>
            <a:r>
              <a:rPr lang="zh-CN" sz="1400">
                <a:solidFill>
                  <a:srgbClr val="1D2B23"/>
                </a:solidFill>
                <a:latin typeface="楷体"/>
                <a:ea typeface="楷体"/>
              </a:rPr>
              <a:t>一、方案摘要｜调研目的、对象、内容、方式。</a:t>
            </a:r>
          </a:p>
        </p:txBody>
      </p:sp>
      <p:sp>
        <p:nvSpPr>
          <p:cNvPr id="1848" name="p27r1_sh"/>
          <p:cNvSpPr/>
          <p:nvPr/>
        </p:nvSpPr>
        <p:spPr>
          <a:xfrm>
            <a:off x="584200" y="2638044"/>
            <a:ext cx="7518400" cy="4572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849" name="p27r1"/>
          <p:cNvSpPr/>
          <p:nvPr/>
        </p:nvSpPr>
        <p:spPr>
          <a:xfrm>
            <a:off x="558800" y="2587244"/>
            <a:ext cx="7569200" cy="457200"/>
          </a:xfrm>
          <a:prstGeom prst="roundRect">
            <a:avLst>
              <a:gd name="adj" fmla="val 8000"/>
            </a:avLst>
          </a:prstGeom>
          <a:solidFill>
            <a:srgbClr val="E9EFE9"/>
          </a:solidFill>
          <a:ln w="15875">
            <a:solidFill>
              <a:srgbClr val="8E3F2E"/>
            </a:solidFill>
          </a:ln>
        </p:spPr>
        <p:txBody>
          <a:bodyPr rtlCol="0" anchor="ctr"/>
          <a:lstStyle/>
          <a:p/>
        </p:txBody>
      </p:sp>
      <p:sp>
        <p:nvSpPr>
          <p:cNvPr id="1850" name="p27r1_cap"/>
          <p:cNvSpPr/>
          <p:nvPr/>
        </p:nvSpPr>
        <p:spPr>
          <a:xfrm>
            <a:off x="647700" y="2663444"/>
            <a:ext cx="50800" cy="3048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851" name="p27r1_t"/>
          <p:cNvSpPr txBox="1"/>
          <p:nvPr/>
        </p:nvSpPr>
        <p:spPr>
          <a:xfrm>
            <a:off x="711200" y="2676144"/>
            <a:ext cx="7264400" cy="279400"/>
          </a:xfrm>
          <a:prstGeom prst="rect">
            <a:avLst/>
          </a:prstGeom>
        </p:spPr>
        <p:txBody>
          <a:bodyPr wrap="square" lIns="0" rIns="0" tIns="0" bIns="0"/>
          <a:lstStyle/>
          <a:p>
            <a:pPr algn="l" lvl="0"/>
            <a:r>
              <a:rPr lang="zh-CN" sz="1400">
                <a:solidFill>
                  <a:srgbClr val="1D2B23"/>
                </a:solidFill>
                <a:latin typeface="楷体"/>
                <a:ea typeface="楷体"/>
              </a:rPr>
              <a:t>二、调研过程｜时间、路线、走访对象与记录情况。</a:t>
            </a:r>
          </a:p>
        </p:txBody>
      </p:sp>
      <p:sp>
        <p:nvSpPr>
          <p:cNvPr id="1852" name="p27r2_sh"/>
          <p:cNvSpPr/>
          <p:nvPr/>
        </p:nvSpPr>
        <p:spPr>
          <a:xfrm>
            <a:off x="584200" y="3133344"/>
            <a:ext cx="7518400" cy="4572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853" name="p27r2"/>
          <p:cNvSpPr/>
          <p:nvPr/>
        </p:nvSpPr>
        <p:spPr>
          <a:xfrm>
            <a:off x="558800" y="3082544"/>
            <a:ext cx="7569200" cy="457200"/>
          </a:xfrm>
          <a:prstGeom prst="roundRect">
            <a:avLst>
              <a:gd name="adj" fmla="val 8000"/>
            </a:avLst>
          </a:prstGeom>
          <a:solidFill>
            <a:srgbClr val="E9EFE9"/>
          </a:solidFill>
          <a:ln w="15875">
            <a:solidFill>
              <a:srgbClr val="8E3F2E"/>
            </a:solidFill>
          </a:ln>
        </p:spPr>
        <p:txBody>
          <a:bodyPr rtlCol="0" anchor="ctr"/>
          <a:lstStyle/>
          <a:p/>
        </p:txBody>
      </p:sp>
      <p:sp>
        <p:nvSpPr>
          <p:cNvPr id="1854" name="p27r2_cap"/>
          <p:cNvSpPr/>
          <p:nvPr/>
        </p:nvSpPr>
        <p:spPr>
          <a:xfrm>
            <a:off x="647700" y="3158744"/>
            <a:ext cx="50800" cy="3048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855" name="p27r2_t"/>
          <p:cNvSpPr txBox="1"/>
          <p:nvPr/>
        </p:nvSpPr>
        <p:spPr>
          <a:xfrm>
            <a:off x="711200" y="3171444"/>
            <a:ext cx="7264400" cy="279400"/>
          </a:xfrm>
          <a:prstGeom prst="rect">
            <a:avLst/>
          </a:prstGeom>
        </p:spPr>
        <p:txBody>
          <a:bodyPr wrap="square" lIns="0" rIns="0" tIns="0" bIns="0"/>
          <a:lstStyle/>
          <a:p>
            <a:pPr algn="l" lvl="0"/>
            <a:r>
              <a:rPr lang="zh-CN" sz="1400">
                <a:solidFill>
                  <a:srgbClr val="1D2B23"/>
                </a:solidFill>
                <a:latin typeface="楷体"/>
                <a:ea typeface="楷体"/>
              </a:rPr>
              <a:t>三、变化核心｜事实与数据，把变了什么说清楚。</a:t>
            </a:r>
          </a:p>
        </p:txBody>
      </p:sp>
      <p:sp>
        <p:nvSpPr>
          <p:cNvPr id="1856" name="p27r3_sh"/>
          <p:cNvSpPr/>
          <p:nvPr/>
        </p:nvSpPr>
        <p:spPr>
          <a:xfrm>
            <a:off x="584200" y="3628644"/>
            <a:ext cx="7518400" cy="4572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857" name="p27r3"/>
          <p:cNvSpPr/>
          <p:nvPr/>
        </p:nvSpPr>
        <p:spPr>
          <a:xfrm>
            <a:off x="558800" y="3577844"/>
            <a:ext cx="7569200" cy="457200"/>
          </a:xfrm>
          <a:prstGeom prst="roundRect">
            <a:avLst>
              <a:gd name="adj" fmla="val 8000"/>
            </a:avLst>
          </a:prstGeom>
          <a:solidFill>
            <a:srgbClr val="E9EFE9"/>
          </a:solidFill>
          <a:ln w="15875">
            <a:solidFill>
              <a:srgbClr val="8E3F2E"/>
            </a:solidFill>
          </a:ln>
        </p:spPr>
        <p:txBody>
          <a:bodyPr rtlCol="0" anchor="ctr"/>
          <a:lstStyle/>
          <a:p/>
        </p:txBody>
      </p:sp>
      <p:sp>
        <p:nvSpPr>
          <p:cNvPr id="1858" name="p27r3_cap"/>
          <p:cNvSpPr/>
          <p:nvPr/>
        </p:nvSpPr>
        <p:spPr>
          <a:xfrm>
            <a:off x="647700" y="3654044"/>
            <a:ext cx="50800" cy="3048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859" name="p27r3_t"/>
          <p:cNvSpPr txBox="1"/>
          <p:nvPr/>
        </p:nvSpPr>
        <p:spPr>
          <a:xfrm>
            <a:off x="711200" y="3666744"/>
            <a:ext cx="7264400" cy="279400"/>
          </a:xfrm>
          <a:prstGeom prst="rect">
            <a:avLst/>
          </a:prstGeom>
        </p:spPr>
        <p:txBody>
          <a:bodyPr wrap="square" lIns="0" rIns="0" tIns="0" bIns="0"/>
          <a:lstStyle/>
          <a:p>
            <a:pPr algn="l" lvl="0"/>
            <a:r>
              <a:rPr lang="zh-CN" sz="1400">
                <a:solidFill>
                  <a:srgbClr val="1D2B23"/>
                </a:solidFill>
                <a:latin typeface="楷体"/>
                <a:ea typeface="楷体"/>
              </a:rPr>
              <a:t>四、问题核心｜真实短板，必须有现场证据。</a:t>
            </a:r>
          </a:p>
        </p:txBody>
      </p:sp>
      <p:sp>
        <p:nvSpPr>
          <p:cNvPr id="1860" name="p27r4_sh"/>
          <p:cNvSpPr/>
          <p:nvPr/>
        </p:nvSpPr>
        <p:spPr>
          <a:xfrm>
            <a:off x="584200" y="4123944"/>
            <a:ext cx="7518400" cy="4572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861" name="p27r4"/>
          <p:cNvSpPr/>
          <p:nvPr/>
        </p:nvSpPr>
        <p:spPr>
          <a:xfrm>
            <a:off x="558800" y="4073144"/>
            <a:ext cx="7569200" cy="457200"/>
          </a:xfrm>
          <a:prstGeom prst="roundRect">
            <a:avLst>
              <a:gd name="adj" fmla="val 8000"/>
            </a:avLst>
          </a:prstGeom>
          <a:solidFill>
            <a:srgbClr val="E9EFE9"/>
          </a:solidFill>
          <a:ln w="15875">
            <a:solidFill>
              <a:srgbClr val="8E3F2E"/>
            </a:solidFill>
          </a:ln>
        </p:spPr>
        <p:txBody>
          <a:bodyPr rtlCol="0" anchor="ctr"/>
          <a:lstStyle/>
          <a:p/>
        </p:txBody>
      </p:sp>
      <p:sp>
        <p:nvSpPr>
          <p:cNvPr id="1862" name="p27r4_cap"/>
          <p:cNvSpPr/>
          <p:nvPr/>
        </p:nvSpPr>
        <p:spPr>
          <a:xfrm>
            <a:off x="647700" y="4149344"/>
            <a:ext cx="50800" cy="3048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863" name="p27r4_t"/>
          <p:cNvSpPr txBox="1"/>
          <p:nvPr/>
        </p:nvSpPr>
        <p:spPr>
          <a:xfrm>
            <a:off x="711200" y="4162044"/>
            <a:ext cx="7264400" cy="279400"/>
          </a:xfrm>
          <a:prstGeom prst="rect">
            <a:avLst/>
          </a:prstGeom>
        </p:spPr>
        <p:txBody>
          <a:bodyPr wrap="square" lIns="0" rIns="0" tIns="0" bIns="0"/>
          <a:lstStyle/>
          <a:p>
            <a:pPr algn="l" lvl="0"/>
            <a:r>
              <a:rPr lang="zh-CN" sz="1400">
                <a:solidFill>
                  <a:srgbClr val="1D2B23"/>
                </a:solidFill>
                <a:latin typeface="楷体"/>
                <a:ea typeface="楷体"/>
              </a:rPr>
              <a:t>五、对策核心｜有问题依据、有理论支撑、有可行做法。</a:t>
            </a:r>
          </a:p>
        </p:txBody>
      </p:sp>
      <p:sp>
        <p:nvSpPr>
          <p:cNvPr id="1864" name="p27r5_sh"/>
          <p:cNvSpPr/>
          <p:nvPr/>
        </p:nvSpPr>
        <p:spPr>
          <a:xfrm>
            <a:off x="584200" y="4619244"/>
            <a:ext cx="7518400" cy="4572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865" name="p27r5"/>
          <p:cNvSpPr/>
          <p:nvPr/>
        </p:nvSpPr>
        <p:spPr>
          <a:xfrm>
            <a:off x="558800" y="4568444"/>
            <a:ext cx="7569200" cy="457200"/>
          </a:xfrm>
          <a:prstGeom prst="roundRect">
            <a:avLst>
              <a:gd name="adj" fmla="val 8000"/>
            </a:avLst>
          </a:prstGeom>
          <a:solidFill>
            <a:srgbClr val="E9EFE9"/>
          </a:solidFill>
          <a:ln w="15875">
            <a:solidFill>
              <a:srgbClr val="8E3F2E"/>
            </a:solidFill>
          </a:ln>
        </p:spPr>
        <p:txBody>
          <a:bodyPr rtlCol="0" anchor="ctr"/>
          <a:lstStyle/>
          <a:p/>
        </p:txBody>
      </p:sp>
      <p:sp>
        <p:nvSpPr>
          <p:cNvPr id="1866" name="p27r5_cap"/>
          <p:cNvSpPr/>
          <p:nvPr/>
        </p:nvSpPr>
        <p:spPr>
          <a:xfrm>
            <a:off x="647700" y="4644644"/>
            <a:ext cx="50800" cy="3048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867" name="p27r5_t"/>
          <p:cNvSpPr txBox="1"/>
          <p:nvPr/>
        </p:nvSpPr>
        <p:spPr>
          <a:xfrm>
            <a:off x="711200" y="4657344"/>
            <a:ext cx="7264400" cy="279400"/>
          </a:xfrm>
          <a:prstGeom prst="rect">
            <a:avLst/>
          </a:prstGeom>
        </p:spPr>
        <p:txBody>
          <a:bodyPr wrap="square" lIns="0" rIns="0" tIns="0" bIns="0"/>
          <a:lstStyle/>
          <a:p>
            <a:pPr algn="l" lvl="0"/>
            <a:r>
              <a:rPr lang="zh-CN" sz="1400">
                <a:solidFill>
                  <a:srgbClr val="1D2B23"/>
                </a:solidFill>
                <a:latin typeface="楷体"/>
                <a:ea typeface="楷体"/>
              </a:rPr>
              <a:t>六、小组感悟｜家乡之变让我们懂得了什么。</a:t>
            </a:r>
          </a:p>
        </p:txBody>
      </p:sp>
      <p:sp>
        <p:nvSpPr>
          <p:cNvPr id="1868" name="p27r6_sh"/>
          <p:cNvSpPr/>
          <p:nvPr/>
        </p:nvSpPr>
        <p:spPr>
          <a:xfrm>
            <a:off x="584200" y="5114544"/>
            <a:ext cx="7518400" cy="4572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869" name="p27r6"/>
          <p:cNvSpPr/>
          <p:nvPr/>
        </p:nvSpPr>
        <p:spPr>
          <a:xfrm>
            <a:off x="558800" y="5063744"/>
            <a:ext cx="7569200" cy="457200"/>
          </a:xfrm>
          <a:prstGeom prst="roundRect">
            <a:avLst>
              <a:gd name="adj" fmla="val 8000"/>
            </a:avLst>
          </a:prstGeom>
          <a:solidFill>
            <a:srgbClr val="E9EFE9"/>
          </a:solidFill>
          <a:ln w="15875">
            <a:solidFill>
              <a:srgbClr val="8E3F2E"/>
            </a:solidFill>
          </a:ln>
        </p:spPr>
        <p:txBody>
          <a:bodyPr rtlCol="0" anchor="ctr"/>
          <a:lstStyle/>
          <a:p/>
        </p:txBody>
      </p:sp>
      <p:sp>
        <p:nvSpPr>
          <p:cNvPr id="1870" name="p27r6_cap"/>
          <p:cNvSpPr/>
          <p:nvPr/>
        </p:nvSpPr>
        <p:spPr>
          <a:xfrm>
            <a:off x="647700" y="5139944"/>
            <a:ext cx="50800" cy="3048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871" name="p27r6_t"/>
          <p:cNvSpPr txBox="1"/>
          <p:nvPr/>
        </p:nvSpPr>
        <p:spPr>
          <a:xfrm>
            <a:off x="711200" y="5152644"/>
            <a:ext cx="7264400" cy="279400"/>
          </a:xfrm>
          <a:prstGeom prst="rect">
            <a:avLst/>
          </a:prstGeom>
        </p:spPr>
        <p:txBody>
          <a:bodyPr wrap="square" lIns="0" rIns="0" tIns="0" bIns="0"/>
          <a:lstStyle/>
          <a:p>
            <a:pPr algn="l" lvl="0"/>
            <a:r>
              <a:rPr lang="zh-CN" sz="1400">
                <a:solidFill>
                  <a:srgbClr val="1D2B23"/>
                </a:solidFill>
                <a:latin typeface="楷体"/>
                <a:ea typeface="楷体"/>
              </a:rPr>
              <a:t>七、附录必备｜照片、访谈记录、资料来源清单。</a:t>
            </a:r>
          </a:p>
        </p:txBody>
      </p:sp>
    </p:spTree>
  </p:cSld>
  <p:clrMapOvr>
    <a:masterClrMapping/>
  </p:clrMapOvr>
  <p:transition xmlns:p="http://schemas.openxmlformats.org/presentationml/2006/main" spd="med">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1872"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873" name="hd_secbar"/>
          <p:cNvSpPr/>
          <p:nvPr/>
        </p:nvSpPr>
        <p:spPr>
          <a:xfrm>
            <a:off x="609600" y="317500"/>
            <a:ext cx="44450" cy="228600"/>
          </a:xfrm>
          <a:prstGeom prst="rect">
            <a:avLst/>
          </a:prstGeom>
          <a:gradFill rotWithShape="1">
            <a:gsLst>
              <a:gs pos="0">
                <a:srgbClr val="8E3F2E"/>
              </a:gs>
              <a:gs pos="100000">
                <a:srgbClr val="EE8A72">
                  <a:alpha val="100000"/>
                </a:srgbClr>
              </a:gs>
            </a:gsLst>
            <a:lin ang="5400000" scaled="1"/>
          </a:gradFill>
          <a:ln>
            <a:noFill/>
          </a:ln>
        </p:spPr>
        <p:txBody>
          <a:bodyPr rtlCol="0" anchor="ctr"/>
          <a:lstStyle/>
          <a:p/>
        </p:txBody>
      </p:sp>
      <p:sp>
        <p:nvSpPr>
          <p:cNvPr id="1874" name="hd_sec"/>
          <p:cNvSpPr txBox="1"/>
          <p:nvPr/>
        </p:nvSpPr>
        <p:spPr>
          <a:xfrm>
            <a:off x="736600" y="317500"/>
            <a:ext cx="3476600" cy="228600"/>
          </a:xfrm>
          <a:prstGeom prst="rect">
            <a:avLst/>
          </a:prstGeom>
        </p:spPr>
        <p:txBody>
          <a:bodyPr wrap="square" lIns="0" rIns="0" tIns="0" bIns="0"/>
          <a:lstStyle/>
          <a:p>
            <a:pPr algn="l" lvl="0"/>
            <a:r>
              <a:rPr lang="zh-CN" sz="1400" b="1">
                <a:solidFill>
                  <a:srgbClr val="8E3F2E"/>
                </a:solidFill>
                <a:latin typeface="黑体"/>
                <a:ea typeface="黑体"/>
              </a:rPr>
              <a:t>子任务三 · 拓展策展——循迹盐湖行</a:t>
            </a:r>
          </a:p>
        </p:txBody>
      </p:sp>
      <p:sp>
        <p:nvSpPr>
          <p:cNvPr id="1875"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研学活动提示 · 四条纪律</a:t>
            </a:r>
          </a:p>
        </p:txBody>
      </p:sp>
      <p:sp>
        <p:nvSpPr>
          <p:cNvPr id="1876" name="hd_rule2"/>
          <p:cNvSpPr/>
          <p:nvPr/>
        </p:nvSpPr>
        <p:spPr>
          <a:xfrm>
            <a:off x="558800" y="1143000"/>
            <a:ext cx="1625600" cy="44450"/>
          </a:xfrm>
          <a:prstGeom prst="rect">
            <a:avLst/>
          </a:prstGeom>
          <a:gradFill rotWithShape="1">
            <a:gsLst>
              <a:gs pos="0">
                <a:srgbClr val="8E3F2E"/>
              </a:gs>
              <a:gs pos="100000">
                <a:srgbClr val="EE8A72">
                  <a:alpha val="100000"/>
                </a:srgbClr>
              </a:gs>
            </a:gsLst>
            <a:lin ang="0" scaled="1"/>
          </a:gradFill>
          <a:ln>
            <a:noFill/>
          </a:ln>
        </p:spPr>
        <p:txBody>
          <a:bodyPr rtlCol="0" anchor="ctr"/>
          <a:lstStyle/>
          <a:p/>
        </p:txBody>
      </p:sp>
      <p:sp>
        <p:nvSpPr>
          <p:cNvPr id="1877" name="hd_rule"/>
          <p:cNvSpPr/>
          <p:nvPr/>
        </p:nvSpPr>
        <p:spPr>
          <a:xfrm>
            <a:off x="2260600" y="1158240"/>
            <a:ext cx="5867400" cy="19050"/>
          </a:xfrm>
          <a:prstGeom prst="rect">
            <a:avLst/>
          </a:prstGeom>
          <a:solidFill>
            <a:srgbClr val="EE8A72">
              <a:alpha val="40000"/>
            </a:srgbClr>
          </a:solidFill>
          <a:ln>
            <a:noFill/>
          </a:ln>
        </p:spPr>
        <p:txBody>
          <a:bodyPr rtlCol="0" anchor="ctr"/>
          <a:lstStyle/>
          <a:p/>
        </p:txBody>
      </p:sp>
      <p:cxnSp>
        <p:nvCxnSpPr>
          <p:cNvPr id="1878" name="rb_rule"/>
          <p:cNvCxnSpPr/>
          <p:nvPr/>
        </p:nvCxnSpPr>
        <p:spPr>
          <a:xfrm>
            <a:off x="8280400" y="1422400"/>
            <a:ext cx="0" cy="4267200"/>
          </a:xfrm>
          <a:prstGeom prst="straightConnector1">
            <a:avLst/>
          </a:prstGeom>
          <a:ln w="19050">
            <a:solidFill>
              <a:srgbClr val="7E9A85"/>
            </a:solidFill>
          </a:ln>
        </p:spPr>
      </p:cxnSp>
      <p:sp>
        <p:nvSpPr>
          <p:cNvPr id="1879" name="rb_chip_a"/>
          <p:cNvSpPr/>
          <p:nvPr/>
        </p:nvSpPr>
        <p:spPr>
          <a:xfrm>
            <a:off x="8229600" y="1219200"/>
            <a:ext cx="152400" cy="152400"/>
          </a:xfrm>
          <a:prstGeom prst="rect">
            <a:avLst/>
          </a:prstGeom>
          <a:gradFill rotWithShape="1">
            <a:gsLst>
              <a:gs pos="0">
                <a:srgbClr val="EE8A72"/>
              </a:gs>
              <a:gs pos="100000">
                <a:srgbClr val="8E3F2E">
                  <a:alpha val="100000"/>
                </a:srgbClr>
              </a:gs>
            </a:gsLst>
            <a:lin ang="8100000" scaled="1"/>
          </a:gradFill>
          <a:ln>
            <a:noFill/>
          </a:ln>
        </p:spPr>
        <p:txBody>
          <a:bodyPr rtlCol="0" anchor="ctr"/>
          <a:lstStyle/>
          <a:p/>
        </p:txBody>
      </p:sp>
      <p:sp>
        <p:nvSpPr>
          <p:cNvPr id="1880" name="rb_chip_b"/>
          <p:cNvSpPr/>
          <p:nvPr/>
        </p:nvSpPr>
        <p:spPr>
          <a:xfrm>
            <a:off x="8280400" y="1193800"/>
            <a:ext cx="101600" cy="101600"/>
          </a:xfrm>
          <a:prstGeom prst="rect">
            <a:avLst/>
          </a:prstGeom>
          <a:solidFill>
            <a:srgbClr val="8E3F2E"/>
          </a:solidFill>
          <a:ln>
            <a:noFill/>
          </a:ln>
        </p:spPr>
        <p:txBody>
          <a:bodyPr rtlCol="0" anchor="ctr"/>
          <a:lstStyle/>
          <a:p/>
        </p:txBody>
      </p:sp>
      <p:sp>
        <p:nvSpPr>
          <p:cNvPr id="1881"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882"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883" name="rb_tagrule"/>
          <p:cNvCxnSpPr/>
          <p:nvPr/>
        </p:nvCxnSpPr>
        <p:spPr>
          <a:xfrm>
            <a:off x="11226800" y="2260600"/>
            <a:ext cx="482600" cy="0"/>
          </a:xfrm>
          <a:prstGeom prst="straightConnector1">
            <a:avLst/>
          </a:prstGeom>
          <a:ln w="12700">
            <a:solidFill>
              <a:srgbClr val="7E9A85"/>
            </a:solidFill>
          </a:ln>
        </p:spPr>
      </p:cxnSp>
      <p:sp>
        <p:nvSpPr>
          <p:cNvPr id="1884"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E8A72"/>
                </a:solidFill>
                <a:latin typeface="黑体"/>
                <a:ea typeface="黑体"/>
              </a:rPr>
              <a:t>28 / 42</a:t>
            </a:r>
          </a:p>
        </p:txBody>
      </p:sp>
      <p:sp>
        <p:nvSpPr>
          <p:cNvPr id="1885" name="p28tag_sh"/>
          <p:cNvSpPr/>
          <p:nvPr/>
        </p:nvSpPr>
        <p:spPr>
          <a:xfrm>
            <a:off x="584200" y="13208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886" name="p28tag"/>
          <p:cNvSpPr/>
          <p:nvPr/>
        </p:nvSpPr>
        <p:spPr>
          <a:xfrm>
            <a:off x="558800" y="1270000"/>
            <a:ext cx="7569200" cy="654812"/>
          </a:xfrm>
          <a:prstGeom prst="roundRect">
            <a:avLst>
              <a:gd name="adj" fmla="val 8000"/>
            </a:avLst>
          </a:prstGeom>
          <a:solidFill>
            <a:srgbClr val="E9EFE9"/>
          </a:solidFill>
          <a:ln w="15875">
            <a:solidFill>
              <a:srgbClr val="8E3F2E"/>
            </a:solidFill>
          </a:ln>
        </p:spPr>
        <p:txBody>
          <a:bodyPr rtlCol="0" anchor="ctr"/>
          <a:lstStyle/>
          <a:p/>
        </p:txBody>
      </p:sp>
      <p:sp>
        <p:nvSpPr>
          <p:cNvPr id="1887" name="p28tag_cap"/>
          <p:cNvSpPr/>
          <p:nvPr/>
        </p:nvSpPr>
        <p:spPr>
          <a:xfrm>
            <a:off x="647700" y="1346200"/>
            <a:ext cx="50800" cy="502412"/>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888" name="p28tag_t"/>
          <p:cNvSpPr txBox="1"/>
          <p:nvPr/>
        </p:nvSpPr>
        <p:spPr>
          <a:xfrm>
            <a:off x="711200" y="1358900"/>
            <a:ext cx="7264400" cy="477012"/>
          </a:xfrm>
          <a:prstGeom prst="rect">
            <a:avLst/>
          </a:prstGeom>
        </p:spPr>
        <p:txBody>
          <a:bodyPr wrap="square" lIns="0" rIns="0" tIns="0" bIns="0"/>
          <a:lstStyle/>
          <a:p>
            <a:pPr algn="l" lvl="0"/>
            <a:r>
              <a:rPr lang="zh-CN" sz="1800" b="1">
                <a:solidFill>
                  <a:srgbClr val="1D2B23"/>
                </a:solidFill>
                <a:latin typeface="黑体"/>
                <a:ea typeface="黑体"/>
              </a:rPr>
              <a:t>研学活动提示</a:t>
            </a:r>
          </a:p>
        </p:txBody>
      </p:sp>
      <p:sp>
        <p:nvSpPr>
          <p:cNvPr id="1889" name="p28r0_sh"/>
          <p:cNvSpPr/>
          <p:nvPr/>
        </p:nvSpPr>
        <p:spPr>
          <a:xfrm>
            <a:off x="584200" y="2178812"/>
            <a:ext cx="3759200" cy="6350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890" name="p28r0"/>
          <p:cNvSpPr/>
          <p:nvPr/>
        </p:nvSpPr>
        <p:spPr>
          <a:xfrm>
            <a:off x="558800" y="2128012"/>
            <a:ext cx="3810000" cy="635000"/>
          </a:xfrm>
          <a:prstGeom prst="roundRect">
            <a:avLst>
              <a:gd name="adj" fmla="val 8000"/>
            </a:avLst>
          </a:prstGeom>
          <a:solidFill>
            <a:srgbClr val="E9EFE9"/>
          </a:solidFill>
          <a:ln w="15875">
            <a:solidFill>
              <a:srgbClr val="8E3F2E"/>
            </a:solidFill>
          </a:ln>
        </p:spPr>
        <p:txBody>
          <a:bodyPr rtlCol="0" anchor="ctr"/>
          <a:lstStyle/>
          <a:p/>
        </p:txBody>
      </p:sp>
      <p:sp>
        <p:nvSpPr>
          <p:cNvPr id="1891" name="p28r0_cap"/>
          <p:cNvSpPr/>
          <p:nvPr/>
        </p:nvSpPr>
        <p:spPr>
          <a:xfrm>
            <a:off x="647700" y="2204212"/>
            <a:ext cx="50800" cy="4826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892" name="p28r0_t"/>
          <p:cNvSpPr txBox="1"/>
          <p:nvPr/>
        </p:nvSpPr>
        <p:spPr>
          <a:xfrm>
            <a:off x="711200" y="2216912"/>
            <a:ext cx="3505200" cy="457200"/>
          </a:xfrm>
          <a:prstGeom prst="rect">
            <a:avLst/>
          </a:prstGeom>
        </p:spPr>
        <p:txBody>
          <a:bodyPr wrap="square" lIns="0" rIns="0" tIns="0" bIns="0"/>
          <a:lstStyle/>
          <a:p>
            <a:pPr algn="l" lvl="0"/>
            <a:r>
              <a:rPr lang="zh-CN" sz="1400">
                <a:solidFill>
                  <a:srgbClr val="1D2B23"/>
                </a:solidFill>
                <a:latin typeface="楷体"/>
                <a:ea typeface="楷体"/>
              </a:rPr>
              <a:t>紧扣主题｜紧扣调研主题，聚焦研学</a:t>
            </a:r>
          </a:p>
          <a:p>
            <a:pPr algn="l" lvl="0"/>
            <a:r>
              <a:rPr lang="zh-CN" sz="1400">
                <a:solidFill>
                  <a:srgbClr val="1D2B23"/>
                </a:solidFill>
                <a:latin typeface="楷体"/>
                <a:ea typeface="楷体"/>
              </a:rPr>
              <a:t>目标。</a:t>
            </a:r>
          </a:p>
        </p:txBody>
      </p:sp>
      <p:sp>
        <p:nvSpPr>
          <p:cNvPr id="1893" name="p28r1_sh"/>
          <p:cNvSpPr/>
          <p:nvPr/>
        </p:nvSpPr>
        <p:spPr>
          <a:xfrm>
            <a:off x="584200" y="2940812"/>
            <a:ext cx="3759200" cy="6350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894" name="p28r1"/>
          <p:cNvSpPr/>
          <p:nvPr/>
        </p:nvSpPr>
        <p:spPr>
          <a:xfrm>
            <a:off x="558800" y="2890012"/>
            <a:ext cx="3810000" cy="635000"/>
          </a:xfrm>
          <a:prstGeom prst="roundRect">
            <a:avLst>
              <a:gd name="adj" fmla="val 8000"/>
            </a:avLst>
          </a:prstGeom>
          <a:solidFill>
            <a:srgbClr val="E9EFE9"/>
          </a:solidFill>
          <a:ln w="15875">
            <a:solidFill>
              <a:srgbClr val="8E3F2E"/>
            </a:solidFill>
          </a:ln>
        </p:spPr>
        <p:txBody>
          <a:bodyPr rtlCol="0" anchor="ctr"/>
          <a:lstStyle/>
          <a:p/>
        </p:txBody>
      </p:sp>
      <p:sp>
        <p:nvSpPr>
          <p:cNvPr id="1895" name="p28r1_cap"/>
          <p:cNvSpPr/>
          <p:nvPr/>
        </p:nvSpPr>
        <p:spPr>
          <a:xfrm>
            <a:off x="647700" y="2966212"/>
            <a:ext cx="50800" cy="4826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896" name="p28r1_t"/>
          <p:cNvSpPr txBox="1"/>
          <p:nvPr/>
        </p:nvSpPr>
        <p:spPr>
          <a:xfrm>
            <a:off x="711200" y="2978912"/>
            <a:ext cx="3505200" cy="457200"/>
          </a:xfrm>
          <a:prstGeom prst="rect">
            <a:avLst/>
          </a:prstGeom>
        </p:spPr>
        <p:txBody>
          <a:bodyPr wrap="square" lIns="0" rIns="0" tIns="0" bIns="0"/>
          <a:lstStyle/>
          <a:p>
            <a:pPr algn="l" lvl="0"/>
            <a:r>
              <a:rPr lang="zh-CN" sz="1400">
                <a:solidFill>
                  <a:srgbClr val="1D2B23"/>
                </a:solidFill>
                <a:latin typeface="楷体"/>
                <a:ea typeface="楷体"/>
              </a:rPr>
              <a:t>安全文明｜注意出行安全，文明走访，</a:t>
            </a:r>
          </a:p>
          <a:p>
            <a:pPr algn="l" lvl="0"/>
            <a:r>
              <a:rPr lang="zh-CN" sz="1400">
                <a:solidFill>
                  <a:srgbClr val="1D2B23"/>
                </a:solidFill>
                <a:latin typeface="楷体"/>
                <a:ea typeface="楷体"/>
              </a:rPr>
              <a:t>礼貌访谈。</a:t>
            </a:r>
          </a:p>
        </p:txBody>
      </p:sp>
      <p:sp>
        <p:nvSpPr>
          <p:cNvPr id="1897" name="p28r2_sh"/>
          <p:cNvSpPr/>
          <p:nvPr/>
        </p:nvSpPr>
        <p:spPr>
          <a:xfrm>
            <a:off x="584200" y="3702812"/>
            <a:ext cx="3759200" cy="6350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898" name="p28r2"/>
          <p:cNvSpPr/>
          <p:nvPr/>
        </p:nvSpPr>
        <p:spPr>
          <a:xfrm>
            <a:off x="558800" y="3652012"/>
            <a:ext cx="3810000" cy="635000"/>
          </a:xfrm>
          <a:prstGeom prst="roundRect">
            <a:avLst>
              <a:gd name="adj" fmla="val 8000"/>
            </a:avLst>
          </a:prstGeom>
          <a:solidFill>
            <a:srgbClr val="E9EFE9"/>
          </a:solidFill>
          <a:ln w="15875">
            <a:solidFill>
              <a:srgbClr val="8E3F2E"/>
            </a:solidFill>
          </a:ln>
        </p:spPr>
        <p:txBody>
          <a:bodyPr rtlCol="0" anchor="ctr"/>
          <a:lstStyle/>
          <a:p/>
        </p:txBody>
      </p:sp>
      <p:sp>
        <p:nvSpPr>
          <p:cNvPr id="1899" name="p28r2_cap"/>
          <p:cNvSpPr/>
          <p:nvPr/>
        </p:nvSpPr>
        <p:spPr>
          <a:xfrm>
            <a:off x="647700" y="3728212"/>
            <a:ext cx="50800" cy="4826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900" name="p28r2_t"/>
          <p:cNvSpPr txBox="1"/>
          <p:nvPr/>
        </p:nvSpPr>
        <p:spPr>
          <a:xfrm>
            <a:off x="711200" y="3740912"/>
            <a:ext cx="3505200" cy="457200"/>
          </a:xfrm>
          <a:prstGeom prst="rect">
            <a:avLst/>
          </a:prstGeom>
        </p:spPr>
        <p:txBody>
          <a:bodyPr wrap="square" lIns="0" rIns="0" tIns="0" bIns="0"/>
          <a:lstStyle/>
          <a:p>
            <a:pPr algn="l" lvl="0"/>
            <a:r>
              <a:rPr lang="zh-CN" sz="1400">
                <a:solidFill>
                  <a:srgbClr val="1D2B23"/>
                </a:solidFill>
                <a:latin typeface="楷体"/>
                <a:ea typeface="楷体"/>
              </a:rPr>
              <a:t>团队协作｜细化团队分工，强化协作</a:t>
            </a:r>
          </a:p>
          <a:p>
            <a:pPr algn="l" lvl="0"/>
            <a:r>
              <a:rPr lang="zh-CN" sz="1400">
                <a:solidFill>
                  <a:srgbClr val="1D2B23"/>
                </a:solidFill>
                <a:latin typeface="楷体"/>
                <a:ea typeface="楷体"/>
              </a:rPr>
              <a:t>配合。</a:t>
            </a:r>
          </a:p>
        </p:txBody>
      </p:sp>
      <p:sp>
        <p:nvSpPr>
          <p:cNvPr id="1901" name="p28r3_sh"/>
          <p:cNvSpPr/>
          <p:nvPr/>
        </p:nvSpPr>
        <p:spPr>
          <a:xfrm>
            <a:off x="584200" y="4464812"/>
            <a:ext cx="3759200" cy="6350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902" name="p28r3"/>
          <p:cNvSpPr/>
          <p:nvPr/>
        </p:nvSpPr>
        <p:spPr>
          <a:xfrm>
            <a:off x="558800" y="4414012"/>
            <a:ext cx="3810000" cy="635000"/>
          </a:xfrm>
          <a:prstGeom prst="roundRect">
            <a:avLst>
              <a:gd name="adj" fmla="val 8000"/>
            </a:avLst>
          </a:prstGeom>
          <a:solidFill>
            <a:srgbClr val="E9EFE9"/>
          </a:solidFill>
          <a:ln w="15875">
            <a:solidFill>
              <a:srgbClr val="8E3F2E"/>
            </a:solidFill>
          </a:ln>
        </p:spPr>
        <p:txBody>
          <a:bodyPr rtlCol="0" anchor="ctr"/>
          <a:lstStyle/>
          <a:p/>
        </p:txBody>
      </p:sp>
      <p:sp>
        <p:nvSpPr>
          <p:cNvPr id="1903" name="p28r3_cap"/>
          <p:cNvSpPr/>
          <p:nvPr/>
        </p:nvSpPr>
        <p:spPr>
          <a:xfrm>
            <a:off x="647700" y="4490212"/>
            <a:ext cx="50800" cy="482600"/>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904" name="p28r3_t"/>
          <p:cNvSpPr txBox="1"/>
          <p:nvPr/>
        </p:nvSpPr>
        <p:spPr>
          <a:xfrm>
            <a:off x="711200" y="4502912"/>
            <a:ext cx="3505200" cy="457200"/>
          </a:xfrm>
          <a:prstGeom prst="rect">
            <a:avLst/>
          </a:prstGeom>
        </p:spPr>
        <p:txBody>
          <a:bodyPr wrap="square" lIns="0" rIns="0" tIns="0" bIns="0"/>
          <a:lstStyle/>
          <a:p>
            <a:pPr algn="l" lvl="0"/>
            <a:r>
              <a:rPr lang="zh-CN" sz="1400">
                <a:solidFill>
                  <a:srgbClr val="1D2B23"/>
                </a:solidFill>
                <a:latin typeface="楷体"/>
                <a:ea typeface="楷体"/>
              </a:rPr>
              <a:t>实事求是｜坚持实事求是，尊重对方</a:t>
            </a:r>
          </a:p>
          <a:p>
            <a:pPr algn="l" lvl="0"/>
            <a:r>
              <a:rPr lang="zh-CN" sz="1400">
                <a:solidFill>
                  <a:srgbClr val="1D2B23"/>
                </a:solidFill>
                <a:latin typeface="楷体"/>
                <a:ea typeface="楷体"/>
              </a:rPr>
              <a:t>隐私。</a:t>
            </a:r>
          </a:p>
        </p:txBody>
      </p:sp>
      <p:sp>
        <p:nvSpPr>
          <p:cNvPr id="1905" name="p28img_bg_sh"/>
          <p:cNvSpPr/>
          <p:nvPr/>
        </p:nvSpPr>
        <p:spPr>
          <a:xfrm>
            <a:off x="4584700" y="2115312"/>
            <a:ext cx="3505200" cy="28270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906" name="p28img_bg"/>
          <p:cNvSpPr/>
          <p:nvPr/>
        </p:nvSpPr>
        <p:spPr>
          <a:xfrm>
            <a:off x="4559300" y="2064512"/>
            <a:ext cx="3556000" cy="2827020"/>
          </a:xfrm>
          <a:prstGeom prst="roundRect">
            <a:avLst>
              <a:gd name="adj" fmla="val 8000"/>
            </a:avLst>
          </a:prstGeom>
          <a:solidFill>
            <a:srgbClr val="E9EFE9"/>
          </a:solidFill>
          <a:ln w="15875">
            <a:solidFill>
              <a:srgbClr val="8E3F2E"/>
            </a:solidFill>
          </a:ln>
        </p:spPr>
        <p:txBody>
          <a:bodyPr rtlCol="0" anchor="ctr"/>
          <a:lstStyle/>
          <a:p/>
        </p:txBody>
      </p:sp>
      <p:sp>
        <p:nvSpPr>
          <p:cNvPr id="1907" name="p28img_bg_le"/>
          <p:cNvSpPr/>
          <p:nvPr/>
        </p:nvSpPr>
        <p:spPr>
          <a:xfrm>
            <a:off x="4584700" y="2178812"/>
            <a:ext cx="44450" cy="2598420"/>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pic>
        <p:nvPicPr>
          <p:cNvPr id="1908" name="p28img"/>
          <p:cNvPicPr>
            <a:picLocks noChangeAspect="1"/>
          </p:cNvPicPr>
          <p:nvPr/>
        </p:nvPicPr>
        <p:blipFill>
          <a:blip r:embed="rId2"/>
          <a:stretch>
            <a:fillRect/>
          </a:stretch>
        </p:blipFill>
        <p:spPr>
          <a:xfrm>
            <a:off x="4673600" y="2178812"/>
            <a:ext cx="3327400" cy="2235200"/>
          </a:xfrm>
          <a:prstGeom prst="rect">
            <a:avLst/>
          </a:prstGeom>
        </p:spPr>
      </p:pic>
      <p:sp>
        <p:nvSpPr>
          <p:cNvPr id="1909" name="p28img_cap"/>
          <p:cNvSpPr txBox="1"/>
          <p:nvPr/>
        </p:nvSpPr>
        <p:spPr>
          <a:xfrm>
            <a:off x="4559300" y="4566412"/>
            <a:ext cx="3556000" cy="325120"/>
          </a:xfrm>
          <a:prstGeom prst="rect">
            <a:avLst/>
          </a:prstGeom>
        </p:spPr>
        <p:txBody>
          <a:bodyPr wrap="square" lIns="0" rIns="0" tIns="0" bIns="0"/>
          <a:lstStyle/>
          <a:p>
            <a:pPr algn="l" lvl="0"/>
            <a:r>
              <a:rPr lang="zh-CN" sz="1400">
                <a:solidFill>
                  <a:srgbClr val="465C4D"/>
                </a:solidFill>
                <a:latin typeface="楷体"/>
                <a:ea typeface="楷体"/>
              </a:rPr>
              <a:t>研学走访　图片来源：人民日报</a:t>
            </a:r>
          </a:p>
        </p:txBody>
      </p:sp>
    </p:spTree>
  </p:cSld>
  <p:clrMapOvr>
    <a:masterClrMapping/>
  </p:clrMapOvr>
  <p:transition xmlns:p="http://schemas.openxmlformats.org/presentationml/2006/main" spd="med">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910"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911" name="hd_secbar"/>
          <p:cNvSpPr/>
          <p:nvPr/>
        </p:nvSpPr>
        <p:spPr>
          <a:xfrm>
            <a:off x="609600" y="317500"/>
            <a:ext cx="44450" cy="228600"/>
          </a:xfrm>
          <a:prstGeom prst="rect">
            <a:avLst/>
          </a:prstGeom>
          <a:gradFill rotWithShape="1">
            <a:gsLst>
              <a:gs pos="0">
                <a:srgbClr val="8E3F2E"/>
              </a:gs>
              <a:gs pos="100000">
                <a:srgbClr val="EE8A72">
                  <a:alpha val="100000"/>
                </a:srgbClr>
              </a:gs>
            </a:gsLst>
            <a:lin ang="5400000" scaled="1"/>
          </a:gradFill>
          <a:ln>
            <a:noFill/>
          </a:ln>
        </p:spPr>
        <p:txBody>
          <a:bodyPr rtlCol="0" anchor="ctr"/>
          <a:lstStyle/>
          <a:p/>
        </p:txBody>
      </p:sp>
      <p:sp>
        <p:nvSpPr>
          <p:cNvPr id="1912" name="hd_sec"/>
          <p:cNvSpPr txBox="1"/>
          <p:nvPr/>
        </p:nvSpPr>
        <p:spPr>
          <a:xfrm>
            <a:off x="736600" y="317500"/>
            <a:ext cx="3476600" cy="228600"/>
          </a:xfrm>
          <a:prstGeom prst="rect">
            <a:avLst/>
          </a:prstGeom>
        </p:spPr>
        <p:txBody>
          <a:bodyPr wrap="square" lIns="0" rIns="0" tIns="0" bIns="0"/>
          <a:lstStyle/>
          <a:p>
            <a:pPr algn="l" lvl="0"/>
            <a:r>
              <a:rPr lang="zh-CN" sz="1400" b="1">
                <a:solidFill>
                  <a:srgbClr val="8E3F2E"/>
                </a:solidFill>
                <a:latin typeface="黑体"/>
                <a:ea typeface="黑体"/>
              </a:rPr>
              <a:t>子任务三 · 拓展策展——循迹盐湖行</a:t>
            </a:r>
          </a:p>
        </p:txBody>
      </p:sp>
      <p:sp>
        <p:nvSpPr>
          <p:cNvPr id="1913"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思辨探究 · 和我们有关吗</a:t>
            </a:r>
          </a:p>
        </p:txBody>
      </p:sp>
      <p:sp>
        <p:nvSpPr>
          <p:cNvPr id="1914" name="hd_rule2"/>
          <p:cNvSpPr/>
          <p:nvPr/>
        </p:nvSpPr>
        <p:spPr>
          <a:xfrm>
            <a:off x="558800" y="1143000"/>
            <a:ext cx="1625600" cy="44450"/>
          </a:xfrm>
          <a:prstGeom prst="rect">
            <a:avLst/>
          </a:prstGeom>
          <a:gradFill rotWithShape="1">
            <a:gsLst>
              <a:gs pos="0">
                <a:srgbClr val="8E3F2E"/>
              </a:gs>
              <a:gs pos="100000">
                <a:srgbClr val="EE8A72">
                  <a:alpha val="100000"/>
                </a:srgbClr>
              </a:gs>
            </a:gsLst>
            <a:lin ang="0" scaled="1"/>
          </a:gradFill>
          <a:ln>
            <a:noFill/>
          </a:ln>
        </p:spPr>
        <p:txBody>
          <a:bodyPr rtlCol="0" anchor="ctr"/>
          <a:lstStyle/>
          <a:p/>
        </p:txBody>
      </p:sp>
      <p:sp>
        <p:nvSpPr>
          <p:cNvPr id="1915" name="hd_rule"/>
          <p:cNvSpPr/>
          <p:nvPr/>
        </p:nvSpPr>
        <p:spPr>
          <a:xfrm>
            <a:off x="2260600" y="1158240"/>
            <a:ext cx="5867400" cy="19050"/>
          </a:xfrm>
          <a:prstGeom prst="rect">
            <a:avLst/>
          </a:prstGeom>
          <a:solidFill>
            <a:srgbClr val="EE8A72">
              <a:alpha val="40000"/>
            </a:srgbClr>
          </a:solidFill>
          <a:ln>
            <a:noFill/>
          </a:ln>
        </p:spPr>
        <p:txBody>
          <a:bodyPr rtlCol="0" anchor="ctr"/>
          <a:lstStyle/>
          <a:p/>
        </p:txBody>
      </p:sp>
      <p:cxnSp>
        <p:nvCxnSpPr>
          <p:cNvPr id="1916" name="rb_rule"/>
          <p:cNvCxnSpPr/>
          <p:nvPr/>
        </p:nvCxnSpPr>
        <p:spPr>
          <a:xfrm>
            <a:off x="8280400" y="1422400"/>
            <a:ext cx="0" cy="4267200"/>
          </a:xfrm>
          <a:prstGeom prst="straightConnector1">
            <a:avLst/>
          </a:prstGeom>
          <a:ln w="19050">
            <a:solidFill>
              <a:srgbClr val="7E9A85"/>
            </a:solidFill>
          </a:ln>
        </p:spPr>
      </p:cxnSp>
      <p:sp>
        <p:nvSpPr>
          <p:cNvPr id="1917" name="rb_chip_a"/>
          <p:cNvSpPr/>
          <p:nvPr/>
        </p:nvSpPr>
        <p:spPr>
          <a:xfrm>
            <a:off x="8229600" y="1219200"/>
            <a:ext cx="152400" cy="152400"/>
          </a:xfrm>
          <a:prstGeom prst="rect">
            <a:avLst/>
          </a:prstGeom>
          <a:gradFill rotWithShape="1">
            <a:gsLst>
              <a:gs pos="0">
                <a:srgbClr val="EE8A72"/>
              </a:gs>
              <a:gs pos="100000">
                <a:srgbClr val="8E3F2E">
                  <a:alpha val="100000"/>
                </a:srgbClr>
              </a:gs>
            </a:gsLst>
            <a:lin ang="8100000" scaled="1"/>
          </a:gradFill>
          <a:ln>
            <a:noFill/>
          </a:ln>
        </p:spPr>
        <p:txBody>
          <a:bodyPr rtlCol="0" anchor="ctr"/>
          <a:lstStyle/>
          <a:p/>
        </p:txBody>
      </p:sp>
      <p:sp>
        <p:nvSpPr>
          <p:cNvPr id="1918" name="rb_chip_b"/>
          <p:cNvSpPr/>
          <p:nvPr/>
        </p:nvSpPr>
        <p:spPr>
          <a:xfrm>
            <a:off x="8280400" y="1193800"/>
            <a:ext cx="101600" cy="101600"/>
          </a:xfrm>
          <a:prstGeom prst="rect">
            <a:avLst/>
          </a:prstGeom>
          <a:solidFill>
            <a:srgbClr val="8E3F2E"/>
          </a:solidFill>
          <a:ln>
            <a:noFill/>
          </a:ln>
        </p:spPr>
        <p:txBody>
          <a:bodyPr rtlCol="0" anchor="ctr"/>
          <a:lstStyle/>
          <a:p/>
        </p:txBody>
      </p:sp>
      <p:sp>
        <p:nvSpPr>
          <p:cNvPr id="1919"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920"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921" name="rb_tagrule"/>
          <p:cNvCxnSpPr/>
          <p:nvPr/>
        </p:nvCxnSpPr>
        <p:spPr>
          <a:xfrm>
            <a:off x="11226800" y="2260600"/>
            <a:ext cx="482600" cy="0"/>
          </a:xfrm>
          <a:prstGeom prst="straightConnector1">
            <a:avLst/>
          </a:prstGeom>
          <a:ln w="12700">
            <a:solidFill>
              <a:srgbClr val="7E9A85"/>
            </a:solidFill>
          </a:ln>
        </p:spPr>
      </p:cxnSp>
      <p:sp>
        <p:nvSpPr>
          <p:cNvPr id="1922"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E8A72"/>
                </a:solidFill>
                <a:latin typeface="黑体"/>
                <a:ea typeface="黑体"/>
              </a:rPr>
              <a:t>29 / 42</a:t>
            </a:r>
          </a:p>
        </p:txBody>
      </p:sp>
      <p:sp>
        <p:nvSpPr>
          <p:cNvPr id="1923" name="p29q_sh"/>
          <p:cNvSpPr/>
          <p:nvPr/>
        </p:nvSpPr>
        <p:spPr>
          <a:xfrm>
            <a:off x="584200" y="1371600"/>
            <a:ext cx="7518400" cy="97942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924" name="p29q"/>
          <p:cNvSpPr/>
          <p:nvPr/>
        </p:nvSpPr>
        <p:spPr>
          <a:xfrm>
            <a:off x="558800" y="1320800"/>
            <a:ext cx="7569200" cy="979424"/>
          </a:xfrm>
          <a:prstGeom prst="roundRect">
            <a:avLst>
              <a:gd name="adj" fmla="val 8000"/>
            </a:avLst>
          </a:prstGeom>
          <a:solidFill>
            <a:srgbClr val="E9EFE9"/>
          </a:solidFill>
          <a:ln w="15875">
            <a:solidFill>
              <a:srgbClr val="8E3F2E"/>
            </a:solidFill>
          </a:ln>
        </p:spPr>
        <p:txBody>
          <a:bodyPr rtlCol="0" anchor="ctr"/>
          <a:lstStyle/>
          <a:p/>
        </p:txBody>
      </p:sp>
      <p:sp>
        <p:nvSpPr>
          <p:cNvPr id="1925" name="p29q_cap"/>
          <p:cNvSpPr/>
          <p:nvPr/>
        </p:nvSpPr>
        <p:spPr>
          <a:xfrm>
            <a:off x="647700" y="1397000"/>
            <a:ext cx="50800" cy="827024"/>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926" name="p29q_t"/>
          <p:cNvSpPr txBox="1"/>
          <p:nvPr/>
        </p:nvSpPr>
        <p:spPr>
          <a:xfrm>
            <a:off x="711200" y="1409700"/>
            <a:ext cx="7264400" cy="801624"/>
          </a:xfrm>
          <a:prstGeom prst="rect">
            <a:avLst/>
          </a:prstGeom>
        </p:spPr>
        <p:txBody>
          <a:bodyPr wrap="square" lIns="0" rIns="0" tIns="0" bIns="0"/>
          <a:lstStyle/>
          <a:p>
            <a:pPr algn="l" lvl="0"/>
            <a:r>
              <a:rPr lang="zh-CN" sz="1800" b="1">
                <a:solidFill>
                  <a:srgbClr val="1D2B23"/>
                </a:solidFill>
                <a:latin typeface="黑体"/>
                <a:ea typeface="黑体"/>
              </a:rPr>
              <a:t>思辨探究：盐湖保护、家乡建设，是政府的事，和我们中学生无</a:t>
            </a:r>
          </a:p>
          <a:p>
            <a:pPr algn="l" lvl="0"/>
            <a:r>
              <a:rPr lang="zh-CN" sz="1800" b="1">
                <a:solidFill>
                  <a:srgbClr val="1D2B23"/>
                </a:solidFill>
                <a:latin typeface="黑体"/>
                <a:ea typeface="黑体"/>
              </a:rPr>
              <a:t>关？</a:t>
            </a:r>
          </a:p>
        </p:txBody>
      </p:sp>
      <p:sp>
        <p:nvSpPr>
          <p:cNvPr id="1927" name="p29a_sh"/>
          <p:cNvSpPr/>
          <p:nvPr/>
        </p:nvSpPr>
        <p:spPr>
          <a:xfrm>
            <a:off x="584200" y="2630424"/>
            <a:ext cx="3632200" cy="1747774"/>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928" name="p29a"/>
          <p:cNvSpPr/>
          <p:nvPr/>
        </p:nvSpPr>
        <p:spPr>
          <a:xfrm>
            <a:off x="558800" y="2579624"/>
            <a:ext cx="3683000" cy="1747774"/>
          </a:xfrm>
          <a:prstGeom prst="roundRect">
            <a:avLst>
              <a:gd name="adj" fmla="val 8000"/>
            </a:avLst>
          </a:prstGeom>
          <a:solidFill>
            <a:srgbClr val="E9EFE9"/>
          </a:solidFill>
          <a:ln w="15875">
            <a:solidFill>
              <a:srgbClr val="8E3F2E"/>
            </a:solidFill>
          </a:ln>
        </p:spPr>
        <p:txBody>
          <a:bodyPr rtlCol="0" anchor="ctr"/>
          <a:lstStyle/>
          <a:p/>
        </p:txBody>
      </p:sp>
      <p:sp>
        <p:nvSpPr>
          <p:cNvPr id="1929" name="p29a_le"/>
          <p:cNvSpPr/>
          <p:nvPr/>
        </p:nvSpPr>
        <p:spPr>
          <a:xfrm>
            <a:off x="584200" y="2693924"/>
            <a:ext cx="44450" cy="1519174"/>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sp>
        <p:nvSpPr>
          <p:cNvPr id="1930" name="p29a_t"/>
          <p:cNvSpPr txBox="1"/>
          <p:nvPr/>
        </p:nvSpPr>
        <p:spPr>
          <a:xfrm>
            <a:off x="711200" y="2693924"/>
            <a:ext cx="3378200" cy="374142"/>
          </a:xfrm>
          <a:prstGeom prst="rect">
            <a:avLst/>
          </a:prstGeom>
        </p:spPr>
        <p:txBody>
          <a:bodyPr wrap="square" lIns="0" rIns="0" tIns="0" bIns="0"/>
          <a:lstStyle/>
          <a:p>
            <a:pPr algn="l" lvl="0"/>
            <a:r>
              <a:rPr lang="zh-CN" sz="1700" b="1">
                <a:solidFill>
                  <a:srgbClr val="8E3F2E"/>
                </a:solidFill>
                <a:latin typeface="黑体"/>
                <a:ea typeface="黑体"/>
              </a:rPr>
              <a:t>观点 A（正方）</a:t>
            </a:r>
          </a:p>
        </p:txBody>
      </p:sp>
      <p:sp>
        <p:nvSpPr>
          <p:cNvPr id="1931" name="p29a_b"/>
          <p:cNvSpPr txBox="1"/>
          <p:nvPr/>
        </p:nvSpPr>
        <p:spPr>
          <a:xfrm>
            <a:off x="711200" y="3195066"/>
            <a:ext cx="3378200" cy="941832"/>
          </a:xfrm>
          <a:prstGeom prst="rect">
            <a:avLst/>
          </a:prstGeom>
        </p:spPr>
        <p:txBody>
          <a:bodyPr wrap="square" lIns="0" rIns="0" tIns="0" bIns="0"/>
          <a:lstStyle/>
          <a:p>
            <a:pPr algn="l" lvl="0"/>
            <a:r>
              <a:rPr lang="zh-CN" sz="1600">
                <a:solidFill>
                  <a:srgbClr val="2E4438"/>
                </a:solidFill>
                <a:latin typeface="楷体"/>
                <a:ea typeface="楷体"/>
              </a:rPr>
              <a:t>是政府的事。我们年纪小、没有</a:t>
            </a:r>
          </a:p>
          <a:p>
            <a:pPr algn="l" lvl="0"/>
            <a:r>
              <a:rPr lang="zh-CN" sz="1600">
                <a:solidFill>
                  <a:srgbClr val="2E4438"/>
                </a:solidFill>
                <a:latin typeface="楷体"/>
                <a:ea typeface="楷体"/>
              </a:rPr>
              <a:t>权力也没有资源，能做的很有限。</a:t>
            </a:r>
          </a:p>
          <a:p>
            <a:pPr algn="l" lvl="0"/>
            <a:r>
              <a:rPr lang="zh-CN" sz="1600">
                <a:solidFill>
                  <a:srgbClr val="2E4438"/>
                </a:solidFill>
                <a:latin typeface="楷体"/>
                <a:ea typeface="楷体"/>
              </a:rPr>
              <a:t/>
            </a:r>
          </a:p>
        </p:txBody>
      </p:sp>
      <p:sp>
        <p:nvSpPr>
          <p:cNvPr id="1932" name="p29b_sh"/>
          <p:cNvSpPr/>
          <p:nvPr/>
        </p:nvSpPr>
        <p:spPr>
          <a:xfrm>
            <a:off x="4470400" y="2630424"/>
            <a:ext cx="3632200" cy="1747774"/>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933" name="p29b"/>
          <p:cNvSpPr/>
          <p:nvPr/>
        </p:nvSpPr>
        <p:spPr>
          <a:xfrm>
            <a:off x="4445000" y="2579624"/>
            <a:ext cx="3683000" cy="1747774"/>
          </a:xfrm>
          <a:prstGeom prst="roundRect">
            <a:avLst>
              <a:gd name="adj" fmla="val 8000"/>
            </a:avLst>
          </a:prstGeom>
          <a:solidFill>
            <a:srgbClr val="E9EFE9"/>
          </a:solidFill>
          <a:ln w="15875">
            <a:solidFill>
              <a:srgbClr val="8E3F2E"/>
            </a:solidFill>
          </a:ln>
        </p:spPr>
        <p:txBody>
          <a:bodyPr rtlCol="0" anchor="ctr"/>
          <a:lstStyle/>
          <a:p/>
        </p:txBody>
      </p:sp>
      <p:sp>
        <p:nvSpPr>
          <p:cNvPr id="1934" name="p29b_le"/>
          <p:cNvSpPr/>
          <p:nvPr/>
        </p:nvSpPr>
        <p:spPr>
          <a:xfrm>
            <a:off x="4470400" y="2693924"/>
            <a:ext cx="44450" cy="1519174"/>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sp>
        <p:nvSpPr>
          <p:cNvPr id="1935" name="p29b_t"/>
          <p:cNvSpPr txBox="1"/>
          <p:nvPr/>
        </p:nvSpPr>
        <p:spPr>
          <a:xfrm>
            <a:off x="4597400" y="2693924"/>
            <a:ext cx="3378200" cy="374142"/>
          </a:xfrm>
          <a:prstGeom prst="rect">
            <a:avLst/>
          </a:prstGeom>
        </p:spPr>
        <p:txBody>
          <a:bodyPr wrap="square" lIns="0" rIns="0" tIns="0" bIns="0"/>
          <a:lstStyle/>
          <a:p>
            <a:pPr algn="l" lvl="0"/>
            <a:r>
              <a:rPr lang="zh-CN" sz="1700" b="1">
                <a:solidFill>
                  <a:srgbClr val="8E3F2E"/>
                </a:solidFill>
                <a:latin typeface="黑体"/>
                <a:ea typeface="黑体"/>
              </a:rPr>
              <a:t>观点 B（反方）</a:t>
            </a:r>
          </a:p>
        </p:txBody>
      </p:sp>
      <p:sp>
        <p:nvSpPr>
          <p:cNvPr id="1936" name="p29b_b"/>
          <p:cNvSpPr txBox="1"/>
          <p:nvPr/>
        </p:nvSpPr>
        <p:spPr>
          <a:xfrm>
            <a:off x="4597400" y="3195066"/>
            <a:ext cx="3378200" cy="941832"/>
          </a:xfrm>
          <a:prstGeom prst="rect">
            <a:avLst/>
          </a:prstGeom>
        </p:spPr>
        <p:txBody>
          <a:bodyPr wrap="square" lIns="0" rIns="0" tIns="0" bIns="0"/>
          <a:lstStyle/>
          <a:p>
            <a:pPr algn="l" lvl="0"/>
            <a:r>
              <a:rPr lang="zh-CN" sz="1600">
                <a:solidFill>
                  <a:srgbClr val="2E4438"/>
                </a:solidFill>
                <a:latin typeface="楷体"/>
                <a:ea typeface="楷体"/>
              </a:rPr>
              <a:t>和我们有关。我们生活在这里，</a:t>
            </a:r>
          </a:p>
          <a:p>
            <a:pPr algn="l" lvl="0"/>
            <a:r>
              <a:rPr lang="zh-CN" sz="1600">
                <a:solidFill>
                  <a:srgbClr val="2E4438"/>
                </a:solidFill>
                <a:latin typeface="楷体"/>
                <a:ea typeface="楷体"/>
              </a:rPr>
              <a:t>家乡的每一点变化都落在我们身</a:t>
            </a:r>
          </a:p>
          <a:p>
            <a:pPr algn="l" lvl="0"/>
            <a:r>
              <a:rPr lang="zh-CN" sz="1600">
                <a:solidFill>
                  <a:srgbClr val="2E4438"/>
                </a:solidFill>
                <a:latin typeface="楷体"/>
                <a:ea typeface="楷体"/>
              </a:rPr>
              <a:t>上。</a:t>
            </a:r>
          </a:p>
        </p:txBody>
      </p:sp>
      <p:sp>
        <p:nvSpPr>
          <p:cNvPr id="1937" name="p29task_sh"/>
          <p:cNvSpPr/>
          <p:nvPr/>
        </p:nvSpPr>
        <p:spPr>
          <a:xfrm>
            <a:off x="584200" y="4632198"/>
            <a:ext cx="7518400" cy="907288"/>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938" name="p29task"/>
          <p:cNvSpPr/>
          <p:nvPr/>
        </p:nvSpPr>
        <p:spPr>
          <a:xfrm>
            <a:off x="558800" y="4581398"/>
            <a:ext cx="7569200" cy="907288"/>
          </a:xfrm>
          <a:prstGeom prst="roundRect">
            <a:avLst>
              <a:gd name="adj" fmla="val 8000"/>
            </a:avLst>
          </a:prstGeom>
          <a:solidFill>
            <a:srgbClr val="E9EFE9"/>
          </a:solidFill>
          <a:ln w="15875">
            <a:solidFill>
              <a:srgbClr val="8E3F2E"/>
            </a:solidFill>
          </a:ln>
        </p:spPr>
        <p:txBody>
          <a:bodyPr rtlCol="0" anchor="ctr"/>
          <a:lstStyle/>
          <a:p/>
        </p:txBody>
      </p:sp>
      <p:sp>
        <p:nvSpPr>
          <p:cNvPr id="1939" name="p29task_cap"/>
          <p:cNvSpPr/>
          <p:nvPr/>
        </p:nvSpPr>
        <p:spPr>
          <a:xfrm>
            <a:off x="647700" y="4657598"/>
            <a:ext cx="50800" cy="754888"/>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940" name="p29task_t"/>
          <p:cNvSpPr txBox="1"/>
          <p:nvPr/>
        </p:nvSpPr>
        <p:spPr>
          <a:xfrm>
            <a:off x="711200" y="4670298"/>
            <a:ext cx="7264400" cy="729488"/>
          </a:xfrm>
          <a:prstGeom prst="rect">
            <a:avLst/>
          </a:prstGeom>
        </p:spPr>
        <p:txBody>
          <a:bodyPr wrap="square" lIns="0" rIns="0" tIns="0" bIns="0"/>
          <a:lstStyle/>
          <a:p>
            <a:pPr algn="l" lvl="0"/>
            <a:r>
              <a:rPr lang="zh-CN" sz="1600" b="1">
                <a:solidFill>
                  <a:srgbClr val="1D2B23"/>
                </a:solidFill>
                <a:latin typeface="黑体"/>
                <a:ea typeface="黑体"/>
              </a:rPr>
              <a:t>先别急着下结论——请正反两方各说一条理由，再从“谁被排除在外”</a:t>
            </a:r>
          </a:p>
          <a:p>
            <a:pPr algn="l" lvl="0"/>
            <a:r>
              <a:rPr lang="zh-CN" sz="1600" b="1">
                <a:solidFill>
                  <a:srgbClr val="1D2B23"/>
                </a:solidFill>
                <a:latin typeface="黑体"/>
                <a:ea typeface="黑体"/>
              </a:rPr>
              <a:t>切入想一想。</a:t>
            </a:r>
          </a:p>
        </p:txBody>
      </p:sp>
    </p:spTree>
  </p:cSld>
  <p:clrMapOvr>
    <a:masterClrMapping/>
  </p:clrMapOvr>
  <p:transition xmlns:p="http://schemas.openxmlformats.org/presentationml/2006/main" spd="med">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941" name="hd_secbg"/>
          <p:cNvSpPr/>
          <p:nvPr/>
        </p:nvSpPr>
        <p:spPr>
          <a:xfrm>
            <a:off x="558800" y="279400"/>
            <a:ext cx="3756000"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942" name="hd_secbar"/>
          <p:cNvSpPr/>
          <p:nvPr/>
        </p:nvSpPr>
        <p:spPr>
          <a:xfrm>
            <a:off x="609600" y="317500"/>
            <a:ext cx="44450" cy="228600"/>
          </a:xfrm>
          <a:prstGeom prst="rect">
            <a:avLst/>
          </a:prstGeom>
          <a:gradFill rotWithShape="1">
            <a:gsLst>
              <a:gs pos="0">
                <a:srgbClr val="8E3F2E"/>
              </a:gs>
              <a:gs pos="100000">
                <a:srgbClr val="EE8A72">
                  <a:alpha val="100000"/>
                </a:srgbClr>
              </a:gs>
            </a:gsLst>
            <a:lin ang="5400000" scaled="1"/>
          </a:gradFill>
          <a:ln>
            <a:noFill/>
          </a:ln>
        </p:spPr>
        <p:txBody>
          <a:bodyPr rtlCol="0" anchor="ctr"/>
          <a:lstStyle/>
          <a:p/>
        </p:txBody>
      </p:sp>
      <p:sp>
        <p:nvSpPr>
          <p:cNvPr id="1943" name="hd_sec"/>
          <p:cNvSpPr txBox="1"/>
          <p:nvPr/>
        </p:nvSpPr>
        <p:spPr>
          <a:xfrm>
            <a:off x="736600" y="317500"/>
            <a:ext cx="3476600" cy="228600"/>
          </a:xfrm>
          <a:prstGeom prst="rect">
            <a:avLst/>
          </a:prstGeom>
        </p:spPr>
        <p:txBody>
          <a:bodyPr wrap="square" lIns="0" rIns="0" tIns="0" bIns="0"/>
          <a:lstStyle/>
          <a:p>
            <a:pPr algn="l" lvl="0"/>
            <a:r>
              <a:rPr lang="zh-CN" sz="1400" b="1">
                <a:solidFill>
                  <a:srgbClr val="8E3F2E"/>
                </a:solidFill>
                <a:latin typeface="黑体"/>
                <a:ea typeface="黑体"/>
              </a:rPr>
              <a:t>子任务三 · 拓展策展——循迹盐湖行</a:t>
            </a:r>
          </a:p>
        </p:txBody>
      </p:sp>
      <p:sp>
        <p:nvSpPr>
          <p:cNvPr id="1944"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我们这样回答 · 从见证者到建设者</a:t>
            </a:r>
          </a:p>
        </p:txBody>
      </p:sp>
      <p:sp>
        <p:nvSpPr>
          <p:cNvPr id="1945" name="hd_rule2"/>
          <p:cNvSpPr/>
          <p:nvPr/>
        </p:nvSpPr>
        <p:spPr>
          <a:xfrm>
            <a:off x="558800" y="1143000"/>
            <a:ext cx="1625600" cy="44450"/>
          </a:xfrm>
          <a:prstGeom prst="rect">
            <a:avLst/>
          </a:prstGeom>
          <a:gradFill rotWithShape="1">
            <a:gsLst>
              <a:gs pos="0">
                <a:srgbClr val="8E3F2E"/>
              </a:gs>
              <a:gs pos="100000">
                <a:srgbClr val="EE8A72">
                  <a:alpha val="100000"/>
                </a:srgbClr>
              </a:gs>
            </a:gsLst>
            <a:lin ang="0" scaled="1"/>
          </a:gradFill>
          <a:ln>
            <a:noFill/>
          </a:ln>
        </p:spPr>
        <p:txBody>
          <a:bodyPr rtlCol="0" anchor="ctr"/>
          <a:lstStyle/>
          <a:p/>
        </p:txBody>
      </p:sp>
      <p:sp>
        <p:nvSpPr>
          <p:cNvPr id="1946" name="hd_rule"/>
          <p:cNvSpPr/>
          <p:nvPr/>
        </p:nvSpPr>
        <p:spPr>
          <a:xfrm>
            <a:off x="2260600" y="1158240"/>
            <a:ext cx="5867400" cy="19050"/>
          </a:xfrm>
          <a:prstGeom prst="rect">
            <a:avLst/>
          </a:prstGeom>
          <a:solidFill>
            <a:srgbClr val="EE8A72">
              <a:alpha val="40000"/>
            </a:srgbClr>
          </a:solidFill>
          <a:ln>
            <a:noFill/>
          </a:ln>
        </p:spPr>
        <p:txBody>
          <a:bodyPr rtlCol="0" anchor="ctr"/>
          <a:lstStyle/>
          <a:p/>
        </p:txBody>
      </p:sp>
      <p:cxnSp>
        <p:nvCxnSpPr>
          <p:cNvPr id="1947" name="rb_rule"/>
          <p:cNvCxnSpPr/>
          <p:nvPr/>
        </p:nvCxnSpPr>
        <p:spPr>
          <a:xfrm>
            <a:off x="8280400" y="1422400"/>
            <a:ext cx="0" cy="4267200"/>
          </a:xfrm>
          <a:prstGeom prst="straightConnector1">
            <a:avLst/>
          </a:prstGeom>
          <a:ln w="19050">
            <a:solidFill>
              <a:srgbClr val="7E9A85"/>
            </a:solidFill>
          </a:ln>
        </p:spPr>
      </p:cxnSp>
      <p:sp>
        <p:nvSpPr>
          <p:cNvPr id="1948" name="rb_chip_a"/>
          <p:cNvSpPr/>
          <p:nvPr/>
        </p:nvSpPr>
        <p:spPr>
          <a:xfrm>
            <a:off x="8229600" y="1219200"/>
            <a:ext cx="152400" cy="152400"/>
          </a:xfrm>
          <a:prstGeom prst="rect">
            <a:avLst/>
          </a:prstGeom>
          <a:gradFill rotWithShape="1">
            <a:gsLst>
              <a:gs pos="0">
                <a:srgbClr val="EE8A72"/>
              </a:gs>
              <a:gs pos="100000">
                <a:srgbClr val="8E3F2E">
                  <a:alpha val="100000"/>
                </a:srgbClr>
              </a:gs>
            </a:gsLst>
            <a:lin ang="8100000" scaled="1"/>
          </a:gradFill>
          <a:ln>
            <a:noFill/>
          </a:ln>
        </p:spPr>
        <p:txBody>
          <a:bodyPr rtlCol="0" anchor="ctr"/>
          <a:lstStyle/>
          <a:p/>
        </p:txBody>
      </p:sp>
      <p:sp>
        <p:nvSpPr>
          <p:cNvPr id="1949" name="rb_chip_b"/>
          <p:cNvSpPr/>
          <p:nvPr/>
        </p:nvSpPr>
        <p:spPr>
          <a:xfrm>
            <a:off x="8280400" y="1193800"/>
            <a:ext cx="101600" cy="101600"/>
          </a:xfrm>
          <a:prstGeom prst="rect">
            <a:avLst/>
          </a:prstGeom>
          <a:solidFill>
            <a:srgbClr val="8E3F2E"/>
          </a:solidFill>
          <a:ln>
            <a:noFill/>
          </a:ln>
        </p:spPr>
        <p:txBody>
          <a:bodyPr rtlCol="0" anchor="ctr"/>
          <a:lstStyle/>
          <a:p/>
        </p:txBody>
      </p:sp>
      <p:sp>
        <p:nvSpPr>
          <p:cNvPr id="1950"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951"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952" name="rb_tagrule"/>
          <p:cNvCxnSpPr/>
          <p:nvPr/>
        </p:nvCxnSpPr>
        <p:spPr>
          <a:xfrm>
            <a:off x="11226800" y="2260600"/>
            <a:ext cx="482600" cy="0"/>
          </a:xfrm>
          <a:prstGeom prst="straightConnector1">
            <a:avLst/>
          </a:prstGeom>
          <a:ln w="12700">
            <a:solidFill>
              <a:srgbClr val="7E9A85"/>
            </a:solidFill>
          </a:ln>
        </p:spPr>
      </p:cxnSp>
      <p:sp>
        <p:nvSpPr>
          <p:cNvPr id="1953"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EE8A72"/>
                </a:solidFill>
                <a:latin typeface="黑体"/>
                <a:ea typeface="黑体"/>
              </a:rPr>
              <a:t>30 / 42</a:t>
            </a:r>
          </a:p>
        </p:txBody>
      </p:sp>
      <p:sp>
        <p:nvSpPr>
          <p:cNvPr id="1954" name="p30ok_sh"/>
          <p:cNvSpPr/>
          <p:nvPr/>
        </p:nvSpPr>
        <p:spPr>
          <a:xfrm>
            <a:off x="584200" y="13462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955" name="p30ok"/>
          <p:cNvSpPr/>
          <p:nvPr/>
        </p:nvSpPr>
        <p:spPr>
          <a:xfrm>
            <a:off x="558800" y="1295400"/>
            <a:ext cx="7569200" cy="654812"/>
          </a:xfrm>
          <a:prstGeom prst="roundRect">
            <a:avLst>
              <a:gd name="adj" fmla="val 8000"/>
            </a:avLst>
          </a:prstGeom>
          <a:solidFill>
            <a:srgbClr val="E9EFE9"/>
          </a:solidFill>
          <a:ln w="15875">
            <a:solidFill>
              <a:srgbClr val="8E3F2E"/>
            </a:solidFill>
          </a:ln>
        </p:spPr>
        <p:txBody>
          <a:bodyPr rtlCol="0" anchor="ctr"/>
          <a:lstStyle/>
          <a:p/>
        </p:txBody>
      </p:sp>
      <p:sp>
        <p:nvSpPr>
          <p:cNvPr id="1956" name="p30ok_cap"/>
          <p:cNvSpPr/>
          <p:nvPr/>
        </p:nvSpPr>
        <p:spPr>
          <a:xfrm>
            <a:off x="647700" y="1371600"/>
            <a:ext cx="50800" cy="502412"/>
          </a:xfrm>
          <a:prstGeom prst="rect">
            <a:avLst/>
          </a:prstGeom>
          <a:gradFill rotWithShape="1">
            <a:gsLst>
              <a:gs pos="0">
                <a:srgbClr val="8E3F2E"/>
              </a:gs>
              <a:gs pos="100000">
                <a:srgbClr val="8E3F2E">
                  <a:alpha val="10000"/>
                </a:srgbClr>
              </a:gs>
            </a:gsLst>
            <a:lin ang="5400000" scaled="1"/>
          </a:gradFill>
          <a:ln>
            <a:noFill/>
          </a:ln>
        </p:spPr>
        <p:txBody>
          <a:bodyPr rtlCol="0" anchor="ctr"/>
          <a:lstStyle/>
          <a:p/>
        </p:txBody>
      </p:sp>
      <p:sp>
        <p:nvSpPr>
          <p:cNvPr id="1957" name="p30ok_t"/>
          <p:cNvSpPr txBox="1"/>
          <p:nvPr/>
        </p:nvSpPr>
        <p:spPr>
          <a:xfrm>
            <a:off x="711200" y="1384300"/>
            <a:ext cx="7264400" cy="477012"/>
          </a:xfrm>
          <a:prstGeom prst="rect">
            <a:avLst/>
          </a:prstGeom>
        </p:spPr>
        <p:txBody>
          <a:bodyPr wrap="square" lIns="0" rIns="0" tIns="0" bIns="0"/>
          <a:lstStyle/>
          <a:p>
            <a:pPr algn="l" lvl="0"/>
            <a:r>
              <a:rPr lang="zh-CN" sz="1800" b="1">
                <a:solidFill>
                  <a:srgbClr val="1D2B23"/>
                </a:solidFill>
                <a:latin typeface="黑体"/>
                <a:ea typeface="黑体"/>
              </a:rPr>
              <a:t>我们这样回答：这种观点不对。</a:t>
            </a:r>
          </a:p>
        </p:txBody>
      </p:sp>
      <p:sp>
        <p:nvSpPr>
          <p:cNvPr id="1958" name="p30t_sh"/>
          <p:cNvSpPr/>
          <p:nvPr/>
        </p:nvSpPr>
        <p:spPr>
          <a:xfrm>
            <a:off x="584200" y="2204212"/>
            <a:ext cx="7518400" cy="958088"/>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959" name="p30t"/>
          <p:cNvSpPr/>
          <p:nvPr/>
        </p:nvSpPr>
        <p:spPr>
          <a:xfrm>
            <a:off x="558800" y="2153412"/>
            <a:ext cx="7569200" cy="958088"/>
          </a:xfrm>
          <a:prstGeom prst="roundRect">
            <a:avLst>
              <a:gd name="adj" fmla="val 8000"/>
            </a:avLst>
          </a:prstGeom>
          <a:solidFill>
            <a:srgbClr val="F0E8D8"/>
          </a:solidFill>
          <a:ln w="15875">
            <a:solidFill>
              <a:srgbClr val="8E3F2E"/>
            </a:solidFill>
          </a:ln>
        </p:spPr>
        <p:txBody>
          <a:bodyPr rtlCol="0" anchor="ctr"/>
          <a:lstStyle/>
          <a:p/>
        </p:txBody>
      </p:sp>
      <p:sp>
        <p:nvSpPr>
          <p:cNvPr id="1960" name="p30t_le"/>
          <p:cNvSpPr/>
          <p:nvPr/>
        </p:nvSpPr>
        <p:spPr>
          <a:xfrm>
            <a:off x="584200" y="2267712"/>
            <a:ext cx="44450" cy="729488"/>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sp>
        <p:nvSpPr>
          <p:cNvPr id="1961" name="p30t_b"/>
          <p:cNvSpPr txBox="1"/>
          <p:nvPr/>
        </p:nvSpPr>
        <p:spPr>
          <a:xfrm>
            <a:off x="711200" y="2267712"/>
            <a:ext cx="7264400" cy="653288"/>
          </a:xfrm>
          <a:prstGeom prst="rect">
            <a:avLst/>
          </a:prstGeom>
        </p:spPr>
        <p:txBody>
          <a:bodyPr wrap="square" lIns="0" rIns="0" tIns="0" bIns="0"/>
          <a:lstStyle/>
          <a:p>
            <a:pPr algn="l" lvl="0"/>
            <a:r>
              <a:rPr lang="zh-CN" sz="1600">
                <a:solidFill>
                  <a:srgbClr val="2E4438"/>
                </a:solidFill>
                <a:latin typeface="楷体"/>
                <a:ea typeface="楷体"/>
              </a:rPr>
              <a:t>新时代发展，人人共建、人人共享。我们青少年不是旁观者，而是时代</a:t>
            </a:r>
          </a:p>
          <a:p>
            <a:pPr algn="l" lvl="0"/>
            <a:r>
              <a:rPr lang="zh-CN" sz="1600">
                <a:solidFill>
                  <a:srgbClr val="2E4438"/>
                </a:solidFill>
                <a:latin typeface="楷体"/>
                <a:ea typeface="楷体"/>
              </a:rPr>
              <a:t>的见证者、家乡发展的参与者和建设者。</a:t>
            </a:r>
          </a:p>
        </p:txBody>
      </p:sp>
      <p:sp>
        <p:nvSpPr>
          <p:cNvPr id="1962" name="rc0_sh"/>
          <p:cNvSpPr/>
          <p:nvPr/>
        </p:nvSpPr>
        <p:spPr>
          <a:xfrm>
            <a:off x="584200" y="3390900"/>
            <a:ext cx="2362200" cy="1747774"/>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963" name="rc0"/>
          <p:cNvSpPr/>
          <p:nvPr/>
        </p:nvSpPr>
        <p:spPr>
          <a:xfrm>
            <a:off x="558800" y="3340100"/>
            <a:ext cx="2413000" cy="1747774"/>
          </a:xfrm>
          <a:prstGeom prst="roundRect">
            <a:avLst>
              <a:gd name="adj" fmla="val 8000"/>
            </a:avLst>
          </a:prstGeom>
          <a:solidFill>
            <a:srgbClr val="E9EFE9"/>
          </a:solidFill>
          <a:ln w="15875">
            <a:solidFill>
              <a:srgbClr val="8E3F2E"/>
            </a:solidFill>
          </a:ln>
        </p:spPr>
        <p:txBody>
          <a:bodyPr rtlCol="0" anchor="ctr"/>
          <a:lstStyle/>
          <a:p/>
        </p:txBody>
      </p:sp>
      <p:sp>
        <p:nvSpPr>
          <p:cNvPr id="1964" name="rc0_le"/>
          <p:cNvSpPr/>
          <p:nvPr/>
        </p:nvSpPr>
        <p:spPr>
          <a:xfrm>
            <a:off x="584200" y="3454400"/>
            <a:ext cx="44450" cy="1519174"/>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sp>
        <p:nvSpPr>
          <p:cNvPr id="1965" name="rc0_t"/>
          <p:cNvSpPr txBox="1"/>
          <p:nvPr/>
        </p:nvSpPr>
        <p:spPr>
          <a:xfrm>
            <a:off x="711200" y="3598672"/>
            <a:ext cx="2108200" cy="374142"/>
          </a:xfrm>
          <a:prstGeom prst="rect">
            <a:avLst/>
          </a:prstGeom>
        </p:spPr>
        <p:txBody>
          <a:bodyPr wrap="square" lIns="0" rIns="0" tIns="0" bIns="0"/>
          <a:lstStyle/>
          <a:p>
            <a:pPr algn="l" lvl="0"/>
            <a:r>
              <a:rPr lang="zh-CN" sz="1700" b="1">
                <a:solidFill>
                  <a:srgbClr val="8E3F2E"/>
                </a:solidFill>
                <a:latin typeface="黑体"/>
                <a:ea typeface="黑体"/>
              </a:rPr>
              <a:t>做文化宣传员</a:t>
            </a:r>
          </a:p>
        </p:txBody>
      </p:sp>
      <p:sp>
        <p:nvSpPr>
          <p:cNvPr id="1966" name="rc0_b"/>
          <p:cNvSpPr txBox="1"/>
          <p:nvPr/>
        </p:nvSpPr>
        <p:spPr>
          <a:xfrm>
            <a:off x="711200" y="4099814"/>
            <a:ext cx="2108200" cy="653288"/>
          </a:xfrm>
          <a:prstGeom prst="rect">
            <a:avLst/>
          </a:prstGeom>
        </p:spPr>
        <p:txBody>
          <a:bodyPr wrap="square" lIns="0" rIns="0" tIns="0" bIns="0"/>
          <a:lstStyle/>
          <a:p>
            <a:pPr algn="l" lvl="0"/>
            <a:r>
              <a:rPr lang="zh-CN" sz="1600">
                <a:solidFill>
                  <a:srgbClr val="2E4438"/>
                </a:solidFill>
                <a:latin typeface="楷体"/>
                <a:ea typeface="楷体"/>
              </a:rPr>
              <a:t>了解盐湖历史，讲</a:t>
            </a:r>
          </a:p>
          <a:p>
            <a:pPr algn="l" lvl="0"/>
            <a:r>
              <a:rPr lang="zh-CN" sz="1600">
                <a:solidFill>
                  <a:srgbClr val="2E4438"/>
                </a:solidFill>
                <a:latin typeface="楷体"/>
                <a:ea typeface="楷体"/>
              </a:rPr>
              <a:t>好生态故事。</a:t>
            </a:r>
          </a:p>
        </p:txBody>
      </p:sp>
      <p:sp>
        <p:nvSpPr>
          <p:cNvPr id="1967" name="rc1_sh"/>
          <p:cNvSpPr/>
          <p:nvPr/>
        </p:nvSpPr>
        <p:spPr>
          <a:xfrm>
            <a:off x="3149600" y="3390900"/>
            <a:ext cx="2362200" cy="1747774"/>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968" name="rc1"/>
          <p:cNvSpPr/>
          <p:nvPr/>
        </p:nvSpPr>
        <p:spPr>
          <a:xfrm>
            <a:off x="3124200" y="3340100"/>
            <a:ext cx="2413000" cy="1747774"/>
          </a:xfrm>
          <a:prstGeom prst="roundRect">
            <a:avLst>
              <a:gd name="adj" fmla="val 8000"/>
            </a:avLst>
          </a:prstGeom>
          <a:solidFill>
            <a:srgbClr val="E9EFE9"/>
          </a:solidFill>
          <a:ln w="15875">
            <a:solidFill>
              <a:srgbClr val="8E3F2E"/>
            </a:solidFill>
          </a:ln>
        </p:spPr>
        <p:txBody>
          <a:bodyPr rtlCol="0" anchor="ctr"/>
          <a:lstStyle/>
          <a:p/>
        </p:txBody>
      </p:sp>
      <p:sp>
        <p:nvSpPr>
          <p:cNvPr id="1969" name="rc1_le"/>
          <p:cNvSpPr/>
          <p:nvPr/>
        </p:nvSpPr>
        <p:spPr>
          <a:xfrm>
            <a:off x="3149600" y="3454400"/>
            <a:ext cx="44450" cy="1519174"/>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sp>
        <p:nvSpPr>
          <p:cNvPr id="1970" name="rc1_t"/>
          <p:cNvSpPr txBox="1"/>
          <p:nvPr/>
        </p:nvSpPr>
        <p:spPr>
          <a:xfrm>
            <a:off x="3276600" y="3598672"/>
            <a:ext cx="2108200" cy="374142"/>
          </a:xfrm>
          <a:prstGeom prst="rect">
            <a:avLst/>
          </a:prstGeom>
        </p:spPr>
        <p:txBody>
          <a:bodyPr wrap="square" lIns="0" rIns="0" tIns="0" bIns="0"/>
          <a:lstStyle/>
          <a:p>
            <a:pPr algn="l" lvl="0"/>
            <a:r>
              <a:rPr lang="zh-CN" sz="1700" b="1">
                <a:solidFill>
                  <a:srgbClr val="8E3F2E"/>
                </a:solidFill>
                <a:latin typeface="黑体"/>
                <a:ea typeface="黑体"/>
              </a:rPr>
              <a:t>做绿色践行者</a:t>
            </a:r>
          </a:p>
        </p:txBody>
      </p:sp>
      <p:sp>
        <p:nvSpPr>
          <p:cNvPr id="1971" name="rc1_b"/>
          <p:cNvSpPr txBox="1"/>
          <p:nvPr/>
        </p:nvSpPr>
        <p:spPr>
          <a:xfrm>
            <a:off x="3276600" y="4099814"/>
            <a:ext cx="2108200" cy="653288"/>
          </a:xfrm>
          <a:prstGeom prst="rect">
            <a:avLst/>
          </a:prstGeom>
        </p:spPr>
        <p:txBody>
          <a:bodyPr wrap="square" lIns="0" rIns="0" tIns="0" bIns="0"/>
          <a:lstStyle/>
          <a:p>
            <a:pPr algn="l" lvl="0"/>
            <a:r>
              <a:rPr lang="zh-CN" sz="1600">
                <a:solidFill>
                  <a:srgbClr val="2E4438"/>
                </a:solidFill>
                <a:latin typeface="楷体"/>
                <a:ea typeface="楷体"/>
              </a:rPr>
              <a:t>从小事做起，守护</a:t>
            </a:r>
          </a:p>
          <a:p>
            <a:pPr algn="l" lvl="0"/>
            <a:r>
              <a:rPr lang="zh-CN" sz="1600">
                <a:solidFill>
                  <a:srgbClr val="2E4438"/>
                </a:solidFill>
                <a:latin typeface="楷体"/>
                <a:ea typeface="楷体"/>
              </a:rPr>
              <a:t>身边的绿水青山。</a:t>
            </a:r>
          </a:p>
        </p:txBody>
      </p:sp>
      <p:sp>
        <p:nvSpPr>
          <p:cNvPr id="1972" name="rc2_sh"/>
          <p:cNvSpPr/>
          <p:nvPr/>
        </p:nvSpPr>
        <p:spPr>
          <a:xfrm>
            <a:off x="5715000" y="3390900"/>
            <a:ext cx="2362200" cy="1747774"/>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973" name="rc2"/>
          <p:cNvSpPr/>
          <p:nvPr/>
        </p:nvSpPr>
        <p:spPr>
          <a:xfrm>
            <a:off x="5689600" y="3340100"/>
            <a:ext cx="2413000" cy="1747774"/>
          </a:xfrm>
          <a:prstGeom prst="roundRect">
            <a:avLst>
              <a:gd name="adj" fmla="val 8000"/>
            </a:avLst>
          </a:prstGeom>
          <a:solidFill>
            <a:srgbClr val="E9EFE9"/>
          </a:solidFill>
          <a:ln w="15875">
            <a:solidFill>
              <a:srgbClr val="8E3F2E"/>
            </a:solidFill>
          </a:ln>
        </p:spPr>
        <p:txBody>
          <a:bodyPr rtlCol="0" anchor="ctr"/>
          <a:lstStyle/>
          <a:p/>
        </p:txBody>
      </p:sp>
      <p:sp>
        <p:nvSpPr>
          <p:cNvPr id="1974" name="rc2_le"/>
          <p:cNvSpPr/>
          <p:nvPr/>
        </p:nvSpPr>
        <p:spPr>
          <a:xfrm>
            <a:off x="5715000" y="3454400"/>
            <a:ext cx="44450" cy="1519174"/>
          </a:xfrm>
          <a:prstGeom prst="rect">
            <a:avLst/>
          </a:prstGeom>
          <a:gradFill rotWithShape="1">
            <a:gsLst>
              <a:gs pos="0">
                <a:srgbClr val="8E3F2E"/>
              </a:gs>
              <a:gs pos="100000">
                <a:srgbClr val="8E3F2E">
                  <a:alpha val="0"/>
                </a:srgbClr>
              </a:gs>
            </a:gsLst>
            <a:lin ang="5400000" scaled="1"/>
          </a:gradFill>
          <a:ln>
            <a:noFill/>
          </a:ln>
        </p:spPr>
        <p:txBody>
          <a:bodyPr rtlCol="0" anchor="ctr"/>
          <a:lstStyle/>
          <a:p/>
        </p:txBody>
      </p:sp>
      <p:sp>
        <p:nvSpPr>
          <p:cNvPr id="1975" name="rc2_t"/>
          <p:cNvSpPr txBox="1"/>
          <p:nvPr/>
        </p:nvSpPr>
        <p:spPr>
          <a:xfrm>
            <a:off x="5842000" y="3454400"/>
            <a:ext cx="2108200" cy="374142"/>
          </a:xfrm>
          <a:prstGeom prst="rect">
            <a:avLst/>
          </a:prstGeom>
        </p:spPr>
        <p:txBody>
          <a:bodyPr wrap="square" lIns="0" rIns="0" tIns="0" bIns="0"/>
          <a:lstStyle/>
          <a:p>
            <a:pPr algn="l" lvl="0"/>
            <a:r>
              <a:rPr lang="zh-CN" sz="1700" b="1">
                <a:solidFill>
                  <a:srgbClr val="8E3F2E"/>
                </a:solidFill>
                <a:latin typeface="黑体"/>
                <a:ea typeface="黑体"/>
              </a:rPr>
              <a:t>做家乡建设者</a:t>
            </a:r>
          </a:p>
        </p:txBody>
      </p:sp>
      <p:sp>
        <p:nvSpPr>
          <p:cNvPr id="1976" name="rc2_b"/>
          <p:cNvSpPr txBox="1"/>
          <p:nvPr/>
        </p:nvSpPr>
        <p:spPr>
          <a:xfrm>
            <a:off x="5842000" y="3955542"/>
            <a:ext cx="2108200" cy="941832"/>
          </a:xfrm>
          <a:prstGeom prst="rect">
            <a:avLst/>
          </a:prstGeom>
        </p:spPr>
        <p:txBody>
          <a:bodyPr wrap="square" lIns="0" rIns="0" tIns="0" bIns="0"/>
          <a:lstStyle/>
          <a:p>
            <a:pPr algn="l" lvl="0"/>
            <a:r>
              <a:rPr lang="zh-CN" sz="1600">
                <a:solidFill>
                  <a:srgbClr val="2E4438"/>
                </a:solidFill>
                <a:latin typeface="楷体"/>
                <a:ea typeface="楷体"/>
              </a:rPr>
              <a:t>学好本领，将来为</a:t>
            </a:r>
          </a:p>
          <a:p>
            <a:pPr algn="l" lvl="0"/>
            <a:r>
              <a:rPr lang="zh-CN" sz="1600">
                <a:solidFill>
                  <a:srgbClr val="2E4438"/>
                </a:solidFill>
                <a:latin typeface="楷体"/>
                <a:ea typeface="楷体"/>
              </a:rPr>
              <a:t>家乡发展贡献力量。</a:t>
            </a:r>
          </a:p>
          <a:p>
            <a:pPr algn="l" lvl="0"/>
            <a:r>
              <a:rPr lang="zh-CN" sz="1600">
                <a:solidFill>
                  <a:srgbClr val="2E4438"/>
                </a:solidFill>
                <a:latin typeface="楷体"/>
                <a:ea typeface="楷体"/>
              </a:rPr>
              <a:t/>
            </a:r>
          </a:p>
        </p:txBody>
      </p:sp>
    </p:spTree>
  </p:cSld>
  <p:clrMapOvr>
    <a:masterClrMapping/>
  </p:clrMapOvr>
  <p:transition xmlns:p="http://schemas.openxmlformats.org/presentationml/2006/main" spd="med">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977" name="hd_secbg"/>
          <p:cNvSpPr/>
          <p:nvPr/>
        </p:nvSpPr>
        <p:spPr>
          <a:xfrm>
            <a:off x="558800" y="279400"/>
            <a:ext cx="2623058"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1978" name="hd_secbar"/>
          <p:cNvSpPr/>
          <p:nvPr/>
        </p:nvSpPr>
        <p:spPr>
          <a:xfrm>
            <a:off x="609600" y="317500"/>
            <a:ext cx="44450" cy="228600"/>
          </a:xfrm>
          <a:prstGeom prst="rect">
            <a:avLst/>
          </a:prstGeom>
          <a:gradFill rotWithShape="1">
            <a:gsLst>
              <a:gs pos="0">
                <a:srgbClr val="584C86"/>
              </a:gs>
              <a:gs pos="100000">
                <a:srgbClr val="B9A7E8">
                  <a:alpha val="100000"/>
                </a:srgbClr>
              </a:gs>
            </a:gsLst>
            <a:lin ang="5400000" scaled="1"/>
          </a:gradFill>
          <a:ln>
            <a:noFill/>
          </a:ln>
        </p:spPr>
        <p:txBody>
          <a:bodyPr rtlCol="0" anchor="ctr"/>
          <a:lstStyle/>
          <a:p/>
        </p:txBody>
      </p:sp>
      <p:sp>
        <p:nvSpPr>
          <p:cNvPr id="1979" name="hd_sec"/>
          <p:cNvSpPr txBox="1"/>
          <p:nvPr/>
        </p:nvSpPr>
        <p:spPr>
          <a:xfrm>
            <a:off x="736600" y="317500"/>
            <a:ext cx="2343658" cy="228600"/>
          </a:xfrm>
          <a:prstGeom prst="rect">
            <a:avLst/>
          </a:prstGeom>
        </p:spPr>
        <p:txBody>
          <a:bodyPr wrap="square" lIns="0" rIns="0" tIns="0" bIns="0"/>
          <a:lstStyle/>
          <a:p>
            <a:pPr algn="l" lvl="0"/>
            <a:r>
              <a:rPr lang="zh-CN" sz="1400" b="1">
                <a:solidFill>
                  <a:srgbClr val="584C86"/>
                </a:solidFill>
                <a:latin typeface="黑体"/>
                <a:ea typeface="黑体"/>
              </a:rPr>
              <a:t>收束 · 小结·评价·练习</a:t>
            </a:r>
          </a:p>
        </p:txBody>
      </p:sp>
      <p:sp>
        <p:nvSpPr>
          <p:cNvPr id="1980"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课后延伸 · A / B 分层</a:t>
            </a:r>
          </a:p>
        </p:txBody>
      </p:sp>
      <p:sp>
        <p:nvSpPr>
          <p:cNvPr id="1981" name="hd_rule2"/>
          <p:cNvSpPr/>
          <p:nvPr/>
        </p:nvSpPr>
        <p:spPr>
          <a:xfrm>
            <a:off x="558800" y="1143000"/>
            <a:ext cx="1625600" cy="44450"/>
          </a:xfrm>
          <a:prstGeom prst="rect">
            <a:avLst/>
          </a:prstGeom>
          <a:gradFill rotWithShape="1">
            <a:gsLst>
              <a:gs pos="0">
                <a:srgbClr val="584C86"/>
              </a:gs>
              <a:gs pos="100000">
                <a:srgbClr val="B9A7E8">
                  <a:alpha val="100000"/>
                </a:srgbClr>
              </a:gs>
            </a:gsLst>
            <a:lin ang="0" scaled="1"/>
          </a:gradFill>
          <a:ln>
            <a:noFill/>
          </a:ln>
        </p:spPr>
        <p:txBody>
          <a:bodyPr rtlCol="0" anchor="ctr"/>
          <a:lstStyle/>
          <a:p/>
        </p:txBody>
      </p:sp>
      <p:sp>
        <p:nvSpPr>
          <p:cNvPr id="1982" name="hd_rule"/>
          <p:cNvSpPr/>
          <p:nvPr/>
        </p:nvSpPr>
        <p:spPr>
          <a:xfrm>
            <a:off x="2260600" y="1158240"/>
            <a:ext cx="5867400" cy="19050"/>
          </a:xfrm>
          <a:prstGeom prst="rect">
            <a:avLst/>
          </a:prstGeom>
          <a:solidFill>
            <a:srgbClr val="B9A7E8">
              <a:alpha val="40000"/>
            </a:srgbClr>
          </a:solidFill>
          <a:ln>
            <a:noFill/>
          </a:ln>
        </p:spPr>
        <p:txBody>
          <a:bodyPr rtlCol="0" anchor="ctr"/>
          <a:lstStyle/>
          <a:p/>
        </p:txBody>
      </p:sp>
      <p:cxnSp>
        <p:nvCxnSpPr>
          <p:cNvPr id="1983" name="rb_rule"/>
          <p:cNvCxnSpPr/>
          <p:nvPr/>
        </p:nvCxnSpPr>
        <p:spPr>
          <a:xfrm>
            <a:off x="8280400" y="1422400"/>
            <a:ext cx="0" cy="4267200"/>
          </a:xfrm>
          <a:prstGeom prst="straightConnector1">
            <a:avLst/>
          </a:prstGeom>
          <a:ln w="19050">
            <a:solidFill>
              <a:srgbClr val="7E9A85"/>
            </a:solidFill>
          </a:ln>
        </p:spPr>
      </p:cxnSp>
      <p:sp>
        <p:nvSpPr>
          <p:cNvPr id="1984" name="rb_chip_a"/>
          <p:cNvSpPr/>
          <p:nvPr/>
        </p:nvSpPr>
        <p:spPr>
          <a:xfrm>
            <a:off x="8229600" y="1219200"/>
            <a:ext cx="152400" cy="152400"/>
          </a:xfrm>
          <a:prstGeom prst="rect">
            <a:avLst/>
          </a:prstGeom>
          <a:gradFill rotWithShape="1">
            <a:gsLst>
              <a:gs pos="0">
                <a:srgbClr val="B9A7E8"/>
              </a:gs>
              <a:gs pos="100000">
                <a:srgbClr val="584C86">
                  <a:alpha val="100000"/>
                </a:srgbClr>
              </a:gs>
            </a:gsLst>
            <a:lin ang="8100000" scaled="1"/>
          </a:gradFill>
          <a:ln>
            <a:noFill/>
          </a:ln>
        </p:spPr>
        <p:txBody>
          <a:bodyPr rtlCol="0" anchor="ctr"/>
          <a:lstStyle/>
          <a:p/>
        </p:txBody>
      </p:sp>
      <p:sp>
        <p:nvSpPr>
          <p:cNvPr id="1985" name="rb_chip_b"/>
          <p:cNvSpPr/>
          <p:nvPr/>
        </p:nvSpPr>
        <p:spPr>
          <a:xfrm>
            <a:off x="8280400" y="1193800"/>
            <a:ext cx="101600" cy="101600"/>
          </a:xfrm>
          <a:prstGeom prst="rect">
            <a:avLst/>
          </a:prstGeom>
          <a:solidFill>
            <a:srgbClr val="584C86"/>
          </a:solidFill>
          <a:ln>
            <a:noFill/>
          </a:ln>
        </p:spPr>
        <p:txBody>
          <a:bodyPr rtlCol="0" anchor="ctr"/>
          <a:lstStyle/>
          <a:p/>
        </p:txBody>
      </p:sp>
      <p:sp>
        <p:nvSpPr>
          <p:cNvPr id="1986"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1987"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1988" name="rb_tagrule"/>
          <p:cNvCxnSpPr/>
          <p:nvPr/>
        </p:nvCxnSpPr>
        <p:spPr>
          <a:xfrm>
            <a:off x="11226800" y="2260600"/>
            <a:ext cx="482600" cy="0"/>
          </a:xfrm>
          <a:prstGeom prst="straightConnector1">
            <a:avLst/>
          </a:prstGeom>
          <a:ln w="12700">
            <a:solidFill>
              <a:srgbClr val="7E9A85"/>
            </a:solidFill>
          </a:ln>
        </p:spPr>
      </p:cxnSp>
      <p:sp>
        <p:nvSpPr>
          <p:cNvPr id="1989"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B9A7E8"/>
                </a:solidFill>
                <a:latin typeface="黑体"/>
                <a:ea typeface="黑体"/>
              </a:rPr>
              <a:t>31 / 42</a:t>
            </a:r>
          </a:p>
        </p:txBody>
      </p:sp>
      <p:sp>
        <p:nvSpPr>
          <p:cNvPr id="1990" name="lead_sh"/>
          <p:cNvSpPr/>
          <p:nvPr/>
        </p:nvSpPr>
        <p:spPr>
          <a:xfrm>
            <a:off x="584200" y="1346200"/>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1991" name="lead"/>
          <p:cNvSpPr/>
          <p:nvPr/>
        </p:nvSpPr>
        <p:spPr>
          <a:xfrm>
            <a:off x="558800" y="1295400"/>
            <a:ext cx="7569200" cy="618744"/>
          </a:xfrm>
          <a:prstGeom prst="roundRect">
            <a:avLst>
              <a:gd name="adj" fmla="val 8000"/>
            </a:avLst>
          </a:prstGeom>
          <a:solidFill>
            <a:srgbClr val="E9EFE9"/>
          </a:solidFill>
          <a:ln w="15875">
            <a:solidFill>
              <a:srgbClr val="584C86"/>
            </a:solidFill>
          </a:ln>
        </p:spPr>
        <p:txBody>
          <a:bodyPr rtlCol="0" anchor="ctr"/>
          <a:lstStyle/>
          <a:p/>
        </p:txBody>
      </p:sp>
      <p:sp>
        <p:nvSpPr>
          <p:cNvPr id="1992" name="lead_cap"/>
          <p:cNvSpPr/>
          <p:nvPr/>
        </p:nvSpPr>
        <p:spPr>
          <a:xfrm>
            <a:off x="647700" y="1371600"/>
            <a:ext cx="50800" cy="466344"/>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1993" name="lead_t"/>
          <p:cNvSpPr txBox="1"/>
          <p:nvPr/>
        </p:nvSpPr>
        <p:spPr>
          <a:xfrm>
            <a:off x="711200" y="1384300"/>
            <a:ext cx="7264400" cy="440944"/>
          </a:xfrm>
          <a:prstGeom prst="rect">
            <a:avLst/>
          </a:prstGeom>
        </p:spPr>
        <p:txBody>
          <a:bodyPr wrap="square" lIns="0" rIns="0" tIns="0" bIns="0"/>
          <a:lstStyle/>
          <a:p>
            <a:pPr algn="l" lvl="0"/>
            <a:r>
              <a:rPr lang="zh-CN" sz="1600">
                <a:solidFill>
                  <a:srgbClr val="1D2B23"/>
                </a:solidFill>
                <a:latin typeface="楷体"/>
                <a:ea typeface="楷体"/>
              </a:rPr>
              <a:t>课后延伸：二选一，把课堂上的方法带回家。</a:t>
            </a:r>
          </a:p>
        </p:txBody>
      </p:sp>
      <p:sp>
        <p:nvSpPr>
          <p:cNvPr id="1994" name="rc0_sh"/>
          <p:cNvSpPr/>
          <p:nvPr/>
        </p:nvSpPr>
        <p:spPr>
          <a:xfrm>
            <a:off x="584200" y="2269744"/>
            <a:ext cx="3657600" cy="1747774"/>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1995" name="rc0"/>
          <p:cNvSpPr/>
          <p:nvPr/>
        </p:nvSpPr>
        <p:spPr>
          <a:xfrm>
            <a:off x="558800" y="2218944"/>
            <a:ext cx="3708400" cy="1747774"/>
          </a:xfrm>
          <a:prstGeom prst="roundRect">
            <a:avLst>
              <a:gd name="adj" fmla="val 8000"/>
            </a:avLst>
          </a:prstGeom>
          <a:solidFill>
            <a:srgbClr val="E9EFE9"/>
          </a:solidFill>
          <a:ln w="15875">
            <a:solidFill>
              <a:srgbClr val="584C86"/>
            </a:solidFill>
          </a:ln>
        </p:spPr>
        <p:txBody>
          <a:bodyPr rtlCol="0" anchor="ctr"/>
          <a:lstStyle/>
          <a:p/>
        </p:txBody>
      </p:sp>
      <p:sp>
        <p:nvSpPr>
          <p:cNvPr id="1996" name="rc0_le"/>
          <p:cNvSpPr/>
          <p:nvPr/>
        </p:nvSpPr>
        <p:spPr>
          <a:xfrm>
            <a:off x="584200" y="2333244"/>
            <a:ext cx="44450" cy="1519174"/>
          </a:xfrm>
          <a:prstGeom prst="rect">
            <a:avLst/>
          </a:prstGeom>
          <a:gradFill rotWithShape="1">
            <a:gsLst>
              <a:gs pos="0">
                <a:srgbClr val="584C86"/>
              </a:gs>
              <a:gs pos="100000">
                <a:srgbClr val="584C86">
                  <a:alpha val="0"/>
                </a:srgbClr>
              </a:gs>
            </a:gsLst>
            <a:lin ang="5400000" scaled="1"/>
          </a:gradFill>
          <a:ln>
            <a:noFill/>
          </a:ln>
        </p:spPr>
        <p:txBody>
          <a:bodyPr rtlCol="0" anchor="ctr"/>
          <a:lstStyle/>
          <a:p/>
        </p:txBody>
      </p:sp>
      <p:sp>
        <p:nvSpPr>
          <p:cNvPr id="1997" name="rc0_t"/>
          <p:cNvSpPr txBox="1"/>
          <p:nvPr/>
        </p:nvSpPr>
        <p:spPr>
          <a:xfrm>
            <a:off x="711200" y="2333244"/>
            <a:ext cx="3403600" cy="374142"/>
          </a:xfrm>
          <a:prstGeom prst="rect">
            <a:avLst/>
          </a:prstGeom>
        </p:spPr>
        <p:txBody>
          <a:bodyPr wrap="square" lIns="0" rIns="0" tIns="0" bIns="0"/>
          <a:lstStyle/>
          <a:p>
            <a:pPr algn="l" lvl="0"/>
            <a:r>
              <a:rPr lang="zh-CN" sz="1700" b="1">
                <a:solidFill>
                  <a:srgbClr val="584C86"/>
                </a:solidFill>
                <a:latin typeface="黑体"/>
                <a:ea typeface="黑体"/>
              </a:rPr>
              <a:t>A 层 · 具备外出条件</a:t>
            </a:r>
          </a:p>
        </p:txBody>
      </p:sp>
      <p:sp>
        <p:nvSpPr>
          <p:cNvPr id="1998" name="rc0_b"/>
          <p:cNvSpPr txBox="1"/>
          <p:nvPr/>
        </p:nvSpPr>
        <p:spPr>
          <a:xfrm>
            <a:off x="711200" y="2834386"/>
            <a:ext cx="3403600" cy="941832"/>
          </a:xfrm>
          <a:prstGeom prst="rect">
            <a:avLst/>
          </a:prstGeom>
        </p:spPr>
        <p:txBody>
          <a:bodyPr wrap="square" lIns="0" rIns="0" tIns="0" bIns="0"/>
          <a:lstStyle/>
          <a:p>
            <a:pPr algn="l" lvl="0"/>
            <a:r>
              <a:rPr lang="zh-CN" sz="1600">
                <a:solidFill>
                  <a:srgbClr val="2E4438"/>
                </a:solidFill>
                <a:latin typeface="楷体"/>
                <a:ea typeface="楷体"/>
              </a:rPr>
              <a:t>小组制定研学方案，实地开展盐</a:t>
            </a:r>
          </a:p>
          <a:p>
            <a:pPr algn="l" lvl="0"/>
            <a:r>
              <a:rPr lang="zh-CN" sz="1600">
                <a:solidFill>
                  <a:srgbClr val="2E4438"/>
                </a:solidFill>
                <a:latin typeface="楷体"/>
                <a:ea typeface="楷体"/>
              </a:rPr>
              <a:t>湖研学，完成一份完整的《家乡</a:t>
            </a:r>
          </a:p>
          <a:p>
            <a:pPr algn="l" lvl="0"/>
            <a:r>
              <a:rPr lang="zh-CN" sz="1600">
                <a:solidFill>
                  <a:srgbClr val="2E4438"/>
                </a:solidFill>
                <a:latin typeface="楷体"/>
                <a:ea typeface="楷体"/>
              </a:rPr>
              <a:t>发展调研报告》。</a:t>
            </a:r>
          </a:p>
        </p:txBody>
      </p:sp>
      <p:sp>
        <p:nvSpPr>
          <p:cNvPr id="1999" name="rc1_sh"/>
          <p:cNvSpPr/>
          <p:nvPr/>
        </p:nvSpPr>
        <p:spPr>
          <a:xfrm>
            <a:off x="4445000" y="2269744"/>
            <a:ext cx="3657600" cy="1747774"/>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2000" name="rc1"/>
          <p:cNvSpPr/>
          <p:nvPr/>
        </p:nvSpPr>
        <p:spPr>
          <a:xfrm>
            <a:off x="4419600" y="2218944"/>
            <a:ext cx="3708400" cy="1747774"/>
          </a:xfrm>
          <a:prstGeom prst="roundRect">
            <a:avLst>
              <a:gd name="adj" fmla="val 8000"/>
            </a:avLst>
          </a:prstGeom>
          <a:solidFill>
            <a:srgbClr val="E9EFE9"/>
          </a:solidFill>
          <a:ln w="15875">
            <a:solidFill>
              <a:srgbClr val="584C86"/>
            </a:solidFill>
          </a:ln>
        </p:spPr>
        <p:txBody>
          <a:bodyPr rtlCol="0" anchor="ctr"/>
          <a:lstStyle/>
          <a:p/>
        </p:txBody>
      </p:sp>
      <p:sp>
        <p:nvSpPr>
          <p:cNvPr id="2001" name="rc1_le"/>
          <p:cNvSpPr/>
          <p:nvPr/>
        </p:nvSpPr>
        <p:spPr>
          <a:xfrm>
            <a:off x="4445000" y="2333244"/>
            <a:ext cx="44450" cy="1519174"/>
          </a:xfrm>
          <a:prstGeom prst="rect">
            <a:avLst/>
          </a:prstGeom>
          <a:gradFill rotWithShape="1">
            <a:gsLst>
              <a:gs pos="0">
                <a:srgbClr val="584C86"/>
              </a:gs>
              <a:gs pos="100000">
                <a:srgbClr val="584C86">
                  <a:alpha val="0"/>
                </a:srgbClr>
              </a:gs>
            </a:gsLst>
            <a:lin ang="5400000" scaled="1"/>
          </a:gradFill>
          <a:ln>
            <a:noFill/>
          </a:ln>
        </p:spPr>
        <p:txBody>
          <a:bodyPr rtlCol="0" anchor="ctr"/>
          <a:lstStyle/>
          <a:p/>
        </p:txBody>
      </p:sp>
      <p:sp>
        <p:nvSpPr>
          <p:cNvPr id="2002" name="rc1_t"/>
          <p:cNvSpPr txBox="1"/>
          <p:nvPr/>
        </p:nvSpPr>
        <p:spPr>
          <a:xfrm>
            <a:off x="4572000" y="2477516"/>
            <a:ext cx="3403600" cy="374142"/>
          </a:xfrm>
          <a:prstGeom prst="rect">
            <a:avLst/>
          </a:prstGeom>
        </p:spPr>
        <p:txBody>
          <a:bodyPr wrap="square" lIns="0" rIns="0" tIns="0" bIns="0"/>
          <a:lstStyle/>
          <a:p>
            <a:pPr algn="l" lvl="0"/>
            <a:r>
              <a:rPr lang="zh-CN" sz="1700" b="1">
                <a:solidFill>
                  <a:srgbClr val="584C86"/>
                </a:solidFill>
                <a:latin typeface="黑体"/>
                <a:ea typeface="黑体"/>
              </a:rPr>
              <a:t>B 层 · 不具备外出条件</a:t>
            </a:r>
          </a:p>
        </p:txBody>
      </p:sp>
      <p:sp>
        <p:nvSpPr>
          <p:cNvPr id="2003" name="rc1_b"/>
          <p:cNvSpPr txBox="1"/>
          <p:nvPr/>
        </p:nvSpPr>
        <p:spPr>
          <a:xfrm>
            <a:off x="4572000" y="2978658"/>
            <a:ext cx="3403600" cy="653288"/>
          </a:xfrm>
          <a:prstGeom prst="rect">
            <a:avLst/>
          </a:prstGeom>
        </p:spPr>
        <p:txBody>
          <a:bodyPr wrap="square" lIns="0" rIns="0" tIns="0" bIns="0"/>
          <a:lstStyle/>
          <a:p>
            <a:pPr algn="l" lvl="0"/>
            <a:r>
              <a:rPr lang="zh-CN" sz="1600">
                <a:solidFill>
                  <a:srgbClr val="2E4438"/>
                </a:solidFill>
                <a:latin typeface="楷体"/>
                <a:ea typeface="楷体"/>
              </a:rPr>
              <a:t>线上查阅官方资料，制作一份盐</a:t>
            </a:r>
          </a:p>
          <a:p>
            <a:pPr algn="l" lvl="0"/>
            <a:r>
              <a:rPr lang="zh-CN" sz="1600">
                <a:solidFill>
                  <a:srgbClr val="2E4438"/>
                </a:solidFill>
                <a:latin typeface="楷体"/>
                <a:ea typeface="楷体"/>
              </a:rPr>
              <a:t>湖生态文化宣传小报。</a:t>
            </a:r>
          </a:p>
        </p:txBody>
      </p:sp>
      <p:sp>
        <p:nvSpPr>
          <p:cNvPr id="2004" name="p31sum_sh"/>
          <p:cNvSpPr/>
          <p:nvPr/>
        </p:nvSpPr>
        <p:spPr>
          <a:xfrm>
            <a:off x="584200" y="4246118"/>
            <a:ext cx="7518400" cy="907288"/>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005" name="p31sum"/>
          <p:cNvSpPr/>
          <p:nvPr/>
        </p:nvSpPr>
        <p:spPr>
          <a:xfrm>
            <a:off x="558800" y="4195318"/>
            <a:ext cx="7569200" cy="907288"/>
          </a:xfrm>
          <a:prstGeom prst="roundRect">
            <a:avLst>
              <a:gd name="adj" fmla="val 8000"/>
            </a:avLst>
          </a:prstGeom>
          <a:solidFill>
            <a:srgbClr val="E9EFE9"/>
          </a:solidFill>
          <a:ln w="15875">
            <a:solidFill>
              <a:srgbClr val="584C86"/>
            </a:solidFill>
          </a:ln>
        </p:spPr>
        <p:txBody>
          <a:bodyPr rtlCol="0" anchor="ctr"/>
          <a:lstStyle/>
          <a:p/>
        </p:txBody>
      </p:sp>
      <p:sp>
        <p:nvSpPr>
          <p:cNvPr id="2006" name="p31sum_cap"/>
          <p:cNvSpPr/>
          <p:nvPr/>
        </p:nvSpPr>
        <p:spPr>
          <a:xfrm>
            <a:off x="647700" y="4271518"/>
            <a:ext cx="50800" cy="754888"/>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007" name="p31sum_t"/>
          <p:cNvSpPr txBox="1"/>
          <p:nvPr/>
        </p:nvSpPr>
        <p:spPr>
          <a:xfrm>
            <a:off x="711200" y="4284218"/>
            <a:ext cx="7264400" cy="729488"/>
          </a:xfrm>
          <a:prstGeom prst="rect">
            <a:avLst/>
          </a:prstGeom>
        </p:spPr>
        <p:txBody>
          <a:bodyPr wrap="square" lIns="0" rIns="0" tIns="0" bIns="0"/>
          <a:lstStyle/>
          <a:p>
            <a:pPr algn="l" lvl="0"/>
            <a:r>
              <a:rPr lang="zh-CN" sz="1600" b="1">
                <a:solidFill>
                  <a:srgbClr val="1D2B23"/>
                </a:solidFill>
                <a:latin typeface="黑体"/>
                <a:ea typeface="黑体"/>
              </a:rPr>
              <a:t>两条路，同一个目标：把“看见”变成“证据”，把“感动”变成“行</a:t>
            </a:r>
          </a:p>
          <a:p>
            <a:pPr algn="l" lvl="0"/>
            <a:r>
              <a:rPr lang="zh-CN" sz="1600" b="1">
                <a:solidFill>
                  <a:srgbClr val="1D2B23"/>
                </a:solidFill>
                <a:latin typeface="黑体"/>
                <a:ea typeface="黑体"/>
              </a:rPr>
              <a:t>动”。</a:t>
            </a:r>
          </a:p>
        </p:txBody>
      </p:sp>
    </p:spTree>
  </p:cSld>
  <p:clrMapOvr>
    <a:masterClrMapping/>
  </p:clrMapOvr>
  <p:transition xmlns:p="http://schemas.openxmlformats.org/presentationml/2006/mai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008" name="hd_secbg"/>
          <p:cNvSpPr/>
          <p:nvPr/>
        </p:nvSpPr>
        <p:spPr>
          <a:xfrm>
            <a:off x="558800" y="279400"/>
            <a:ext cx="2623058"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2009" name="hd_secbar"/>
          <p:cNvSpPr/>
          <p:nvPr/>
        </p:nvSpPr>
        <p:spPr>
          <a:xfrm>
            <a:off x="609600" y="317500"/>
            <a:ext cx="44450" cy="228600"/>
          </a:xfrm>
          <a:prstGeom prst="rect">
            <a:avLst/>
          </a:prstGeom>
          <a:gradFill rotWithShape="1">
            <a:gsLst>
              <a:gs pos="0">
                <a:srgbClr val="584C86"/>
              </a:gs>
              <a:gs pos="100000">
                <a:srgbClr val="B9A7E8">
                  <a:alpha val="100000"/>
                </a:srgbClr>
              </a:gs>
            </a:gsLst>
            <a:lin ang="5400000" scaled="1"/>
          </a:gradFill>
          <a:ln>
            <a:noFill/>
          </a:ln>
        </p:spPr>
        <p:txBody>
          <a:bodyPr rtlCol="0" anchor="ctr"/>
          <a:lstStyle/>
          <a:p/>
        </p:txBody>
      </p:sp>
      <p:sp>
        <p:nvSpPr>
          <p:cNvPr id="2010" name="hd_sec"/>
          <p:cNvSpPr txBox="1"/>
          <p:nvPr/>
        </p:nvSpPr>
        <p:spPr>
          <a:xfrm>
            <a:off x="736600" y="317500"/>
            <a:ext cx="2343658" cy="228600"/>
          </a:xfrm>
          <a:prstGeom prst="rect">
            <a:avLst/>
          </a:prstGeom>
        </p:spPr>
        <p:txBody>
          <a:bodyPr wrap="square" lIns="0" rIns="0" tIns="0" bIns="0"/>
          <a:lstStyle/>
          <a:p>
            <a:pPr algn="l" lvl="0"/>
            <a:r>
              <a:rPr lang="zh-CN" sz="1400" b="1">
                <a:solidFill>
                  <a:srgbClr val="584C86"/>
                </a:solidFill>
                <a:latin typeface="黑体"/>
                <a:ea typeface="黑体"/>
              </a:rPr>
              <a:t>收束 · 小结·评价·练习</a:t>
            </a:r>
          </a:p>
        </p:txBody>
      </p:sp>
      <p:sp>
        <p:nvSpPr>
          <p:cNvPr id="2011"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活动评价量表 · 自评 互评 师评</a:t>
            </a:r>
          </a:p>
        </p:txBody>
      </p:sp>
      <p:sp>
        <p:nvSpPr>
          <p:cNvPr id="2012" name="hd_rule2"/>
          <p:cNvSpPr/>
          <p:nvPr/>
        </p:nvSpPr>
        <p:spPr>
          <a:xfrm>
            <a:off x="558800" y="1143000"/>
            <a:ext cx="1625600" cy="44450"/>
          </a:xfrm>
          <a:prstGeom prst="rect">
            <a:avLst/>
          </a:prstGeom>
          <a:gradFill rotWithShape="1">
            <a:gsLst>
              <a:gs pos="0">
                <a:srgbClr val="584C86"/>
              </a:gs>
              <a:gs pos="100000">
                <a:srgbClr val="B9A7E8">
                  <a:alpha val="100000"/>
                </a:srgbClr>
              </a:gs>
            </a:gsLst>
            <a:lin ang="0" scaled="1"/>
          </a:gradFill>
          <a:ln>
            <a:noFill/>
          </a:ln>
        </p:spPr>
        <p:txBody>
          <a:bodyPr rtlCol="0" anchor="ctr"/>
          <a:lstStyle/>
          <a:p/>
        </p:txBody>
      </p:sp>
      <p:sp>
        <p:nvSpPr>
          <p:cNvPr id="2013" name="hd_rule"/>
          <p:cNvSpPr/>
          <p:nvPr/>
        </p:nvSpPr>
        <p:spPr>
          <a:xfrm>
            <a:off x="2260600" y="1158240"/>
            <a:ext cx="5867400" cy="19050"/>
          </a:xfrm>
          <a:prstGeom prst="rect">
            <a:avLst/>
          </a:prstGeom>
          <a:solidFill>
            <a:srgbClr val="B9A7E8">
              <a:alpha val="40000"/>
            </a:srgbClr>
          </a:solidFill>
          <a:ln>
            <a:noFill/>
          </a:ln>
        </p:spPr>
        <p:txBody>
          <a:bodyPr rtlCol="0" anchor="ctr"/>
          <a:lstStyle/>
          <a:p/>
        </p:txBody>
      </p:sp>
      <p:cxnSp>
        <p:nvCxnSpPr>
          <p:cNvPr id="2014" name="rb_rule"/>
          <p:cNvCxnSpPr/>
          <p:nvPr/>
        </p:nvCxnSpPr>
        <p:spPr>
          <a:xfrm>
            <a:off x="8280400" y="1422400"/>
            <a:ext cx="0" cy="4267200"/>
          </a:xfrm>
          <a:prstGeom prst="straightConnector1">
            <a:avLst/>
          </a:prstGeom>
          <a:ln w="19050">
            <a:solidFill>
              <a:srgbClr val="7E9A85"/>
            </a:solidFill>
          </a:ln>
        </p:spPr>
      </p:cxnSp>
      <p:sp>
        <p:nvSpPr>
          <p:cNvPr id="2015" name="rb_chip_a"/>
          <p:cNvSpPr/>
          <p:nvPr/>
        </p:nvSpPr>
        <p:spPr>
          <a:xfrm>
            <a:off x="8229600" y="1219200"/>
            <a:ext cx="152400" cy="152400"/>
          </a:xfrm>
          <a:prstGeom prst="rect">
            <a:avLst/>
          </a:prstGeom>
          <a:gradFill rotWithShape="1">
            <a:gsLst>
              <a:gs pos="0">
                <a:srgbClr val="B9A7E8"/>
              </a:gs>
              <a:gs pos="100000">
                <a:srgbClr val="584C86">
                  <a:alpha val="100000"/>
                </a:srgbClr>
              </a:gs>
            </a:gsLst>
            <a:lin ang="8100000" scaled="1"/>
          </a:gradFill>
          <a:ln>
            <a:noFill/>
          </a:ln>
        </p:spPr>
        <p:txBody>
          <a:bodyPr rtlCol="0" anchor="ctr"/>
          <a:lstStyle/>
          <a:p/>
        </p:txBody>
      </p:sp>
      <p:sp>
        <p:nvSpPr>
          <p:cNvPr id="2016" name="rb_chip_b"/>
          <p:cNvSpPr/>
          <p:nvPr/>
        </p:nvSpPr>
        <p:spPr>
          <a:xfrm>
            <a:off x="8280400" y="1193800"/>
            <a:ext cx="101600" cy="101600"/>
          </a:xfrm>
          <a:prstGeom prst="rect">
            <a:avLst/>
          </a:prstGeom>
          <a:solidFill>
            <a:srgbClr val="584C86"/>
          </a:solidFill>
          <a:ln>
            <a:noFill/>
          </a:ln>
        </p:spPr>
        <p:txBody>
          <a:bodyPr rtlCol="0" anchor="ctr"/>
          <a:lstStyle/>
          <a:p/>
        </p:txBody>
      </p:sp>
      <p:sp>
        <p:nvSpPr>
          <p:cNvPr id="2017"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2018"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2019" name="rb_tagrule"/>
          <p:cNvCxnSpPr/>
          <p:nvPr/>
        </p:nvCxnSpPr>
        <p:spPr>
          <a:xfrm>
            <a:off x="11226800" y="2260600"/>
            <a:ext cx="482600" cy="0"/>
          </a:xfrm>
          <a:prstGeom prst="straightConnector1">
            <a:avLst/>
          </a:prstGeom>
          <a:ln w="12700">
            <a:solidFill>
              <a:srgbClr val="7E9A85"/>
            </a:solidFill>
          </a:ln>
        </p:spPr>
      </p:cxnSp>
      <p:sp>
        <p:nvSpPr>
          <p:cNvPr id="2020"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B9A7E8"/>
                </a:solidFill>
                <a:latin typeface="黑体"/>
                <a:ea typeface="黑体"/>
              </a:rPr>
              <a:t>32 / 42</a:t>
            </a:r>
          </a:p>
        </p:txBody>
      </p:sp>
      <p:sp>
        <p:nvSpPr>
          <p:cNvPr id="2021" name="p32r0_sh"/>
          <p:cNvSpPr/>
          <p:nvPr/>
        </p:nvSpPr>
        <p:spPr>
          <a:xfrm>
            <a:off x="584200" y="1397000"/>
            <a:ext cx="7518400" cy="582676"/>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022" name="p32r0"/>
          <p:cNvSpPr/>
          <p:nvPr/>
        </p:nvSpPr>
        <p:spPr>
          <a:xfrm>
            <a:off x="558800" y="1346200"/>
            <a:ext cx="7569200" cy="582676"/>
          </a:xfrm>
          <a:prstGeom prst="roundRect">
            <a:avLst>
              <a:gd name="adj" fmla="val 8000"/>
            </a:avLst>
          </a:prstGeom>
          <a:solidFill>
            <a:srgbClr val="E9EFE9"/>
          </a:solidFill>
          <a:ln w="15875">
            <a:solidFill>
              <a:srgbClr val="584C86"/>
            </a:solidFill>
          </a:ln>
        </p:spPr>
        <p:txBody>
          <a:bodyPr rtlCol="0" anchor="ctr"/>
          <a:lstStyle/>
          <a:p/>
        </p:txBody>
      </p:sp>
      <p:sp>
        <p:nvSpPr>
          <p:cNvPr id="2023" name="p32r0_cap"/>
          <p:cNvSpPr/>
          <p:nvPr/>
        </p:nvSpPr>
        <p:spPr>
          <a:xfrm>
            <a:off x="647700" y="1422400"/>
            <a:ext cx="50800" cy="430276"/>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024" name="p32r0_t"/>
          <p:cNvSpPr txBox="1"/>
          <p:nvPr/>
        </p:nvSpPr>
        <p:spPr>
          <a:xfrm>
            <a:off x="711200" y="1435100"/>
            <a:ext cx="7264400" cy="404876"/>
          </a:xfrm>
          <a:prstGeom prst="rect">
            <a:avLst/>
          </a:prstGeom>
        </p:spPr>
        <p:txBody>
          <a:bodyPr wrap="square" lIns="0" rIns="0" tIns="0" bIns="0"/>
          <a:lstStyle/>
          <a:p>
            <a:pPr algn="l" lvl="0"/>
            <a:r>
              <a:rPr lang="zh-CN" sz="1400">
                <a:solidFill>
                  <a:srgbClr val="1D2B23"/>
                </a:solidFill>
                <a:latin typeface="楷体"/>
                <a:ea typeface="楷体"/>
              </a:rPr>
              <a:t>资料搜集与准备｜★★★主动全面、真实清晰　★★能搜集基本素材　★素材欠缺</a:t>
            </a:r>
          </a:p>
        </p:txBody>
      </p:sp>
      <p:sp>
        <p:nvSpPr>
          <p:cNvPr id="2025" name="p32r1_sh"/>
          <p:cNvSpPr/>
          <p:nvPr/>
        </p:nvSpPr>
        <p:spPr>
          <a:xfrm>
            <a:off x="584200" y="2081276"/>
            <a:ext cx="7518400" cy="582676"/>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026" name="p32r1"/>
          <p:cNvSpPr/>
          <p:nvPr/>
        </p:nvSpPr>
        <p:spPr>
          <a:xfrm>
            <a:off x="558800" y="2030476"/>
            <a:ext cx="7569200" cy="582676"/>
          </a:xfrm>
          <a:prstGeom prst="roundRect">
            <a:avLst>
              <a:gd name="adj" fmla="val 8000"/>
            </a:avLst>
          </a:prstGeom>
          <a:solidFill>
            <a:srgbClr val="E9EFE9"/>
          </a:solidFill>
          <a:ln w="15875">
            <a:solidFill>
              <a:srgbClr val="584C86"/>
            </a:solidFill>
          </a:ln>
        </p:spPr>
        <p:txBody>
          <a:bodyPr rtlCol="0" anchor="ctr"/>
          <a:lstStyle/>
          <a:p/>
        </p:txBody>
      </p:sp>
      <p:sp>
        <p:nvSpPr>
          <p:cNvPr id="2027" name="p32r1_cap"/>
          <p:cNvSpPr/>
          <p:nvPr/>
        </p:nvSpPr>
        <p:spPr>
          <a:xfrm>
            <a:off x="647700" y="2106676"/>
            <a:ext cx="50800" cy="430276"/>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028" name="p32r1_t"/>
          <p:cNvSpPr txBox="1"/>
          <p:nvPr/>
        </p:nvSpPr>
        <p:spPr>
          <a:xfrm>
            <a:off x="711200" y="2119376"/>
            <a:ext cx="7264400" cy="404876"/>
          </a:xfrm>
          <a:prstGeom prst="rect">
            <a:avLst/>
          </a:prstGeom>
        </p:spPr>
        <p:txBody>
          <a:bodyPr wrap="square" lIns="0" rIns="0" tIns="0" bIns="0"/>
          <a:lstStyle/>
          <a:p>
            <a:pPr algn="l" lvl="0"/>
            <a:r>
              <a:rPr lang="zh-CN" sz="1400">
                <a:solidFill>
                  <a:srgbClr val="1D2B23"/>
                </a:solidFill>
                <a:latin typeface="楷体"/>
                <a:ea typeface="楷体"/>
              </a:rPr>
              <a:t>小组合作与参与度｜★★★主动承担任务，协作强　★★能完成分配任务　★参与度低</a:t>
            </a:r>
          </a:p>
        </p:txBody>
      </p:sp>
      <p:sp>
        <p:nvSpPr>
          <p:cNvPr id="2029" name="p32r2_sh"/>
          <p:cNvSpPr/>
          <p:nvPr/>
        </p:nvSpPr>
        <p:spPr>
          <a:xfrm>
            <a:off x="584200" y="2765552"/>
            <a:ext cx="7518400" cy="582676"/>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030" name="p32r2"/>
          <p:cNvSpPr/>
          <p:nvPr/>
        </p:nvSpPr>
        <p:spPr>
          <a:xfrm>
            <a:off x="558800" y="2714752"/>
            <a:ext cx="7569200" cy="582676"/>
          </a:xfrm>
          <a:prstGeom prst="roundRect">
            <a:avLst>
              <a:gd name="adj" fmla="val 8000"/>
            </a:avLst>
          </a:prstGeom>
          <a:solidFill>
            <a:srgbClr val="E9EFE9"/>
          </a:solidFill>
          <a:ln w="15875">
            <a:solidFill>
              <a:srgbClr val="584C86"/>
            </a:solidFill>
          </a:ln>
        </p:spPr>
        <p:txBody>
          <a:bodyPr rtlCol="0" anchor="ctr"/>
          <a:lstStyle/>
          <a:p/>
        </p:txBody>
      </p:sp>
      <p:sp>
        <p:nvSpPr>
          <p:cNvPr id="2031" name="p32r2_cap"/>
          <p:cNvSpPr/>
          <p:nvPr/>
        </p:nvSpPr>
        <p:spPr>
          <a:xfrm>
            <a:off x="647700" y="2790952"/>
            <a:ext cx="50800" cy="430276"/>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032" name="p32r2_t"/>
          <p:cNvSpPr txBox="1"/>
          <p:nvPr/>
        </p:nvSpPr>
        <p:spPr>
          <a:xfrm>
            <a:off x="711200" y="2803652"/>
            <a:ext cx="7264400" cy="404876"/>
          </a:xfrm>
          <a:prstGeom prst="rect">
            <a:avLst/>
          </a:prstGeom>
        </p:spPr>
        <p:txBody>
          <a:bodyPr wrap="square" lIns="0" rIns="0" tIns="0" bIns="0"/>
          <a:lstStyle/>
          <a:p>
            <a:pPr algn="l" lvl="0"/>
            <a:r>
              <a:rPr lang="zh-CN" sz="1400">
                <a:solidFill>
                  <a:srgbClr val="1D2B23"/>
                </a:solidFill>
                <a:latin typeface="楷体"/>
                <a:ea typeface="楷体"/>
              </a:rPr>
              <a:t>展板设计成果质量｜★★★主题鲜明、贴合成就　★★展板完整、主题明确　★内容单薄</a:t>
            </a:r>
          </a:p>
        </p:txBody>
      </p:sp>
      <p:sp>
        <p:nvSpPr>
          <p:cNvPr id="2033" name="p32r3_sh"/>
          <p:cNvSpPr/>
          <p:nvPr/>
        </p:nvSpPr>
        <p:spPr>
          <a:xfrm>
            <a:off x="584200" y="3449828"/>
            <a:ext cx="7518400" cy="83515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034" name="p32r3"/>
          <p:cNvSpPr/>
          <p:nvPr/>
        </p:nvSpPr>
        <p:spPr>
          <a:xfrm>
            <a:off x="558800" y="3399028"/>
            <a:ext cx="7569200" cy="835152"/>
          </a:xfrm>
          <a:prstGeom prst="roundRect">
            <a:avLst>
              <a:gd name="adj" fmla="val 8000"/>
            </a:avLst>
          </a:prstGeom>
          <a:solidFill>
            <a:srgbClr val="E9EFE9"/>
          </a:solidFill>
          <a:ln w="15875">
            <a:solidFill>
              <a:srgbClr val="584C86"/>
            </a:solidFill>
          </a:ln>
        </p:spPr>
        <p:txBody>
          <a:bodyPr rtlCol="0" anchor="ctr"/>
          <a:lstStyle/>
          <a:p/>
        </p:txBody>
      </p:sp>
      <p:sp>
        <p:nvSpPr>
          <p:cNvPr id="2035" name="p32r3_cap"/>
          <p:cNvSpPr/>
          <p:nvPr/>
        </p:nvSpPr>
        <p:spPr>
          <a:xfrm>
            <a:off x="647700" y="3475228"/>
            <a:ext cx="50800" cy="682752"/>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036" name="p32r3_t"/>
          <p:cNvSpPr txBox="1"/>
          <p:nvPr/>
        </p:nvSpPr>
        <p:spPr>
          <a:xfrm>
            <a:off x="711200" y="3487928"/>
            <a:ext cx="7264400" cy="657352"/>
          </a:xfrm>
          <a:prstGeom prst="rect">
            <a:avLst/>
          </a:prstGeom>
        </p:spPr>
        <p:txBody>
          <a:bodyPr wrap="square" lIns="0" rIns="0" tIns="0" bIns="0"/>
          <a:lstStyle/>
          <a:p>
            <a:pPr algn="l" lvl="0"/>
            <a:r>
              <a:rPr lang="zh-CN" sz="1400">
                <a:solidFill>
                  <a:srgbClr val="1D2B23"/>
                </a:solidFill>
                <a:latin typeface="楷体"/>
                <a:ea typeface="楷体"/>
              </a:rPr>
              <a:t>研学探究表现｜★★★观察深入、分析准确有深度　★★能完成观察与简单分析　★思考</a:t>
            </a:r>
          </a:p>
          <a:p>
            <a:pPr algn="l" lvl="0"/>
            <a:r>
              <a:rPr lang="zh-CN" sz="1400">
                <a:solidFill>
                  <a:srgbClr val="1D2B23"/>
                </a:solidFill>
                <a:latin typeface="楷体"/>
                <a:ea typeface="楷体"/>
              </a:rPr>
              <a:t>浅显</a:t>
            </a:r>
          </a:p>
        </p:txBody>
      </p:sp>
      <p:sp>
        <p:nvSpPr>
          <p:cNvPr id="2037" name="p32r4_sh"/>
          <p:cNvSpPr/>
          <p:nvPr/>
        </p:nvSpPr>
        <p:spPr>
          <a:xfrm>
            <a:off x="584200" y="4386580"/>
            <a:ext cx="7518400" cy="582676"/>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038" name="p32r4"/>
          <p:cNvSpPr/>
          <p:nvPr/>
        </p:nvSpPr>
        <p:spPr>
          <a:xfrm>
            <a:off x="558800" y="4335780"/>
            <a:ext cx="7569200" cy="582676"/>
          </a:xfrm>
          <a:prstGeom prst="roundRect">
            <a:avLst>
              <a:gd name="adj" fmla="val 8000"/>
            </a:avLst>
          </a:prstGeom>
          <a:solidFill>
            <a:srgbClr val="E9EFE9"/>
          </a:solidFill>
          <a:ln w="15875">
            <a:solidFill>
              <a:srgbClr val="584C86"/>
            </a:solidFill>
          </a:ln>
        </p:spPr>
        <p:txBody>
          <a:bodyPr rtlCol="0" anchor="ctr"/>
          <a:lstStyle/>
          <a:p/>
        </p:txBody>
      </p:sp>
      <p:sp>
        <p:nvSpPr>
          <p:cNvPr id="2039" name="p32r4_cap"/>
          <p:cNvSpPr/>
          <p:nvPr/>
        </p:nvSpPr>
        <p:spPr>
          <a:xfrm>
            <a:off x="647700" y="4411980"/>
            <a:ext cx="50800" cy="430276"/>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040" name="p32r4_t"/>
          <p:cNvSpPr txBox="1"/>
          <p:nvPr/>
        </p:nvSpPr>
        <p:spPr>
          <a:xfrm>
            <a:off x="711200" y="4424680"/>
            <a:ext cx="7264400" cy="404876"/>
          </a:xfrm>
          <a:prstGeom prst="rect">
            <a:avLst/>
          </a:prstGeom>
        </p:spPr>
        <p:txBody>
          <a:bodyPr wrap="square" lIns="0" rIns="0" tIns="0" bIns="0"/>
          <a:lstStyle/>
          <a:p>
            <a:pPr algn="l" lvl="0"/>
            <a:r>
              <a:rPr lang="zh-CN" sz="1400">
                <a:solidFill>
                  <a:srgbClr val="1D2B23"/>
                </a:solidFill>
                <a:latin typeface="楷体"/>
                <a:ea typeface="楷体"/>
              </a:rPr>
              <a:t>成果展示与感悟反思｜★★★表达流畅、能谈感悟　★★能完成展示　★表达不完整</a:t>
            </a:r>
          </a:p>
        </p:txBody>
      </p:sp>
    </p:spTree>
  </p:cSld>
  <p:clrMapOvr>
    <a:masterClrMapping/>
  </p:clrMapOvr>
  <p:transition xmlns:p="http://schemas.openxmlformats.org/presentationml/2006/main" spd="med">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4"/>
          <a:stretch>
            <a:fillRect/>
          </a:stretch>
        </a:blipFill>
        <a:effectLst/>
      </p:bgPr>
    </p:bg>
    <p:spTree>
      <p:nvGrpSpPr>
        <p:cNvPr id="1" name=""/>
        <p:cNvGrpSpPr/>
        <p:nvPr/>
      </p:nvGrpSpPr>
      <p:grpSpPr>
        <a:xfrm>
          <a:off x="0" y="0"/>
          <a:ext cx="0" cy="0"/>
          <a:chOff x="0" y="0"/>
          <a:chExt cx="0" cy="0"/>
        </a:xfrm>
      </p:grpSpPr>
      <p:sp>
        <p:nvSpPr>
          <p:cNvPr id="2041" name="hd_secbg"/>
          <p:cNvSpPr/>
          <p:nvPr/>
        </p:nvSpPr>
        <p:spPr>
          <a:xfrm>
            <a:off x="558800" y="279400"/>
            <a:ext cx="2623058"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2042" name="hd_secbar"/>
          <p:cNvSpPr/>
          <p:nvPr/>
        </p:nvSpPr>
        <p:spPr>
          <a:xfrm>
            <a:off x="609600" y="317500"/>
            <a:ext cx="44450" cy="228600"/>
          </a:xfrm>
          <a:prstGeom prst="rect">
            <a:avLst/>
          </a:prstGeom>
          <a:gradFill rotWithShape="1">
            <a:gsLst>
              <a:gs pos="0">
                <a:srgbClr val="584C86"/>
              </a:gs>
              <a:gs pos="100000">
                <a:srgbClr val="B9A7E8">
                  <a:alpha val="100000"/>
                </a:srgbClr>
              </a:gs>
            </a:gsLst>
            <a:lin ang="5400000" scaled="1"/>
          </a:gradFill>
          <a:ln>
            <a:noFill/>
          </a:ln>
        </p:spPr>
        <p:txBody>
          <a:bodyPr rtlCol="0" anchor="ctr"/>
          <a:lstStyle/>
          <a:p/>
        </p:txBody>
      </p:sp>
      <p:sp>
        <p:nvSpPr>
          <p:cNvPr id="2043" name="hd_sec"/>
          <p:cNvSpPr txBox="1"/>
          <p:nvPr/>
        </p:nvSpPr>
        <p:spPr>
          <a:xfrm>
            <a:off x="736600" y="317500"/>
            <a:ext cx="2343658" cy="228600"/>
          </a:xfrm>
          <a:prstGeom prst="rect">
            <a:avLst/>
          </a:prstGeom>
        </p:spPr>
        <p:txBody>
          <a:bodyPr wrap="square" lIns="0" rIns="0" tIns="0" bIns="0"/>
          <a:lstStyle/>
          <a:p>
            <a:pPr algn="l" lvl="0"/>
            <a:r>
              <a:rPr lang="zh-CN" sz="1400" b="1">
                <a:solidFill>
                  <a:srgbClr val="584C86"/>
                </a:solidFill>
                <a:latin typeface="黑体"/>
                <a:ea typeface="黑体"/>
              </a:rPr>
              <a:t>收束 · 小结·评价·练习</a:t>
            </a:r>
          </a:p>
        </p:txBody>
      </p:sp>
      <p:sp>
        <p:nvSpPr>
          <p:cNvPr id="2044"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课堂小结 · 两幅画面</a:t>
            </a:r>
          </a:p>
        </p:txBody>
      </p:sp>
      <p:sp>
        <p:nvSpPr>
          <p:cNvPr id="2045" name="hd_rule2"/>
          <p:cNvSpPr/>
          <p:nvPr/>
        </p:nvSpPr>
        <p:spPr>
          <a:xfrm>
            <a:off x="558800" y="1143000"/>
            <a:ext cx="1625600" cy="44450"/>
          </a:xfrm>
          <a:prstGeom prst="rect">
            <a:avLst/>
          </a:prstGeom>
          <a:gradFill rotWithShape="1">
            <a:gsLst>
              <a:gs pos="0">
                <a:srgbClr val="584C86"/>
              </a:gs>
              <a:gs pos="100000">
                <a:srgbClr val="B9A7E8">
                  <a:alpha val="100000"/>
                </a:srgbClr>
              </a:gs>
            </a:gsLst>
            <a:lin ang="0" scaled="1"/>
          </a:gradFill>
          <a:ln>
            <a:noFill/>
          </a:ln>
        </p:spPr>
        <p:txBody>
          <a:bodyPr rtlCol="0" anchor="ctr"/>
          <a:lstStyle/>
          <a:p/>
        </p:txBody>
      </p:sp>
      <p:sp>
        <p:nvSpPr>
          <p:cNvPr id="2046" name="hd_rule"/>
          <p:cNvSpPr/>
          <p:nvPr/>
        </p:nvSpPr>
        <p:spPr>
          <a:xfrm>
            <a:off x="2260600" y="1158240"/>
            <a:ext cx="5867400" cy="19050"/>
          </a:xfrm>
          <a:prstGeom prst="rect">
            <a:avLst/>
          </a:prstGeom>
          <a:solidFill>
            <a:srgbClr val="B9A7E8">
              <a:alpha val="40000"/>
            </a:srgbClr>
          </a:solidFill>
          <a:ln>
            <a:noFill/>
          </a:ln>
        </p:spPr>
        <p:txBody>
          <a:bodyPr rtlCol="0" anchor="ctr"/>
          <a:lstStyle/>
          <a:p/>
        </p:txBody>
      </p:sp>
      <p:cxnSp>
        <p:nvCxnSpPr>
          <p:cNvPr id="2047" name="rb_rule"/>
          <p:cNvCxnSpPr/>
          <p:nvPr/>
        </p:nvCxnSpPr>
        <p:spPr>
          <a:xfrm>
            <a:off x="8280400" y="1422400"/>
            <a:ext cx="0" cy="4267200"/>
          </a:xfrm>
          <a:prstGeom prst="straightConnector1">
            <a:avLst/>
          </a:prstGeom>
          <a:ln w="19050">
            <a:solidFill>
              <a:srgbClr val="7E9A85"/>
            </a:solidFill>
          </a:ln>
        </p:spPr>
      </p:cxnSp>
      <p:sp>
        <p:nvSpPr>
          <p:cNvPr id="2048" name="rb_chip_a"/>
          <p:cNvSpPr/>
          <p:nvPr/>
        </p:nvSpPr>
        <p:spPr>
          <a:xfrm>
            <a:off x="8229600" y="1219200"/>
            <a:ext cx="152400" cy="152400"/>
          </a:xfrm>
          <a:prstGeom prst="rect">
            <a:avLst/>
          </a:prstGeom>
          <a:gradFill rotWithShape="1">
            <a:gsLst>
              <a:gs pos="0">
                <a:srgbClr val="B9A7E8"/>
              </a:gs>
              <a:gs pos="100000">
                <a:srgbClr val="584C86">
                  <a:alpha val="100000"/>
                </a:srgbClr>
              </a:gs>
            </a:gsLst>
            <a:lin ang="8100000" scaled="1"/>
          </a:gradFill>
          <a:ln>
            <a:noFill/>
          </a:ln>
        </p:spPr>
        <p:txBody>
          <a:bodyPr rtlCol="0" anchor="ctr"/>
          <a:lstStyle/>
          <a:p/>
        </p:txBody>
      </p:sp>
      <p:sp>
        <p:nvSpPr>
          <p:cNvPr id="2049" name="rb_chip_b"/>
          <p:cNvSpPr/>
          <p:nvPr/>
        </p:nvSpPr>
        <p:spPr>
          <a:xfrm>
            <a:off x="8280400" y="1193800"/>
            <a:ext cx="101600" cy="101600"/>
          </a:xfrm>
          <a:prstGeom prst="rect">
            <a:avLst/>
          </a:prstGeom>
          <a:solidFill>
            <a:srgbClr val="584C86"/>
          </a:solidFill>
          <a:ln>
            <a:noFill/>
          </a:ln>
        </p:spPr>
        <p:txBody>
          <a:bodyPr rtlCol="0" anchor="ctr"/>
          <a:lstStyle/>
          <a:p/>
        </p:txBody>
      </p:sp>
      <p:sp>
        <p:nvSpPr>
          <p:cNvPr id="2050"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2051"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2052" name="rb_tagrule"/>
          <p:cNvCxnSpPr/>
          <p:nvPr/>
        </p:nvCxnSpPr>
        <p:spPr>
          <a:xfrm>
            <a:off x="11226800" y="2260600"/>
            <a:ext cx="482600" cy="0"/>
          </a:xfrm>
          <a:prstGeom prst="straightConnector1">
            <a:avLst/>
          </a:prstGeom>
          <a:ln w="12700">
            <a:solidFill>
              <a:srgbClr val="7E9A85"/>
            </a:solidFill>
          </a:ln>
        </p:spPr>
      </p:cxnSp>
      <p:sp>
        <p:nvSpPr>
          <p:cNvPr id="2053"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B9A7E8"/>
                </a:solidFill>
                <a:latin typeface="黑体"/>
                <a:ea typeface="黑体"/>
              </a:rPr>
              <a:t>33 / 42</a:t>
            </a:r>
          </a:p>
        </p:txBody>
      </p:sp>
      <p:sp>
        <p:nvSpPr>
          <p:cNvPr id="2054" name="p33tag_sh"/>
          <p:cNvSpPr/>
          <p:nvPr/>
        </p:nvSpPr>
        <p:spPr>
          <a:xfrm>
            <a:off x="584200" y="13208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055" name="p33tag"/>
          <p:cNvSpPr/>
          <p:nvPr/>
        </p:nvSpPr>
        <p:spPr>
          <a:xfrm>
            <a:off x="558800" y="1270000"/>
            <a:ext cx="7569200" cy="654812"/>
          </a:xfrm>
          <a:prstGeom prst="roundRect">
            <a:avLst>
              <a:gd name="adj" fmla="val 8000"/>
            </a:avLst>
          </a:prstGeom>
          <a:solidFill>
            <a:srgbClr val="E9EFE9"/>
          </a:solidFill>
          <a:ln w="15875">
            <a:solidFill>
              <a:srgbClr val="584C86"/>
            </a:solidFill>
          </a:ln>
        </p:spPr>
        <p:txBody>
          <a:bodyPr rtlCol="0" anchor="ctr"/>
          <a:lstStyle/>
          <a:p/>
        </p:txBody>
      </p:sp>
      <p:sp>
        <p:nvSpPr>
          <p:cNvPr id="2056" name="p33tag_cap"/>
          <p:cNvSpPr/>
          <p:nvPr/>
        </p:nvSpPr>
        <p:spPr>
          <a:xfrm>
            <a:off x="647700" y="1346200"/>
            <a:ext cx="50800" cy="502412"/>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057" name="p33tag_t"/>
          <p:cNvSpPr txBox="1"/>
          <p:nvPr/>
        </p:nvSpPr>
        <p:spPr>
          <a:xfrm>
            <a:off x="711200" y="1358900"/>
            <a:ext cx="7264400" cy="477012"/>
          </a:xfrm>
          <a:prstGeom prst="rect">
            <a:avLst/>
          </a:prstGeom>
        </p:spPr>
        <p:txBody>
          <a:bodyPr wrap="square" lIns="0" rIns="0" tIns="0" bIns="0"/>
          <a:lstStyle/>
          <a:p>
            <a:pPr algn="l" lvl="0"/>
            <a:r>
              <a:rPr lang="zh-CN" sz="1800" b="1">
                <a:solidFill>
                  <a:srgbClr val="1D2B23"/>
                </a:solidFill>
                <a:latin typeface="黑体"/>
                <a:ea typeface="黑体"/>
              </a:rPr>
              <a:t>课堂小结 · 两幅画面</a:t>
            </a:r>
          </a:p>
        </p:txBody>
      </p:sp>
      <p:sp>
        <p:nvSpPr>
          <p:cNvPr id="2058" name="p33i0_bg_sh"/>
          <p:cNvSpPr/>
          <p:nvPr/>
        </p:nvSpPr>
        <p:spPr>
          <a:xfrm>
            <a:off x="469900" y="2064512"/>
            <a:ext cx="3733800" cy="23698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2059" name="p33i0_bg"/>
          <p:cNvSpPr/>
          <p:nvPr/>
        </p:nvSpPr>
        <p:spPr>
          <a:xfrm>
            <a:off x="444500" y="2013712"/>
            <a:ext cx="3784600" cy="2369820"/>
          </a:xfrm>
          <a:prstGeom prst="roundRect">
            <a:avLst>
              <a:gd name="adj" fmla="val 8000"/>
            </a:avLst>
          </a:prstGeom>
          <a:solidFill>
            <a:srgbClr val="E9EFE9"/>
          </a:solidFill>
          <a:ln w="15875">
            <a:solidFill>
              <a:srgbClr val="584C86"/>
            </a:solidFill>
          </a:ln>
        </p:spPr>
        <p:txBody>
          <a:bodyPr rtlCol="0" anchor="ctr"/>
          <a:lstStyle/>
          <a:p/>
        </p:txBody>
      </p:sp>
      <p:sp>
        <p:nvSpPr>
          <p:cNvPr id="2060" name="p33i0_bg_le"/>
          <p:cNvSpPr/>
          <p:nvPr/>
        </p:nvSpPr>
        <p:spPr>
          <a:xfrm>
            <a:off x="469900" y="2128012"/>
            <a:ext cx="44450" cy="2141220"/>
          </a:xfrm>
          <a:prstGeom prst="rect">
            <a:avLst/>
          </a:prstGeom>
          <a:gradFill rotWithShape="1">
            <a:gsLst>
              <a:gs pos="0">
                <a:srgbClr val="584C86"/>
              </a:gs>
              <a:gs pos="100000">
                <a:srgbClr val="584C86">
                  <a:alpha val="0"/>
                </a:srgbClr>
              </a:gs>
            </a:gsLst>
            <a:lin ang="5400000" scaled="1"/>
          </a:gradFill>
          <a:ln>
            <a:noFill/>
          </a:ln>
        </p:spPr>
        <p:txBody>
          <a:bodyPr rtlCol="0" anchor="ctr"/>
          <a:lstStyle/>
          <a:p/>
        </p:txBody>
      </p:sp>
      <p:pic>
        <p:nvPicPr>
          <p:cNvPr id="2061" name="p33i0"/>
          <p:cNvPicPr>
            <a:picLocks noChangeAspect="1"/>
          </p:cNvPicPr>
          <p:nvPr/>
        </p:nvPicPr>
        <p:blipFill>
          <a:blip r:embed="rId2"/>
          <a:stretch>
            <a:fillRect/>
          </a:stretch>
        </p:blipFill>
        <p:spPr>
          <a:xfrm>
            <a:off x="558800" y="2128012"/>
            <a:ext cx="3556000" cy="1778000"/>
          </a:xfrm>
          <a:prstGeom prst="rect">
            <a:avLst/>
          </a:prstGeom>
        </p:spPr>
      </p:pic>
      <p:sp>
        <p:nvSpPr>
          <p:cNvPr id="2062" name="p33i0_cap"/>
          <p:cNvSpPr txBox="1"/>
          <p:nvPr/>
        </p:nvSpPr>
        <p:spPr>
          <a:xfrm>
            <a:off x="444500" y="4058412"/>
            <a:ext cx="3784600" cy="325120"/>
          </a:xfrm>
          <a:prstGeom prst="rect">
            <a:avLst/>
          </a:prstGeom>
        </p:spPr>
        <p:txBody>
          <a:bodyPr wrap="square" lIns="0" rIns="0" tIns="0" bIns="0"/>
          <a:lstStyle/>
          <a:p>
            <a:pPr algn="l" lvl="0"/>
            <a:r>
              <a:rPr lang="zh-CN" sz="1400">
                <a:solidFill>
                  <a:srgbClr val="465C4D"/>
                </a:solidFill>
                <a:latin typeface="楷体"/>
                <a:ea typeface="楷体"/>
              </a:rPr>
              <a:t>庆祝中华人民共和国成立 77 周年招待会</a:t>
            </a:r>
          </a:p>
        </p:txBody>
      </p:sp>
      <p:sp>
        <p:nvSpPr>
          <p:cNvPr id="2063" name="p33i1_bg_sh"/>
          <p:cNvSpPr/>
          <p:nvPr/>
        </p:nvSpPr>
        <p:spPr>
          <a:xfrm>
            <a:off x="4254500" y="2064512"/>
            <a:ext cx="3733800" cy="236982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2064" name="p33i1_bg"/>
          <p:cNvSpPr/>
          <p:nvPr/>
        </p:nvSpPr>
        <p:spPr>
          <a:xfrm>
            <a:off x="4229100" y="2013712"/>
            <a:ext cx="3784600" cy="2369820"/>
          </a:xfrm>
          <a:prstGeom prst="roundRect">
            <a:avLst>
              <a:gd name="adj" fmla="val 8000"/>
            </a:avLst>
          </a:prstGeom>
          <a:solidFill>
            <a:srgbClr val="E9EFE9"/>
          </a:solidFill>
          <a:ln w="15875">
            <a:solidFill>
              <a:srgbClr val="584C86"/>
            </a:solidFill>
          </a:ln>
        </p:spPr>
        <p:txBody>
          <a:bodyPr rtlCol="0" anchor="ctr"/>
          <a:lstStyle/>
          <a:p/>
        </p:txBody>
      </p:sp>
      <p:sp>
        <p:nvSpPr>
          <p:cNvPr id="2065" name="p33i1_bg_le"/>
          <p:cNvSpPr/>
          <p:nvPr/>
        </p:nvSpPr>
        <p:spPr>
          <a:xfrm>
            <a:off x="4254500" y="2128012"/>
            <a:ext cx="44450" cy="2141220"/>
          </a:xfrm>
          <a:prstGeom prst="rect">
            <a:avLst/>
          </a:prstGeom>
          <a:gradFill rotWithShape="1">
            <a:gsLst>
              <a:gs pos="0">
                <a:srgbClr val="584C86"/>
              </a:gs>
              <a:gs pos="100000">
                <a:srgbClr val="584C86">
                  <a:alpha val="0"/>
                </a:srgbClr>
              </a:gs>
            </a:gsLst>
            <a:lin ang="5400000" scaled="1"/>
          </a:gradFill>
          <a:ln>
            <a:noFill/>
          </a:ln>
        </p:spPr>
        <p:txBody>
          <a:bodyPr rtlCol="0" anchor="ctr"/>
          <a:lstStyle/>
          <a:p/>
        </p:txBody>
      </p:sp>
      <p:pic>
        <p:nvPicPr>
          <p:cNvPr id="2066" name="p33i1"/>
          <p:cNvPicPr>
            <a:picLocks noChangeAspect="1"/>
          </p:cNvPicPr>
          <p:nvPr/>
        </p:nvPicPr>
        <p:blipFill>
          <a:blip r:embed="rId3"/>
          <a:stretch>
            <a:fillRect/>
          </a:stretch>
        </p:blipFill>
        <p:spPr>
          <a:xfrm>
            <a:off x="4343400" y="2128012"/>
            <a:ext cx="3556000" cy="1778000"/>
          </a:xfrm>
          <a:prstGeom prst="rect">
            <a:avLst/>
          </a:prstGeom>
        </p:spPr>
      </p:pic>
      <p:sp>
        <p:nvSpPr>
          <p:cNvPr id="2067" name="p33i1_cap"/>
          <p:cNvSpPr txBox="1"/>
          <p:nvPr/>
        </p:nvSpPr>
        <p:spPr>
          <a:xfrm>
            <a:off x="4229100" y="4058412"/>
            <a:ext cx="3784600" cy="325120"/>
          </a:xfrm>
          <a:prstGeom prst="rect">
            <a:avLst/>
          </a:prstGeom>
        </p:spPr>
        <p:txBody>
          <a:bodyPr wrap="square" lIns="0" rIns="0" tIns="0" bIns="0"/>
          <a:lstStyle/>
          <a:p>
            <a:pPr algn="l" lvl="0"/>
            <a:r>
              <a:rPr lang="zh-CN" sz="1400">
                <a:solidFill>
                  <a:srgbClr val="465C4D"/>
                </a:solidFill>
                <a:latin typeface="楷体"/>
                <a:ea typeface="楷体"/>
              </a:rPr>
              <a:t>天安门广场升国旗仪式</a:t>
            </a:r>
          </a:p>
        </p:txBody>
      </p:sp>
      <p:sp>
        <p:nvSpPr>
          <p:cNvPr id="2068" name="p33q_sh"/>
          <p:cNvSpPr/>
          <p:nvPr/>
        </p:nvSpPr>
        <p:spPr>
          <a:xfrm>
            <a:off x="584200" y="4726432"/>
            <a:ext cx="7518400" cy="907288"/>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069" name="p33q"/>
          <p:cNvSpPr/>
          <p:nvPr/>
        </p:nvSpPr>
        <p:spPr>
          <a:xfrm>
            <a:off x="558800" y="4675632"/>
            <a:ext cx="7569200" cy="907288"/>
          </a:xfrm>
          <a:prstGeom prst="roundRect">
            <a:avLst>
              <a:gd name="adj" fmla="val 8000"/>
            </a:avLst>
          </a:prstGeom>
          <a:solidFill>
            <a:srgbClr val="E9EFE9"/>
          </a:solidFill>
          <a:ln w="15875">
            <a:solidFill>
              <a:srgbClr val="584C86"/>
            </a:solidFill>
          </a:ln>
        </p:spPr>
        <p:txBody>
          <a:bodyPr rtlCol="0" anchor="ctr"/>
          <a:lstStyle/>
          <a:p/>
        </p:txBody>
      </p:sp>
      <p:sp>
        <p:nvSpPr>
          <p:cNvPr id="2070" name="p33q_cap"/>
          <p:cNvSpPr/>
          <p:nvPr/>
        </p:nvSpPr>
        <p:spPr>
          <a:xfrm>
            <a:off x="647700" y="4751832"/>
            <a:ext cx="50800" cy="754888"/>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071" name="p33q_t"/>
          <p:cNvSpPr txBox="1"/>
          <p:nvPr/>
        </p:nvSpPr>
        <p:spPr>
          <a:xfrm>
            <a:off x="711200" y="4764532"/>
            <a:ext cx="7264400" cy="729488"/>
          </a:xfrm>
          <a:prstGeom prst="rect">
            <a:avLst/>
          </a:prstGeom>
        </p:spPr>
        <p:txBody>
          <a:bodyPr wrap="square" lIns="0" rIns="0" tIns="0" bIns="0"/>
          <a:lstStyle/>
          <a:p>
            <a:pPr algn="l" lvl="0"/>
            <a:r>
              <a:rPr lang="zh-CN" sz="1600" b="1">
                <a:solidFill>
                  <a:srgbClr val="1D2B23"/>
                </a:solidFill>
                <a:latin typeface="黑体"/>
                <a:ea typeface="黑体"/>
              </a:rPr>
              <a:t>“我们为新中国取得的举世瞩目成就无比自豪，对中国式现代化的光明</a:t>
            </a:r>
          </a:p>
          <a:p>
            <a:pPr algn="l" lvl="0"/>
            <a:r>
              <a:rPr lang="zh-CN" sz="1600" b="1">
                <a:solidFill>
                  <a:srgbClr val="1D2B23"/>
                </a:solidFill>
                <a:latin typeface="黑体"/>
                <a:ea typeface="黑体"/>
              </a:rPr>
              <a:t>前景充满信心。”</a:t>
            </a:r>
          </a:p>
        </p:txBody>
      </p:sp>
    </p:spTree>
  </p:cSld>
  <p:clrMapOvr>
    <a:masterClrMapping/>
  </p:clrMapOvr>
  <p:transition xmlns:p="http://schemas.openxmlformats.org/presentationml/2006/main" spd="med">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072" name="hd_secbg"/>
          <p:cNvSpPr/>
          <p:nvPr/>
        </p:nvSpPr>
        <p:spPr>
          <a:xfrm>
            <a:off x="558800" y="279400"/>
            <a:ext cx="2623058"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2073" name="hd_secbar"/>
          <p:cNvSpPr/>
          <p:nvPr/>
        </p:nvSpPr>
        <p:spPr>
          <a:xfrm>
            <a:off x="609600" y="317500"/>
            <a:ext cx="44450" cy="228600"/>
          </a:xfrm>
          <a:prstGeom prst="rect">
            <a:avLst/>
          </a:prstGeom>
          <a:gradFill rotWithShape="1">
            <a:gsLst>
              <a:gs pos="0">
                <a:srgbClr val="584C86"/>
              </a:gs>
              <a:gs pos="100000">
                <a:srgbClr val="B9A7E8">
                  <a:alpha val="100000"/>
                </a:srgbClr>
              </a:gs>
            </a:gsLst>
            <a:lin ang="5400000" scaled="1"/>
          </a:gradFill>
          <a:ln>
            <a:noFill/>
          </a:ln>
        </p:spPr>
        <p:txBody>
          <a:bodyPr rtlCol="0" anchor="ctr"/>
          <a:lstStyle/>
          <a:p/>
        </p:txBody>
      </p:sp>
      <p:sp>
        <p:nvSpPr>
          <p:cNvPr id="2074" name="hd_sec"/>
          <p:cNvSpPr txBox="1"/>
          <p:nvPr/>
        </p:nvSpPr>
        <p:spPr>
          <a:xfrm>
            <a:off x="736600" y="317500"/>
            <a:ext cx="2343658" cy="228600"/>
          </a:xfrm>
          <a:prstGeom prst="rect">
            <a:avLst/>
          </a:prstGeom>
        </p:spPr>
        <p:txBody>
          <a:bodyPr wrap="square" lIns="0" rIns="0" tIns="0" bIns="0"/>
          <a:lstStyle/>
          <a:p>
            <a:pPr algn="l" lvl="0"/>
            <a:r>
              <a:rPr lang="zh-CN" sz="1400" b="1">
                <a:solidFill>
                  <a:srgbClr val="584C86"/>
                </a:solidFill>
                <a:latin typeface="黑体"/>
                <a:ea typeface="黑体"/>
              </a:rPr>
              <a:t>收束 · 小结·评价·练习</a:t>
            </a:r>
          </a:p>
        </p:txBody>
      </p:sp>
      <p:sp>
        <p:nvSpPr>
          <p:cNvPr id="2075"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课堂小结 · 我们的青春答卷</a:t>
            </a:r>
          </a:p>
        </p:txBody>
      </p:sp>
      <p:sp>
        <p:nvSpPr>
          <p:cNvPr id="2076" name="hd_rule2"/>
          <p:cNvSpPr/>
          <p:nvPr/>
        </p:nvSpPr>
        <p:spPr>
          <a:xfrm>
            <a:off x="558800" y="1143000"/>
            <a:ext cx="1625600" cy="44450"/>
          </a:xfrm>
          <a:prstGeom prst="rect">
            <a:avLst/>
          </a:prstGeom>
          <a:gradFill rotWithShape="1">
            <a:gsLst>
              <a:gs pos="0">
                <a:srgbClr val="584C86"/>
              </a:gs>
              <a:gs pos="100000">
                <a:srgbClr val="B9A7E8">
                  <a:alpha val="100000"/>
                </a:srgbClr>
              </a:gs>
            </a:gsLst>
            <a:lin ang="0" scaled="1"/>
          </a:gradFill>
          <a:ln>
            <a:noFill/>
          </a:ln>
        </p:spPr>
        <p:txBody>
          <a:bodyPr rtlCol="0" anchor="ctr"/>
          <a:lstStyle/>
          <a:p/>
        </p:txBody>
      </p:sp>
      <p:sp>
        <p:nvSpPr>
          <p:cNvPr id="2077" name="hd_rule"/>
          <p:cNvSpPr/>
          <p:nvPr/>
        </p:nvSpPr>
        <p:spPr>
          <a:xfrm>
            <a:off x="2260600" y="1158240"/>
            <a:ext cx="5867400" cy="19050"/>
          </a:xfrm>
          <a:prstGeom prst="rect">
            <a:avLst/>
          </a:prstGeom>
          <a:solidFill>
            <a:srgbClr val="B9A7E8">
              <a:alpha val="40000"/>
            </a:srgbClr>
          </a:solidFill>
          <a:ln>
            <a:noFill/>
          </a:ln>
        </p:spPr>
        <p:txBody>
          <a:bodyPr rtlCol="0" anchor="ctr"/>
          <a:lstStyle/>
          <a:p/>
        </p:txBody>
      </p:sp>
      <p:cxnSp>
        <p:nvCxnSpPr>
          <p:cNvPr id="2078" name="rb_rule"/>
          <p:cNvCxnSpPr/>
          <p:nvPr/>
        </p:nvCxnSpPr>
        <p:spPr>
          <a:xfrm>
            <a:off x="8280400" y="1422400"/>
            <a:ext cx="0" cy="4267200"/>
          </a:xfrm>
          <a:prstGeom prst="straightConnector1">
            <a:avLst/>
          </a:prstGeom>
          <a:ln w="19050">
            <a:solidFill>
              <a:srgbClr val="7E9A85"/>
            </a:solidFill>
          </a:ln>
        </p:spPr>
      </p:cxnSp>
      <p:sp>
        <p:nvSpPr>
          <p:cNvPr id="2079" name="rb_chip_a"/>
          <p:cNvSpPr/>
          <p:nvPr/>
        </p:nvSpPr>
        <p:spPr>
          <a:xfrm>
            <a:off x="8229600" y="1219200"/>
            <a:ext cx="152400" cy="152400"/>
          </a:xfrm>
          <a:prstGeom prst="rect">
            <a:avLst/>
          </a:prstGeom>
          <a:gradFill rotWithShape="1">
            <a:gsLst>
              <a:gs pos="0">
                <a:srgbClr val="B9A7E8"/>
              </a:gs>
              <a:gs pos="100000">
                <a:srgbClr val="584C86">
                  <a:alpha val="100000"/>
                </a:srgbClr>
              </a:gs>
            </a:gsLst>
            <a:lin ang="8100000" scaled="1"/>
          </a:gradFill>
          <a:ln>
            <a:noFill/>
          </a:ln>
        </p:spPr>
        <p:txBody>
          <a:bodyPr rtlCol="0" anchor="ctr"/>
          <a:lstStyle/>
          <a:p/>
        </p:txBody>
      </p:sp>
      <p:sp>
        <p:nvSpPr>
          <p:cNvPr id="2080" name="rb_chip_b"/>
          <p:cNvSpPr/>
          <p:nvPr/>
        </p:nvSpPr>
        <p:spPr>
          <a:xfrm>
            <a:off x="8280400" y="1193800"/>
            <a:ext cx="101600" cy="101600"/>
          </a:xfrm>
          <a:prstGeom prst="rect">
            <a:avLst/>
          </a:prstGeom>
          <a:solidFill>
            <a:srgbClr val="584C86"/>
          </a:solidFill>
          <a:ln>
            <a:noFill/>
          </a:ln>
        </p:spPr>
        <p:txBody>
          <a:bodyPr rtlCol="0" anchor="ctr"/>
          <a:lstStyle/>
          <a:p/>
        </p:txBody>
      </p:sp>
      <p:sp>
        <p:nvSpPr>
          <p:cNvPr id="2081"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2082"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2083" name="rb_tagrule"/>
          <p:cNvCxnSpPr/>
          <p:nvPr/>
        </p:nvCxnSpPr>
        <p:spPr>
          <a:xfrm>
            <a:off x="11226800" y="2260600"/>
            <a:ext cx="482600" cy="0"/>
          </a:xfrm>
          <a:prstGeom prst="straightConnector1">
            <a:avLst/>
          </a:prstGeom>
          <a:ln w="12700">
            <a:solidFill>
              <a:srgbClr val="7E9A85"/>
            </a:solidFill>
          </a:ln>
        </p:spPr>
      </p:cxnSp>
      <p:sp>
        <p:nvSpPr>
          <p:cNvPr id="2084"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B9A7E8"/>
                </a:solidFill>
                <a:latin typeface="黑体"/>
                <a:ea typeface="黑体"/>
              </a:rPr>
              <a:t>34 / 42</a:t>
            </a:r>
          </a:p>
        </p:txBody>
      </p:sp>
      <p:sp>
        <p:nvSpPr>
          <p:cNvPr id="2085" name="p34tag_sh"/>
          <p:cNvSpPr/>
          <p:nvPr/>
        </p:nvSpPr>
        <p:spPr>
          <a:xfrm>
            <a:off x="584200" y="1320800"/>
            <a:ext cx="7518400" cy="65481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086" name="p34tag"/>
          <p:cNvSpPr/>
          <p:nvPr/>
        </p:nvSpPr>
        <p:spPr>
          <a:xfrm>
            <a:off x="558800" y="1270000"/>
            <a:ext cx="7569200" cy="654812"/>
          </a:xfrm>
          <a:prstGeom prst="roundRect">
            <a:avLst>
              <a:gd name="adj" fmla="val 8000"/>
            </a:avLst>
          </a:prstGeom>
          <a:solidFill>
            <a:srgbClr val="E9EFE9"/>
          </a:solidFill>
          <a:ln w="15875">
            <a:solidFill>
              <a:srgbClr val="584C86"/>
            </a:solidFill>
          </a:ln>
        </p:spPr>
        <p:txBody>
          <a:bodyPr rtlCol="0" anchor="ctr"/>
          <a:lstStyle/>
          <a:p/>
        </p:txBody>
      </p:sp>
      <p:sp>
        <p:nvSpPr>
          <p:cNvPr id="2087" name="p34tag_cap"/>
          <p:cNvSpPr/>
          <p:nvPr/>
        </p:nvSpPr>
        <p:spPr>
          <a:xfrm>
            <a:off x="647700" y="1346200"/>
            <a:ext cx="50800" cy="502412"/>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088" name="p34tag_t"/>
          <p:cNvSpPr txBox="1"/>
          <p:nvPr/>
        </p:nvSpPr>
        <p:spPr>
          <a:xfrm>
            <a:off x="711200" y="1358900"/>
            <a:ext cx="7264400" cy="477012"/>
          </a:xfrm>
          <a:prstGeom prst="rect">
            <a:avLst/>
          </a:prstGeom>
        </p:spPr>
        <p:txBody>
          <a:bodyPr wrap="square" lIns="0" rIns="0" tIns="0" bIns="0"/>
          <a:lstStyle/>
          <a:p>
            <a:pPr algn="l" lvl="0"/>
            <a:r>
              <a:rPr lang="zh-CN" sz="1800" b="1">
                <a:solidFill>
                  <a:srgbClr val="1D2B23"/>
                </a:solidFill>
                <a:latin typeface="黑体"/>
                <a:ea typeface="黑体"/>
              </a:rPr>
              <a:t>课堂小结 · 我们的青春答卷</a:t>
            </a:r>
          </a:p>
        </p:txBody>
      </p:sp>
      <p:sp>
        <p:nvSpPr>
          <p:cNvPr id="2089" name="p34t_sh"/>
          <p:cNvSpPr/>
          <p:nvPr/>
        </p:nvSpPr>
        <p:spPr>
          <a:xfrm>
            <a:off x="584200" y="2229612"/>
            <a:ext cx="7518400" cy="2112264"/>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2090" name="p34t"/>
          <p:cNvSpPr/>
          <p:nvPr/>
        </p:nvSpPr>
        <p:spPr>
          <a:xfrm>
            <a:off x="558800" y="2178812"/>
            <a:ext cx="7569200" cy="2112264"/>
          </a:xfrm>
          <a:prstGeom prst="roundRect">
            <a:avLst>
              <a:gd name="adj" fmla="val 8000"/>
            </a:avLst>
          </a:prstGeom>
          <a:solidFill>
            <a:srgbClr val="F0E8D8"/>
          </a:solidFill>
          <a:ln w="15875">
            <a:solidFill>
              <a:srgbClr val="584C86"/>
            </a:solidFill>
          </a:ln>
        </p:spPr>
        <p:txBody>
          <a:bodyPr rtlCol="0" anchor="ctr"/>
          <a:lstStyle/>
          <a:p/>
        </p:txBody>
      </p:sp>
      <p:sp>
        <p:nvSpPr>
          <p:cNvPr id="2091" name="p34t_le"/>
          <p:cNvSpPr/>
          <p:nvPr/>
        </p:nvSpPr>
        <p:spPr>
          <a:xfrm>
            <a:off x="584200" y="2293112"/>
            <a:ext cx="44450" cy="1883664"/>
          </a:xfrm>
          <a:prstGeom prst="rect">
            <a:avLst/>
          </a:prstGeom>
          <a:gradFill rotWithShape="1">
            <a:gsLst>
              <a:gs pos="0">
                <a:srgbClr val="584C86"/>
              </a:gs>
              <a:gs pos="100000">
                <a:srgbClr val="584C86">
                  <a:alpha val="0"/>
                </a:srgbClr>
              </a:gs>
            </a:gsLst>
            <a:lin ang="5400000" scaled="1"/>
          </a:gradFill>
          <a:ln>
            <a:noFill/>
          </a:ln>
        </p:spPr>
        <p:txBody>
          <a:bodyPr rtlCol="0" anchor="ctr"/>
          <a:lstStyle/>
          <a:p/>
        </p:txBody>
      </p:sp>
      <p:sp>
        <p:nvSpPr>
          <p:cNvPr id="2092" name="p34t_b"/>
          <p:cNvSpPr txBox="1"/>
          <p:nvPr/>
        </p:nvSpPr>
        <p:spPr>
          <a:xfrm>
            <a:off x="711200" y="2293112"/>
            <a:ext cx="7264400" cy="1807464"/>
          </a:xfrm>
          <a:prstGeom prst="rect">
            <a:avLst/>
          </a:prstGeom>
        </p:spPr>
        <p:txBody>
          <a:bodyPr wrap="square" lIns="0" rIns="0" tIns="0" bIns="0"/>
          <a:lstStyle/>
          <a:p>
            <a:pPr algn="l" lvl="0"/>
            <a:r>
              <a:rPr lang="zh-CN" sz="1600">
                <a:solidFill>
                  <a:srgbClr val="2E4438"/>
                </a:solidFill>
                <a:latin typeface="楷体"/>
                <a:ea typeface="楷体"/>
              </a:rPr>
              <a:t>新时代新征程，社会主义中国巍然屹立，中华民族伟大复兴势不可挡。</a:t>
            </a:r>
          </a:p>
          <a:p>
            <a:pPr algn="l" lvl="0"/>
            <a:r>
              <a:rPr lang="zh-CN" sz="1600">
                <a:solidFill>
                  <a:srgbClr val="2E4438"/>
                </a:solidFill>
                <a:latin typeface="楷体"/>
                <a:ea typeface="楷体"/>
              </a:rPr>
              <a:t>我们是实现强国建设、民族复兴伟业的中坚力量。</a:t>
            </a:r>
          </a:p>
          <a:p>
            <a:pPr algn="l" lvl="0"/>
            <a:r>
              <a:rPr lang="zh-CN" sz="1600">
                <a:solidFill>
                  <a:srgbClr val="2E4438"/>
                </a:solidFill>
                <a:latin typeface="楷体"/>
                <a:ea typeface="楷体"/>
              </a:rPr>
              <a:t>“勿忘昨天的苦难辉煌，无愧今天的使命担当，不负明天的伟大梦想”，</a:t>
            </a:r>
          </a:p>
          <a:p>
            <a:pPr algn="l" lvl="0"/>
            <a:r>
              <a:rPr lang="zh-CN" sz="1600">
                <a:solidFill>
                  <a:srgbClr val="2E4438"/>
                </a:solidFill>
                <a:latin typeface="楷体"/>
                <a:ea typeface="楷体"/>
              </a:rPr>
              <a:t>自觉做习近平新时代中国特色社会主义思想的坚定信仰者、积极传播者、</a:t>
            </a:r>
          </a:p>
          <a:p>
            <a:pPr algn="l" lvl="0"/>
            <a:r>
              <a:rPr lang="zh-CN" sz="1600">
                <a:solidFill>
                  <a:srgbClr val="2E4438"/>
                </a:solidFill>
                <a:latin typeface="楷体"/>
                <a:ea typeface="楷体"/>
              </a:rPr>
              <a:t>忠实实践者。</a:t>
            </a:r>
          </a:p>
          <a:p>
            <a:pPr algn="l" lvl="0"/>
            <a:r>
              <a:rPr lang="zh-CN" sz="1600">
                <a:solidFill>
                  <a:srgbClr val="2E4438"/>
                </a:solidFill>
                <a:latin typeface="楷体"/>
                <a:ea typeface="楷体"/>
              </a:rPr>
              <a:t>以青春见证中国腾飞，用成长助推家乡发展——这就是我们的青春答卷！</a:t>
            </a:r>
          </a:p>
          <a:p>
            <a:pPr algn="l" lvl="0"/>
            <a:r>
              <a:rPr lang="zh-CN" sz="1600">
                <a:solidFill>
                  <a:srgbClr val="2E4438"/>
                </a:solidFill>
                <a:latin typeface="楷体"/>
                <a:ea typeface="楷体"/>
              </a:rPr>
              <a:t/>
            </a:r>
          </a:p>
        </p:txBody>
      </p:sp>
    </p:spTree>
  </p:cSld>
  <p:clrMapOvr>
    <a:masterClrMapping/>
  </p:clrMapOvr>
  <p:transition xmlns:p="http://schemas.openxmlformats.org/presentationml/2006/main" spd="med">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093" name="hd_secbg"/>
          <p:cNvSpPr/>
          <p:nvPr/>
        </p:nvSpPr>
        <p:spPr>
          <a:xfrm>
            <a:off x="558800" y="279400"/>
            <a:ext cx="2623058"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2094" name="hd_secbar"/>
          <p:cNvSpPr/>
          <p:nvPr/>
        </p:nvSpPr>
        <p:spPr>
          <a:xfrm>
            <a:off x="609600" y="317500"/>
            <a:ext cx="44450" cy="228600"/>
          </a:xfrm>
          <a:prstGeom prst="rect">
            <a:avLst/>
          </a:prstGeom>
          <a:gradFill rotWithShape="1">
            <a:gsLst>
              <a:gs pos="0">
                <a:srgbClr val="584C86"/>
              </a:gs>
              <a:gs pos="100000">
                <a:srgbClr val="B9A7E8">
                  <a:alpha val="100000"/>
                </a:srgbClr>
              </a:gs>
            </a:gsLst>
            <a:lin ang="5400000" scaled="1"/>
          </a:gradFill>
          <a:ln>
            <a:noFill/>
          </a:ln>
        </p:spPr>
        <p:txBody>
          <a:bodyPr rtlCol="0" anchor="ctr"/>
          <a:lstStyle/>
          <a:p/>
        </p:txBody>
      </p:sp>
      <p:sp>
        <p:nvSpPr>
          <p:cNvPr id="2095" name="hd_sec"/>
          <p:cNvSpPr txBox="1"/>
          <p:nvPr/>
        </p:nvSpPr>
        <p:spPr>
          <a:xfrm>
            <a:off x="736600" y="317500"/>
            <a:ext cx="2343658" cy="228600"/>
          </a:xfrm>
          <a:prstGeom prst="rect">
            <a:avLst/>
          </a:prstGeom>
        </p:spPr>
        <p:txBody>
          <a:bodyPr wrap="square" lIns="0" rIns="0" tIns="0" bIns="0"/>
          <a:lstStyle/>
          <a:p>
            <a:pPr algn="l" lvl="0"/>
            <a:r>
              <a:rPr lang="zh-CN" sz="1400" b="1">
                <a:solidFill>
                  <a:srgbClr val="584C86"/>
                </a:solidFill>
                <a:latin typeface="黑体"/>
                <a:ea typeface="黑体"/>
              </a:rPr>
              <a:t>收束 · 小结·评价·练习</a:t>
            </a:r>
          </a:p>
        </p:txBody>
      </p:sp>
      <p:sp>
        <p:nvSpPr>
          <p:cNvPr id="2096"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课堂练习 1 · 新时代的认识</a:t>
            </a:r>
          </a:p>
        </p:txBody>
      </p:sp>
      <p:sp>
        <p:nvSpPr>
          <p:cNvPr id="2097" name="hd_rule2"/>
          <p:cNvSpPr/>
          <p:nvPr/>
        </p:nvSpPr>
        <p:spPr>
          <a:xfrm>
            <a:off x="558800" y="1143000"/>
            <a:ext cx="1625600" cy="44450"/>
          </a:xfrm>
          <a:prstGeom prst="rect">
            <a:avLst/>
          </a:prstGeom>
          <a:gradFill rotWithShape="1">
            <a:gsLst>
              <a:gs pos="0">
                <a:srgbClr val="584C86"/>
              </a:gs>
              <a:gs pos="100000">
                <a:srgbClr val="B9A7E8">
                  <a:alpha val="100000"/>
                </a:srgbClr>
              </a:gs>
            </a:gsLst>
            <a:lin ang="0" scaled="1"/>
          </a:gradFill>
          <a:ln>
            <a:noFill/>
          </a:ln>
        </p:spPr>
        <p:txBody>
          <a:bodyPr rtlCol="0" anchor="ctr"/>
          <a:lstStyle/>
          <a:p/>
        </p:txBody>
      </p:sp>
      <p:sp>
        <p:nvSpPr>
          <p:cNvPr id="2098" name="hd_rule"/>
          <p:cNvSpPr/>
          <p:nvPr/>
        </p:nvSpPr>
        <p:spPr>
          <a:xfrm>
            <a:off x="2260600" y="1158240"/>
            <a:ext cx="5867400" cy="19050"/>
          </a:xfrm>
          <a:prstGeom prst="rect">
            <a:avLst/>
          </a:prstGeom>
          <a:solidFill>
            <a:srgbClr val="B9A7E8">
              <a:alpha val="40000"/>
            </a:srgbClr>
          </a:solidFill>
          <a:ln>
            <a:noFill/>
          </a:ln>
        </p:spPr>
        <p:txBody>
          <a:bodyPr rtlCol="0" anchor="ctr"/>
          <a:lstStyle/>
          <a:p/>
        </p:txBody>
      </p:sp>
      <p:cxnSp>
        <p:nvCxnSpPr>
          <p:cNvPr id="2099" name="rb_rule"/>
          <p:cNvCxnSpPr/>
          <p:nvPr/>
        </p:nvCxnSpPr>
        <p:spPr>
          <a:xfrm>
            <a:off x="8280400" y="1422400"/>
            <a:ext cx="0" cy="4267200"/>
          </a:xfrm>
          <a:prstGeom prst="straightConnector1">
            <a:avLst/>
          </a:prstGeom>
          <a:ln w="19050">
            <a:solidFill>
              <a:srgbClr val="7E9A85"/>
            </a:solidFill>
          </a:ln>
        </p:spPr>
      </p:cxnSp>
      <p:sp>
        <p:nvSpPr>
          <p:cNvPr id="2100" name="rb_chip_a"/>
          <p:cNvSpPr/>
          <p:nvPr/>
        </p:nvSpPr>
        <p:spPr>
          <a:xfrm>
            <a:off x="8229600" y="1219200"/>
            <a:ext cx="152400" cy="152400"/>
          </a:xfrm>
          <a:prstGeom prst="rect">
            <a:avLst/>
          </a:prstGeom>
          <a:gradFill rotWithShape="1">
            <a:gsLst>
              <a:gs pos="0">
                <a:srgbClr val="B9A7E8"/>
              </a:gs>
              <a:gs pos="100000">
                <a:srgbClr val="584C86">
                  <a:alpha val="100000"/>
                </a:srgbClr>
              </a:gs>
            </a:gsLst>
            <a:lin ang="8100000" scaled="1"/>
          </a:gradFill>
          <a:ln>
            <a:noFill/>
          </a:ln>
        </p:spPr>
        <p:txBody>
          <a:bodyPr rtlCol="0" anchor="ctr"/>
          <a:lstStyle/>
          <a:p/>
        </p:txBody>
      </p:sp>
      <p:sp>
        <p:nvSpPr>
          <p:cNvPr id="2101" name="rb_chip_b"/>
          <p:cNvSpPr/>
          <p:nvPr/>
        </p:nvSpPr>
        <p:spPr>
          <a:xfrm>
            <a:off x="8280400" y="1193800"/>
            <a:ext cx="101600" cy="101600"/>
          </a:xfrm>
          <a:prstGeom prst="rect">
            <a:avLst/>
          </a:prstGeom>
          <a:solidFill>
            <a:srgbClr val="584C86"/>
          </a:solidFill>
          <a:ln>
            <a:noFill/>
          </a:ln>
        </p:spPr>
        <p:txBody>
          <a:bodyPr rtlCol="0" anchor="ctr"/>
          <a:lstStyle/>
          <a:p/>
        </p:txBody>
      </p:sp>
      <p:sp>
        <p:nvSpPr>
          <p:cNvPr id="2102"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2103"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2104" name="rb_tagrule"/>
          <p:cNvCxnSpPr/>
          <p:nvPr/>
        </p:nvCxnSpPr>
        <p:spPr>
          <a:xfrm>
            <a:off x="11226800" y="2260600"/>
            <a:ext cx="482600" cy="0"/>
          </a:xfrm>
          <a:prstGeom prst="straightConnector1">
            <a:avLst/>
          </a:prstGeom>
          <a:ln w="12700">
            <a:solidFill>
              <a:srgbClr val="7E9A85"/>
            </a:solidFill>
          </a:ln>
        </p:spPr>
      </p:cxnSp>
      <p:sp>
        <p:nvSpPr>
          <p:cNvPr id="2105"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B9A7E8"/>
                </a:solidFill>
                <a:latin typeface="黑体"/>
                <a:ea typeface="黑体"/>
              </a:rPr>
              <a:t>35 / 42</a:t>
            </a:r>
          </a:p>
        </p:txBody>
      </p:sp>
      <p:sp>
        <p:nvSpPr>
          <p:cNvPr id="2106" name="q1_stem_sh"/>
          <p:cNvSpPr/>
          <p:nvPr/>
        </p:nvSpPr>
        <p:spPr>
          <a:xfrm>
            <a:off x="584200" y="1320800"/>
            <a:ext cx="7518400" cy="119583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07" name="q1_stem"/>
          <p:cNvSpPr/>
          <p:nvPr/>
        </p:nvSpPr>
        <p:spPr>
          <a:xfrm>
            <a:off x="558800" y="1270000"/>
            <a:ext cx="7569200" cy="1195832"/>
          </a:xfrm>
          <a:prstGeom prst="roundRect">
            <a:avLst>
              <a:gd name="adj" fmla="val 8000"/>
            </a:avLst>
          </a:prstGeom>
          <a:solidFill>
            <a:srgbClr val="E9EFE9"/>
          </a:solidFill>
          <a:ln w="15875">
            <a:solidFill>
              <a:srgbClr val="584C86"/>
            </a:solidFill>
          </a:ln>
        </p:spPr>
        <p:txBody>
          <a:bodyPr rtlCol="0" anchor="ctr"/>
          <a:lstStyle/>
          <a:p/>
        </p:txBody>
      </p:sp>
      <p:sp>
        <p:nvSpPr>
          <p:cNvPr id="2108" name="q1_stem_cap"/>
          <p:cNvSpPr/>
          <p:nvPr/>
        </p:nvSpPr>
        <p:spPr>
          <a:xfrm>
            <a:off x="647700" y="1346200"/>
            <a:ext cx="50800" cy="1043432"/>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09" name="q1_stem_t"/>
          <p:cNvSpPr txBox="1"/>
          <p:nvPr/>
        </p:nvSpPr>
        <p:spPr>
          <a:xfrm>
            <a:off x="711200" y="1358900"/>
            <a:ext cx="7264400" cy="1018032"/>
          </a:xfrm>
          <a:prstGeom prst="rect">
            <a:avLst/>
          </a:prstGeom>
        </p:spPr>
        <p:txBody>
          <a:bodyPr wrap="square" lIns="0" rIns="0" tIns="0" bIns="0"/>
          <a:lstStyle/>
          <a:p>
            <a:pPr algn="l" lvl="0"/>
            <a:r>
              <a:rPr lang="zh-CN" sz="1600" b="1">
                <a:solidFill>
                  <a:srgbClr val="1D2B23"/>
                </a:solidFill>
                <a:latin typeface="黑体"/>
                <a:ea typeface="黑体"/>
              </a:rPr>
              <a:t>课堂练习 1　进入新时代，我国社会主要矛盾已经转化为人民日益增长</a:t>
            </a:r>
          </a:p>
          <a:p>
            <a:pPr algn="l" lvl="0"/>
            <a:r>
              <a:rPr lang="zh-CN" sz="1600" b="1">
                <a:solidFill>
                  <a:srgbClr val="1D2B23"/>
                </a:solidFill>
                <a:latin typeface="黑体"/>
                <a:ea typeface="黑体"/>
              </a:rPr>
              <a:t>的美好生活需要和不平衡不充分的发展之间的矛盾，在生态文明、法治</a:t>
            </a:r>
          </a:p>
          <a:p>
            <a:pPr algn="l" lvl="0"/>
            <a:r>
              <a:rPr lang="zh-CN" sz="1600" b="1">
                <a:solidFill>
                  <a:srgbClr val="1D2B23"/>
                </a:solidFill>
                <a:latin typeface="黑体"/>
                <a:ea typeface="黑体"/>
              </a:rPr>
              <a:t>建设、民生改善等领域取得一系列辉煌成就。下列对新时代认识正确的</a:t>
            </a:r>
          </a:p>
          <a:p>
            <a:pPr algn="l" lvl="0"/>
            <a:r>
              <a:rPr lang="zh-CN" sz="1600" b="1">
                <a:solidFill>
                  <a:srgbClr val="1D2B23"/>
                </a:solidFill>
                <a:latin typeface="黑体"/>
                <a:ea typeface="黑体"/>
              </a:rPr>
              <a:t>是（　）</a:t>
            </a:r>
          </a:p>
        </p:txBody>
      </p:sp>
      <p:sp>
        <p:nvSpPr>
          <p:cNvPr id="2110" name="q1_o0_sh"/>
          <p:cNvSpPr/>
          <p:nvPr/>
        </p:nvSpPr>
        <p:spPr>
          <a:xfrm>
            <a:off x="584200" y="2669032"/>
            <a:ext cx="7518400" cy="51308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11" name="q1_o0"/>
          <p:cNvSpPr/>
          <p:nvPr/>
        </p:nvSpPr>
        <p:spPr>
          <a:xfrm>
            <a:off x="558800" y="2618232"/>
            <a:ext cx="7569200" cy="513080"/>
          </a:xfrm>
          <a:prstGeom prst="roundRect">
            <a:avLst>
              <a:gd name="adj" fmla="val 8000"/>
            </a:avLst>
          </a:prstGeom>
          <a:solidFill>
            <a:srgbClr val="E9EFE9"/>
          </a:solidFill>
          <a:ln w="15875">
            <a:solidFill>
              <a:srgbClr val="584C86"/>
            </a:solidFill>
          </a:ln>
        </p:spPr>
        <p:txBody>
          <a:bodyPr rtlCol="0" anchor="ctr"/>
          <a:lstStyle/>
          <a:p/>
        </p:txBody>
      </p:sp>
      <p:sp>
        <p:nvSpPr>
          <p:cNvPr id="2112" name="q1_o0_cap"/>
          <p:cNvSpPr/>
          <p:nvPr/>
        </p:nvSpPr>
        <p:spPr>
          <a:xfrm>
            <a:off x="647700" y="2694432"/>
            <a:ext cx="50800" cy="36068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13" name="q1_o0_t"/>
          <p:cNvSpPr txBox="1"/>
          <p:nvPr/>
        </p:nvSpPr>
        <p:spPr>
          <a:xfrm>
            <a:off x="711200" y="2707132"/>
            <a:ext cx="7264400" cy="335280"/>
          </a:xfrm>
          <a:prstGeom prst="rect">
            <a:avLst/>
          </a:prstGeom>
        </p:spPr>
        <p:txBody>
          <a:bodyPr wrap="square" lIns="0" rIns="0" tIns="0" bIns="0"/>
          <a:lstStyle/>
          <a:p>
            <a:pPr algn="l" lvl="0"/>
            <a:r>
              <a:rPr lang="zh-CN" sz="1600">
                <a:solidFill>
                  <a:srgbClr val="1D2B23"/>
                </a:solidFill>
                <a:latin typeface="楷体"/>
                <a:ea typeface="楷体"/>
              </a:rPr>
              <a:t>A. 新时代意味着我国已经建成社会主义现代化强国</a:t>
            </a:r>
          </a:p>
        </p:txBody>
      </p:sp>
      <p:sp>
        <p:nvSpPr>
          <p:cNvPr id="2114" name="q1_o1_sh"/>
          <p:cNvSpPr/>
          <p:nvPr/>
        </p:nvSpPr>
        <p:spPr>
          <a:xfrm>
            <a:off x="584200" y="3232912"/>
            <a:ext cx="7518400" cy="51308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15" name="q1_o1"/>
          <p:cNvSpPr/>
          <p:nvPr/>
        </p:nvSpPr>
        <p:spPr>
          <a:xfrm>
            <a:off x="558800" y="3182112"/>
            <a:ext cx="7569200" cy="513080"/>
          </a:xfrm>
          <a:prstGeom prst="roundRect">
            <a:avLst>
              <a:gd name="adj" fmla="val 8000"/>
            </a:avLst>
          </a:prstGeom>
          <a:solidFill>
            <a:srgbClr val="E9EFE9"/>
          </a:solidFill>
          <a:ln w="15875">
            <a:solidFill>
              <a:srgbClr val="584C86"/>
            </a:solidFill>
          </a:ln>
        </p:spPr>
        <p:txBody>
          <a:bodyPr rtlCol="0" anchor="ctr"/>
          <a:lstStyle/>
          <a:p/>
        </p:txBody>
      </p:sp>
      <p:sp>
        <p:nvSpPr>
          <p:cNvPr id="2116" name="q1_o1_cap"/>
          <p:cNvSpPr/>
          <p:nvPr/>
        </p:nvSpPr>
        <p:spPr>
          <a:xfrm>
            <a:off x="647700" y="3258312"/>
            <a:ext cx="50800" cy="36068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17" name="q1_o1_t"/>
          <p:cNvSpPr txBox="1"/>
          <p:nvPr/>
        </p:nvSpPr>
        <p:spPr>
          <a:xfrm>
            <a:off x="711200" y="3271012"/>
            <a:ext cx="7264400" cy="335280"/>
          </a:xfrm>
          <a:prstGeom prst="rect">
            <a:avLst/>
          </a:prstGeom>
        </p:spPr>
        <p:txBody>
          <a:bodyPr wrap="square" lIns="0" rIns="0" tIns="0" bIns="0"/>
          <a:lstStyle/>
          <a:p>
            <a:pPr algn="l" lvl="0"/>
            <a:r>
              <a:rPr lang="zh-CN" sz="1600">
                <a:solidFill>
                  <a:srgbClr val="1D2B23"/>
                </a:solidFill>
                <a:latin typeface="楷体"/>
                <a:ea typeface="楷体"/>
              </a:rPr>
              <a:t>B. 新时代是全国各族人民团结奋斗、不断创造美好生活的时代</a:t>
            </a:r>
          </a:p>
        </p:txBody>
      </p:sp>
      <p:sp>
        <p:nvSpPr>
          <p:cNvPr id="2118" name="q1_o2_sh"/>
          <p:cNvSpPr/>
          <p:nvPr/>
        </p:nvSpPr>
        <p:spPr>
          <a:xfrm>
            <a:off x="584200" y="3796792"/>
            <a:ext cx="7518400" cy="51308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19" name="q1_o2"/>
          <p:cNvSpPr/>
          <p:nvPr/>
        </p:nvSpPr>
        <p:spPr>
          <a:xfrm>
            <a:off x="558800" y="3745992"/>
            <a:ext cx="7569200" cy="513080"/>
          </a:xfrm>
          <a:prstGeom prst="roundRect">
            <a:avLst>
              <a:gd name="adj" fmla="val 8000"/>
            </a:avLst>
          </a:prstGeom>
          <a:solidFill>
            <a:srgbClr val="E9EFE9"/>
          </a:solidFill>
          <a:ln w="15875">
            <a:solidFill>
              <a:srgbClr val="584C86"/>
            </a:solidFill>
          </a:ln>
        </p:spPr>
        <p:txBody>
          <a:bodyPr rtlCol="0" anchor="ctr"/>
          <a:lstStyle/>
          <a:p/>
        </p:txBody>
      </p:sp>
      <p:sp>
        <p:nvSpPr>
          <p:cNvPr id="2120" name="q1_o2_cap"/>
          <p:cNvSpPr/>
          <p:nvPr/>
        </p:nvSpPr>
        <p:spPr>
          <a:xfrm>
            <a:off x="647700" y="3822192"/>
            <a:ext cx="50800" cy="36068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21" name="q1_o2_t"/>
          <p:cNvSpPr txBox="1"/>
          <p:nvPr/>
        </p:nvSpPr>
        <p:spPr>
          <a:xfrm>
            <a:off x="711200" y="3834892"/>
            <a:ext cx="7264400" cy="335280"/>
          </a:xfrm>
          <a:prstGeom prst="rect">
            <a:avLst/>
          </a:prstGeom>
        </p:spPr>
        <p:txBody>
          <a:bodyPr wrap="square" lIns="0" rIns="0" tIns="0" bIns="0"/>
          <a:lstStyle/>
          <a:p>
            <a:pPr algn="l" lvl="0"/>
            <a:r>
              <a:rPr lang="zh-CN" sz="1600">
                <a:solidFill>
                  <a:srgbClr val="1D2B23"/>
                </a:solidFill>
                <a:latin typeface="楷体"/>
                <a:ea typeface="楷体"/>
              </a:rPr>
              <a:t>C. 新时代我国社会主要矛盾已经得到彻底解决</a:t>
            </a:r>
          </a:p>
        </p:txBody>
      </p:sp>
      <p:sp>
        <p:nvSpPr>
          <p:cNvPr id="2122" name="q1_o3_sh"/>
          <p:cNvSpPr/>
          <p:nvPr/>
        </p:nvSpPr>
        <p:spPr>
          <a:xfrm>
            <a:off x="584200" y="4360672"/>
            <a:ext cx="7518400" cy="51308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23" name="q1_o3"/>
          <p:cNvSpPr/>
          <p:nvPr/>
        </p:nvSpPr>
        <p:spPr>
          <a:xfrm>
            <a:off x="558800" y="4309872"/>
            <a:ext cx="7569200" cy="513080"/>
          </a:xfrm>
          <a:prstGeom prst="roundRect">
            <a:avLst>
              <a:gd name="adj" fmla="val 8000"/>
            </a:avLst>
          </a:prstGeom>
          <a:solidFill>
            <a:srgbClr val="E9EFE9"/>
          </a:solidFill>
          <a:ln w="15875">
            <a:solidFill>
              <a:srgbClr val="584C86"/>
            </a:solidFill>
          </a:ln>
        </p:spPr>
        <p:txBody>
          <a:bodyPr rtlCol="0" anchor="ctr"/>
          <a:lstStyle/>
          <a:p/>
        </p:txBody>
      </p:sp>
      <p:sp>
        <p:nvSpPr>
          <p:cNvPr id="2124" name="q1_o3_cap"/>
          <p:cNvSpPr/>
          <p:nvPr/>
        </p:nvSpPr>
        <p:spPr>
          <a:xfrm>
            <a:off x="647700" y="4386072"/>
            <a:ext cx="50800" cy="36068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25" name="q1_o3_t"/>
          <p:cNvSpPr txBox="1"/>
          <p:nvPr/>
        </p:nvSpPr>
        <p:spPr>
          <a:xfrm>
            <a:off x="711200" y="4398772"/>
            <a:ext cx="7264400" cy="335280"/>
          </a:xfrm>
          <a:prstGeom prst="rect">
            <a:avLst/>
          </a:prstGeom>
        </p:spPr>
        <p:txBody>
          <a:bodyPr wrap="square" lIns="0" rIns="0" tIns="0" bIns="0"/>
          <a:lstStyle/>
          <a:p>
            <a:pPr algn="l" lvl="0"/>
            <a:r>
              <a:rPr lang="zh-CN" sz="1600">
                <a:solidFill>
                  <a:srgbClr val="1D2B23"/>
                </a:solidFill>
                <a:latin typeface="楷体"/>
                <a:ea typeface="楷体"/>
              </a:rPr>
              <a:t>D. 新时代标志着我国已经实现全体人民共同富裕</a:t>
            </a:r>
          </a:p>
        </p:txBody>
      </p:sp>
      <p:sp>
        <p:nvSpPr>
          <p:cNvPr id="2126" name="q1_ans_sh"/>
          <p:cNvSpPr/>
          <p:nvPr/>
        </p:nvSpPr>
        <p:spPr>
          <a:xfrm>
            <a:off x="584200" y="5000752"/>
            <a:ext cx="7518400" cy="4318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27" name="q1_ans"/>
          <p:cNvSpPr/>
          <p:nvPr/>
        </p:nvSpPr>
        <p:spPr>
          <a:xfrm>
            <a:off x="558800" y="4949952"/>
            <a:ext cx="7569200" cy="431800"/>
          </a:xfrm>
          <a:prstGeom prst="roundRect">
            <a:avLst>
              <a:gd name="adj" fmla="val 8000"/>
            </a:avLst>
          </a:prstGeom>
          <a:solidFill>
            <a:srgbClr val="F0E8D8"/>
          </a:solidFill>
          <a:ln w="15875">
            <a:solidFill>
              <a:srgbClr val="584C86"/>
            </a:solidFill>
          </a:ln>
        </p:spPr>
        <p:txBody>
          <a:bodyPr rtlCol="0" anchor="ctr"/>
          <a:lstStyle/>
          <a:p/>
        </p:txBody>
      </p:sp>
      <p:sp>
        <p:nvSpPr>
          <p:cNvPr id="2128" name="q1_ans_cap"/>
          <p:cNvSpPr/>
          <p:nvPr/>
        </p:nvSpPr>
        <p:spPr>
          <a:xfrm>
            <a:off x="647700" y="5026152"/>
            <a:ext cx="50800" cy="27940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29" name="q1_ans_t"/>
          <p:cNvSpPr txBox="1"/>
          <p:nvPr/>
        </p:nvSpPr>
        <p:spPr>
          <a:xfrm>
            <a:off x="711200" y="5038852"/>
            <a:ext cx="7264400" cy="254000"/>
          </a:xfrm>
          <a:prstGeom prst="rect">
            <a:avLst/>
          </a:prstGeom>
        </p:spPr>
        <p:txBody>
          <a:bodyPr wrap="square" lIns="0" rIns="0" tIns="0" bIns="0"/>
          <a:lstStyle/>
          <a:p>
            <a:pPr algn="l" lvl="0"/>
            <a:r>
              <a:rPr lang="zh-CN" sz="1600" b="1">
                <a:solidFill>
                  <a:srgbClr val="1D2B23"/>
                </a:solidFill>
                <a:latin typeface="黑体"/>
                <a:ea typeface="黑体"/>
              </a:rPr>
              <a:t>答案：B</a:t>
            </a:r>
          </a:p>
        </p:txBody>
      </p:sp>
    </p:spTree>
  </p:cSld>
  <p:clrMapOvr>
    <a:masterClrMapping/>
  </p:clrMapOvr>
  <p:transition xmlns:p="http://schemas.openxmlformats.org/presentationml/2006/main" spd="med">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130" name="hd_secbg"/>
          <p:cNvSpPr/>
          <p:nvPr/>
        </p:nvSpPr>
        <p:spPr>
          <a:xfrm>
            <a:off x="558800" y="279400"/>
            <a:ext cx="2623058"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2131" name="hd_secbar"/>
          <p:cNvSpPr/>
          <p:nvPr/>
        </p:nvSpPr>
        <p:spPr>
          <a:xfrm>
            <a:off x="609600" y="317500"/>
            <a:ext cx="44450" cy="228600"/>
          </a:xfrm>
          <a:prstGeom prst="rect">
            <a:avLst/>
          </a:prstGeom>
          <a:gradFill rotWithShape="1">
            <a:gsLst>
              <a:gs pos="0">
                <a:srgbClr val="584C86"/>
              </a:gs>
              <a:gs pos="100000">
                <a:srgbClr val="B9A7E8">
                  <a:alpha val="100000"/>
                </a:srgbClr>
              </a:gs>
            </a:gsLst>
            <a:lin ang="5400000" scaled="1"/>
          </a:gradFill>
          <a:ln>
            <a:noFill/>
          </a:ln>
        </p:spPr>
        <p:txBody>
          <a:bodyPr rtlCol="0" anchor="ctr"/>
          <a:lstStyle/>
          <a:p/>
        </p:txBody>
      </p:sp>
      <p:sp>
        <p:nvSpPr>
          <p:cNvPr id="2132" name="hd_sec"/>
          <p:cNvSpPr txBox="1"/>
          <p:nvPr/>
        </p:nvSpPr>
        <p:spPr>
          <a:xfrm>
            <a:off x="736600" y="317500"/>
            <a:ext cx="2343658" cy="228600"/>
          </a:xfrm>
          <a:prstGeom prst="rect">
            <a:avLst/>
          </a:prstGeom>
        </p:spPr>
        <p:txBody>
          <a:bodyPr wrap="square" lIns="0" rIns="0" tIns="0" bIns="0"/>
          <a:lstStyle/>
          <a:p>
            <a:pPr algn="l" lvl="0"/>
            <a:r>
              <a:rPr lang="zh-CN" sz="1400" b="1">
                <a:solidFill>
                  <a:srgbClr val="584C86"/>
                </a:solidFill>
                <a:latin typeface="黑体"/>
                <a:ea typeface="黑体"/>
              </a:rPr>
              <a:t>收束 · 小结·评价·练习</a:t>
            </a:r>
          </a:p>
        </p:txBody>
      </p:sp>
      <p:sp>
        <p:nvSpPr>
          <p:cNvPr id="2133"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课堂练习 2 · 黄河保护法</a:t>
            </a:r>
          </a:p>
        </p:txBody>
      </p:sp>
      <p:sp>
        <p:nvSpPr>
          <p:cNvPr id="2134" name="hd_rule2"/>
          <p:cNvSpPr/>
          <p:nvPr/>
        </p:nvSpPr>
        <p:spPr>
          <a:xfrm>
            <a:off x="558800" y="1143000"/>
            <a:ext cx="1625600" cy="44450"/>
          </a:xfrm>
          <a:prstGeom prst="rect">
            <a:avLst/>
          </a:prstGeom>
          <a:gradFill rotWithShape="1">
            <a:gsLst>
              <a:gs pos="0">
                <a:srgbClr val="584C86"/>
              </a:gs>
              <a:gs pos="100000">
                <a:srgbClr val="B9A7E8">
                  <a:alpha val="100000"/>
                </a:srgbClr>
              </a:gs>
            </a:gsLst>
            <a:lin ang="0" scaled="1"/>
          </a:gradFill>
          <a:ln>
            <a:noFill/>
          </a:ln>
        </p:spPr>
        <p:txBody>
          <a:bodyPr rtlCol="0" anchor="ctr"/>
          <a:lstStyle/>
          <a:p/>
        </p:txBody>
      </p:sp>
      <p:sp>
        <p:nvSpPr>
          <p:cNvPr id="2135" name="hd_rule"/>
          <p:cNvSpPr/>
          <p:nvPr/>
        </p:nvSpPr>
        <p:spPr>
          <a:xfrm>
            <a:off x="2260600" y="1158240"/>
            <a:ext cx="5867400" cy="19050"/>
          </a:xfrm>
          <a:prstGeom prst="rect">
            <a:avLst/>
          </a:prstGeom>
          <a:solidFill>
            <a:srgbClr val="B9A7E8">
              <a:alpha val="40000"/>
            </a:srgbClr>
          </a:solidFill>
          <a:ln>
            <a:noFill/>
          </a:ln>
        </p:spPr>
        <p:txBody>
          <a:bodyPr rtlCol="0" anchor="ctr"/>
          <a:lstStyle/>
          <a:p/>
        </p:txBody>
      </p:sp>
      <p:cxnSp>
        <p:nvCxnSpPr>
          <p:cNvPr id="2136" name="rb_rule"/>
          <p:cNvCxnSpPr/>
          <p:nvPr/>
        </p:nvCxnSpPr>
        <p:spPr>
          <a:xfrm>
            <a:off x="8280400" y="1422400"/>
            <a:ext cx="0" cy="4267200"/>
          </a:xfrm>
          <a:prstGeom prst="straightConnector1">
            <a:avLst/>
          </a:prstGeom>
          <a:ln w="19050">
            <a:solidFill>
              <a:srgbClr val="7E9A85"/>
            </a:solidFill>
          </a:ln>
        </p:spPr>
      </p:cxnSp>
      <p:sp>
        <p:nvSpPr>
          <p:cNvPr id="2137" name="rb_chip_a"/>
          <p:cNvSpPr/>
          <p:nvPr/>
        </p:nvSpPr>
        <p:spPr>
          <a:xfrm>
            <a:off x="8229600" y="1219200"/>
            <a:ext cx="152400" cy="152400"/>
          </a:xfrm>
          <a:prstGeom prst="rect">
            <a:avLst/>
          </a:prstGeom>
          <a:gradFill rotWithShape="1">
            <a:gsLst>
              <a:gs pos="0">
                <a:srgbClr val="B9A7E8"/>
              </a:gs>
              <a:gs pos="100000">
                <a:srgbClr val="584C86">
                  <a:alpha val="100000"/>
                </a:srgbClr>
              </a:gs>
            </a:gsLst>
            <a:lin ang="8100000" scaled="1"/>
          </a:gradFill>
          <a:ln>
            <a:noFill/>
          </a:ln>
        </p:spPr>
        <p:txBody>
          <a:bodyPr rtlCol="0" anchor="ctr"/>
          <a:lstStyle/>
          <a:p/>
        </p:txBody>
      </p:sp>
      <p:sp>
        <p:nvSpPr>
          <p:cNvPr id="2138" name="rb_chip_b"/>
          <p:cNvSpPr/>
          <p:nvPr/>
        </p:nvSpPr>
        <p:spPr>
          <a:xfrm>
            <a:off x="8280400" y="1193800"/>
            <a:ext cx="101600" cy="101600"/>
          </a:xfrm>
          <a:prstGeom prst="rect">
            <a:avLst/>
          </a:prstGeom>
          <a:solidFill>
            <a:srgbClr val="584C86"/>
          </a:solidFill>
          <a:ln>
            <a:noFill/>
          </a:ln>
        </p:spPr>
        <p:txBody>
          <a:bodyPr rtlCol="0" anchor="ctr"/>
          <a:lstStyle/>
          <a:p/>
        </p:txBody>
      </p:sp>
      <p:sp>
        <p:nvSpPr>
          <p:cNvPr id="2139"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2140"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2141" name="rb_tagrule"/>
          <p:cNvCxnSpPr/>
          <p:nvPr/>
        </p:nvCxnSpPr>
        <p:spPr>
          <a:xfrm>
            <a:off x="11226800" y="2260600"/>
            <a:ext cx="482600" cy="0"/>
          </a:xfrm>
          <a:prstGeom prst="straightConnector1">
            <a:avLst/>
          </a:prstGeom>
          <a:ln w="12700">
            <a:solidFill>
              <a:srgbClr val="7E9A85"/>
            </a:solidFill>
          </a:ln>
        </p:spPr>
      </p:cxnSp>
      <p:sp>
        <p:nvSpPr>
          <p:cNvPr id="2142"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B9A7E8"/>
                </a:solidFill>
                <a:latin typeface="黑体"/>
                <a:ea typeface="黑体"/>
              </a:rPr>
              <a:t>36 / 42</a:t>
            </a:r>
          </a:p>
        </p:txBody>
      </p:sp>
      <p:sp>
        <p:nvSpPr>
          <p:cNvPr id="2143" name="q2_stem_sh"/>
          <p:cNvSpPr/>
          <p:nvPr/>
        </p:nvSpPr>
        <p:spPr>
          <a:xfrm>
            <a:off x="584200" y="1320800"/>
            <a:ext cx="7518400" cy="1195832"/>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44" name="q2_stem"/>
          <p:cNvSpPr/>
          <p:nvPr/>
        </p:nvSpPr>
        <p:spPr>
          <a:xfrm>
            <a:off x="558800" y="1270000"/>
            <a:ext cx="7569200" cy="1195832"/>
          </a:xfrm>
          <a:prstGeom prst="roundRect">
            <a:avLst>
              <a:gd name="adj" fmla="val 8000"/>
            </a:avLst>
          </a:prstGeom>
          <a:solidFill>
            <a:srgbClr val="E9EFE9"/>
          </a:solidFill>
          <a:ln w="15875">
            <a:solidFill>
              <a:srgbClr val="584C86"/>
            </a:solidFill>
          </a:ln>
        </p:spPr>
        <p:txBody>
          <a:bodyPr rtlCol="0" anchor="ctr"/>
          <a:lstStyle/>
          <a:p/>
        </p:txBody>
      </p:sp>
      <p:sp>
        <p:nvSpPr>
          <p:cNvPr id="2145" name="q2_stem_cap"/>
          <p:cNvSpPr/>
          <p:nvPr/>
        </p:nvSpPr>
        <p:spPr>
          <a:xfrm>
            <a:off x="647700" y="1346200"/>
            <a:ext cx="50800" cy="1043432"/>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46" name="q2_stem_t"/>
          <p:cNvSpPr txBox="1"/>
          <p:nvPr/>
        </p:nvSpPr>
        <p:spPr>
          <a:xfrm>
            <a:off x="711200" y="1358900"/>
            <a:ext cx="7264400" cy="1018032"/>
          </a:xfrm>
          <a:prstGeom prst="rect">
            <a:avLst/>
          </a:prstGeom>
        </p:spPr>
        <p:txBody>
          <a:bodyPr wrap="square" lIns="0" rIns="0" tIns="0" bIns="0"/>
          <a:lstStyle/>
          <a:p>
            <a:pPr algn="l" lvl="0"/>
            <a:r>
              <a:rPr lang="zh-CN" sz="1600" b="1">
                <a:solidFill>
                  <a:srgbClr val="1D2B23"/>
                </a:solidFill>
                <a:latin typeface="黑体"/>
                <a:ea typeface="黑体"/>
              </a:rPr>
              <a:t>课堂练习 2　《中华人民共和国黄河保护法》为黄河流域生态保护和高</a:t>
            </a:r>
          </a:p>
          <a:p>
            <a:pPr algn="l" lvl="0"/>
            <a:r>
              <a:rPr lang="zh-CN" sz="1600" b="1">
                <a:solidFill>
                  <a:srgbClr val="1D2B23"/>
                </a:solidFill>
                <a:latin typeface="黑体"/>
                <a:ea typeface="黑体"/>
              </a:rPr>
              <a:t>质量发展提供坚实法治保障，坚持共同抓好大保护，协同推进大治理。</a:t>
            </a:r>
          </a:p>
          <a:p>
            <a:pPr algn="l" lvl="0"/>
            <a:r>
              <a:rPr lang="zh-CN" sz="1600" b="1">
                <a:solidFill>
                  <a:srgbClr val="1D2B23"/>
                </a:solidFill>
                <a:latin typeface="黑体"/>
                <a:ea typeface="黑体"/>
              </a:rPr>
              <a:t>这一举措体现（　）</a:t>
            </a:r>
          </a:p>
        </p:txBody>
      </p:sp>
      <p:sp>
        <p:nvSpPr>
          <p:cNvPr id="2147" name="q2_o0_sh"/>
          <p:cNvSpPr/>
          <p:nvPr/>
        </p:nvSpPr>
        <p:spPr>
          <a:xfrm>
            <a:off x="584200" y="2669032"/>
            <a:ext cx="7518400" cy="51308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48" name="q2_o0"/>
          <p:cNvSpPr/>
          <p:nvPr/>
        </p:nvSpPr>
        <p:spPr>
          <a:xfrm>
            <a:off x="558800" y="2618232"/>
            <a:ext cx="7569200" cy="513080"/>
          </a:xfrm>
          <a:prstGeom prst="roundRect">
            <a:avLst>
              <a:gd name="adj" fmla="val 8000"/>
            </a:avLst>
          </a:prstGeom>
          <a:solidFill>
            <a:srgbClr val="E9EFE9"/>
          </a:solidFill>
          <a:ln w="15875">
            <a:solidFill>
              <a:srgbClr val="584C86"/>
            </a:solidFill>
          </a:ln>
        </p:spPr>
        <p:txBody>
          <a:bodyPr rtlCol="0" anchor="ctr"/>
          <a:lstStyle/>
          <a:p/>
        </p:txBody>
      </p:sp>
      <p:sp>
        <p:nvSpPr>
          <p:cNvPr id="2149" name="q2_o0_cap"/>
          <p:cNvSpPr/>
          <p:nvPr/>
        </p:nvSpPr>
        <p:spPr>
          <a:xfrm>
            <a:off x="647700" y="2694432"/>
            <a:ext cx="50800" cy="36068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50" name="q2_o0_t"/>
          <p:cNvSpPr txBox="1"/>
          <p:nvPr/>
        </p:nvSpPr>
        <p:spPr>
          <a:xfrm>
            <a:off x="711200" y="2707132"/>
            <a:ext cx="7264400" cy="335280"/>
          </a:xfrm>
          <a:prstGeom prst="rect">
            <a:avLst/>
          </a:prstGeom>
        </p:spPr>
        <p:txBody>
          <a:bodyPr wrap="square" lIns="0" rIns="0" tIns="0" bIns="0"/>
          <a:lstStyle/>
          <a:p>
            <a:pPr algn="l" lvl="0"/>
            <a:r>
              <a:rPr lang="zh-CN" sz="1600">
                <a:solidFill>
                  <a:srgbClr val="1D2B23"/>
                </a:solidFill>
                <a:latin typeface="楷体"/>
                <a:ea typeface="楷体"/>
              </a:rPr>
              <a:t>① 坚持依法治国，建设法治中国　　② 践行绿水青山就是金山银山理念</a:t>
            </a:r>
          </a:p>
        </p:txBody>
      </p:sp>
      <p:sp>
        <p:nvSpPr>
          <p:cNvPr id="2151" name="q2_o1_sh"/>
          <p:cNvSpPr/>
          <p:nvPr/>
        </p:nvSpPr>
        <p:spPr>
          <a:xfrm>
            <a:off x="584200" y="3232912"/>
            <a:ext cx="7518400" cy="79756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52" name="q2_o1"/>
          <p:cNvSpPr/>
          <p:nvPr/>
        </p:nvSpPr>
        <p:spPr>
          <a:xfrm>
            <a:off x="558800" y="3182112"/>
            <a:ext cx="7569200" cy="797560"/>
          </a:xfrm>
          <a:prstGeom prst="roundRect">
            <a:avLst>
              <a:gd name="adj" fmla="val 8000"/>
            </a:avLst>
          </a:prstGeom>
          <a:solidFill>
            <a:srgbClr val="E9EFE9"/>
          </a:solidFill>
          <a:ln w="15875">
            <a:solidFill>
              <a:srgbClr val="584C86"/>
            </a:solidFill>
          </a:ln>
        </p:spPr>
        <p:txBody>
          <a:bodyPr rtlCol="0" anchor="ctr"/>
          <a:lstStyle/>
          <a:p/>
        </p:txBody>
      </p:sp>
      <p:sp>
        <p:nvSpPr>
          <p:cNvPr id="2153" name="q2_o1_cap"/>
          <p:cNvSpPr/>
          <p:nvPr/>
        </p:nvSpPr>
        <p:spPr>
          <a:xfrm>
            <a:off x="647700" y="3258312"/>
            <a:ext cx="50800" cy="64516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54" name="q2_o1_t"/>
          <p:cNvSpPr txBox="1"/>
          <p:nvPr/>
        </p:nvSpPr>
        <p:spPr>
          <a:xfrm>
            <a:off x="711200" y="3271012"/>
            <a:ext cx="7264400" cy="619760"/>
          </a:xfrm>
          <a:prstGeom prst="rect">
            <a:avLst/>
          </a:prstGeom>
        </p:spPr>
        <p:txBody>
          <a:bodyPr wrap="square" lIns="0" rIns="0" tIns="0" bIns="0"/>
          <a:lstStyle/>
          <a:p>
            <a:pPr algn="l" lvl="0"/>
            <a:r>
              <a:rPr lang="zh-CN" sz="1600">
                <a:solidFill>
                  <a:srgbClr val="1D2B23"/>
                </a:solidFill>
                <a:latin typeface="楷体"/>
                <a:ea typeface="楷体"/>
              </a:rPr>
              <a:t>③ 生态保护可以脱离经济发展单独推进　　④ 走绿色发展道路，促进人</a:t>
            </a:r>
          </a:p>
          <a:p>
            <a:pPr algn="l" lvl="0"/>
            <a:r>
              <a:rPr lang="zh-CN" sz="1600">
                <a:solidFill>
                  <a:srgbClr val="1D2B23"/>
                </a:solidFill>
                <a:latin typeface="楷体"/>
                <a:ea typeface="楷体"/>
              </a:rPr>
              <a:t>与自然和谐共生</a:t>
            </a:r>
          </a:p>
        </p:txBody>
      </p:sp>
      <p:sp>
        <p:nvSpPr>
          <p:cNvPr id="2155" name="q2_o2_sh"/>
          <p:cNvSpPr/>
          <p:nvPr/>
        </p:nvSpPr>
        <p:spPr>
          <a:xfrm>
            <a:off x="584200" y="4081272"/>
            <a:ext cx="7518400" cy="51308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56" name="q2_o2"/>
          <p:cNvSpPr/>
          <p:nvPr/>
        </p:nvSpPr>
        <p:spPr>
          <a:xfrm>
            <a:off x="558800" y="4030472"/>
            <a:ext cx="7569200" cy="513080"/>
          </a:xfrm>
          <a:prstGeom prst="roundRect">
            <a:avLst>
              <a:gd name="adj" fmla="val 8000"/>
            </a:avLst>
          </a:prstGeom>
          <a:solidFill>
            <a:srgbClr val="E9EFE9"/>
          </a:solidFill>
          <a:ln w="15875">
            <a:solidFill>
              <a:srgbClr val="584C86"/>
            </a:solidFill>
          </a:ln>
        </p:spPr>
        <p:txBody>
          <a:bodyPr rtlCol="0" anchor="ctr"/>
          <a:lstStyle/>
          <a:p/>
        </p:txBody>
      </p:sp>
      <p:sp>
        <p:nvSpPr>
          <p:cNvPr id="2157" name="q2_o2_cap"/>
          <p:cNvSpPr/>
          <p:nvPr/>
        </p:nvSpPr>
        <p:spPr>
          <a:xfrm>
            <a:off x="647700" y="4106672"/>
            <a:ext cx="50800" cy="36068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58" name="q2_o2_t"/>
          <p:cNvSpPr txBox="1"/>
          <p:nvPr/>
        </p:nvSpPr>
        <p:spPr>
          <a:xfrm>
            <a:off x="711200" y="4119372"/>
            <a:ext cx="7264400" cy="335280"/>
          </a:xfrm>
          <a:prstGeom prst="rect">
            <a:avLst/>
          </a:prstGeom>
        </p:spPr>
        <p:txBody>
          <a:bodyPr wrap="square" lIns="0" rIns="0" tIns="0" bIns="0"/>
          <a:lstStyle/>
          <a:p>
            <a:pPr algn="l" lvl="0"/>
            <a:r>
              <a:rPr lang="zh-CN" sz="1600">
                <a:solidFill>
                  <a:srgbClr val="1D2B23"/>
                </a:solidFill>
                <a:latin typeface="楷体"/>
                <a:ea typeface="楷体"/>
              </a:rPr>
              <a:t>A. ①②③　　B. ①②④　　C. ①③④　　D. ②③④</a:t>
            </a:r>
          </a:p>
        </p:txBody>
      </p:sp>
      <p:sp>
        <p:nvSpPr>
          <p:cNvPr id="2159" name="q2_ans_sh"/>
          <p:cNvSpPr/>
          <p:nvPr/>
        </p:nvSpPr>
        <p:spPr>
          <a:xfrm>
            <a:off x="584200" y="4721352"/>
            <a:ext cx="7518400" cy="4318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60" name="q2_ans"/>
          <p:cNvSpPr/>
          <p:nvPr/>
        </p:nvSpPr>
        <p:spPr>
          <a:xfrm>
            <a:off x="558800" y="4670552"/>
            <a:ext cx="7569200" cy="431800"/>
          </a:xfrm>
          <a:prstGeom prst="roundRect">
            <a:avLst>
              <a:gd name="adj" fmla="val 8000"/>
            </a:avLst>
          </a:prstGeom>
          <a:solidFill>
            <a:srgbClr val="F0E8D8"/>
          </a:solidFill>
          <a:ln w="15875">
            <a:solidFill>
              <a:srgbClr val="584C86"/>
            </a:solidFill>
          </a:ln>
        </p:spPr>
        <p:txBody>
          <a:bodyPr rtlCol="0" anchor="ctr"/>
          <a:lstStyle/>
          <a:p/>
        </p:txBody>
      </p:sp>
      <p:sp>
        <p:nvSpPr>
          <p:cNvPr id="2161" name="q2_ans_cap"/>
          <p:cNvSpPr/>
          <p:nvPr/>
        </p:nvSpPr>
        <p:spPr>
          <a:xfrm>
            <a:off x="647700" y="4746752"/>
            <a:ext cx="50800" cy="27940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62" name="q2_ans_t"/>
          <p:cNvSpPr txBox="1"/>
          <p:nvPr/>
        </p:nvSpPr>
        <p:spPr>
          <a:xfrm>
            <a:off x="711200" y="4759452"/>
            <a:ext cx="7264400" cy="254000"/>
          </a:xfrm>
          <a:prstGeom prst="rect">
            <a:avLst/>
          </a:prstGeom>
        </p:spPr>
        <p:txBody>
          <a:bodyPr wrap="square" lIns="0" rIns="0" tIns="0" bIns="0"/>
          <a:lstStyle/>
          <a:p>
            <a:pPr algn="l" lvl="0"/>
            <a:r>
              <a:rPr lang="zh-CN" sz="1600" b="1">
                <a:solidFill>
                  <a:srgbClr val="1D2B23"/>
                </a:solidFill>
                <a:latin typeface="黑体"/>
                <a:ea typeface="黑体"/>
              </a:rPr>
              <a:t>答案：B</a:t>
            </a:r>
          </a:p>
        </p:txBody>
      </p:sp>
    </p:spTree>
  </p:cSld>
  <p:clrMapOvr>
    <a:masterClrMapping/>
  </p:clrMapOvr>
  <p:transition xmlns:p="http://schemas.openxmlformats.org/presentationml/2006/main" spd="med">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163" name="hd_secbg"/>
          <p:cNvSpPr/>
          <p:nvPr/>
        </p:nvSpPr>
        <p:spPr>
          <a:xfrm>
            <a:off x="558800" y="279400"/>
            <a:ext cx="2623058"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2164" name="hd_secbar"/>
          <p:cNvSpPr/>
          <p:nvPr/>
        </p:nvSpPr>
        <p:spPr>
          <a:xfrm>
            <a:off x="609600" y="317500"/>
            <a:ext cx="44450" cy="228600"/>
          </a:xfrm>
          <a:prstGeom prst="rect">
            <a:avLst/>
          </a:prstGeom>
          <a:gradFill rotWithShape="1">
            <a:gsLst>
              <a:gs pos="0">
                <a:srgbClr val="584C86"/>
              </a:gs>
              <a:gs pos="100000">
                <a:srgbClr val="B9A7E8">
                  <a:alpha val="100000"/>
                </a:srgbClr>
              </a:gs>
            </a:gsLst>
            <a:lin ang="5400000" scaled="1"/>
          </a:gradFill>
          <a:ln>
            <a:noFill/>
          </a:ln>
        </p:spPr>
        <p:txBody>
          <a:bodyPr rtlCol="0" anchor="ctr"/>
          <a:lstStyle/>
          <a:p/>
        </p:txBody>
      </p:sp>
      <p:sp>
        <p:nvSpPr>
          <p:cNvPr id="2165" name="hd_sec"/>
          <p:cNvSpPr txBox="1"/>
          <p:nvPr/>
        </p:nvSpPr>
        <p:spPr>
          <a:xfrm>
            <a:off x="736600" y="317500"/>
            <a:ext cx="2343658" cy="228600"/>
          </a:xfrm>
          <a:prstGeom prst="rect">
            <a:avLst/>
          </a:prstGeom>
        </p:spPr>
        <p:txBody>
          <a:bodyPr wrap="square" lIns="0" rIns="0" tIns="0" bIns="0"/>
          <a:lstStyle/>
          <a:p>
            <a:pPr algn="l" lvl="0"/>
            <a:r>
              <a:rPr lang="zh-CN" sz="1400" b="1">
                <a:solidFill>
                  <a:srgbClr val="584C86"/>
                </a:solidFill>
                <a:latin typeface="黑体"/>
                <a:ea typeface="黑体"/>
              </a:rPr>
              <a:t>收束 · 小结·评价·练习</a:t>
            </a:r>
          </a:p>
        </p:txBody>
      </p:sp>
      <p:sp>
        <p:nvSpPr>
          <p:cNvPr id="2166"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课堂练习 3 · 新质生产力</a:t>
            </a:r>
          </a:p>
        </p:txBody>
      </p:sp>
      <p:sp>
        <p:nvSpPr>
          <p:cNvPr id="2167" name="hd_rule2"/>
          <p:cNvSpPr/>
          <p:nvPr/>
        </p:nvSpPr>
        <p:spPr>
          <a:xfrm>
            <a:off x="558800" y="1143000"/>
            <a:ext cx="1625600" cy="44450"/>
          </a:xfrm>
          <a:prstGeom prst="rect">
            <a:avLst/>
          </a:prstGeom>
          <a:gradFill rotWithShape="1">
            <a:gsLst>
              <a:gs pos="0">
                <a:srgbClr val="584C86"/>
              </a:gs>
              <a:gs pos="100000">
                <a:srgbClr val="B9A7E8">
                  <a:alpha val="100000"/>
                </a:srgbClr>
              </a:gs>
            </a:gsLst>
            <a:lin ang="0" scaled="1"/>
          </a:gradFill>
          <a:ln>
            <a:noFill/>
          </a:ln>
        </p:spPr>
        <p:txBody>
          <a:bodyPr rtlCol="0" anchor="ctr"/>
          <a:lstStyle/>
          <a:p/>
        </p:txBody>
      </p:sp>
      <p:sp>
        <p:nvSpPr>
          <p:cNvPr id="2168" name="hd_rule"/>
          <p:cNvSpPr/>
          <p:nvPr/>
        </p:nvSpPr>
        <p:spPr>
          <a:xfrm>
            <a:off x="2260600" y="1158240"/>
            <a:ext cx="5867400" cy="19050"/>
          </a:xfrm>
          <a:prstGeom prst="rect">
            <a:avLst/>
          </a:prstGeom>
          <a:solidFill>
            <a:srgbClr val="B9A7E8">
              <a:alpha val="40000"/>
            </a:srgbClr>
          </a:solidFill>
          <a:ln>
            <a:noFill/>
          </a:ln>
        </p:spPr>
        <p:txBody>
          <a:bodyPr rtlCol="0" anchor="ctr"/>
          <a:lstStyle/>
          <a:p/>
        </p:txBody>
      </p:sp>
      <p:cxnSp>
        <p:nvCxnSpPr>
          <p:cNvPr id="2169" name="rb_rule"/>
          <p:cNvCxnSpPr/>
          <p:nvPr/>
        </p:nvCxnSpPr>
        <p:spPr>
          <a:xfrm>
            <a:off x="8280400" y="1422400"/>
            <a:ext cx="0" cy="4267200"/>
          </a:xfrm>
          <a:prstGeom prst="straightConnector1">
            <a:avLst/>
          </a:prstGeom>
          <a:ln w="19050">
            <a:solidFill>
              <a:srgbClr val="7E9A85"/>
            </a:solidFill>
          </a:ln>
        </p:spPr>
      </p:cxnSp>
      <p:sp>
        <p:nvSpPr>
          <p:cNvPr id="2170" name="rb_chip_a"/>
          <p:cNvSpPr/>
          <p:nvPr/>
        </p:nvSpPr>
        <p:spPr>
          <a:xfrm>
            <a:off x="8229600" y="1219200"/>
            <a:ext cx="152400" cy="152400"/>
          </a:xfrm>
          <a:prstGeom prst="rect">
            <a:avLst/>
          </a:prstGeom>
          <a:gradFill rotWithShape="1">
            <a:gsLst>
              <a:gs pos="0">
                <a:srgbClr val="B9A7E8"/>
              </a:gs>
              <a:gs pos="100000">
                <a:srgbClr val="584C86">
                  <a:alpha val="100000"/>
                </a:srgbClr>
              </a:gs>
            </a:gsLst>
            <a:lin ang="8100000" scaled="1"/>
          </a:gradFill>
          <a:ln>
            <a:noFill/>
          </a:ln>
        </p:spPr>
        <p:txBody>
          <a:bodyPr rtlCol="0" anchor="ctr"/>
          <a:lstStyle/>
          <a:p/>
        </p:txBody>
      </p:sp>
      <p:sp>
        <p:nvSpPr>
          <p:cNvPr id="2171" name="rb_chip_b"/>
          <p:cNvSpPr/>
          <p:nvPr/>
        </p:nvSpPr>
        <p:spPr>
          <a:xfrm>
            <a:off x="8280400" y="1193800"/>
            <a:ext cx="101600" cy="101600"/>
          </a:xfrm>
          <a:prstGeom prst="rect">
            <a:avLst/>
          </a:prstGeom>
          <a:solidFill>
            <a:srgbClr val="584C86"/>
          </a:solidFill>
          <a:ln>
            <a:noFill/>
          </a:ln>
        </p:spPr>
        <p:txBody>
          <a:bodyPr rtlCol="0" anchor="ctr"/>
          <a:lstStyle/>
          <a:p/>
        </p:txBody>
      </p:sp>
      <p:sp>
        <p:nvSpPr>
          <p:cNvPr id="2172"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2173"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2174" name="rb_tagrule"/>
          <p:cNvCxnSpPr/>
          <p:nvPr/>
        </p:nvCxnSpPr>
        <p:spPr>
          <a:xfrm>
            <a:off x="11226800" y="2260600"/>
            <a:ext cx="482600" cy="0"/>
          </a:xfrm>
          <a:prstGeom prst="straightConnector1">
            <a:avLst/>
          </a:prstGeom>
          <a:ln w="12700">
            <a:solidFill>
              <a:srgbClr val="7E9A85"/>
            </a:solidFill>
          </a:ln>
        </p:spPr>
      </p:cxnSp>
      <p:sp>
        <p:nvSpPr>
          <p:cNvPr id="2175"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B9A7E8"/>
                </a:solidFill>
                <a:latin typeface="黑体"/>
                <a:ea typeface="黑体"/>
              </a:rPr>
              <a:t>37 / 42</a:t>
            </a:r>
          </a:p>
        </p:txBody>
      </p:sp>
      <p:sp>
        <p:nvSpPr>
          <p:cNvPr id="2176" name="q3_stem_sh"/>
          <p:cNvSpPr/>
          <p:nvPr/>
        </p:nvSpPr>
        <p:spPr>
          <a:xfrm>
            <a:off x="584200" y="1320800"/>
            <a:ext cx="7518400" cy="1484376"/>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77" name="q3_stem"/>
          <p:cNvSpPr/>
          <p:nvPr/>
        </p:nvSpPr>
        <p:spPr>
          <a:xfrm>
            <a:off x="558800" y="1270000"/>
            <a:ext cx="7569200" cy="1484376"/>
          </a:xfrm>
          <a:prstGeom prst="roundRect">
            <a:avLst>
              <a:gd name="adj" fmla="val 8000"/>
            </a:avLst>
          </a:prstGeom>
          <a:solidFill>
            <a:srgbClr val="E9EFE9"/>
          </a:solidFill>
          <a:ln w="15875">
            <a:solidFill>
              <a:srgbClr val="584C86"/>
            </a:solidFill>
          </a:ln>
        </p:spPr>
        <p:txBody>
          <a:bodyPr rtlCol="0" anchor="ctr"/>
          <a:lstStyle/>
          <a:p/>
        </p:txBody>
      </p:sp>
      <p:sp>
        <p:nvSpPr>
          <p:cNvPr id="2178" name="q3_stem_cap"/>
          <p:cNvSpPr/>
          <p:nvPr/>
        </p:nvSpPr>
        <p:spPr>
          <a:xfrm>
            <a:off x="647700" y="1346200"/>
            <a:ext cx="50800" cy="1331976"/>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79" name="q3_stem_t"/>
          <p:cNvSpPr txBox="1"/>
          <p:nvPr/>
        </p:nvSpPr>
        <p:spPr>
          <a:xfrm>
            <a:off x="711200" y="1358900"/>
            <a:ext cx="7264400" cy="1306576"/>
          </a:xfrm>
          <a:prstGeom prst="rect">
            <a:avLst/>
          </a:prstGeom>
        </p:spPr>
        <p:txBody>
          <a:bodyPr wrap="square" lIns="0" rIns="0" tIns="0" bIns="0"/>
          <a:lstStyle/>
          <a:p>
            <a:pPr algn="l" lvl="0"/>
            <a:r>
              <a:rPr lang="zh-CN" sz="1600" b="1">
                <a:solidFill>
                  <a:srgbClr val="1D2B23"/>
                </a:solidFill>
                <a:latin typeface="黑体"/>
                <a:ea typeface="黑体"/>
              </a:rPr>
              <a:t>课堂练习 3　“十五五”规划纲要提出，推进低空经济健康发展、推进</a:t>
            </a:r>
          </a:p>
          <a:p>
            <a:pPr algn="l" lvl="0"/>
            <a:r>
              <a:rPr lang="zh-CN" sz="1600" b="1">
                <a:solidFill>
                  <a:srgbClr val="1D2B23"/>
                </a:solidFill>
                <a:latin typeface="黑体"/>
                <a:ea typeface="黑体"/>
              </a:rPr>
              <a:t>国产大飞机规模化系列化发展、支持创新药临床使用。2025 年，我国“</a:t>
            </a:r>
          </a:p>
          <a:p>
            <a:pPr algn="l" lvl="0"/>
            <a:r>
              <a:rPr lang="zh-CN" sz="1600" b="1">
                <a:solidFill>
                  <a:srgbClr val="1D2B23"/>
                </a:solidFill>
                <a:latin typeface="黑体"/>
                <a:ea typeface="黑体"/>
              </a:rPr>
              <a:t>新三样”（电动汽车、锂电池、光伏产品）出口规模接近 1.3 万亿元，</a:t>
            </a:r>
          </a:p>
          <a:p>
            <a:pPr algn="l" lvl="0"/>
            <a:r>
              <a:rPr lang="zh-CN" sz="1600" b="1">
                <a:solidFill>
                  <a:srgbClr val="1D2B23"/>
                </a:solidFill>
                <a:latin typeface="黑体"/>
                <a:ea typeface="黑体"/>
              </a:rPr>
              <a:t>比 2020 年增长 3.5 倍。这主要表明（　）</a:t>
            </a:r>
          </a:p>
        </p:txBody>
      </p:sp>
      <p:sp>
        <p:nvSpPr>
          <p:cNvPr id="2180" name="q3_o0_sh"/>
          <p:cNvSpPr/>
          <p:nvPr/>
        </p:nvSpPr>
        <p:spPr>
          <a:xfrm>
            <a:off x="584200" y="2957576"/>
            <a:ext cx="7518400" cy="51308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81" name="q3_o0"/>
          <p:cNvSpPr/>
          <p:nvPr/>
        </p:nvSpPr>
        <p:spPr>
          <a:xfrm>
            <a:off x="558800" y="2906776"/>
            <a:ext cx="7569200" cy="513080"/>
          </a:xfrm>
          <a:prstGeom prst="roundRect">
            <a:avLst>
              <a:gd name="adj" fmla="val 8000"/>
            </a:avLst>
          </a:prstGeom>
          <a:solidFill>
            <a:srgbClr val="E9EFE9"/>
          </a:solidFill>
          <a:ln w="15875">
            <a:solidFill>
              <a:srgbClr val="584C86"/>
            </a:solidFill>
          </a:ln>
        </p:spPr>
        <p:txBody>
          <a:bodyPr rtlCol="0" anchor="ctr"/>
          <a:lstStyle/>
          <a:p/>
        </p:txBody>
      </p:sp>
      <p:sp>
        <p:nvSpPr>
          <p:cNvPr id="2182" name="q3_o0_cap"/>
          <p:cNvSpPr/>
          <p:nvPr/>
        </p:nvSpPr>
        <p:spPr>
          <a:xfrm>
            <a:off x="647700" y="2982976"/>
            <a:ext cx="50800" cy="36068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83" name="q3_o0_t"/>
          <p:cNvSpPr txBox="1"/>
          <p:nvPr/>
        </p:nvSpPr>
        <p:spPr>
          <a:xfrm>
            <a:off x="711200" y="2995676"/>
            <a:ext cx="7264400" cy="335280"/>
          </a:xfrm>
          <a:prstGeom prst="rect">
            <a:avLst/>
          </a:prstGeom>
        </p:spPr>
        <p:txBody>
          <a:bodyPr wrap="square" lIns="0" rIns="0" tIns="0" bIns="0"/>
          <a:lstStyle/>
          <a:p>
            <a:pPr algn="l" lvl="0"/>
            <a:r>
              <a:rPr lang="zh-CN" sz="1600">
                <a:solidFill>
                  <a:srgbClr val="1D2B23"/>
                </a:solidFill>
                <a:latin typeface="楷体"/>
                <a:ea typeface="楷体"/>
              </a:rPr>
              <a:t>A. 我国已建成现代化经济体系，实现了高质量发展</a:t>
            </a:r>
          </a:p>
        </p:txBody>
      </p:sp>
      <p:sp>
        <p:nvSpPr>
          <p:cNvPr id="2184" name="q3_o1_sh"/>
          <p:cNvSpPr/>
          <p:nvPr/>
        </p:nvSpPr>
        <p:spPr>
          <a:xfrm>
            <a:off x="584200" y="3521456"/>
            <a:ext cx="7518400" cy="51308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85" name="q3_o1"/>
          <p:cNvSpPr/>
          <p:nvPr/>
        </p:nvSpPr>
        <p:spPr>
          <a:xfrm>
            <a:off x="558800" y="3470656"/>
            <a:ext cx="7569200" cy="513080"/>
          </a:xfrm>
          <a:prstGeom prst="roundRect">
            <a:avLst>
              <a:gd name="adj" fmla="val 8000"/>
            </a:avLst>
          </a:prstGeom>
          <a:solidFill>
            <a:srgbClr val="E9EFE9"/>
          </a:solidFill>
          <a:ln w="15875">
            <a:solidFill>
              <a:srgbClr val="584C86"/>
            </a:solidFill>
          </a:ln>
        </p:spPr>
        <p:txBody>
          <a:bodyPr rtlCol="0" anchor="ctr"/>
          <a:lstStyle/>
          <a:p/>
        </p:txBody>
      </p:sp>
      <p:sp>
        <p:nvSpPr>
          <p:cNvPr id="2186" name="q3_o1_cap"/>
          <p:cNvSpPr/>
          <p:nvPr/>
        </p:nvSpPr>
        <p:spPr>
          <a:xfrm>
            <a:off x="647700" y="3546856"/>
            <a:ext cx="50800" cy="36068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87" name="q3_o1_t"/>
          <p:cNvSpPr txBox="1"/>
          <p:nvPr/>
        </p:nvSpPr>
        <p:spPr>
          <a:xfrm>
            <a:off x="711200" y="3559556"/>
            <a:ext cx="7264400" cy="335280"/>
          </a:xfrm>
          <a:prstGeom prst="rect">
            <a:avLst/>
          </a:prstGeom>
        </p:spPr>
        <p:txBody>
          <a:bodyPr wrap="square" lIns="0" rIns="0" tIns="0" bIns="0"/>
          <a:lstStyle/>
          <a:p>
            <a:pPr algn="l" lvl="0"/>
            <a:r>
              <a:rPr lang="zh-CN" sz="1600">
                <a:solidFill>
                  <a:srgbClr val="1D2B23"/>
                </a:solidFill>
                <a:latin typeface="楷体"/>
                <a:ea typeface="楷体"/>
              </a:rPr>
              <a:t>B. 我国坚持创新驱动发展，加快培育新质生产力</a:t>
            </a:r>
          </a:p>
        </p:txBody>
      </p:sp>
      <p:sp>
        <p:nvSpPr>
          <p:cNvPr id="2188" name="q3_o2_sh"/>
          <p:cNvSpPr/>
          <p:nvPr/>
        </p:nvSpPr>
        <p:spPr>
          <a:xfrm>
            <a:off x="584200" y="4085336"/>
            <a:ext cx="7518400" cy="51308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89" name="q3_o2"/>
          <p:cNvSpPr/>
          <p:nvPr/>
        </p:nvSpPr>
        <p:spPr>
          <a:xfrm>
            <a:off x="558800" y="4034536"/>
            <a:ext cx="7569200" cy="513080"/>
          </a:xfrm>
          <a:prstGeom prst="roundRect">
            <a:avLst>
              <a:gd name="adj" fmla="val 8000"/>
            </a:avLst>
          </a:prstGeom>
          <a:solidFill>
            <a:srgbClr val="E9EFE9"/>
          </a:solidFill>
          <a:ln w="15875">
            <a:solidFill>
              <a:srgbClr val="584C86"/>
            </a:solidFill>
          </a:ln>
        </p:spPr>
        <p:txBody>
          <a:bodyPr rtlCol="0" anchor="ctr"/>
          <a:lstStyle/>
          <a:p/>
        </p:txBody>
      </p:sp>
      <p:sp>
        <p:nvSpPr>
          <p:cNvPr id="2190" name="q3_o2_cap"/>
          <p:cNvSpPr/>
          <p:nvPr/>
        </p:nvSpPr>
        <p:spPr>
          <a:xfrm>
            <a:off x="647700" y="4110736"/>
            <a:ext cx="50800" cy="36068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91" name="q3_o2_t"/>
          <p:cNvSpPr txBox="1"/>
          <p:nvPr/>
        </p:nvSpPr>
        <p:spPr>
          <a:xfrm>
            <a:off x="711200" y="4123436"/>
            <a:ext cx="7264400" cy="335280"/>
          </a:xfrm>
          <a:prstGeom prst="rect">
            <a:avLst/>
          </a:prstGeom>
        </p:spPr>
        <p:txBody>
          <a:bodyPr wrap="square" lIns="0" rIns="0" tIns="0" bIns="0"/>
          <a:lstStyle/>
          <a:p>
            <a:pPr algn="l" lvl="0"/>
            <a:r>
              <a:rPr lang="zh-CN" sz="1600">
                <a:solidFill>
                  <a:srgbClr val="1D2B23"/>
                </a:solidFill>
                <a:latin typeface="楷体"/>
                <a:ea typeface="楷体"/>
              </a:rPr>
              <a:t>C. 出口规模扩大是衡量经济发展的唯一标准</a:t>
            </a:r>
          </a:p>
        </p:txBody>
      </p:sp>
      <p:sp>
        <p:nvSpPr>
          <p:cNvPr id="2192" name="q3_o3_sh"/>
          <p:cNvSpPr/>
          <p:nvPr/>
        </p:nvSpPr>
        <p:spPr>
          <a:xfrm>
            <a:off x="584200" y="4649216"/>
            <a:ext cx="7518400" cy="51308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93" name="q3_o3"/>
          <p:cNvSpPr/>
          <p:nvPr/>
        </p:nvSpPr>
        <p:spPr>
          <a:xfrm>
            <a:off x="558800" y="4598416"/>
            <a:ext cx="7569200" cy="513080"/>
          </a:xfrm>
          <a:prstGeom prst="roundRect">
            <a:avLst>
              <a:gd name="adj" fmla="val 8000"/>
            </a:avLst>
          </a:prstGeom>
          <a:solidFill>
            <a:srgbClr val="E9EFE9"/>
          </a:solidFill>
          <a:ln w="15875">
            <a:solidFill>
              <a:srgbClr val="584C86"/>
            </a:solidFill>
          </a:ln>
        </p:spPr>
        <p:txBody>
          <a:bodyPr rtlCol="0" anchor="ctr"/>
          <a:lstStyle/>
          <a:p/>
        </p:txBody>
      </p:sp>
      <p:sp>
        <p:nvSpPr>
          <p:cNvPr id="2194" name="q3_o3_cap"/>
          <p:cNvSpPr/>
          <p:nvPr/>
        </p:nvSpPr>
        <p:spPr>
          <a:xfrm>
            <a:off x="647700" y="4674616"/>
            <a:ext cx="50800" cy="36068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95" name="q3_o3_t"/>
          <p:cNvSpPr txBox="1"/>
          <p:nvPr/>
        </p:nvSpPr>
        <p:spPr>
          <a:xfrm>
            <a:off x="711200" y="4687316"/>
            <a:ext cx="7264400" cy="335280"/>
          </a:xfrm>
          <a:prstGeom prst="rect">
            <a:avLst/>
          </a:prstGeom>
        </p:spPr>
        <p:txBody>
          <a:bodyPr wrap="square" lIns="0" rIns="0" tIns="0" bIns="0"/>
          <a:lstStyle/>
          <a:p>
            <a:pPr algn="l" lvl="0"/>
            <a:r>
              <a:rPr lang="zh-CN" sz="1600">
                <a:solidFill>
                  <a:srgbClr val="1D2B23"/>
                </a:solidFill>
                <a:latin typeface="楷体"/>
                <a:ea typeface="楷体"/>
              </a:rPr>
              <a:t>D. 新兴产业的发展无需传统产业作为基础</a:t>
            </a:r>
          </a:p>
        </p:txBody>
      </p:sp>
      <p:sp>
        <p:nvSpPr>
          <p:cNvPr id="2196" name="q3_ans_sh"/>
          <p:cNvSpPr/>
          <p:nvPr/>
        </p:nvSpPr>
        <p:spPr>
          <a:xfrm>
            <a:off x="584200" y="5289296"/>
            <a:ext cx="7518400" cy="431800"/>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197" name="q3_ans"/>
          <p:cNvSpPr/>
          <p:nvPr/>
        </p:nvSpPr>
        <p:spPr>
          <a:xfrm>
            <a:off x="558800" y="5238496"/>
            <a:ext cx="7569200" cy="431800"/>
          </a:xfrm>
          <a:prstGeom prst="roundRect">
            <a:avLst>
              <a:gd name="adj" fmla="val 8000"/>
            </a:avLst>
          </a:prstGeom>
          <a:solidFill>
            <a:srgbClr val="F0E8D8"/>
          </a:solidFill>
          <a:ln w="15875">
            <a:solidFill>
              <a:srgbClr val="584C86"/>
            </a:solidFill>
          </a:ln>
        </p:spPr>
        <p:txBody>
          <a:bodyPr rtlCol="0" anchor="ctr"/>
          <a:lstStyle/>
          <a:p/>
        </p:txBody>
      </p:sp>
      <p:sp>
        <p:nvSpPr>
          <p:cNvPr id="2198" name="q3_ans_cap"/>
          <p:cNvSpPr/>
          <p:nvPr/>
        </p:nvSpPr>
        <p:spPr>
          <a:xfrm>
            <a:off x="647700" y="5314696"/>
            <a:ext cx="50800" cy="279400"/>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199" name="q3_ans_t"/>
          <p:cNvSpPr txBox="1"/>
          <p:nvPr/>
        </p:nvSpPr>
        <p:spPr>
          <a:xfrm>
            <a:off x="711200" y="5327396"/>
            <a:ext cx="7264400" cy="254000"/>
          </a:xfrm>
          <a:prstGeom prst="rect">
            <a:avLst/>
          </a:prstGeom>
        </p:spPr>
        <p:txBody>
          <a:bodyPr wrap="square" lIns="0" rIns="0" tIns="0" bIns="0"/>
          <a:lstStyle/>
          <a:p>
            <a:pPr algn="l" lvl="0"/>
            <a:r>
              <a:rPr lang="zh-CN" sz="1600" b="1">
                <a:solidFill>
                  <a:srgbClr val="1D2B23"/>
                </a:solidFill>
                <a:latin typeface="黑体"/>
                <a:ea typeface="黑体"/>
              </a:rPr>
              <a:t>答案：B</a:t>
            </a:r>
          </a:p>
        </p:txBody>
      </p:sp>
    </p:spTree>
  </p:cSld>
  <p:clrMapOvr>
    <a:masterClrMapping/>
  </p:clrMapOvr>
  <p:transition xmlns:p="http://schemas.openxmlformats.org/presentationml/2006/main" spd="med">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200" name="hd_secbg"/>
          <p:cNvSpPr/>
          <p:nvPr/>
        </p:nvSpPr>
        <p:spPr>
          <a:xfrm>
            <a:off x="558800" y="279400"/>
            <a:ext cx="2623058"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2201" name="hd_secbar"/>
          <p:cNvSpPr/>
          <p:nvPr/>
        </p:nvSpPr>
        <p:spPr>
          <a:xfrm>
            <a:off x="609600" y="317500"/>
            <a:ext cx="44450" cy="228600"/>
          </a:xfrm>
          <a:prstGeom prst="rect">
            <a:avLst/>
          </a:prstGeom>
          <a:gradFill rotWithShape="1">
            <a:gsLst>
              <a:gs pos="0">
                <a:srgbClr val="584C86"/>
              </a:gs>
              <a:gs pos="100000">
                <a:srgbClr val="B9A7E8">
                  <a:alpha val="100000"/>
                </a:srgbClr>
              </a:gs>
            </a:gsLst>
            <a:lin ang="5400000" scaled="1"/>
          </a:gradFill>
          <a:ln>
            <a:noFill/>
          </a:ln>
        </p:spPr>
        <p:txBody>
          <a:bodyPr rtlCol="0" anchor="ctr"/>
          <a:lstStyle/>
          <a:p/>
        </p:txBody>
      </p:sp>
      <p:sp>
        <p:nvSpPr>
          <p:cNvPr id="2202" name="hd_sec"/>
          <p:cNvSpPr txBox="1"/>
          <p:nvPr/>
        </p:nvSpPr>
        <p:spPr>
          <a:xfrm>
            <a:off x="736600" y="317500"/>
            <a:ext cx="2343658" cy="228600"/>
          </a:xfrm>
          <a:prstGeom prst="rect">
            <a:avLst/>
          </a:prstGeom>
        </p:spPr>
        <p:txBody>
          <a:bodyPr wrap="square" lIns="0" rIns="0" tIns="0" bIns="0"/>
          <a:lstStyle/>
          <a:p>
            <a:pPr algn="l" lvl="0"/>
            <a:r>
              <a:rPr lang="zh-CN" sz="1400" b="1">
                <a:solidFill>
                  <a:srgbClr val="584C86"/>
                </a:solidFill>
                <a:latin typeface="黑体"/>
                <a:ea typeface="黑体"/>
              </a:rPr>
              <a:t>收束 · 小结·评价·练习</a:t>
            </a:r>
          </a:p>
        </p:txBody>
      </p:sp>
      <p:sp>
        <p:nvSpPr>
          <p:cNvPr id="2203"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课堂练习 4 · 阅读材料</a:t>
            </a:r>
          </a:p>
        </p:txBody>
      </p:sp>
      <p:sp>
        <p:nvSpPr>
          <p:cNvPr id="2204" name="hd_rule2"/>
          <p:cNvSpPr/>
          <p:nvPr/>
        </p:nvSpPr>
        <p:spPr>
          <a:xfrm>
            <a:off x="558800" y="1143000"/>
            <a:ext cx="1625600" cy="44450"/>
          </a:xfrm>
          <a:prstGeom prst="rect">
            <a:avLst/>
          </a:prstGeom>
          <a:gradFill rotWithShape="1">
            <a:gsLst>
              <a:gs pos="0">
                <a:srgbClr val="584C86"/>
              </a:gs>
              <a:gs pos="100000">
                <a:srgbClr val="B9A7E8">
                  <a:alpha val="100000"/>
                </a:srgbClr>
              </a:gs>
            </a:gsLst>
            <a:lin ang="0" scaled="1"/>
          </a:gradFill>
          <a:ln>
            <a:noFill/>
          </a:ln>
        </p:spPr>
        <p:txBody>
          <a:bodyPr rtlCol="0" anchor="ctr"/>
          <a:lstStyle/>
          <a:p/>
        </p:txBody>
      </p:sp>
      <p:sp>
        <p:nvSpPr>
          <p:cNvPr id="2205" name="hd_rule"/>
          <p:cNvSpPr/>
          <p:nvPr/>
        </p:nvSpPr>
        <p:spPr>
          <a:xfrm>
            <a:off x="2260600" y="1158240"/>
            <a:ext cx="5867400" cy="19050"/>
          </a:xfrm>
          <a:prstGeom prst="rect">
            <a:avLst/>
          </a:prstGeom>
          <a:solidFill>
            <a:srgbClr val="B9A7E8">
              <a:alpha val="40000"/>
            </a:srgbClr>
          </a:solidFill>
          <a:ln>
            <a:noFill/>
          </a:ln>
        </p:spPr>
        <p:txBody>
          <a:bodyPr rtlCol="0" anchor="ctr"/>
          <a:lstStyle/>
          <a:p/>
        </p:txBody>
      </p:sp>
      <p:cxnSp>
        <p:nvCxnSpPr>
          <p:cNvPr id="2206" name="rb_rule"/>
          <p:cNvCxnSpPr/>
          <p:nvPr/>
        </p:nvCxnSpPr>
        <p:spPr>
          <a:xfrm>
            <a:off x="8280400" y="1422400"/>
            <a:ext cx="0" cy="4267200"/>
          </a:xfrm>
          <a:prstGeom prst="straightConnector1">
            <a:avLst/>
          </a:prstGeom>
          <a:ln w="19050">
            <a:solidFill>
              <a:srgbClr val="7E9A85"/>
            </a:solidFill>
          </a:ln>
        </p:spPr>
      </p:cxnSp>
      <p:sp>
        <p:nvSpPr>
          <p:cNvPr id="2207" name="rb_chip_a"/>
          <p:cNvSpPr/>
          <p:nvPr/>
        </p:nvSpPr>
        <p:spPr>
          <a:xfrm>
            <a:off x="8229600" y="1219200"/>
            <a:ext cx="152400" cy="152400"/>
          </a:xfrm>
          <a:prstGeom prst="rect">
            <a:avLst/>
          </a:prstGeom>
          <a:gradFill rotWithShape="1">
            <a:gsLst>
              <a:gs pos="0">
                <a:srgbClr val="B9A7E8"/>
              </a:gs>
              <a:gs pos="100000">
                <a:srgbClr val="584C86">
                  <a:alpha val="100000"/>
                </a:srgbClr>
              </a:gs>
            </a:gsLst>
            <a:lin ang="8100000" scaled="1"/>
          </a:gradFill>
          <a:ln>
            <a:noFill/>
          </a:ln>
        </p:spPr>
        <p:txBody>
          <a:bodyPr rtlCol="0" anchor="ctr"/>
          <a:lstStyle/>
          <a:p/>
        </p:txBody>
      </p:sp>
      <p:sp>
        <p:nvSpPr>
          <p:cNvPr id="2208" name="rb_chip_b"/>
          <p:cNvSpPr/>
          <p:nvPr/>
        </p:nvSpPr>
        <p:spPr>
          <a:xfrm>
            <a:off x="8280400" y="1193800"/>
            <a:ext cx="101600" cy="101600"/>
          </a:xfrm>
          <a:prstGeom prst="rect">
            <a:avLst/>
          </a:prstGeom>
          <a:solidFill>
            <a:srgbClr val="584C86"/>
          </a:solidFill>
          <a:ln>
            <a:noFill/>
          </a:ln>
        </p:spPr>
        <p:txBody>
          <a:bodyPr rtlCol="0" anchor="ctr"/>
          <a:lstStyle/>
          <a:p/>
        </p:txBody>
      </p:sp>
      <p:sp>
        <p:nvSpPr>
          <p:cNvPr id="2209"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2210"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2211" name="rb_tagrule"/>
          <p:cNvCxnSpPr/>
          <p:nvPr/>
        </p:nvCxnSpPr>
        <p:spPr>
          <a:xfrm>
            <a:off x="11226800" y="2260600"/>
            <a:ext cx="482600" cy="0"/>
          </a:xfrm>
          <a:prstGeom prst="straightConnector1">
            <a:avLst/>
          </a:prstGeom>
          <a:ln w="12700">
            <a:solidFill>
              <a:srgbClr val="7E9A85"/>
            </a:solidFill>
          </a:ln>
        </p:spPr>
      </p:cxnSp>
      <p:sp>
        <p:nvSpPr>
          <p:cNvPr id="2212"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B9A7E8"/>
                </a:solidFill>
                <a:latin typeface="黑体"/>
                <a:ea typeface="黑体"/>
              </a:rPr>
              <a:t>38 / 42</a:t>
            </a:r>
          </a:p>
        </p:txBody>
      </p:sp>
      <p:sp>
        <p:nvSpPr>
          <p:cNvPr id="2213" name="q4_tag_sh"/>
          <p:cNvSpPr/>
          <p:nvPr/>
        </p:nvSpPr>
        <p:spPr>
          <a:xfrm>
            <a:off x="584200" y="1320800"/>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214" name="q4_tag"/>
          <p:cNvSpPr/>
          <p:nvPr/>
        </p:nvSpPr>
        <p:spPr>
          <a:xfrm>
            <a:off x="558800" y="1270000"/>
            <a:ext cx="7569200" cy="618744"/>
          </a:xfrm>
          <a:prstGeom prst="roundRect">
            <a:avLst>
              <a:gd name="adj" fmla="val 8000"/>
            </a:avLst>
          </a:prstGeom>
          <a:solidFill>
            <a:srgbClr val="E9EFE9"/>
          </a:solidFill>
          <a:ln w="15875">
            <a:solidFill>
              <a:srgbClr val="584C86"/>
            </a:solidFill>
          </a:ln>
        </p:spPr>
        <p:txBody>
          <a:bodyPr rtlCol="0" anchor="ctr"/>
          <a:lstStyle/>
          <a:p/>
        </p:txBody>
      </p:sp>
      <p:sp>
        <p:nvSpPr>
          <p:cNvPr id="2215" name="q4_tag_cap"/>
          <p:cNvSpPr/>
          <p:nvPr/>
        </p:nvSpPr>
        <p:spPr>
          <a:xfrm>
            <a:off x="647700" y="1346200"/>
            <a:ext cx="50800" cy="466344"/>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216" name="q4_tag_t"/>
          <p:cNvSpPr txBox="1"/>
          <p:nvPr/>
        </p:nvSpPr>
        <p:spPr>
          <a:xfrm>
            <a:off x="711200" y="1358900"/>
            <a:ext cx="7264400" cy="440944"/>
          </a:xfrm>
          <a:prstGeom prst="rect">
            <a:avLst/>
          </a:prstGeom>
        </p:spPr>
        <p:txBody>
          <a:bodyPr wrap="square" lIns="0" rIns="0" tIns="0" bIns="0"/>
          <a:lstStyle/>
          <a:p>
            <a:pPr algn="l" lvl="0"/>
            <a:r>
              <a:rPr lang="zh-CN" sz="1600" b="1">
                <a:solidFill>
                  <a:srgbClr val="1D2B23"/>
                </a:solidFill>
                <a:latin typeface="黑体"/>
                <a:ea typeface="黑体"/>
              </a:rPr>
              <a:t>课堂练习 4　阅读材料</a:t>
            </a:r>
          </a:p>
        </p:txBody>
      </p:sp>
      <p:sp>
        <p:nvSpPr>
          <p:cNvPr id="2217" name="q4_mat_sh"/>
          <p:cNvSpPr/>
          <p:nvPr/>
        </p:nvSpPr>
        <p:spPr>
          <a:xfrm>
            <a:off x="584200" y="2142744"/>
            <a:ext cx="7518400" cy="2977896"/>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2218" name="q4_mat"/>
          <p:cNvSpPr/>
          <p:nvPr/>
        </p:nvSpPr>
        <p:spPr>
          <a:xfrm>
            <a:off x="558800" y="2091944"/>
            <a:ext cx="7569200" cy="2977896"/>
          </a:xfrm>
          <a:prstGeom prst="roundRect">
            <a:avLst>
              <a:gd name="adj" fmla="val 8000"/>
            </a:avLst>
          </a:prstGeom>
          <a:solidFill>
            <a:srgbClr val="E9EFE9"/>
          </a:solidFill>
          <a:ln w="15875">
            <a:solidFill>
              <a:srgbClr val="584C86"/>
            </a:solidFill>
          </a:ln>
        </p:spPr>
        <p:txBody>
          <a:bodyPr rtlCol="0" anchor="ctr"/>
          <a:lstStyle/>
          <a:p/>
        </p:txBody>
      </p:sp>
      <p:sp>
        <p:nvSpPr>
          <p:cNvPr id="2219" name="q4_mat_le"/>
          <p:cNvSpPr/>
          <p:nvPr/>
        </p:nvSpPr>
        <p:spPr>
          <a:xfrm>
            <a:off x="584200" y="2206244"/>
            <a:ext cx="44450" cy="2749296"/>
          </a:xfrm>
          <a:prstGeom prst="rect">
            <a:avLst/>
          </a:prstGeom>
          <a:gradFill rotWithShape="1">
            <a:gsLst>
              <a:gs pos="0">
                <a:srgbClr val="584C86"/>
              </a:gs>
              <a:gs pos="100000">
                <a:srgbClr val="584C86">
                  <a:alpha val="0"/>
                </a:srgbClr>
              </a:gs>
            </a:gsLst>
            <a:lin ang="5400000" scaled="1"/>
          </a:gradFill>
          <a:ln>
            <a:noFill/>
          </a:ln>
        </p:spPr>
        <p:txBody>
          <a:bodyPr rtlCol="0" anchor="ctr"/>
          <a:lstStyle/>
          <a:p/>
        </p:txBody>
      </p:sp>
      <p:sp>
        <p:nvSpPr>
          <p:cNvPr id="2220" name="q4_mat_b"/>
          <p:cNvSpPr txBox="1"/>
          <p:nvPr/>
        </p:nvSpPr>
        <p:spPr>
          <a:xfrm>
            <a:off x="711200" y="2206244"/>
            <a:ext cx="7264400" cy="2673096"/>
          </a:xfrm>
          <a:prstGeom prst="rect">
            <a:avLst/>
          </a:prstGeom>
        </p:spPr>
        <p:txBody>
          <a:bodyPr wrap="square" lIns="0" rIns="0" tIns="0" bIns="0"/>
          <a:lstStyle/>
          <a:p>
            <a:pPr algn="l" lvl="0"/>
            <a:r>
              <a:rPr lang="zh-CN" sz="1600">
                <a:solidFill>
                  <a:srgbClr val="2E4438"/>
                </a:solidFill>
                <a:latin typeface="楷体"/>
                <a:ea typeface="楷体"/>
              </a:rPr>
              <a:t>新中国成立之初，我国“连铁钉和火柴都需要进口”，工业基础薄弱，</a:t>
            </a:r>
          </a:p>
          <a:p>
            <a:pPr algn="l" lvl="0"/>
            <a:r>
              <a:rPr lang="zh-CN" sz="1600">
                <a:solidFill>
                  <a:srgbClr val="2E4438"/>
                </a:solidFill>
                <a:latin typeface="楷体"/>
                <a:ea typeface="楷体"/>
              </a:rPr>
              <a:t>科技前沿几近空白。77 载岁月，神州大地天翻地覆：如今，我国建成全</a:t>
            </a:r>
          </a:p>
          <a:p>
            <a:pPr algn="l" lvl="0"/>
            <a:r>
              <a:rPr lang="zh-CN" sz="1600">
                <a:solidFill>
                  <a:srgbClr val="2E4438"/>
                </a:solidFill>
                <a:latin typeface="楷体"/>
                <a:ea typeface="楷体"/>
              </a:rPr>
              <a:t>球最完整、规模最大的研发体系和工业体系，进入创新型国家行列——“</a:t>
            </a:r>
          </a:p>
          <a:p>
            <a:pPr algn="l" lvl="0"/>
            <a:r>
              <a:rPr lang="zh-CN" sz="1600">
                <a:solidFill>
                  <a:srgbClr val="2E4438"/>
                </a:solidFill>
                <a:latin typeface="楷体"/>
                <a:ea typeface="楷体"/>
              </a:rPr>
              <a:t>奋斗者”号深潜万米，“中国天眼”巡天观测，中国空间站遨游太空，</a:t>
            </a:r>
          </a:p>
          <a:p>
            <a:pPr algn="l" lvl="0"/>
            <a:r>
              <a:rPr lang="zh-CN" sz="1600">
                <a:solidFill>
                  <a:srgbClr val="2E4438"/>
                </a:solidFill>
                <a:latin typeface="楷体"/>
                <a:ea typeface="楷体"/>
              </a:rPr>
              <a:t>国产大模型引领全球开源生态……这些成就的背后，是一以贯之的方向</a:t>
            </a:r>
          </a:p>
          <a:p>
            <a:pPr algn="l" lvl="0"/>
            <a:r>
              <a:rPr lang="zh-CN" sz="1600">
                <a:solidFill>
                  <a:srgbClr val="2E4438"/>
                </a:solidFill>
                <a:latin typeface="楷体"/>
                <a:ea typeface="楷体"/>
              </a:rPr>
              <a:t>引领。党中央提出“以科技创新为引领，大力培育壮大新兴产业和未来</a:t>
            </a:r>
          </a:p>
          <a:p>
            <a:pPr algn="l" lvl="0"/>
            <a:r>
              <a:rPr lang="zh-CN" sz="1600">
                <a:solidFill>
                  <a:srgbClr val="2E4438"/>
                </a:solidFill>
                <a:latin typeface="楷体"/>
                <a:ea typeface="楷体"/>
              </a:rPr>
              <a:t>产业”，从基础研究的系统部署，到“十五五”规划对新兴产业的整体</a:t>
            </a:r>
          </a:p>
          <a:p>
            <a:pPr algn="l" lvl="0"/>
            <a:r>
              <a:rPr lang="zh-CN" sz="1600">
                <a:solidFill>
                  <a:srgbClr val="2E4438"/>
                </a:solidFill>
                <a:latin typeface="楷体"/>
                <a:ea typeface="楷体"/>
              </a:rPr>
              <a:t>布局，再到广大科技工作者数十年如一日地攻关“卡脖子”难题……一</a:t>
            </a:r>
          </a:p>
          <a:p>
            <a:pPr algn="l" lvl="0"/>
            <a:r>
              <a:rPr lang="zh-CN" sz="1600">
                <a:solidFill>
                  <a:srgbClr val="2E4438"/>
                </a:solidFill>
                <a:latin typeface="楷体"/>
                <a:ea typeface="楷体"/>
              </a:rPr>
              <a:t>代代人接力奋斗，让“中国制造”加速迈向“中国创造”。</a:t>
            </a:r>
          </a:p>
        </p:txBody>
      </p:sp>
    </p:spTree>
  </p:cSld>
  <p:clrMapOvr>
    <a:masterClrMapping/>
  </p:clrMapOvr>
  <p:transition xmlns:p="http://schemas.openxmlformats.org/presentationml/2006/main" spd="med">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221" name="hd_secbg"/>
          <p:cNvSpPr/>
          <p:nvPr/>
        </p:nvSpPr>
        <p:spPr>
          <a:xfrm>
            <a:off x="558800" y="279400"/>
            <a:ext cx="2623058"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2222" name="hd_secbar"/>
          <p:cNvSpPr/>
          <p:nvPr/>
        </p:nvSpPr>
        <p:spPr>
          <a:xfrm>
            <a:off x="609600" y="317500"/>
            <a:ext cx="44450" cy="228600"/>
          </a:xfrm>
          <a:prstGeom prst="rect">
            <a:avLst/>
          </a:prstGeom>
          <a:gradFill rotWithShape="1">
            <a:gsLst>
              <a:gs pos="0">
                <a:srgbClr val="584C86"/>
              </a:gs>
              <a:gs pos="100000">
                <a:srgbClr val="B9A7E8">
                  <a:alpha val="100000"/>
                </a:srgbClr>
              </a:gs>
            </a:gsLst>
            <a:lin ang="5400000" scaled="1"/>
          </a:gradFill>
          <a:ln>
            <a:noFill/>
          </a:ln>
        </p:spPr>
        <p:txBody>
          <a:bodyPr rtlCol="0" anchor="ctr"/>
          <a:lstStyle/>
          <a:p/>
        </p:txBody>
      </p:sp>
      <p:sp>
        <p:nvSpPr>
          <p:cNvPr id="2223" name="hd_sec"/>
          <p:cNvSpPr txBox="1"/>
          <p:nvPr/>
        </p:nvSpPr>
        <p:spPr>
          <a:xfrm>
            <a:off x="736600" y="317500"/>
            <a:ext cx="2343658" cy="228600"/>
          </a:xfrm>
          <a:prstGeom prst="rect">
            <a:avLst/>
          </a:prstGeom>
        </p:spPr>
        <p:txBody>
          <a:bodyPr wrap="square" lIns="0" rIns="0" tIns="0" bIns="0"/>
          <a:lstStyle/>
          <a:p>
            <a:pPr algn="l" lvl="0"/>
            <a:r>
              <a:rPr lang="zh-CN" sz="1400" b="1">
                <a:solidFill>
                  <a:srgbClr val="584C86"/>
                </a:solidFill>
                <a:latin typeface="黑体"/>
                <a:ea typeface="黑体"/>
              </a:rPr>
              <a:t>收束 · 小结·评价·练习</a:t>
            </a:r>
          </a:p>
        </p:txBody>
      </p:sp>
      <p:sp>
        <p:nvSpPr>
          <p:cNvPr id="2224"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课堂练习 5 · 结合三问</a:t>
            </a:r>
          </a:p>
        </p:txBody>
      </p:sp>
      <p:sp>
        <p:nvSpPr>
          <p:cNvPr id="2225" name="hd_rule2"/>
          <p:cNvSpPr/>
          <p:nvPr/>
        </p:nvSpPr>
        <p:spPr>
          <a:xfrm>
            <a:off x="558800" y="1143000"/>
            <a:ext cx="1625600" cy="44450"/>
          </a:xfrm>
          <a:prstGeom prst="rect">
            <a:avLst/>
          </a:prstGeom>
          <a:gradFill rotWithShape="1">
            <a:gsLst>
              <a:gs pos="0">
                <a:srgbClr val="584C86"/>
              </a:gs>
              <a:gs pos="100000">
                <a:srgbClr val="B9A7E8">
                  <a:alpha val="100000"/>
                </a:srgbClr>
              </a:gs>
            </a:gsLst>
            <a:lin ang="0" scaled="1"/>
          </a:gradFill>
          <a:ln>
            <a:noFill/>
          </a:ln>
        </p:spPr>
        <p:txBody>
          <a:bodyPr rtlCol="0" anchor="ctr"/>
          <a:lstStyle/>
          <a:p/>
        </p:txBody>
      </p:sp>
      <p:sp>
        <p:nvSpPr>
          <p:cNvPr id="2226" name="hd_rule"/>
          <p:cNvSpPr/>
          <p:nvPr/>
        </p:nvSpPr>
        <p:spPr>
          <a:xfrm>
            <a:off x="2260600" y="1158240"/>
            <a:ext cx="5867400" cy="19050"/>
          </a:xfrm>
          <a:prstGeom prst="rect">
            <a:avLst/>
          </a:prstGeom>
          <a:solidFill>
            <a:srgbClr val="B9A7E8">
              <a:alpha val="40000"/>
            </a:srgbClr>
          </a:solidFill>
          <a:ln>
            <a:noFill/>
          </a:ln>
        </p:spPr>
        <p:txBody>
          <a:bodyPr rtlCol="0" anchor="ctr"/>
          <a:lstStyle/>
          <a:p/>
        </p:txBody>
      </p:sp>
      <p:cxnSp>
        <p:nvCxnSpPr>
          <p:cNvPr id="2227" name="rb_rule"/>
          <p:cNvCxnSpPr/>
          <p:nvPr/>
        </p:nvCxnSpPr>
        <p:spPr>
          <a:xfrm>
            <a:off x="8280400" y="1422400"/>
            <a:ext cx="0" cy="4267200"/>
          </a:xfrm>
          <a:prstGeom prst="straightConnector1">
            <a:avLst/>
          </a:prstGeom>
          <a:ln w="19050">
            <a:solidFill>
              <a:srgbClr val="7E9A85"/>
            </a:solidFill>
          </a:ln>
        </p:spPr>
      </p:cxnSp>
      <p:sp>
        <p:nvSpPr>
          <p:cNvPr id="2228" name="rb_chip_a"/>
          <p:cNvSpPr/>
          <p:nvPr/>
        </p:nvSpPr>
        <p:spPr>
          <a:xfrm>
            <a:off x="8229600" y="1219200"/>
            <a:ext cx="152400" cy="152400"/>
          </a:xfrm>
          <a:prstGeom prst="rect">
            <a:avLst/>
          </a:prstGeom>
          <a:gradFill rotWithShape="1">
            <a:gsLst>
              <a:gs pos="0">
                <a:srgbClr val="B9A7E8"/>
              </a:gs>
              <a:gs pos="100000">
                <a:srgbClr val="584C86">
                  <a:alpha val="100000"/>
                </a:srgbClr>
              </a:gs>
            </a:gsLst>
            <a:lin ang="8100000" scaled="1"/>
          </a:gradFill>
          <a:ln>
            <a:noFill/>
          </a:ln>
        </p:spPr>
        <p:txBody>
          <a:bodyPr rtlCol="0" anchor="ctr"/>
          <a:lstStyle/>
          <a:p/>
        </p:txBody>
      </p:sp>
      <p:sp>
        <p:nvSpPr>
          <p:cNvPr id="2229" name="rb_chip_b"/>
          <p:cNvSpPr/>
          <p:nvPr/>
        </p:nvSpPr>
        <p:spPr>
          <a:xfrm>
            <a:off x="8280400" y="1193800"/>
            <a:ext cx="101600" cy="101600"/>
          </a:xfrm>
          <a:prstGeom prst="rect">
            <a:avLst/>
          </a:prstGeom>
          <a:solidFill>
            <a:srgbClr val="584C86"/>
          </a:solidFill>
          <a:ln>
            <a:noFill/>
          </a:ln>
        </p:spPr>
        <p:txBody>
          <a:bodyPr rtlCol="0" anchor="ctr"/>
          <a:lstStyle/>
          <a:p/>
        </p:txBody>
      </p:sp>
      <p:sp>
        <p:nvSpPr>
          <p:cNvPr id="2230"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2231"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2232" name="rb_tagrule"/>
          <p:cNvCxnSpPr/>
          <p:nvPr/>
        </p:nvCxnSpPr>
        <p:spPr>
          <a:xfrm>
            <a:off x="11226800" y="2260600"/>
            <a:ext cx="482600" cy="0"/>
          </a:xfrm>
          <a:prstGeom prst="straightConnector1">
            <a:avLst/>
          </a:prstGeom>
          <a:ln w="12700">
            <a:solidFill>
              <a:srgbClr val="7E9A85"/>
            </a:solidFill>
          </a:ln>
        </p:spPr>
      </p:cxnSp>
      <p:sp>
        <p:nvSpPr>
          <p:cNvPr id="2233"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B9A7E8"/>
                </a:solidFill>
                <a:latin typeface="黑体"/>
                <a:ea typeface="黑体"/>
              </a:rPr>
              <a:t>39 / 42</a:t>
            </a:r>
          </a:p>
        </p:txBody>
      </p:sp>
      <p:sp>
        <p:nvSpPr>
          <p:cNvPr id="2234" name="q5_tag_sh"/>
          <p:cNvSpPr/>
          <p:nvPr/>
        </p:nvSpPr>
        <p:spPr>
          <a:xfrm>
            <a:off x="584200" y="1320800"/>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235" name="q5_tag"/>
          <p:cNvSpPr/>
          <p:nvPr/>
        </p:nvSpPr>
        <p:spPr>
          <a:xfrm>
            <a:off x="558800" y="1270000"/>
            <a:ext cx="7569200" cy="618744"/>
          </a:xfrm>
          <a:prstGeom prst="roundRect">
            <a:avLst>
              <a:gd name="adj" fmla="val 8000"/>
            </a:avLst>
          </a:prstGeom>
          <a:solidFill>
            <a:srgbClr val="E9EFE9"/>
          </a:solidFill>
          <a:ln w="15875">
            <a:solidFill>
              <a:srgbClr val="584C86"/>
            </a:solidFill>
          </a:ln>
        </p:spPr>
        <p:txBody>
          <a:bodyPr rtlCol="0" anchor="ctr"/>
          <a:lstStyle/>
          <a:p/>
        </p:txBody>
      </p:sp>
      <p:sp>
        <p:nvSpPr>
          <p:cNvPr id="2236" name="q5_tag_cap"/>
          <p:cNvSpPr/>
          <p:nvPr/>
        </p:nvSpPr>
        <p:spPr>
          <a:xfrm>
            <a:off x="647700" y="1346200"/>
            <a:ext cx="50800" cy="466344"/>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237" name="q5_tag_t"/>
          <p:cNvSpPr txBox="1"/>
          <p:nvPr/>
        </p:nvSpPr>
        <p:spPr>
          <a:xfrm>
            <a:off x="711200" y="1358900"/>
            <a:ext cx="7264400" cy="440944"/>
          </a:xfrm>
          <a:prstGeom prst="rect">
            <a:avLst/>
          </a:prstGeom>
        </p:spPr>
        <p:txBody>
          <a:bodyPr wrap="square" lIns="0" rIns="0" tIns="0" bIns="0"/>
          <a:lstStyle/>
          <a:p>
            <a:pPr algn="l" lvl="0"/>
            <a:r>
              <a:rPr lang="zh-CN" sz="1600" b="1">
                <a:solidFill>
                  <a:srgbClr val="1D2B23"/>
                </a:solidFill>
                <a:latin typeface="黑体"/>
                <a:ea typeface="黑体"/>
              </a:rPr>
              <a:t>课堂练习 5　阅读材料</a:t>
            </a:r>
          </a:p>
        </p:txBody>
      </p:sp>
      <p:sp>
        <p:nvSpPr>
          <p:cNvPr id="2238" name="q5_mat_sh"/>
          <p:cNvSpPr/>
          <p:nvPr/>
        </p:nvSpPr>
        <p:spPr>
          <a:xfrm>
            <a:off x="584200" y="2142744"/>
            <a:ext cx="7518400" cy="1535176"/>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2239" name="q5_mat"/>
          <p:cNvSpPr/>
          <p:nvPr/>
        </p:nvSpPr>
        <p:spPr>
          <a:xfrm>
            <a:off x="558800" y="2091944"/>
            <a:ext cx="7569200" cy="1535176"/>
          </a:xfrm>
          <a:prstGeom prst="roundRect">
            <a:avLst>
              <a:gd name="adj" fmla="val 8000"/>
            </a:avLst>
          </a:prstGeom>
          <a:solidFill>
            <a:srgbClr val="E9EFE9"/>
          </a:solidFill>
          <a:ln w="15875">
            <a:solidFill>
              <a:srgbClr val="584C86"/>
            </a:solidFill>
          </a:ln>
        </p:spPr>
        <p:txBody>
          <a:bodyPr rtlCol="0" anchor="ctr"/>
          <a:lstStyle/>
          <a:p/>
        </p:txBody>
      </p:sp>
      <p:sp>
        <p:nvSpPr>
          <p:cNvPr id="2240" name="q5_mat_le"/>
          <p:cNvSpPr/>
          <p:nvPr/>
        </p:nvSpPr>
        <p:spPr>
          <a:xfrm>
            <a:off x="584200" y="2206244"/>
            <a:ext cx="44450" cy="1306576"/>
          </a:xfrm>
          <a:prstGeom prst="rect">
            <a:avLst/>
          </a:prstGeom>
          <a:gradFill rotWithShape="1">
            <a:gsLst>
              <a:gs pos="0">
                <a:srgbClr val="584C86"/>
              </a:gs>
              <a:gs pos="100000">
                <a:srgbClr val="584C86">
                  <a:alpha val="0"/>
                </a:srgbClr>
              </a:gs>
            </a:gsLst>
            <a:lin ang="5400000" scaled="1"/>
          </a:gradFill>
          <a:ln>
            <a:noFill/>
          </a:ln>
        </p:spPr>
        <p:txBody>
          <a:bodyPr rtlCol="0" anchor="ctr"/>
          <a:lstStyle/>
          <a:p/>
        </p:txBody>
      </p:sp>
      <p:sp>
        <p:nvSpPr>
          <p:cNvPr id="2241" name="q5_mat_b"/>
          <p:cNvSpPr txBox="1"/>
          <p:nvPr/>
        </p:nvSpPr>
        <p:spPr>
          <a:xfrm>
            <a:off x="711200" y="2206244"/>
            <a:ext cx="7264400" cy="1230376"/>
          </a:xfrm>
          <a:prstGeom prst="rect">
            <a:avLst/>
          </a:prstGeom>
        </p:spPr>
        <p:txBody>
          <a:bodyPr wrap="square" lIns="0" rIns="0" tIns="0" bIns="0"/>
          <a:lstStyle/>
          <a:p>
            <a:pPr algn="l" lvl="0"/>
            <a:r>
              <a:rPr lang="zh-CN" sz="1600">
                <a:solidFill>
                  <a:srgbClr val="2E4438"/>
                </a:solidFill>
                <a:latin typeface="楷体"/>
                <a:ea typeface="楷体"/>
              </a:rPr>
              <a:t>与此同时，越来越多科技成果走进寻常百姓家：高铁、北斗、移动支付</a:t>
            </a:r>
          </a:p>
          <a:p>
            <a:pPr algn="l" lvl="0"/>
            <a:r>
              <a:rPr lang="zh-CN" sz="1600">
                <a:solidFill>
                  <a:srgbClr val="2E4438"/>
                </a:solidFill>
                <a:latin typeface="楷体"/>
                <a:ea typeface="楷体"/>
              </a:rPr>
              <a:t>让出行与生活更便捷，创新药、农作物新品种让健康与粮食安全更有保</a:t>
            </a:r>
          </a:p>
          <a:p>
            <a:pPr algn="l" lvl="0"/>
            <a:r>
              <a:rPr lang="zh-CN" sz="1600">
                <a:solidFill>
                  <a:srgbClr val="2E4438"/>
                </a:solidFill>
                <a:latin typeface="楷体"/>
                <a:ea typeface="楷体"/>
              </a:rPr>
              <a:t>障，绿色低碳技术让天更蓝、水更清。结合材料，运用九年级上册第二</a:t>
            </a:r>
          </a:p>
          <a:p>
            <a:pPr algn="l" lvl="0"/>
            <a:r>
              <a:rPr lang="zh-CN" sz="1600">
                <a:solidFill>
                  <a:srgbClr val="2E4438"/>
                </a:solidFill>
                <a:latin typeface="楷体"/>
                <a:ea typeface="楷体"/>
              </a:rPr>
              <a:t>单元《进入新时代》相关知识，回答下列问题。</a:t>
            </a:r>
          </a:p>
        </p:txBody>
      </p:sp>
      <p:sp>
        <p:nvSpPr>
          <p:cNvPr id="2242" name="q5_tip_sh"/>
          <p:cNvSpPr/>
          <p:nvPr/>
        </p:nvSpPr>
        <p:spPr>
          <a:xfrm>
            <a:off x="584200" y="3906520"/>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243" name="q5_tip"/>
          <p:cNvSpPr/>
          <p:nvPr/>
        </p:nvSpPr>
        <p:spPr>
          <a:xfrm>
            <a:off x="558800" y="3855720"/>
            <a:ext cx="7569200" cy="618744"/>
          </a:xfrm>
          <a:prstGeom prst="roundRect">
            <a:avLst>
              <a:gd name="adj" fmla="val 8000"/>
            </a:avLst>
          </a:prstGeom>
          <a:solidFill>
            <a:srgbClr val="E9EFE9"/>
          </a:solidFill>
          <a:ln w="15875">
            <a:solidFill>
              <a:srgbClr val="584C86"/>
            </a:solidFill>
          </a:ln>
        </p:spPr>
        <p:txBody>
          <a:bodyPr rtlCol="0" anchor="ctr"/>
          <a:lstStyle/>
          <a:p/>
        </p:txBody>
      </p:sp>
      <p:sp>
        <p:nvSpPr>
          <p:cNvPr id="2244" name="q5_tip_cap"/>
          <p:cNvSpPr/>
          <p:nvPr/>
        </p:nvSpPr>
        <p:spPr>
          <a:xfrm>
            <a:off x="647700" y="3931920"/>
            <a:ext cx="50800" cy="466344"/>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245" name="q5_tip_t"/>
          <p:cNvSpPr txBox="1"/>
          <p:nvPr/>
        </p:nvSpPr>
        <p:spPr>
          <a:xfrm>
            <a:off x="711200" y="3944620"/>
            <a:ext cx="7264400" cy="440944"/>
          </a:xfrm>
          <a:prstGeom prst="rect">
            <a:avLst/>
          </a:prstGeom>
        </p:spPr>
        <p:txBody>
          <a:bodyPr wrap="square" lIns="0" rIns="0" tIns="0" bIns="0"/>
          <a:lstStyle/>
          <a:p>
            <a:pPr algn="l" lvl="0"/>
            <a:r>
              <a:rPr lang="zh-CN" sz="1600" b="1">
                <a:solidFill>
                  <a:srgbClr val="1D2B23"/>
                </a:solidFill>
                <a:latin typeface="黑体"/>
                <a:ea typeface="黑体"/>
              </a:rPr>
              <a:t>答题提示：先说变化，再说原因，最后说做法——三段式，逐问作答。</a:t>
            </a:r>
          </a:p>
        </p:txBody>
      </p:sp>
    </p:spTree>
  </p:cSld>
  <p:clrMapOvr>
    <a:masterClrMapping/>
  </p:clrMapOvr>
  <p:transition xmlns:p="http://schemas.openxmlformats.org/presentationml/2006/main" spd="med">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246" name="hd_secbg"/>
          <p:cNvSpPr/>
          <p:nvPr/>
        </p:nvSpPr>
        <p:spPr>
          <a:xfrm>
            <a:off x="558800" y="279400"/>
            <a:ext cx="2623058"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2247" name="hd_secbar"/>
          <p:cNvSpPr/>
          <p:nvPr/>
        </p:nvSpPr>
        <p:spPr>
          <a:xfrm>
            <a:off x="609600" y="317500"/>
            <a:ext cx="44450" cy="228600"/>
          </a:xfrm>
          <a:prstGeom prst="rect">
            <a:avLst/>
          </a:prstGeom>
          <a:gradFill rotWithShape="1">
            <a:gsLst>
              <a:gs pos="0">
                <a:srgbClr val="584C86"/>
              </a:gs>
              <a:gs pos="100000">
                <a:srgbClr val="B9A7E8">
                  <a:alpha val="100000"/>
                </a:srgbClr>
              </a:gs>
            </a:gsLst>
            <a:lin ang="5400000" scaled="1"/>
          </a:gradFill>
          <a:ln>
            <a:noFill/>
          </a:ln>
        </p:spPr>
        <p:txBody>
          <a:bodyPr rtlCol="0" anchor="ctr"/>
          <a:lstStyle/>
          <a:p/>
        </p:txBody>
      </p:sp>
      <p:sp>
        <p:nvSpPr>
          <p:cNvPr id="2248" name="hd_sec"/>
          <p:cNvSpPr txBox="1"/>
          <p:nvPr/>
        </p:nvSpPr>
        <p:spPr>
          <a:xfrm>
            <a:off x="736600" y="317500"/>
            <a:ext cx="2343658" cy="228600"/>
          </a:xfrm>
          <a:prstGeom prst="rect">
            <a:avLst/>
          </a:prstGeom>
        </p:spPr>
        <p:txBody>
          <a:bodyPr wrap="square" lIns="0" rIns="0" tIns="0" bIns="0"/>
          <a:lstStyle/>
          <a:p>
            <a:pPr algn="l" lvl="0"/>
            <a:r>
              <a:rPr lang="zh-CN" sz="1400" b="1">
                <a:solidFill>
                  <a:srgbClr val="584C86"/>
                </a:solidFill>
                <a:latin typeface="黑体"/>
                <a:ea typeface="黑体"/>
              </a:rPr>
              <a:t>收束 · 小结·评价·练习</a:t>
            </a:r>
          </a:p>
        </p:txBody>
      </p:sp>
      <p:sp>
        <p:nvSpPr>
          <p:cNvPr id="2249"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（1）概括变化 · 参考答案</a:t>
            </a:r>
          </a:p>
        </p:txBody>
      </p:sp>
      <p:sp>
        <p:nvSpPr>
          <p:cNvPr id="2250" name="hd_rule2"/>
          <p:cNvSpPr/>
          <p:nvPr/>
        </p:nvSpPr>
        <p:spPr>
          <a:xfrm>
            <a:off x="558800" y="1143000"/>
            <a:ext cx="1625600" cy="44450"/>
          </a:xfrm>
          <a:prstGeom prst="rect">
            <a:avLst/>
          </a:prstGeom>
          <a:gradFill rotWithShape="1">
            <a:gsLst>
              <a:gs pos="0">
                <a:srgbClr val="584C86"/>
              </a:gs>
              <a:gs pos="100000">
                <a:srgbClr val="B9A7E8">
                  <a:alpha val="100000"/>
                </a:srgbClr>
              </a:gs>
            </a:gsLst>
            <a:lin ang="0" scaled="1"/>
          </a:gradFill>
          <a:ln>
            <a:noFill/>
          </a:ln>
        </p:spPr>
        <p:txBody>
          <a:bodyPr rtlCol="0" anchor="ctr"/>
          <a:lstStyle/>
          <a:p/>
        </p:txBody>
      </p:sp>
      <p:sp>
        <p:nvSpPr>
          <p:cNvPr id="2251" name="hd_rule"/>
          <p:cNvSpPr/>
          <p:nvPr/>
        </p:nvSpPr>
        <p:spPr>
          <a:xfrm>
            <a:off x="2260600" y="1158240"/>
            <a:ext cx="5867400" cy="19050"/>
          </a:xfrm>
          <a:prstGeom prst="rect">
            <a:avLst/>
          </a:prstGeom>
          <a:solidFill>
            <a:srgbClr val="B9A7E8">
              <a:alpha val="40000"/>
            </a:srgbClr>
          </a:solidFill>
          <a:ln>
            <a:noFill/>
          </a:ln>
        </p:spPr>
        <p:txBody>
          <a:bodyPr rtlCol="0" anchor="ctr"/>
          <a:lstStyle/>
          <a:p/>
        </p:txBody>
      </p:sp>
      <p:cxnSp>
        <p:nvCxnSpPr>
          <p:cNvPr id="2252" name="rb_rule"/>
          <p:cNvCxnSpPr/>
          <p:nvPr/>
        </p:nvCxnSpPr>
        <p:spPr>
          <a:xfrm>
            <a:off x="8280400" y="1422400"/>
            <a:ext cx="0" cy="4267200"/>
          </a:xfrm>
          <a:prstGeom prst="straightConnector1">
            <a:avLst/>
          </a:prstGeom>
          <a:ln w="19050">
            <a:solidFill>
              <a:srgbClr val="7E9A85"/>
            </a:solidFill>
          </a:ln>
        </p:spPr>
      </p:cxnSp>
      <p:sp>
        <p:nvSpPr>
          <p:cNvPr id="2253" name="rb_chip_a"/>
          <p:cNvSpPr/>
          <p:nvPr/>
        </p:nvSpPr>
        <p:spPr>
          <a:xfrm>
            <a:off x="8229600" y="1219200"/>
            <a:ext cx="152400" cy="152400"/>
          </a:xfrm>
          <a:prstGeom prst="rect">
            <a:avLst/>
          </a:prstGeom>
          <a:gradFill rotWithShape="1">
            <a:gsLst>
              <a:gs pos="0">
                <a:srgbClr val="B9A7E8"/>
              </a:gs>
              <a:gs pos="100000">
                <a:srgbClr val="584C86">
                  <a:alpha val="100000"/>
                </a:srgbClr>
              </a:gs>
            </a:gsLst>
            <a:lin ang="8100000" scaled="1"/>
          </a:gradFill>
          <a:ln>
            <a:noFill/>
          </a:ln>
        </p:spPr>
        <p:txBody>
          <a:bodyPr rtlCol="0" anchor="ctr"/>
          <a:lstStyle/>
          <a:p/>
        </p:txBody>
      </p:sp>
      <p:sp>
        <p:nvSpPr>
          <p:cNvPr id="2254" name="rb_chip_b"/>
          <p:cNvSpPr/>
          <p:nvPr/>
        </p:nvSpPr>
        <p:spPr>
          <a:xfrm>
            <a:off x="8280400" y="1193800"/>
            <a:ext cx="101600" cy="101600"/>
          </a:xfrm>
          <a:prstGeom prst="rect">
            <a:avLst/>
          </a:prstGeom>
          <a:solidFill>
            <a:srgbClr val="584C86"/>
          </a:solidFill>
          <a:ln>
            <a:noFill/>
          </a:ln>
        </p:spPr>
        <p:txBody>
          <a:bodyPr rtlCol="0" anchor="ctr"/>
          <a:lstStyle/>
          <a:p/>
        </p:txBody>
      </p:sp>
      <p:sp>
        <p:nvSpPr>
          <p:cNvPr id="2255"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2256"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2257" name="rb_tagrule"/>
          <p:cNvCxnSpPr/>
          <p:nvPr/>
        </p:nvCxnSpPr>
        <p:spPr>
          <a:xfrm>
            <a:off x="11226800" y="2260600"/>
            <a:ext cx="482600" cy="0"/>
          </a:xfrm>
          <a:prstGeom prst="straightConnector1">
            <a:avLst/>
          </a:prstGeom>
          <a:ln w="12700">
            <a:solidFill>
              <a:srgbClr val="7E9A85"/>
            </a:solidFill>
          </a:ln>
        </p:spPr>
      </p:cxnSp>
      <p:sp>
        <p:nvSpPr>
          <p:cNvPr id="2258"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B9A7E8"/>
                </a:solidFill>
                <a:latin typeface="黑体"/>
                <a:ea typeface="黑体"/>
              </a:rPr>
              <a:t>40 / 42</a:t>
            </a:r>
          </a:p>
        </p:txBody>
      </p:sp>
      <p:sp>
        <p:nvSpPr>
          <p:cNvPr id="2259" name="a6_q_sh"/>
          <p:cNvSpPr/>
          <p:nvPr/>
        </p:nvSpPr>
        <p:spPr>
          <a:xfrm>
            <a:off x="584200" y="1320800"/>
            <a:ext cx="7518400" cy="907288"/>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260" name="a6_q"/>
          <p:cNvSpPr/>
          <p:nvPr/>
        </p:nvSpPr>
        <p:spPr>
          <a:xfrm>
            <a:off x="558800" y="1270000"/>
            <a:ext cx="7569200" cy="907288"/>
          </a:xfrm>
          <a:prstGeom prst="roundRect">
            <a:avLst>
              <a:gd name="adj" fmla="val 8000"/>
            </a:avLst>
          </a:prstGeom>
          <a:solidFill>
            <a:srgbClr val="E9EFE9"/>
          </a:solidFill>
          <a:ln w="15875">
            <a:solidFill>
              <a:srgbClr val="584C86"/>
            </a:solidFill>
          </a:ln>
        </p:spPr>
        <p:txBody>
          <a:bodyPr rtlCol="0" anchor="ctr"/>
          <a:lstStyle/>
          <a:p/>
        </p:txBody>
      </p:sp>
      <p:sp>
        <p:nvSpPr>
          <p:cNvPr id="2261" name="a6_q_cap"/>
          <p:cNvSpPr/>
          <p:nvPr/>
        </p:nvSpPr>
        <p:spPr>
          <a:xfrm>
            <a:off x="647700" y="1346200"/>
            <a:ext cx="50800" cy="754888"/>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262" name="a6_q_t"/>
          <p:cNvSpPr txBox="1"/>
          <p:nvPr/>
        </p:nvSpPr>
        <p:spPr>
          <a:xfrm>
            <a:off x="711200" y="1358900"/>
            <a:ext cx="7264400" cy="729488"/>
          </a:xfrm>
          <a:prstGeom prst="rect">
            <a:avLst/>
          </a:prstGeom>
        </p:spPr>
        <p:txBody>
          <a:bodyPr wrap="square" lIns="0" rIns="0" tIns="0" bIns="0"/>
          <a:lstStyle/>
          <a:p>
            <a:pPr algn="l" lvl="0"/>
            <a:r>
              <a:rPr lang="zh-CN" sz="1600" b="1">
                <a:solidFill>
                  <a:srgbClr val="1D2B23"/>
                </a:solidFill>
                <a:latin typeface="黑体"/>
                <a:ea typeface="黑体"/>
              </a:rPr>
              <a:t>（1）结合材料，概括新中国成立以来我国在科技创新方面发生了怎样的</a:t>
            </a:r>
          </a:p>
          <a:p>
            <a:pPr algn="l" lvl="0"/>
            <a:r>
              <a:rPr lang="zh-CN" sz="1600" b="1">
                <a:solidFill>
                  <a:srgbClr val="1D2B23"/>
                </a:solidFill>
                <a:latin typeface="黑体"/>
                <a:ea typeface="黑体"/>
              </a:rPr>
              <a:t>变化。</a:t>
            </a:r>
          </a:p>
        </p:txBody>
      </p:sp>
      <p:sp>
        <p:nvSpPr>
          <p:cNvPr id="2263" name="a6_t_sh"/>
          <p:cNvSpPr/>
          <p:nvPr/>
        </p:nvSpPr>
        <p:spPr>
          <a:xfrm>
            <a:off x="584200" y="2431288"/>
            <a:ext cx="7518400" cy="2036318"/>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2264" name="a6_t"/>
          <p:cNvSpPr/>
          <p:nvPr/>
        </p:nvSpPr>
        <p:spPr>
          <a:xfrm>
            <a:off x="558800" y="2380488"/>
            <a:ext cx="7569200" cy="2036318"/>
          </a:xfrm>
          <a:prstGeom prst="roundRect">
            <a:avLst>
              <a:gd name="adj" fmla="val 8000"/>
            </a:avLst>
          </a:prstGeom>
          <a:solidFill>
            <a:srgbClr val="F0E8D8"/>
          </a:solidFill>
          <a:ln w="15875">
            <a:solidFill>
              <a:srgbClr val="584C86"/>
            </a:solidFill>
          </a:ln>
        </p:spPr>
        <p:txBody>
          <a:bodyPr rtlCol="0" anchor="ctr"/>
          <a:lstStyle/>
          <a:p/>
        </p:txBody>
      </p:sp>
      <p:sp>
        <p:nvSpPr>
          <p:cNvPr id="2265" name="a6_t_le"/>
          <p:cNvSpPr/>
          <p:nvPr/>
        </p:nvSpPr>
        <p:spPr>
          <a:xfrm>
            <a:off x="584200" y="2494788"/>
            <a:ext cx="44450" cy="1807718"/>
          </a:xfrm>
          <a:prstGeom prst="rect">
            <a:avLst/>
          </a:prstGeom>
          <a:gradFill rotWithShape="1">
            <a:gsLst>
              <a:gs pos="0">
                <a:srgbClr val="584C86"/>
              </a:gs>
              <a:gs pos="100000">
                <a:srgbClr val="584C86">
                  <a:alpha val="0"/>
                </a:srgbClr>
              </a:gs>
            </a:gsLst>
            <a:lin ang="5400000" scaled="1"/>
          </a:gradFill>
          <a:ln>
            <a:noFill/>
          </a:ln>
        </p:spPr>
        <p:txBody>
          <a:bodyPr rtlCol="0" anchor="ctr"/>
          <a:lstStyle/>
          <a:p/>
        </p:txBody>
      </p:sp>
      <p:sp>
        <p:nvSpPr>
          <p:cNvPr id="2266" name="a6_t_t"/>
          <p:cNvSpPr txBox="1"/>
          <p:nvPr/>
        </p:nvSpPr>
        <p:spPr>
          <a:xfrm>
            <a:off x="711200" y="2494788"/>
            <a:ext cx="7264400" cy="374142"/>
          </a:xfrm>
          <a:prstGeom prst="rect">
            <a:avLst/>
          </a:prstGeom>
        </p:spPr>
        <p:txBody>
          <a:bodyPr wrap="square" lIns="0" rIns="0" tIns="0" bIns="0"/>
          <a:lstStyle/>
          <a:p>
            <a:pPr algn="l" lvl="0"/>
            <a:r>
              <a:rPr lang="zh-CN" sz="1700" b="1">
                <a:solidFill>
                  <a:srgbClr val="584C86"/>
                </a:solidFill>
                <a:latin typeface="黑体"/>
                <a:ea typeface="黑体"/>
              </a:rPr>
              <a:t>参考答案</a:t>
            </a:r>
          </a:p>
        </p:txBody>
      </p:sp>
      <p:sp>
        <p:nvSpPr>
          <p:cNvPr id="2267" name="a6_t_b"/>
          <p:cNvSpPr txBox="1"/>
          <p:nvPr/>
        </p:nvSpPr>
        <p:spPr>
          <a:xfrm>
            <a:off x="711200" y="2995930"/>
            <a:ext cx="7264400" cy="1230376"/>
          </a:xfrm>
          <a:prstGeom prst="rect">
            <a:avLst/>
          </a:prstGeom>
        </p:spPr>
        <p:txBody>
          <a:bodyPr wrap="square" lIns="0" rIns="0" tIns="0" bIns="0"/>
          <a:lstStyle/>
          <a:p>
            <a:pPr algn="l" lvl="0"/>
            <a:r>
              <a:rPr lang="zh-CN" sz="1600">
                <a:solidFill>
                  <a:srgbClr val="2E4438"/>
                </a:solidFill>
                <a:latin typeface="楷体"/>
                <a:ea typeface="楷体"/>
              </a:rPr>
              <a:t>① 从“连铁钉和火柴都需要进口”到建成全球最完整、规模最大的研发</a:t>
            </a:r>
          </a:p>
          <a:p>
            <a:pPr algn="l" lvl="0"/>
            <a:r>
              <a:rPr lang="zh-CN" sz="1600">
                <a:solidFill>
                  <a:srgbClr val="2E4438"/>
                </a:solidFill>
                <a:latin typeface="楷体"/>
                <a:ea typeface="楷体"/>
              </a:rPr>
              <a:t>体系和工业体系；② 从工业基础薄弱、科技前沿空白到进入创新型国家</a:t>
            </a:r>
          </a:p>
          <a:p>
            <a:pPr algn="l" lvl="0"/>
            <a:r>
              <a:rPr lang="zh-CN" sz="1600">
                <a:solidFill>
                  <a:srgbClr val="2E4438"/>
                </a:solidFill>
                <a:latin typeface="楷体"/>
                <a:ea typeface="楷体"/>
              </a:rPr>
              <a:t>行列，在深海、航天、人工智能等领域取得一系列重大成果；③ 实现了</a:t>
            </a:r>
          </a:p>
          <a:p>
            <a:pPr algn="l" lvl="0"/>
            <a:r>
              <a:rPr lang="zh-CN" sz="1600">
                <a:solidFill>
                  <a:srgbClr val="2E4438"/>
                </a:solidFill>
                <a:latin typeface="楷体"/>
                <a:ea typeface="楷体"/>
              </a:rPr>
              <a:t>从“跟跑”到“并跑”“领跑”、从“中国制造”到“中国创造”的转</a:t>
            </a:r>
          </a:p>
          <a:p>
            <a:pPr algn="l" lvl="0"/>
            <a:r>
              <a:rPr lang="zh-CN" sz="1600">
                <a:solidFill>
                  <a:srgbClr val="2E4438"/>
                </a:solidFill>
                <a:latin typeface="楷体"/>
                <a:ea typeface="楷体"/>
              </a:rPr>
              <a:t>变。</a:t>
            </a:r>
          </a:p>
        </p:txBody>
      </p:sp>
    </p:spTree>
  </p:cSld>
  <p:clrMapOvr>
    <a:masterClrMapping/>
  </p:clrMapOvr>
  <p:transition xmlns:p="http://schemas.openxmlformats.org/presentationml/2006/main" spd="med">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268" name="hd_secbg"/>
          <p:cNvSpPr/>
          <p:nvPr/>
        </p:nvSpPr>
        <p:spPr>
          <a:xfrm>
            <a:off x="558800" y="279400"/>
            <a:ext cx="2623058"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2269" name="hd_secbar"/>
          <p:cNvSpPr/>
          <p:nvPr/>
        </p:nvSpPr>
        <p:spPr>
          <a:xfrm>
            <a:off x="609600" y="317500"/>
            <a:ext cx="44450" cy="228600"/>
          </a:xfrm>
          <a:prstGeom prst="rect">
            <a:avLst/>
          </a:prstGeom>
          <a:gradFill rotWithShape="1">
            <a:gsLst>
              <a:gs pos="0">
                <a:srgbClr val="584C86"/>
              </a:gs>
              <a:gs pos="100000">
                <a:srgbClr val="B9A7E8">
                  <a:alpha val="100000"/>
                </a:srgbClr>
              </a:gs>
            </a:gsLst>
            <a:lin ang="5400000" scaled="1"/>
          </a:gradFill>
          <a:ln>
            <a:noFill/>
          </a:ln>
        </p:spPr>
        <p:txBody>
          <a:bodyPr rtlCol="0" anchor="ctr"/>
          <a:lstStyle/>
          <a:p/>
        </p:txBody>
      </p:sp>
      <p:sp>
        <p:nvSpPr>
          <p:cNvPr id="2270" name="hd_sec"/>
          <p:cNvSpPr txBox="1"/>
          <p:nvPr/>
        </p:nvSpPr>
        <p:spPr>
          <a:xfrm>
            <a:off x="736600" y="317500"/>
            <a:ext cx="2343658" cy="228600"/>
          </a:xfrm>
          <a:prstGeom prst="rect">
            <a:avLst/>
          </a:prstGeom>
        </p:spPr>
        <p:txBody>
          <a:bodyPr wrap="square" lIns="0" rIns="0" tIns="0" bIns="0"/>
          <a:lstStyle/>
          <a:p>
            <a:pPr algn="l" lvl="0"/>
            <a:r>
              <a:rPr lang="zh-CN" sz="1400" b="1">
                <a:solidFill>
                  <a:srgbClr val="584C86"/>
                </a:solidFill>
                <a:latin typeface="黑体"/>
                <a:ea typeface="黑体"/>
              </a:rPr>
              <a:t>收束 · 小结·评价·练习</a:t>
            </a:r>
          </a:p>
        </p:txBody>
      </p:sp>
      <p:sp>
        <p:nvSpPr>
          <p:cNvPr id="2271"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（2）分析原因 · 参考答案</a:t>
            </a:r>
          </a:p>
        </p:txBody>
      </p:sp>
      <p:sp>
        <p:nvSpPr>
          <p:cNvPr id="2272" name="hd_rule2"/>
          <p:cNvSpPr/>
          <p:nvPr/>
        </p:nvSpPr>
        <p:spPr>
          <a:xfrm>
            <a:off x="558800" y="1143000"/>
            <a:ext cx="1625600" cy="44450"/>
          </a:xfrm>
          <a:prstGeom prst="rect">
            <a:avLst/>
          </a:prstGeom>
          <a:gradFill rotWithShape="1">
            <a:gsLst>
              <a:gs pos="0">
                <a:srgbClr val="584C86"/>
              </a:gs>
              <a:gs pos="100000">
                <a:srgbClr val="B9A7E8">
                  <a:alpha val="100000"/>
                </a:srgbClr>
              </a:gs>
            </a:gsLst>
            <a:lin ang="0" scaled="1"/>
          </a:gradFill>
          <a:ln>
            <a:noFill/>
          </a:ln>
        </p:spPr>
        <p:txBody>
          <a:bodyPr rtlCol="0" anchor="ctr"/>
          <a:lstStyle/>
          <a:p/>
        </p:txBody>
      </p:sp>
      <p:sp>
        <p:nvSpPr>
          <p:cNvPr id="2273" name="hd_rule"/>
          <p:cNvSpPr/>
          <p:nvPr/>
        </p:nvSpPr>
        <p:spPr>
          <a:xfrm>
            <a:off x="2260600" y="1158240"/>
            <a:ext cx="5867400" cy="19050"/>
          </a:xfrm>
          <a:prstGeom prst="rect">
            <a:avLst/>
          </a:prstGeom>
          <a:solidFill>
            <a:srgbClr val="B9A7E8">
              <a:alpha val="40000"/>
            </a:srgbClr>
          </a:solidFill>
          <a:ln>
            <a:noFill/>
          </a:ln>
        </p:spPr>
        <p:txBody>
          <a:bodyPr rtlCol="0" anchor="ctr"/>
          <a:lstStyle/>
          <a:p/>
        </p:txBody>
      </p:sp>
      <p:cxnSp>
        <p:nvCxnSpPr>
          <p:cNvPr id="2274" name="rb_rule"/>
          <p:cNvCxnSpPr/>
          <p:nvPr/>
        </p:nvCxnSpPr>
        <p:spPr>
          <a:xfrm>
            <a:off x="8280400" y="1422400"/>
            <a:ext cx="0" cy="4267200"/>
          </a:xfrm>
          <a:prstGeom prst="straightConnector1">
            <a:avLst/>
          </a:prstGeom>
          <a:ln w="19050">
            <a:solidFill>
              <a:srgbClr val="7E9A85"/>
            </a:solidFill>
          </a:ln>
        </p:spPr>
      </p:cxnSp>
      <p:sp>
        <p:nvSpPr>
          <p:cNvPr id="2275" name="rb_chip_a"/>
          <p:cNvSpPr/>
          <p:nvPr/>
        </p:nvSpPr>
        <p:spPr>
          <a:xfrm>
            <a:off x="8229600" y="1219200"/>
            <a:ext cx="152400" cy="152400"/>
          </a:xfrm>
          <a:prstGeom prst="rect">
            <a:avLst/>
          </a:prstGeom>
          <a:gradFill rotWithShape="1">
            <a:gsLst>
              <a:gs pos="0">
                <a:srgbClr val="B9A7E8"/>
              </a:gs>
              <a:gs pos="100000">
                <a:srgbClr val="584C86">
                  <a:alpha val="100000"/>
                </a:srgbClr>
              </a:gs>
            </a:gsLst>
            <a:lin ang="8100000" scaled="1"/>
          </a:gradFill>
          <a:ln>
            <a:noFill/>
          </a:ln>
        </p:spPr>
        <p:txBody>
          <a:bodyPr rtlCol="0" anchor="ctr"/>
          <a:lstStyle/>
          <a:p/>
        </p:txBody>
      </p:sp>
      <p:sp>
        <p:nvSpPr>
          <p:cNvPr id="2276" name="rb_chip_b"/>
          <p:cNvSpPr/>
          <p:nvPr/>
        </p:nvSpPr>
        <p:spPr>
          <a:xfrm>
            <a:off x="8280400" y="1193800"/>
            <a:ext cx="101600" cy="101600"/>
          </a:xfrm>
          <a:prstGeom prst="rect">
            <a:avLst/>
          </a:prstGeom>
          <a:solidFill>
            <a:srgbClr val="584C86"/>
          </a:solidFill>
          <a:ln>
            <a:noFill/>
          </a:ln>
        </p:spPr>
        <p:txBody>
          <a:bodyPr rtlCol="0" anchor="ctr"/>
          <a:lstStyle/>
          <a:p/>
        </p:txBody>
      </p:sp>
      <p:sp>
        <p:nvSpPr>
          <p:cNvPr id="2277"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2278"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2279" name="rb_tagrule"/>
          <p:cNvCxnSpPr/>
          <p:nvPr/>
        </p:nvCxnSpPr>
        <p:spPr>
          <a:xfrm>
            <a:off x="11226800" y="2260600"/>
            <a:ext cx="482600" cy="0"/>
          </a:xfrm>
          <a:prstGeom prst="straightConnector1">
            <a:avLst/>
          </a:prstGeom>
          <a:ln w="12700">
            <a:solidFill>
              <a:srgbClr val="7E9A85"/>
            </a:solidFill>
          </a:ln>
        </p:spPr>
      </p:cxnSp>
      <p:sp>
        <p:nvSpPr>
          <p:cNvPr id="2280"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B9A7E8"/>
                </a:solidFill>
                <a:latin typeface="黑体"/>
                <a:ea typeface="黑体"/>
              </a:rPr>
              <a:t>41 / 42</a:t>
            </a:r>
          </a:p>
        </p:txBody>
      </p:sp>
      <p:sp>
        <p:nvSpPr>
          <p:cNvPr id="2281" name="a7_q_sh"/>
          <p:cNvSpPr/>
          <p:nvPr/>
        </p:nvSpPr>
        <p:spPr>
          <a:xfrm>
            <a:off x="584200" y="1320800"/>
            <a:ext cx="7518400" cy="618744"/>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282" name="a7_q"/>
          <p:cNvSpPr/>
          <p:nvPr/>
        </p:nvSpPr>
        <p:spPr>
          <a:xfrm>
            <a:off x="558800" y="1270000"/>
            <a:ext cx="7569200" cy="618744"/>
          </a:xfrm>
          <a:prstGeom prst="roundRect">
            <a:avLst>
              <a:gd name="adj" fmla="val 8000"/>
            </a:avLst>
          </a:prstGeom>
          <a:solidFill>
            <a:srgbClr val="E9EFE9"/>
          </a:solidFill>
          <a:ln w="15875">
            <a:solidFill>
              <a:srgbClr val="584C86"/>
            </a:solidFill>
          </a:ln>
        </p:spPr>
        <p:txBody>
          <a:bodyPr rtlCol="0" anchor="ctr"/>
          <a:lstStyle/>
          <a:p/>
        </p:txBody>
      </p:sp>
      <p:sp>
        <p:nvSpPr>
          <p:cNvPr id="2283" name="a7_q_cap"/>
          <p:cNvSpPr/>
          <p:nvPr/>
        </p:nvSpPr>
        <p:spPr>
          <a:xfrm>
            <a:off x="647700" y="1346200"/>
            <a:ext cx="50800" cy="466344"/>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284" name="a7_q_t"/>
          <p:cNvSpPr txBox="1"/>
          <p:nvPr/>
        </p:nvSpPr>
        <p:spPr>
          <a:xfrm>
            <a:off x="711200" y="1358900"/>
            <a:ext cx="7264400" cy="440944"/>
          </a:xfrm>
          <a:prstGeom prst="rect">
            <a:avLst/>
          </a:prstGeom>
        </p:spPr>
        <p:txBody>
          <a:bodyPr wrap="square" lIns="0" rIns="0" tIns="0" bIns="0"/>
          <a:lstStyle/>
          <a:p>
            <a:pPr algn="l" lvl="0"/>
            <a:r>
              <a:rPr lang="zh-CN" sz="1600" b="1">
                <a:solidFill>
                  <a:srgbClr val="1D2B23"/>
                </a:solidFill>
                <a:latin typeface="黑体"/>
                <a:ea typeface="黑体"/>
              </a:rPr>
              <a:t>（2）结合材料，运用所学知识，分析我国取得这些科技成就的原因。</a:t>
            </a:r>
          </a:p>
        </p:txBody>
      </p:sp>
      <p:sp>
        <p:nvSpPr>
          <p:cNvPr id="2285" name="a7_t_sh"/>
          <p:cNvSpPr/>
          <p:nvPr/>
        </p:nvSpPr>
        <p:spPr>
          <a:xfrm>
            <a:off x="584200" y="2142744"/>
            <a:ext cx="7518400" cy="2901950"/>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2286" name="a7_t"/>
          <p:cNvSpPr/>
          <p:nvPr/>
        </p:nvSpPr>
        <p:spPr>
          <a:xfrm>
            <a:off x="558800" y="2091944"/>
            <a:ext cx="7569200" cy="2901950"/>
          </a:xfrm>
          <a:prstGeom prst="roundRect">
            <a:avLst>
              <a:gd name="adj" fmla="val 8000"/>
            </a:avLst>
          </a:prstGeom>
          <a:solidFill>
            <a:srgbClr val="F0E8D8"/>
          </a:solidFill>
          <a:ln w="15875">
            <a:solidFill>
              <a:srgbClr val="584C86"/>
            </a:solidFill>
          </a:ln>
        </p:spPr>
        <p:txBody>
          <a:bodyPr rtlCol="0" anchor="ctr"/>
          <a:lstStyle/>
          <a:p/>
        </p:txBody>
      </p:sp>
      <p:sp>
        <p:nvSpPr>
          <p:cNvPr id="2287" name="a7_t_le"/>
          <p:cNvSpPr/>
          <p:nvPr/>
        </p:nvSpPr>
        <p:spPr>
          <a:xfrm>
            <a:off x="584200" y="2206244"/>
            <a:ext cx="44450" cy="2673350"/>
          </a:xfrm>
          <a:prstGeom prst="rect">
            <a:avLst/>
          </a:prstGeom>
          <a:gradFill rotWithShape="1">
            <a:gsLst>
              <a:gs pos="0">
                <a:srgbClr val="584C86"/>
              </a:gs>
              <a:gs pos="100000">
                <a:srgbClr val="584C86">
                  <a:alpha val="0"/>
                </a:srgbClr>
              </a:gs>
            </a:gsLst>
            <a:lin ang="5400000" scaled="1"/>
          </a:gradFill>
          <a:ln>
            <a:noFill/>
          </a:ln>
        </p:spPr>
        <p:txBody>
          <a:bodyPr rtlCol="0" anchor="ctr"/>
          <a:lstStyle/>
          <a:p/>
        </p:txBody>
      </p:sp>
      <p:sp>
        <p:nvSpPr>
          <p:cNvPr id="2288" name="a7_t_t"/>
          <p:cNvSpPr txBox="1"/>
          <p:nvPr/>
        </p:nvSpPr>
        <p:spPr>
          <a:xfrm>
            <a:off x="711200" y="2206244"/>
            <a:ext cx="7264400" cy="374142"/>
          </a:xfrm>
          <a:prstGeom prst="rect">
            <a:avLst/>
          </a:prstGeom>
        </p:spPr>
        <p:txBody>
          <a:bodyPr wrap="square" lIns="0" rIns="0" tIns="0" bIns="0"/>
          <a:lstStyle/>
          <a:p>
            <a:pPr algn="l" lvl="0"/>
            <a:r>
              <a:rPr lang="zh-CN" sz="1700" b="1">
                <a:solidFill>
                  <a:srgbClr val="584C86"/>
                </a:solidFill>
                <a:latin typeface="黑体"/>
                <a:ea typeface="黑体"/>
              </a:rPr>
              <a:t>参考答案</a:t>
            </a:r>
          </a:p>
        </p:txBody>
      </p:sp>
      <p:sp>
        <p:nvSpPr>
          <p:cNvPr id="2289" name="a7_t_b"/>
          <p:cNvSpPr txBox="1"/>
          <p:nvPr/>
        </p:nvSpPr>
        <p:spPr>
          <a:xfrm>
            <a:off x="711200" y="2707386"/>
            <a:ext cx="7264400" cy="2096008"/>
          </a:xfrm>
          <a:prstGeom prst="rect">
            <a:avLst/>
          </a:prstGeom>
        </p:spPr>
        <p:txBody>
          <a:bodyPr wrap="square" lIns="0" rIns="0" tIns="0" bIns="0"/>
          <a:lstStyle/>
          <a:p>
            <a:pPr algn="l" lvl="0"/>
            <a:r>
              <a:rPr lang="zh-CN" sz="1600">
                <a:solidFill>
                  <a:srgbClr val="2E4438"/>
                </a:solidFill>
                <a:latin typeface="楷体"/>
                <a:ea typeface="楷体"/>
              </a:rPr>
              <a:t>① 坚持以习近平新时代中国特色社会主义思想为指导——党中央提出“</a:t>
            </a:r>
          </a:p>
          <a:p>
            <a:pPr algn="l" lvl="0"/>
            <a:r>
              <a:rPr lang="zh-CN" sz="1600">
                <a:solidFill>
                  <a:srgbClr val="2E4438"/>
                </a:solidFill>
                <a:latin typeface="楷体"/>
                <a:ea typeface="楷体"/>
              </a:rPr>
              <a:t>以科技创新为引领，培育壮大新兴产业和未来产业”，正是这一思想的</a:t>
            </a:r>
          </a:p>
          <a:p>
            <a:pPr algn="l" lvl="0"/>
            <a:r>
              <a:rPr lang="zh-CN" sz="1600">
                <a:solidFill>
                  <a:srgbClr val="2E4438"/>
                </a:solidFill>
                <a:latin typeface="楷体"/>
                <a:ea typeface="楷体"/>
              </a:rPr>
              <a:t>生动实践；② 坚持和加强党的全面领导——从基础研究系统部署到“十</a:t>
            </a:r>
          </a:p>
          <a:p>
            <a:pPr algn="l" lvl="0"/>
            <a:r>
              <a:rPr lang="zh-CN" sz="1600">
                <a:solidFill>
                  <a:srgbClr val="2E4438"/>
                </a:solidFill>
                <a:latin typeface="楷体"/>
                <a:ea typeface="楷体"/>
              </a:rPr>
              <a:t>五五”规划整体布局，党的领导是科技事业不断胜利的根本保证；③ 中</a:t>
            </a:r>
          </a:p>
          <a:p>
            <a:pPr algn="l" lvl="0"/>
            <a:r>
              <a:rPr lang="zh-CN" sz="1600">
                <a:solidFill>
                  <a:srgbClr val="2E4438"/>
                </a:solidFill>
                <a:latin typeface="楷体"/>
                <a:ea typeface="楷体"/>
              </a:rPr>
              <a:t>国特色社会主义制度具有显著优势——集中力量办大事，统筹布局、组</a:t>
            </a:r>
          </a:p>
          <a:p>
            <a:pPr algn="l" lvl="0"/>
            <a:r>
              <a:rPr lang="zh-CN" sz="1600">
                <a:solidFill>
                  <a:srgbClr val="2E4438"/>
                </a:solidFill>
                <a:latin typeface="楷体"/>
                <a:ea typeface="楷体"/>
              </a:rPr>
              <a:t>织科技工作者协同攻关“卡脖子”难题；④ 坚持以人民为中心的发展思</a:t>
            </a:r>
          </a:p>
          <a:p>
            <a:pPr algn="l" lvl="0"/>
            <a:r>
              <a:rPr lang="zh-CN" sz="1600">
                <a:solidFill>
                  <a:srgbClr val="2E4438"/>
                </a:solidFill>
                <a:latin typeface="楷体"/>
                <a:ea typeface="楷体"/>
              </a:rPr>
              <a:t>想——科技成果走进百姓生活，发展为了人民、发展成果由人民共享。</a:t>
            </a:r>
          </a:p>
        </p:txBody>
      </p:sp>
    </p:spTree>
  </p:cSld>
  <p:clrMapOvr>
    <a:masterClrMapping/>
  </p:clrMapOvr>
  <p:transition xmlns:p="http://schemas.openxmlformats.org/presentationml/2006/main" spd="med">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290" name="hd_secbg"/>
          <p:cNvSpPr/>
          <p:nvPr/>
        </p:nvSpPr>
        <p:spPr>
          <a:xfrm>
            <a:off x="558800" y="279400"/>
            <a:ext cx="2623058" cy="304800"/>
          </a:xfrm>
          <a:prstGeom prst="roundRect">
            <a:avLst>
              <a:gd name="adj" fmla="val 8000"/>
            </a:avLst>
          </a:prstGeom>
          <a:gradFill rotWithShape="1">
            <a:gsLst>
              <a:gs pos="0">
                <a:srgbClr val="E9EFE9"/>
              </a:gs>
              <a:gs pos="100000">
                <a:srgbClr val="E9EFE9">
                  <a:alpha val="96000"/>
                </a:srgbClr>
              </a:gs>
            </a:gsLst>
            <a:lin ang="0" scaled="1"/>
          </a:gradFill>
          <a:ln>
            <a:noFill/>
          </a:ln>
        </p:spPr>
        <p:txBody>
          <a:bodyPr rtlCol="0" anchor="ctr"/>
          <a:lstStyle/>
          <a:p/>
        </p:txBody>
      </p:sp>
      <p:sp>
        <p:nvSpPr>
          <p:cNvPr id="2291" name="hd_secbar"/>
          <p:cNvSpPr/>
          <p:nvPr/>
        </p:nvSpPr>
        <p:spPr>
          <a:xfrm>
            <a:off x="609600" y="317500"/>
            <a:ext cx="44450" cy="228600"/>
          </a:xfrm>
          <a:prstGeom prst="rect">
            <a:avLst/>
          </a:prstGeom>
          <a:gradFill rotWithShape="1">
            <a:gsLst>
              <a:gs pos="0">
                <a:srgbClr val="584C86"/>
              </a:gs>
              <a:gs pos="100000">
                <a:srgbClr val="B9A7E8">
                  <a:alpha val="100000"/>
                </a:srgbClr>
              </a:gs>
            </a:gsLst>
            <a:lin ang="5400000" scaled="1"/>
          </a:gradFill>
          <a:ln>
            <a:noFill/>
          </a:ln>
        </p:spPr>
        <p:txBody>
          <a:bodyPr rtlCol="0" anchor="ctr"/>
          <a:lstStyle/>
          <a:p/>
        </p:txBody>
      </p:sp>
      <p:sp>
        <p:nvSpPr>
          <p:cNvPr id="2292" name="hd_sec"/>
          <p:cNvSpPr txBox="1"/>
          <p:nvPr/>
        </p:nvSpPr>
        <p:spPr>
          <a:xfrm>
            <a:off x="736600" y="317500"/>
            <a:ext cx="2343658" cy="228600"/>
          </a:xfrm>
          <a:prstGeom prst="rect">
            <a:avLst/>
          </a:prstGeom>
        </p:spPr>
        <p:txBody>
          <a:bodyPr wrap="square" lIns="0" rIns="0" tIns="0" bIns="0"/>
          <a:lstStyle/>
          <a:p>
            <a:pPr algn="l" lvl="0"/>
            <a:r>
              <a:rPr lang="zh-CN" sz="1400" b="1">
                <a:solidFill>
                  <a:srgbClr val="584C86"/>
                </a:solidFill>
                <a:latin typeface="黑体"/>
                <a:ea typeface="黑体"/>
              </a:rPr>
              <a:t>收束 · 小结·评价·练习</a:t>
            </a:r>
          </a:p>
        </p:txBody>
      </p:sp>
      <p:sp>
        <p:nvSpPr>
          <p:cNvPr id="2293" name="hd_title"/>
          <p:cNvSpPr txBox="1"/>
          <p:nvPr/>
        </p:nvSpPr>
        <p:spPr>
          <a:xfrm>
            <a:off x="558800" y="635000"/>
            <a:ext cx="7569200" cy="482600"/>
          </a:xfrm>
          <a:prstGeom prst="rect">
            <a:avLst/>
          </a:prstGeom>
        </p:spPr>
        <p:txBody>
          <a:bodyPr wrap="square" lIns="0" rIns="0" tIns="0" bIns="0"/>
          <a:lstStyle/>
          <a:p>
            <a:pPr algn="l" lvl="0"/>
            <a:r>
              <a:rPr lang="zh-CN" sz="2400" b="1">
                <a:solidFill>
                  <a:srgbClr val="F4F8F4"/>
                </a:solidFill>
                <a:latin typeface="黑体"/>
                <a:ea typeface="黑体"/>
              </a:rPr>
              <a:t>（3）青少年怎么做 · 参考答案</a:t>
            </a:r>
          </a:p>
        </p:txBody>
      </p:sp>
      <p:sp>
        <p:nvSpPr>
          <p:cNvPr id="2294" name="hd_rule2"/>
          <p:cNvSpPr/>
          <p:nvPr/>
        </p:nvSpPr>
        <p:spPr>
          <a:xfrm>
            <a:off x="558800" y="1143000"/>
            <a:ext cx="1625600" cy="44450"/>
          </a:xfrm>
          <a:prstGeom prst="rect">
            <a:avLst/>
          </a:prstGeom>
          <a:gradFill rotWithShape="1">
            <a:gsLst>
              <a:gs pos="0">
                <a:srgbClr val="584C86"/>
              </a:gs>
              <a:gs pos="100000">
                <a:srgbClr val="B9A7E8">
                  <a:alpha val="100000"/>
                </a:srgbClr>
              </a:gs>
            </a:gsLst>
            <a:lin ang="0" scaled="1"/>
          </a:gradFill>
          <a:ln>
            <a:noFill/>
          </a:ln>
        </p:spPr>
        <p:txBody>
          <a:bodyPr rtlCol="0" anchor="ctr"/>
          <a:lstStyle/>
          <a:p/>
        </p:txBody>
      </p:sp>
      <p:sp>
        <p:nvSpPr>
          <p:cNvPr id="2295" name="hd_rule"/>
          <p:cNvSpPr/>
          <p:nvPr/>
        </p:nvSpPr>
        <p:spPr>
          <a:xfrm>
            <a:off x="2260600" y="1158240"/>
            <a:ext cx="5867400" cy="19050"/>
          </a:xfrm>
          <a:prstGeom prst="rect">
            <a:avLst/>
          </a:prstGeom>
          <a:solidFill>
            <a:srgbClr val="B9A7E8">
              <a:alpha val="40000"/>
            </a:srgbClr>
          </a:solidFill>
          <a:ln>
            <a:noFill/>
          </a:ln>
        </p:spPr>
        <p:txBody>
          <a:bodyPr rtlCol="0" anchor="ctr"/>
          <a:lstStyle/>
          <a:p/>
        </p:txBody>
      </p:sp>
      <p:cxnSp>
        <p:nvCxnSpPr>
          <p:cNvPr id="2296" name="rb_rule"/>
          <p:cNvCxnSpPr/>
          <p:nvPr/>
        </p:nvCxnSpPr>
        <p:spPr>
          <a:xfrm>
            <a:off x="8280400" y="1422400"/>
            <a:ext cx="0" cy="4267200"/>
          </a:xfrm>
          <a:prstGeom prst="straightConnector1">
            <a:avLst/>
          </a:prstGeom>
          <a:ln w="19050">
            <a:solidFill>
              <a:srgbClr val="7E9A85"/>
            </a:solidFill>
          </a:ln>
        </p:spPr>
      </p:cxnSp>
      <p:sp>
        <p:nvSpPr>
          <p:cNvPr id="2297" name="rb_chip_a"/>
          <p:cNvSpPr/>
          <p:nvPr/>
        </p:nvSpPr>
        <p:spPr>
          <a:xfrm>
            <a:off x="8229600" y="1219200"/>
            <a:ext cx="152400" cy="152400"/>
          </a:xfrm>
          <a:prstGeom prst="rect">
            <a:avLst/>
          </a:prstGeom>
          <a:gradFill rotWithShape="1">
            <a:gsLst>
              <a:gs pos="0">
                <a:srgbClr val="B9A7E8"/>
              </a:gs>
              <a:gs pos="100000">
                <a:srgbClr val="584C86">
                  <a:alpha val="100000"/>
                </a:srgbClr>
              </a:gs>
            </a:gsLst>
            <a:lin ang="8100000" scaled="1"/>
          </a:gradFill>
          <a:ln>
            <a:noFill/>
          </a:ln>
        </p:spPr>
        <p:txBody>
          <a:bodyPr rtlCol="0" anchor="ctr"/>
          <a:lstStyle/>
          <a:p/>
        </p:txBody>
      </p:sp>
      <p:sp>
        <p:nvSpPr>
          <p:cNvPr id="2298" name="rb_chip_b"/>
          <p:cNvSpPr/>
          <p:nvPr/>
        </p:nvSpPr>
        <p:spPr>
          <a:xfrm>
            <a:off x="8280400" y="1193800"/>
            <a:ext cx="101600" cy="101600"/>
          </a:xfrm>
          <a:prstGeom prst="rect">
            <a:avLst/>
          </a:prstGeom>
          <a:solidFill>
            <a:srgbClr val="584C86"/>
          </a:solidFill>
          <a:ln>
            <a:noFill/>
          </a:ln>
        </p:spPr>
        <p:txBody>
          <a:bodyPr rtlCol="0" anchor="ctr"/>
          <a:lstStyle/>
          <a:p/>
        </p:txBody>
      </p:sp>
      <p:sp>
        <p:nvSpPr>
          <p:cNvPr id="2299" name="rb_tag1"/>
          <p:cNvSpPr txBox="1"/>
          <p:nvPr/>
        </p:nvSpPr>
        <p:spPr>
          <a:xfrm>
            <a:off x="10998200" y="1295400"/>
            <a:ext cx="939800" cy="279400"/>
          </a:xfrm>
          <a:prstGeom prst="rect">
            <a:avLst/>
          </a:prstGeom>
        </p:spPr>
        <p:txBody>
          <a:bodyPr wrap="square" lIns="0" rIns="0" tIns="0" bIns="0"/>
          <a:lstStyle/>
          <a:p>
            <a:pPr algn="ctr" lvl="0"/>
            <a:r>
              <a:rPr lang="zh-CN" sz="1400">
                <a:solidFill>
                  <a:srgbClr val="BFD2C2"/>
                </a:solidFill>
                <a:latin typeface="黑体"/>
                <a:ea typeface="黑体"/>
              </a:rPr>
              <a:t>第二单元</a:t>
            </a:r>
          </a:p>
        </p:txBody>
      </p:sp>
      <p:sp>
        <p:nvSpPr>
          <p:cNvPr id="2300" name="rb_tag2"/>
          <p:cNvSpPr txBox="1"/>
          <p:nvPr/>
        </p:nvSpPr>
        <p:spPr>
          <a:xfrm>
            <a:off x="10998200" y="1574800"/>
            <a:ext cx="939800" cy="279400"/>
          </a:xfrm>
          <a:prstGeom prst="rect">
            <a:avLst/>
          </a:prstGeom>
        </p:spPr>
        <p:txBody>
          <a:bodyPr wrap="square" lIns="0" rIns="0" tIns="0" bIns="0"/>
          <a:lstStyle/>
          <a:p>
            <a:pPr algn="ctr" lvl="0"/>
            <a:r>
              <a:rPr lang="zh-CN" sz="1400">
                <a:solidFill>
                  <a:srgbClr val="BFD2C2"/>
                </a:solidFill>
                <a:latin typeface="黑体"/>
                <a:ea typeface="黑体"/>
              </a:rPr>
              <a:t>进入新时代</a:t>
            </a:r>
          </a:p>
        </p:txBody>
      </p:sp>
      <p:cxnSp>
        <p:nvCxnSpPr>
          <p:cNvPr id="2301" name="rb_tagrule"/>
          <p:cNvCxnSpPr/>
          <p:nvPr/>
        </p:nvCxnSpPr>
        <p:spPr>
          <a:xfrm>
            <a:off x="11226800" y="2260600"/>
            <a:ext cx="482600" cy="0"/>
          </a:xfrm>
          <a:prstGeom prst="straightConnector1">
            <a:avLst/>
          </a:prstGeom>
          <a:ln w="12700">
            <a:solidFill>
              <a:srgbClr val="7E9A85"/>
            </a:solidFill>
          </a:ln>
        </p:spPr>
      </p:cxnSp>
      <p:sp>
        <p:nvSpPr>
          <p:cNvPr id="2302" name="rb_num"/>
          <p:cNvSpPr txBox="1"/>
          <p:nvPr/>
        </p:nvSpPr>
        <p:spPr>
          <a:xfrm>
            <a:off x="10998200" y="2082800"/>
            <a:ext cx="939800" cy="279400"/>
          </a:xfrm>
          <a:prstGeom prst="rect">
            <a:avLst/>
          </a:prstGeom>
        </p:spPr>
        <p:txBody>
          <a:bodyPr wrap="square" lIns="0" rIns="0" tIns="0" bIns="0"/>
          <a:lstStyle/>
          <a:p>
            <a:pPr algn="ctr" lvl="0"/>
            <a:r>
              <a:rPr lang="zh-CN" sz="1400" b="1">
                <a:solidFill>
                  <a:srgbClr val="B9A7E8"/>
                </a:solidFill>
                <a:latin typeface="黑体"/>
                <a:ea typeface="黑体"/>
              </a:rPr>
              <a:t>42 / 42</a:t>
            </a:r>
          </a:p>
        </p:txBody>
      </p:sp>
      <p:sp>
        <p:nvSpPr>
          <p:cNvPr id="2303" name="a8_q_sh"/>
          <p:cNvSpPr/>
          <p:nvPr/>
        </p:nvSpPr>
        <p:spPr>
          <a:xfrm>
            <a:off x="584200" y="1320800"/>
            <a:ext cx="7518400" cy="907288"/>
          </a:xfrm>
          <a:prstGeom prst="roundRect">
            <a:avLst>
              <a:gd name="adj" fmla="val 8000"/>
            </a:avLst>
          </a:prstGeom>
          <a:gradFill rotWithShape="1">
            <a:gsLst>
              <a:gs pos="0">
                <a:srgbClr val="0E1A12"/>
              </a:gs>
              <a:gs pos="100000">
                <a:srgbClr val="0E1A12">
                  <a:alpha val="46000"/>
                </a:srgbClr>
              </a:gs>
            </a:gsLst>
            <a:lin ang="5400000" scaled="1"/>
          </a:gradFill>
          <a:ln>
            <a:noFill/>
          </a:ln>
        </p:spPr>
        <p:txBody>
          <a:bodyPr rtlCol="0" anchor="ctr"/>
          <a:lstStyle/>
          <a:p/>
        </p:txBody>
      </p:sp>
      <p:sp>
        <p:nvSpPr>
          <p:cNvPr id="2304" name="a8_q"/>
          <p:cNvSpPr/>
          <p:nvPr/>
        </p:nvSpPr>
        <p:spPr>
          <a:xfrm>
            <a:off x="558800" y="1270000"/>
            <a:ext cx="7569200" cy="907288"/>
          </a:xfrm>
          <a:prstGeom prst="roundRect">
            <a:avLst>
              <a:gd name="adj" fmla="val 8000"/>
            </a:avLst>
          </a:prstGeom>
          <a:solidFill>
            <a:srgbClr val="E9EFE9"/>
          </a:solidFill>
          <a:ln w="15875">
            <a:solidFill>
              <a:srgbClr val="584C86"/>
            </a:solidFill>
          </a:ln>
        </p:spPr>
        <p:txBody>
          <a:bodyPr rtlCol="0" anchor="ctr"/>
          <a:lstStyle/>
          <a:p/>
        </p:txBody>
      </p:sp>
      <p:sp>
        <p:nvSpPr>
          <p:cNvPr id="2305" name="a8_q_cap"/>
          <p:cNvSpPr/>
          <p:nvPr/>
        </p:nvSpPr>
        <p:spPr>
          <a:xfrm>
            <a:off x="647700" y="1346200"/>
            <a:ext cx="50800" cy="754888"/>
          </a:xfrm>
          <a:prstGeom prst="rect">
            <a:avLst/>
          </a:prstGeom>
          <a:gradFill rotWithShape="1">
            <a:gsLst>
              <a:gs pos="0">
                <a:srgbClr val="584C86"/>
              </a:gs>
              <a:gs pos="100000">
                <a:srgbClr val="584C86">
                  <a:alpha val="10000"/>
                </a:srgbClr>
              </a:gs>
            </a:gsLst>
            <a:lin ang="5400000" scaled="1"/>
          </a:gradFill>
          <a:ln>
            <a:noFill/>
          </a:ln>
        </p:spPr>
        <p:txBody>
          <a:bodyPr rtlCol="0" anchor="ctr"/>
          <a:lstStyle/>
          <a:p/>
        </p:txBody>
      </p:sp>
      <p:sp>
        <p:nvSpPr>
          <p:cNvPr id="2306" name="a8_q_t"/>
          <p:cNvSpPr txBox="1"/>
          <p:nvPr/>
        </p:nvSpPr>
        <p:spPr>
          <a:xfrm>
            <a:off x="711200" y="1358900"/>
            <a:ext cx="7264400" cy="729488"/>
          </a:xfrm>
          <a:prstGeom prst="rect">
            <a:avLst/>
          </a:prstGeom>
        </p:spPr>
        <p:txBody>
          <a:bodyPr wrap="square" lIns="0" rIns="0" tIns="0" bIns="0"/>
          <a:lstStyle/>
          <a:p>
            <a:pPr algn="l" lvl="0"/>
            <a:r>
              <a:rPr lang="zh-CN" sz="1600" b="1">
                <a:solidFill>
                  <a:srgbClr val="1D2B23"/>
                </a:solidFill>
                <a:latin typeface="黑体"/>
                <a:ea typeface="黑体"/>
              </a:rPr>
              <a:t>（3）科技成果走进百姓生活。结合自身实际，谈谈我们青少年可以为此</a:t>
            </a:r>
          </a:p>
          <a:p>
            <a:pPr algn="l" lvl="0"/>
            <a:r>
              <a:rPr lang="zh-CN" sz="1600" b="1">
                <a:solidFill>
                  <a:srgbClr val="1D2B23"/>
                </a:solidFill>
                <a:latin typeface="黑体"/>
                <a:ea typeface="黑体"/>
              </a:rPr>
              <a:t>做些什么。</a:t>
            </a:r>
          </a:p>
        </p:txBody>
      </p:sp>
      <p:sp>
        <p:nvSpPr>
          <p:cNvPr id="2307" name="a8_t_sh"/>
          <p:cNvSpPr/>
          <p:nvPr/>
        </p:nvSpPr>
        <p:spPr>
          <a:xfrm>
            <a:off x="584200" y="2431288"/>
            <a:ext cx="7518400" cy="1747774"/>
          </a:xfrm>
          <a:prstGeom prst="roundRect">
            <a:avLst>
              <a:gd name="adj" fmla="val 8000"/>
            </a:avLst>
          </a:prstGeom>
          <a:gradFill rotWithShape="1">
            <a:gsLst>
              <a:gs pos="0">
                <a:srgbClr val="0E1A12"/>
              </a:gs>
              <a:gs pos="100000">
                <a:srgbClr val="0E1A12">
                  <a:alpha val="52000"/>
                </a:srgbClr>
              </a:gs>
            </a:gsLst>
            <a:lin ang="5400000" scaled="1"/>
          </a:gradFill>
          <a:ln>
            <a:noFill/>
          </a:ln>
        </p:spPr>
        <p:txBody>
          <a:bodyPr rtlCol="0" anchor="ctr"/>
          <a:lstStyle/>
          <a:p/>
        </p:txBody>
      </p:sp>
      <p:sp>
        <p:nvSpPr>
          <p:cNvPr id="2308" name="a8_t"/>
          <p:cNvSpPr/>
          <p:nvPr/>
        </p:nvSpPr>
        <p:spPr>
          <a:xfrm>
            <a:off x="558800" y="2380488"/>
            <a:ext cx="7569200" cy="1747774"/>
          </a:xfrm>
          <a:prstGeom prst="roundRect">
            <a:avLst>
              <a:gd name="adj" fmla="val 8000"/>
            </a:avLst>
          </a:prstGeom>
          <a:solidFill>
            <a:srgbClr val="F0E8D8"/>
          </a:solidFill>
          <a:ln w="15875">
            <a:solidFill>
              <a:srgbClr val="584C86"/>
            </a:solidFill>
          </a:ln>
        </p:spPr>
        <p:txBody>
          <a:bodyPr rtlCol="0" anchor="ctr"/>
          <a:lstStyle/>
          <a:p/>
        </p:txBody>
      </p:sp>
      <p:sp>
        <p:nvSpPr>
          <p:cNvPr id="2309" name="a8_t_le"/>
          <p:cNvSpPr/>
          <p:nvPr/>
        </p:nvSpPr>
        <p:spPr>
          <a:xfrm>
            <a:off x="584200" y="2494788"/>
            <a:ext cx="44450" cy="1519174"/>
          </a:xfrm>
          <a:prstGeom prst="rect">
            <a:avLst/>
          </a:prstGeom>
          <a:gradFill rotWithShape="1">
            <a:gsLst>
              <a:gs pos="0">
                <a:srgbClr val="584C86"/>
              </a:gs>
              <a:gs pos="100000">
                <a:srgbClr val="584C86">
                  <a:alpha val="0"/>
                </a:srgbClr>
              </a:gs>
            </a:gsLst>
            <a:lin ang="5400000" scaled="1"/>
          </a:gradFill>
          <a:ln>
            <a:noFill/>
          </a:ln>
        </p:spPr>
        <p:txBody>
          <a:bodyPr rtlCol="0" anchor="ctr"/>
          <a:lstStyle/>
          <a:p/>
        </p:txBody>
      </p:sp>
      <p:sp>
        <p:nvSpPr>
          <p:cNvPr id="2310" name="a8_t_t"/>
          <p:cNvSpPr txBox="1"/>
          <p:nvPr/>
        </p:nvSpPr>
        <p:spPr>
          <a:xfrm>
            <a:off x="711200" y="2494788"/>
            <a:ext cx="7264400" cy="374142"/>
          </a:xfrm>
          <a:prstGeom prst="rect">
            <a:avLst/>
          </a:prstGeom>
        </p:spPr>
        <p:txBody>
          <a:bodyPr wrap="square" lIns="0" rIns="0" tIns="0" bIns="0"/>
          <a:lstStyle/>
          <a:p>
            <a:pPr algn="l" lvl="0"/>
            <a:r>
              <a:rPr lang="zh-CN" sz="1700" b="1">
                <a:solidFill>
                  <a:srgbClr val="584C86"/>
                </a:solidFill>
                <a:latin typeface="黑体"/>
                <a:ea typeface="黑体"/>
              </a:rPr>
              <a:t>参考答案</a:t>
            </a:r>
          </a:p>
        </p:txBody>
      </p:sp>
      <p:sp>
        <p:nvSpPr>
          <p:cNvPr id="2311" name="a8_t_b"/>
          <p:cNvSpPr txBox="1"/>
          <p:nvPr/>
        </p:nvSpPr>
        <p:spPr>
          <a:xfrm>
            <a:off x="711200" y="2995930"/>
            <a:ext cx="7264400" cy="941832"/>
          </a:xfrm>
          <a:prstGeom prst="rect">
            <a:avLst/>
          </a:prstGeom>
        </p:spPr>
        <p:txBody>
          <a:bodyPr wrap="square" lIns="0" rIns="0" tIns="0" bIns="0"/>
          <a:lstStyle/>
          <a:p>
            <a:pPr algn="l" lvl="0"/>
            <a:r>
              <a:rPr lang="zh-CN" sz="1600">
                <a:solidFill>
                  <a:srgbClr val="2E4438"/>
                </a:solidFill>
                <a:latin typeface="楷体"/>
                <a:ea typeface="楷体"/>
              </a:rPr>
              <a:t>① 努力学习科学文化知识，打好基础，培养创新意识和实践能力；② 积</a:t>
            </a:r>
          </a:p>
          <a:p>
            <a:pPr algn="l" lvl="0"/>
            <a:r>
              <a:rPr lang="zh-CN" sz="1600">
                <a:solidFill>
                  <a:srgbClr val="2E4438"/>
                </a:solidFill>
                <a:latin typeface="楷体"/>
                <a:ea typeface="楷体"/>
              </a:rPr>
              <a:t>极参加科技小发明、小制作等活动，勇于探索；③ 关注国家科技发展，</a:t>
            </a:r>
          </a:p>
          <a:p>
            <a:pPr algn="l" lvl="0"/>
            <a:r>
              <a:rPr lang="zh-CN" sz="1600">
                <a:solidFill>
                  <a:srgbClr val="2E4438"/>
                </a:solidFill>
                <a:latin typeface="楷体"/>
                <a:ea typeface="楷体"/>
              </a:rPr>
              <a:t>增强民族自豪感和社会责任感，立志报效祖国。</a:t>
            </a:r>
          </a:p>
        </p:txBody>
      </p:sp>
    </p:spTree>
  </p:cSld>
  <p:clrMapOvr>
    <a:masterClrMapping/>
  </p:clrMapOvr>
  <p:transition xmlns:p="http://schemas.openxmlformats.org/presentationml/2006/main" spd="med">
    <p:fade/>
  </p:transition>
</p:sld>
</file>

<file path=ppt/theme/theme1.xml><?xml version="1.0" encoding="utf-8"?>
<a:theme xmlns:a="http://schemas.openxmlformats.org/drawingml/2006/main" name="Studio">
  <a:themeElements>
    <a:clrScheme name="Studio">
      <a:dk1>
        <a:srgbClr val="000000"/>
      </a:dk1>
      <a:lt1>
        <a:srgbClr val="FFFFFF"/>
      </a:lt1>
      <a:dk2>
        <a:srgbClr val="1F2937"/>
      </a:dk2>
      <a:lt2>
        <a:srgbClr val="F3F4F6"/>
      </a:lt2>
      <a:accent1>
        <a:srgbClr val="2563EB"/>
      </a:accent1>
      <a:accent2>
        <a:srgbClr val="F59E0B"/>
      </a:accent2>
      <a:accent3>
        <a:srgbClr val="10B981"/>
      </a:accent3>
      <a:accent4>
        <a:srgbClr val="EF4444"/>
      </a:accent4>
      <a:accent5>
        <a:srgbClr val="8B5CF6"/>
      </a:accent5>
      <a:accent6>
        <a:srgbClr val="06B6D4"/>
      </a:accent6>
      <a:hlink>
        <a:srgbClr val="2563EB"/>
      </a:hlink>
      <a:folHlink>
        <a:srgbClr val="7C3AED"/>
      </a:folHlink>
    </a:clrScheme>
    <a:fontScheme name="Studio">
      <a:majorFont>
        <a:latin typeface="Calibri"/>
        <a:ea typeface="Microsoft YaHei"/>
        <a:cs typeface=""/>
      </a:majorFont>
      <a:minorFont>
        <a:latin typeface="Calibri"/>
        <a:ea typeface="Microsoft YaHei"/>
        <a:cs typeface=""/>
      </a:minorFont>
    </a:fontScheme>
    <a:fmtScheme name="Studio">
      <a:fillStyleLst>
        <a:solidFill>
          <a:schemeClr val="phClr"/>
        </a:solidFill>
        <a:solidFill>
          <a:schemeClr val="phClr"/>
        </a:solidFill>
        <a:solidFill>
          <a:schemeClr val="phClr"/>
        </a:solidFill>
      </a:fillStyleLst>
      <a:lnStyleLst>
        <a:ln w="6350" cap="flat" cmpd="sng" algn="ctr">
          <a:solidFill>
            <a:schemeClr val="phClr"/>
          </a:solidFill>
        </a:ln>
        <a:ln w="12700" cap="flat" cmpd="sng" algn="ctr">
          <a:solidFill>
            <a:schemeClr val="phClr"/>
          </a:solidFill>
        </a:ln>
        <a:ln w="19050" cap="flat" cmpd="sng" algn="ctr">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dsh-ppt-studio</Application>
  <Slides>42</Slides>
</Properties>
</file>

<file path=docProps/core.xml><?xml version="1.0" encoding="utf-8"?>
<cp:coreProperties xmlns:cp="http://schemas.openxmlformats.org/package/2006/metadata/core-properties" xmlns:dc="http://purl.org/dc/elements/1.1/">
  <dc:title>第二单元 进入新时代 · 单元思考与行动（参赛版）</dc:title>
  <dc:creator>dsh-ppt-studio</dc:creator>
  <cp:lastModifiedBy>dsh-ppt-studio</cp:lastModifiedBy>
  <dcterms:created xmlns:dcterms="http://purl.org/dc/terms/" xmlns:xsi="http://www.w3.org/2001/XMLSchema-instance" xsi:type="dcterms:W3CDTF">2026-10-17T05:50:43.221Z</dcterms:created>
  <dcterms:modified xmlns:dcterms="http://purl.org/dc/terms/" xmlns:xsi="http://www.w3.org/2001/XMLSchema-instance" xsi:type="dcterms:W3CDTF">2026-10-17T05:50:43.221Z</dcterms:modified>
</cp:coreProperties>
</file>