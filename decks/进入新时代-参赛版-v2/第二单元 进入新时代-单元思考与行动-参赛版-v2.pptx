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问：先别翻页，猜猜这一单元要干什么？答：“讲新时代吧”“背知识点”。接：都不是——我们这节课办一个展，你们是策展人。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问：三课之间是什么关系？答：“并列的三课”。接：是递进——先有方位，才有旗帜，最后才谈得上成就，顺序不能倒。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问：“新”到底新在哪，说四个词。答：多数说不全。接：矛盾、方位、理论、成就，四个词就是本单元的骨架。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问：这节课凭什么这么上？答：学生一般答不上。接：就三个字——课标、素养、价值，我把它写在这里，你们随时可以对照。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问：策展人第一步做什么？答：“找图片”“排版”。接：先选品。选不对，排得再美也没用。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问：六块展板，你能看出问题吗？答：“挺全的”“挺好看”。接：铺满了，但均匀得可疑——每块的说服力其实不一样。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问：看展要带问题吗？答：“随便看看”。接：带三个——它是哪个领域、哪块最薄、只留一块你留哪块。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问：空间站离你远吗？答：“远，跟我没关系”。接：你手机里的导航和天气预报，就在用它的技术。远的是距离，不是关联。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问：5 万公里高铁是什么概念？答：没概念。接：绕地球一圈是 4 万公里，我们铺了一张比地球还长的网。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问：98.23% 的安全感，能说明什么？答：“说明很好”。接：好在哪？好在它连年稳定——一次高分是运气，连续六年是治理。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问：家门口的意见怎么进法律？答：学生想不到。接：基层立法联系点，就是那个口子。民主不是抽象词，是一条具体的通道。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问：文物为什么“活”了？答：“因为有保护”。接：更因为被使用——被看见、被喜欢，才算活着。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问：一条江十年变清，靠什么？答：“靠治理”。接：治理是结论，我要的是过程——谁在治、按什么治。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问：六块展板怎么归位？答：学生常把文化算进社会。接：经济两块、其余各一块，这叫“五位一体”，是布局不是分类游戏。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问：只留一块，你留哪块？答：“科技，最厉害”。接：可以，但要说清它凭什么——说不出判据，就只是偏好。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问：这一环节你带走了什么？答：“看到很多成就”。接：带走三条判据：落领域、有数据、说清变了什么。下一环节要用。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问：解说词和复述成绩有什么区别？答：“差不多”。接：差三个“为什么”——变了吗、为什么变、凭什么这么说。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问：226 天和 27 年，哪个更难？答：“27 年”。接：难的是从 226 到 27 的那一步——1999 年全河统一调度。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问：五条线索里哪条最根本？答：多半选“治理”。接：都对，但要能说出理由。我更关心你们怎么排出主次。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问：看到现象，第一反应是什么？答：“记住它”。接：先问一句“为什么会这样”——这就是问机制。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问：如果不再统一调度，会怎样？答：学生答“断流”。接：对，这叫反证——把条件抽掉，看结论还成不成立。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问：四条原因能不能合并？答：“能，都归到党的领导”。接：可以合并，但合并会丢信息——四条各管一段。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问：写解说词，第一段写什么？答：“先夸”。接：先摆事实，再追原因，最后才谈启示。顺序反了就成口号。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问：这段示例好在哪？答：“写得好”。接：好在这三句——有对比、有原因、有升华，而且每个原因都带一个事实。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问：四条原因记住了吗？答：“记住了”。接：记住不算本事，能拿它解释一块新展板才算——试一个空间站。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问：从看国家到看家乡，跨度大吗？答：“挺大”。接：其实就一步——把镜头拉近，问题结构是一样的。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问：盐池以前是干什么的？答：“产盐”。接：4000 年都在产盐，2020 年停了。一个产业的退出，是一座城的选择。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问：停产的代价是什么？答：“少赚钱”。接：代价真实，但换回来的是湿地功能和一座城市的呼吸空间。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问：研学从哪一步开始？答：“去现场”。接：先去现场，多半白跑——先搜集、再规划，最后才去。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问：方案里最容易糊弄的是哪一栏？答：“分工”。接：对，写“大家一起做”等于没分工。谁查、谁记、谁讲、谁追问。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问：报告里最难写的是哪部分？答：“感悟”。接：是“存在问题”——只写成绩的报告，不叫调研，叫宣传。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问：采访被拒绝怎么办？答：“换一个人”。接：先说明来意、出示身份，被拒绝也要记录——这也是调研的一部分。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问：“跟中学生无关”，同意吗？答：多数说“不同意”。接：先别急着表态。请给一个能站住的反例。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问：三个身份哪个最容易？答：“宣传员”。接：最容易也最容易空。践行者要具体到一件事，建设者要具体到一个方法。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问：你现在站在哪一级？答：多半说“知道”。接：知道是起点。能做，才有资格说“跟我有关”。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问：选完先别对答案，说一句理由。答：常见是“背过”。接：背过不算理由，理由要指回材料里的那句话。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问：题干里哪个词最关键？答：“不断流”。接：是“主要”——四个选项可能都沾边，只有一个最贴。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问：这块展板属于哪个领域？答：常把“立法”归到文化。接：法治属于政治建设，记住这条线，五位一体就不会混。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问：三个小问是什么关系？答：“三个问题”。接：是一层比一层深——概括、分析、启示，答完第一问才有第二问。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问：材料题只写“我认为很重要”给分吗？答：学生常这么写。接：不给。按要点给分：要有事实、有分析、有落点。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问：两层作业怎么选？答：“选简单的”。接：A 层要出门，B 层要动手，没有哪层更轻松，只有哪层更适合你。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问：自评会不会虚高？答：会。接：所以有互评。别人给你打的分，往往比你自己准。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问：这节课走了几步？答：“看了很多”。接：四步——看见、追问、落地、回答。回到开头那个问题，现在能答了吗？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问：这句话是口号吗？答：“有点像”。接：那就把它变成一件事——这个学期，你为家乡做哪一件具体的事。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问：（收束）还有问题吗？答：通常沉默。接：那就带着一个问题走——你的家乡，还有什么没被看见。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_navy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_steel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bg_p_s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7.jpeg"/><Relationship Id="rId4" Type="http://schemas.openxmlformats.org/officeDocument/2006/relationships/image" Target="../media/image6.jpeg"/><Relationship Id="rId5" Type="http://schemas.openxmlformats.org/officeDocument/2006/relationships/image" Target="../media/bg_p_s1.png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bg_p_s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bg_p_s1.png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png"/><Relationship Id="rId6" Type="http://schemas.openxmlformats.org/officeDocument/2006/relationships/image" Target="../media/bg_p_s1.png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bg_p_s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1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1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1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_rust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oc_timeline.png"/><Relationship Id="rId3" Type="http://schemas.openxmlformats.org/officeDocument/2006/relationships/image" Target="../media/bg_p_s2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oc_yellowriver.png"/><Relationship Id="rId3" Type="http://schemas.openxmlformats.org/officeDocument/2006/relationships/image" Target="../media/bg_p_s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2.pn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_teal.pn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eg"/><Relationship Id="rId3" Type="http://schemas.openxmlformats.org/officeDocument/2006/relationships/image" Target="../media/bg_p_s3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oc_saltuse.png"/><Relationship Id="rId3" Type="http://schemas.openxmlformats.org/officeDocument/2006/relationships/image" Target="../media/bg_p_s3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Relationship Id="rId3" Type="http://schemas.openxmlformats.org/officeDocument/2006/relationships/image" Target="../media/bg_p_s3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s3.png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p_intro.png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_navy.pn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cv_mark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1" name="cv_tag"/>
          <p:cNvSpPr txBox="1"/>
          <p:nvPr/>
        </p:nvSpPr>
        <p:spPr>
          <a:xfrm>
            <a:off x="762000" y="660400"/>
            <a:ext cx="660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B9C9D4"/>
                </a:solidFill>
                <a:latin typeface="微软雅黑"/>
                <a:ea typeface="微软雅黑"/>
              </a:rPr>
              <a:t>基础教育精品课 · 学科课程</a:t>
            </a:r>
          </a:p>
        </p:txBody>
      </p:sp>
      <p:sp>
        <p:nvSpPr>
          <p:cNvPr id="1002" name="cv_kick"/>
          <p:cNvSpPr txBox="1"/>
          <p:nvPr/>
        </p:nvSpPr>
        <p:spPr>
          <a:xfrm>
            <a:off x="609600" y="1905000"/>
            <a:ext cx="7518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统编版《道德与法治》九年级上册</a:t>
            </a:r>
          </a:p>
        </p:txBody>
      </p:sp>
      <p:sp>
        <p:nvSpPr>
          <p:cNvPr id="1003" name="cv_t1"/>
          <p:cNvSpPr txBox="1"/>
          <p:nvPr/>
        </p:nvSpPr>
        <p:spPr>
          <a:xfrm>
            <a:off x="609600" y="2260600"/>
            <a:ext cx="7518400" cy="787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4400" b="1">
                <a:solidFill>
                  <a:srgbClr val="FFFFFF"/>
                </a:solidFill>
                <a:latin typeface="微软雅黑"/>
                <a:ea typeface="微软雅黑"/>
              </a:rPr>
              <a:t>第二单元　进入新时代</a:t>
            </a:r>
          </a:p>
        </p:txBody>
      </p:sp>
      <p:sp>
        <p:nvSpPr>
          <p:cNvPr id="1004" name="cv_t2"/>
          <p:cNvSpPr txBox="1"/>
          <p:nvPr/>
        </p:nvSpPr>
        <p:spPr>
          <a:xfrm>
            <a:off x="609600" y="3124200"/>
            <a:ext cx="7518400" cy="584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200" b="1">
                <a:solidFill>
                  <a:srgbClr val="A8812F"/>
                </a:solidFill>
                <a:latin typeface="微软雅黑"/>
                <a:ea typeface="微软雅黑"/>
              </a:rPr>
              <a:t>单元思考与行动</a:t>
            </a:r>
          </a:p>
        </p:txBody>
      </p:sp>
      <p:cxnSp>
        <p:nvCxnSpPr>
          <p:cNvPr id="1005" name="cv_ru"/>
          <p:cNvCxnSpPr/>
          <p:nvPr/>
        </p:nvCxnSpPr>
        <p:spPr>
          <a:xfrm>
            <a:off x="609600" y="3886200"/>
            <a:ext cx="3098800" cy="0"/>
          </a:xfrm>
          <a:prstGeom prst="straightConnector1">
            <a:avLst/>
          </a:prstGeom>
          <a:ln w="25400">
            <a:solidFill>
              <a:srgbClr val="A8812F"/>
            </a:solidFill>
          </a:ln>
        </p:spPr>
      </p:cxnSp>
      <p:sp>
        <p:nvSpPr>
          <p:cNvPr id="1006" name="cv_m1"/>
          <p:cNvSpPr txBox="1"/>
          <p:nvPr/>
        </p:nvSpPr>
        <p:spPr>
          <a:xfrm>
            <a:off x="609600" y="4089400"/>
            <a:ext cx="36830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年　级：九年级</a:t>
            </a:r>
          </a:p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主 讲 人：张紫璇</a:t>
            </a:r>
          </a:p>
        </p:txBody>
      </p:sp>
      <p:sp>
        <p:nvSpPr>
          <p:cNvPr id="1007" name="cv_m2"/>
          <p:cNvSpPr txBox="1"/>
          <p:nvPr/>
        </p:nvSpPr>
        <p:spPr>
          <a:xfrm>
            <a:off x="4368800" y="4089400"/>
            <a:ext cx="37592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学　科：道德与法治</a:t>
            </a:r>
          </a:p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学　校：运城市盐湖区北城初级中学</a:t>
            </a:r>
          </a:p>
        </p:txBody>
      </p:sp>
      <p:sp>
        <p:nvSpPr>
          <p:cNvPr id="1008" name="cv_th"/>
          <p:cNvSpPr txBox="1"/>
          <p:nvPr/>
        </p:nvSpPr>
        <p:spPr>
          <a:xfrm>
            <a:off x="609600" y="5867400"/>
            <a:ext cx="7518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A8812F"/>
                </a:solidFill>
                <a:latin typeface="微软雅黑"/>
                <a:ea typeface="微软雅黑"/>
              </a:rPr>
              <a:t>以青春见证中国腾飞，用成长助推家乡发展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0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单元导览</a:t>
            </a:r>
          </a:p>
        </p:txBody>
      </p:sp>
      <p:sp>
        <p:nvSpPr>
          <p:cNvPr id="1011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012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本单元学什么：从“方位”到“成就”</a:t>
            </a:r>
          </a:p>
        </p:txBody>
      </p:sp>
      <p:cxnSp>
        <p:nvCxnSpPr>
          <p:cNvPr id="1013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014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015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016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7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018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02 / 45</a:t>
            </a:r>
          </a:p>
        </p:txBody>
      </p:sp>
      <p:sp>
        <p:nvSpPr>
          <p:cNvPr id="1019" name="p02l_bg"/>
          <p:cNvSpPr/>
          <p:nvPr/>
        </p:nvSpPr>
        <p:spPr>
          <a:xfrm>
            <a:off x="609600" y="1905000"/>
            <a:ext cx="7518400" cy="86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20" name="p02l_bar"/>
          <p:cNvSpPr/>
          <p:nvPr/>
        </p:nvSpPr>
        <p:spPr>
          <a:xfrm>
            <a:off x="609600" y="1905000"/>
            <a:ext cx="38100" cy="8636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1" name="p02l_t"/>
          <p:cNvSpPr txBox="1"/>
          <p:nvPr/>
        </p:nvSpPr>
        <p:spPr>
          <a:xfrm>
            <a:off x="800100" y="2032000"/>
            <a:ext cx="7175500" cy="609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本单元以“中国特色社会主义进入新时代”为主题，围绕“新时代新在哪里”展开。</a:t>
            </a:r>
          </a:p>
        </p:txBody>
      </p:sp>
      <p:sp>
        <p:nvSpPr>
          <p:cNvPr id="1022" name="p02a_bg"/>
          <p:cNvSpPr/>
          <p:nvPr/>
        </p:nvSpPr>
        <p:spPr>
          <a:xfrm>
            <a:off x="609600" y="2971800"/>
            <a:ext cx="240030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23" name="p02a_bar"/>
          <p:cNvSpPr/>
          <p:nvPr/>
        </p:nvSpPr>
        <p:spPr>
          <a:xfrm>
            <a:off x="609600" y="3098800"/>
            <a:ext cx="38100" cy="21590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4" name="p02a_k"/>
          <p:cNvSpPr txBox="1"/>
          <p:nvPr/>
        </p:nvSpPr>
        <p:spPr>
          <a:xfrm>
            <a:off x="850900" y="31750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第四课</a:t>
            </a:r>
          </a:p>
        </p:txBody>
      </p:sp>
      <p:sp>
        <p:nvSpPr>
          <p:cNvPr id="1025" name="p02a_t"/>
          <p:cNvSpPr txBox="1"/>
          <p:nvPr/>
        </p:nvSpPr>
        <p:spPr>
          <a:xfrm>
            <a:off x="850900" y="34747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新的历史方位</a:t>
            </a:r>
          </a:p>
        </p:txBody>
      </p:sp>
      <p:sp>
        <p:nvSpPr>
          <p:cNvPr id="1026" name="p02a_b"/>
          <p:cNvSpPr txBox="1"/>
          <p:nvPr/>
        </p:nvSpPr>
        <p:spPr>
          <a:xfrm>
            <a:off x="850900" y="3859530"/>
            <a:ext cx="19558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我国发展新的历史方位，社会主要矛盾发生历史性变化。</a:t>
            </a:r>
          </a:p>
        </p:txBody>
      </p:sp>
      <p:sp>
        <p:nvSpPr>
          <p:cNvPr id="1027" name="p02b_bg"/>
          <p:cNvSpPr/>
          <p:nvPr/>
        </p:nvSpPr>
        <p:spPr>
          <a:xfrm>
            <a:off x="3162300" y="2971800"/>
            <a:ext cx="240030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28" name="p02b_bar"/>
          <p:cNvSpPr/>
          <p:nvPr/>
        </p:nvSpPr>
        <p:spPr>
          <a:xfrm>
            <a:off x="3162300" y="3098800"/>
            <a:ext cx="38100" cy="21590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9" name="p02b_k"/>
          <p:cNvSpPr txBox="1"/>
          <p:nvPr/>
        </p:nvSpPr>
        <p:spPr>
          <a:xfrm>
            <a:off x="3403600" y="31750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A8812F"/>
                </a:solidFill>
                <a:latin typeface="微软雅黑"/>
                <a:ea typeface="微软雅黑"/>
              </a:rPr>
              <a:t>第五课</a:t>
            </a:r>
          </a:p>
        </p:txBody>
      </p:sp>
      <p:sp>
        <p:nvSpPr>
          <p:cNvPr id="1030" name="p02b_t"/>
          <p:cNvSpPr txBox="1"/>
          <p:nvPr/>
        </p:nvSpPr>
        <p:spPr>
          <a:xfrm>
            <a:off x="3403600" y="34747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新时代的思想旗帜</a:t>
            </a:r>
          </a:p>
        </p:txBody>
      </p:sp>
      <p:sp>
        <p:nvSpPr>
          <p:cNvPr id="1031" name="p02b_b"/>
          <p:cNvSpPr txBox="1"/>
          <p:nvPr/>
        </p:nvSpPr>
        <p:spPr>
          <a:xfrm>
            <a:off x="3403600" y="3859530"/>
            <a:ext cx="19558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习近平新时代中国特色社会主义思想确立并指导实践。</a:t>
            </a:r>
          </a:p>
        </p:txBody>
      </p:sp>
      <p:sp>
        <p:nvSpPr>
          <p:cNvPr id="1032" name="p02c_bg"/>
          <p:cNvSpPr/>
          <p:nvPr/>
        </p:nvSpPr>
        <p:spPr>
          <a:xfrm>
            <a:off x="5715000" y="2971800"/>
            <a:ext cx="240030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33" name="p02c_bar"/>
          <p:cNvSpPr/>
          <p:nvPr/>
        </p:nvSpPr>
        <p:spPr>
          <a:xfrm>
            <a:off x="5715000" y="3098800"/>
            <a:ext cx="38100" cy="2159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4" name="p02c_k"/>
          <p:cNvSpPr txBox="1"/>
          <p:nvPr/>
        </p:nvSpPr>
        <p:spPr>
          <a:xfrm>
            <a:off x="5956300" y="31750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第六课</a:t>
            </a:r>
          </a:p>
        </p:txBody>
      </p:sp>
      <p:sp>
        <p:nvSpPr>
          <p:cNvPr id="1035" name="p02c_t"/>
          <p:cNvSpPr txBox="1"/>
          <p:nvPr/>
        </p:nvSpPr>
        <p:spPr>
          <a:xfrm>
            <a:off x="5956300" y="34747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中国腾飞谱新篇</a:t>
            </a:r>
          </a:p>
        </p:txBody>
      </p:sp>
      <p:sp>
        <p:nvSpPr>
          <p:cNvPr id="1036" name="p02c_b"/>
          <p:cNvSpPr txBox="1"/>
          <p:nvPr/>
        </p:nvSpPr>
        <p:spPr>
          <a:xfrm>
            <a:off x="5956300" y="3859530"/>
            <a:ext cx="19558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新时代党和国家事业取得历史性成就、发生历史性变革。</a:t>
            </a:r>
          </a:p>
        </p:txBody>
      </p:sp>
      <p:sp>
        <p:nvSpPr>
          <p:cNvPr id="1037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教材：统编版《道德与法治》九年级上册 第二单元</a:t>
            </a:r>
          </a:p>
        </p:txBody>
      </p:sp>
    </p:spTree>
  </p:cSld>
  <p:transition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9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单元导览</a:t>
            </a:r>
          </a:p>
        </p:txBody>
      </p:sp>
      <p:sp>
        <p:nvSpPr>
          <p:cNvPr id="1040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041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新时代“新”在哪里：四个关键词</a:t>
            </a:r>
          </a:p>
        </p:txBody>
      </p:sp>
      <p:cxnSp>
        <p:nvCxnSpPr>
          <p:cNvPr id="1042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043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04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04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04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03 / 45</a:t>
            </a:r>
          </a:p>
        </p:txBody>
      </p:sp>
      <p:sp>
        <p:nvSpPr>
          <p:cNvPr id="1048" name="p03a_bg"/>
          <p:cNvSpPr/>
          <p:nvPr/>
        </p:nvSpPr>
        <p:spPr>
          <a:xfrm>
            <a:off x="609600" y="1879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49" name="p03a_bar"/>
          <p:cNvSpPr/>
          <p:nvPr/>
        </p:nvSpPr>
        <p:spPr>
          <a:xfrm>
            <a:off x="609600" y="2006600"/>
            <a:ext cx="38100" cy="147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0" name="p03a_t"/>
          <p:cNvSpPr txBox="1"/>
          <p:nvPr/>
        </p:nvSpPr>
        <p:spPr>
          <a:xfrm>
            <a:off x="8509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矛盾新变化</a:t>
            </a:r>
          </a:p>
        </p:txBody>
      </p:sp>
      <p:sp>
        <p:nvSpPr>
          <p:cNvPr id="1051" name="p03a_b"/>
          <p:cNvSpPr txBox="1"/>
          <p:nvPr/>
        </p:nvSpPr>
        <p:spPr>
          <a:xfrm>
            <a:off x="850900" y="2467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人民日益增长的美好生活需要和不平衡不充分的发展之间的矛盾。</a:t>
            </a:r>
          </a:p>
        </p:txBody>
      </p:sp>
      <p:sp>
        <p:nvSpPr>
          <p:cNvPr id="1052" name="p03b_bg"/>
          <p:cNvSpPr/>
          <p:nvPr/>
        </p:nvSpPr>
        <p:spPr>
          <a:xfrm>
            <a:off x="4445000" y="1879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53" name="p03b_bar"/>
          <p:cNvSpPr/>
          <p:nvPr/>
        </p:nvSpPr>
        <p:spPr>
          <a:xfrm>
            <a:off x="4445000" y="2006600"/>
            <a:ext cx="38100" cy="14732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4" name="p03b_t"/>
          <p:cNvSpPr txBox="1"/>
          <p:nvPr/>
        </p:nvSpPr>
        <p:spPr>
          <a:xfrm>
            <a:off x="46863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历史新方位</a:t>
            </a:r>
          </a:p>
        </p:txBody>
      </p:sp>
      <p:sp>
        <p:nvSpPr>
          <p:cNvPr id="1055" name="p03b_b"/>
          <p:cNvSpPr txBox="1"/>
          <p:nvPr/>
        </p:nvSpPr>
        <p:spPr>
          <a:xfrm>
            <a:off x="4686300" y="2467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中国特色社会主义进入新时代，我国发展站到新的历史起点。</a:t>
            </a:r>
          </a:p>
        </p:txBody>
      </p:sp>
      <p:sp>
        <p:nvSpPr>
          <p:cNvPr id="1056" name="p03c_bg"/>
          <p:cNvSpPr/>
          <p:nvPr/>
        </p:nvSpPr>
        <p:spPr>
          <a:xfrm>
            <a:off x="609600" y="3784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57" name="p03c_bar"/>
          <p:cNvSpPr/>
          <p:nvPr/>
        </p:nvSpPr>
        <p:spPr>
          <a:xfrm>
            <a:off x="609600" y="3911600"/>
            <a:ext cx="38100" cy="147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8" name="p03c_t"/>
          <p:cNvSpPr txBox="1"/>
          <p:nvPr/>
        </p:nvSpPr>
        <p:spPr>
          <a:xfrm>
            <a:off x="850900" y="3987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理论新飞跃</a:t>
            </a:r>
          </a:p>
        </p:txBody>
      </p:sp>
      <p:sp>
        <p:nvSpPr>
          <p:cNvPr id="1059" name="p03c_b"/>
          <p:cNvSpPr txBox="1"/>
          <p:nvPr/>
        </p:nvSpPr>
        <p:spPr>
          <a:xfrm>
            <a:off x="850900" y="4372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习近平新时代中国特色社会主义思想，是当代中国马克思主义。</a:t>
            </a:r>
          </a:p>
        </p:txBody>
      </p:sp>
      <p:sp>
        <p:nvSpPr>
          <p:cNvPr id="1060" name="p03d_bg"/>
          <p:cNvSpPr/>
          <p:nvPr/>
        </p:nvSpPr>
        <p:spPr>
          <a:xfrm>
            <a:off x="4445000" y="3784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61" name="p03d_bar"/>
          <p:cNvSpPr/>
          <p:nvPr/>
        </p:nvSpPr>
        <p:spPr>
          <a:xfrm>
            <a:off x="4445000" y="3911600"/>
            <a:ext cx="38100" cy="147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2" name="p03d_t"/>
          <p:cNvSpPr txBox="1"/>
          <p:nvPr/>
        </p:nvSpPr>
        <p:spPr>
          <a:xfrm>
            <a:off x="4686300" y="3987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发展新成就</a:t>
            </a:r>
          </a:p>
        </p:txBody>
      </p:sp>
      <p:sp>
        <p:nvSpPr>
          <p:cNvPr id="1063" name="p03d_b"/>
          <p:cNvSpPr txBox="1"/>
          <p:nvPr/>
        </p:nvSpPr>
        <p:spPr>
          <a:xfrm>
            <a:off x="4686300" y="4372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经济、政治、文化、社会、生态文明建设取得历史性成就。</a:t>
            </a:r>
          </a:p>
        </p:txBody>
      </p:sp>
    </p:spTree>
  </p:cSld>
  <p:transition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5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单元导览</a:t>
            </a:r>
          </a:p>
        </p:txBody>
      </p:sp>
      <p:sp>
        <p:nvSpPr>
          <p:cNvPr id="1066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067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这节课的依据：课标 · 素养 · 价值</a:t>
            </a:r>
          </a:p>
        </p:txBody>
      </p:sp>
      <p:cxnSp>
        <p:nvCxnSpPr>
          <p:cNvPr id="1068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069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070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071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2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073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04 / 45</a:t>
            </a:r>
          </a:p>
        </p:txBody>
      </p:sp>
      <p:sp>
        <p:nvSpPr>
          <p:cNvPr id="1074" name="p03b0_bg"/>
          <p:cNvSpPr/>
          <p:nvPr/>
        </p:nvSpPr>
        <p:spPr>
          <a:xfrm>
            <a:off x="609600" y="1930400"/>
            <a:ext cx="2370709" cy="287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75" name="p03b0_bar"/>
          <p:cNvSpPr/>
          <p:nvPr/>
        </p:nvSpPr>
        <p:spPr>
          <a:xfrm>
            <a:off x="609600" y="2057400"/>
            <a:ext cx="38100" cy="261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6" name="p03b0_t"/>
          <p:cNvSpPr txBox="1"/>
          <p:nvPr/>
        </p:nvSpPr>
        <p:spPr>
          <a:xfrm>
            <a:off x="850900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课标要求</a:t>
            </a:r>
          </a:p>
        </p:txBody>
      </p:sp>
      <p:sp>
        <p:nvSpPr>
          <p:cNvPr id="1077" name="p03b0_b"/>
          <p:cNvSpPr txBox="1"/>
          <p:nvPr/>
        </p:nvSpPr>
        <p:spPr>
          <a:xfrm>
            <a:off x="850900" y="2501265"/>
            <a:ext cx="1926209" cy="18897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对应“中国特色社会主义进入新时代”，了解新时代的历史方位、指导思想与发展成就，理解“五位一体”总体布局。</a:t>
            </a:r>
          </a:p>
        </p:txBody>
      </p:sp>
      <p:sp>
        <p:nvSpPr>
          <p:cNvPr id="1078" name="p03b1_bg"/>
          <p:cNvSpPr/>
          <p:nvPr/>
        </p:nvSpPr>
        <p:spPr>
          <a:xfrm>
            <a:off x="3183509" y="1930400"/>
            <a:ext cx="2370709" cy="287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79" name="p03b1_bar"/>
          <p:cNvSpPr/>
          <p:nvPr/>
        </p:nvSpPr>
        <p:spPr>
          <a:xfrm>
            <a:off x="3183509" y="2057400"/>
            <a:ext cx="38100" cy="261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0" name="p03b1_t"/>
          <p:cNvSpPr txBox="1"/>
          <p:nvPr/>
        </p:nvSpPr>
        <p:spPr>
          <a:xfrm>
            <a:off x="3424809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学科素养</a:t>
            </a:r>
          </a:p>
        </p:txBody>
      </p:sp>
      <p:sp>
        <p:nvSpPr>
          <p:cNvPr id="1081" name="p03b1_b"/>
          <p:cNvSpPr txBox="1"/>
          <p:nvPr/>
        </p:nvSpPr>
        <p:spPr>
          <a:xfrm>
            <a:off x="3424809" y="2501265"/>
            <a:ext cx="1926209" cy="18897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政治认同：拥护党的领导、认同中国特色社会主义；健全人格：理性分析社会现象；责任意识：参与家乡建设。</a:t>
            </a:r>
          </a:p>
        </p:txBody>
      </p:sp>
      <p:sp>
        <p:nvSpPr>
          <p:cNvPr id="1082" name="p03b2_bg"/>
          <p:cNvSpPr/>
          <p:nvPr/>
        </p:nvSpPr>
        <p:spPr>
          <a:xfrm>
            <a:off x="5757291" y="1930400"/>
            <a:ext cx="2370709" cy="287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83" name="p03b2_bar"/>
          <p:cNvSpPr/>
          <p:nvPr/>
        </p:nvSpPr>
        <p:spPr>
          <a:xfrm>
            <a:off x="5757291" y="2057400"/>
            <a:ext cx="38100" cy="261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4" name="p03b2_t"/>
          <p:cNvSpPr txBox="1"/>
          <p:nvPr/>
        </p:nvSpPr>
        <p:spPr>
          <a:xfrm>
            <a:off x="5998591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核心价值</a:t>
            </a:r>
          </a:p>
        </p:txBody>
      </p:sp>
      <p:sp>
        <p:nvSpPr>
          <p:cNvPr id="1085" name="p03b2_b"/>
          <p:cNvSpPr txBox="1"/>
          <p:nvPr/>
        </p:nvSpPr>
        <p:spPr>
          <a:xfrm>
            <a:off x="5998591" y="2501265"/>
            <a:ext cx="1926209" cy="157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爱国 · 富强 · 民主 · 文明 · 和谐——在本单元的落点是“看见成就、追问原因、落到行动”。</a:t>
            </a:r>
          </a:p>
        </p:txBody>
      </p:sp>
      <p:sp>
        <p:nvSpPr>
          <p:cNvPr id="1086" name="src_note"/>
          <p:cNvSpPr txBox="1"/>
          <p:nvPr/>
        </p:nvSpPr>
        <p:spPr>
          <a:xfrm>
            <a:off x="609600" y="5791200"/>
            <a:ext cx="7518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依据《义务教育道德与法治课程标准（2022 年版）》“国情教育”主题概括</a:t>
            </a:r>
          </a:p>
        </p:txBody>
      </p:sp>
    </p:spTree>
  </p:cSld>
  <p:transition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8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单元导览</a:t>
            </a:r>
          </a:p>
        </p:txBody>
      </p:sp>
      <p:sp>
        <p:nvSpPr>
          <p:cNvPr id="1089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090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本课总任务：做一名“时代答卷人”</a:t>
            </a:r>
          </a:p>
        </p:txBody>
      </p:sp>
      <p:cxnSp>
        <p:nvCxnSpPr>
          <p:cNvPr id="1091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092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093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094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5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096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05 / 45</a:t>
            </a:r>
          </a:p>
        </p:txBody>
      </p:sp>
      <p:sp>
        <p:nvSpPr>
          <p:cNvPr id="1097" name="p04q_bg"/>
          <p:cNvSpPr/>
          <p:nvPr/>
        </p:nvSpPr>
        <p:spPr>
          <a:xfrm>
            <a:off x="609600" y="1879600"/>
            <a:ext cx="7518400" cy="939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098" name="p04q_bar"/>
          <p:cNvSpPr/>
          <p:nvPr/>
        </p:nvSpPr>
        <p:spPr>
          <a:xfrm>
            <a:off x="609600" y="1879600"/>
            <a:ext cx="38100" cy="939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9" name="p04q_t"/>
          <p:cNvSpPr txBox="1"/>
          <p:nvPr/>
        </p:nvSpPr>
        <p:spPr>
          <a:xfrm>
            <a:off x="800100" y="2006600"/>
            <a:ext cx="7175500" cy="685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>
                <a:solidFill>
                  <a:srgbClr val="17242E"/>
                </a:solidFill>
                <a:latin typeface="微软雅黑"/>
                <a:ea typeface="微软雅黑"/>
              </a:rPr>
              <a:t>成就何以铸就，青年何以担当？——我们用一个“展”，把这两个问题走一遍。</a:t>
            </a:r>
          </a:p>
        </p:txBody>
      </p:sp>
      <p:sp>
        <p:nvSpPr>
          <p:cNvPr id="1100" name="p04a_bg"/>
          <p:cNvSpPr/>
          <p:nvPr/>
        </p:nvSpPr>
        <p:spPr>
          <a:xfrm>
            <a:off x="609600" y="3048000"/>
            <a:ext cx="2400300" cy="20358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101" name="p04a_bar"/>
          <p:cNvSpPr/>
          <p:nvPr/>
        </p:nvSpPr>
        <p:spPr>
          <a:xfrm>
            <a:off x="609600" y="3175000"/>
            <a:ext cx="38100" cy="178181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2" name="p04a_k"/>
          <p:cNvSpPr txBox="1"/>
          <p:nvPr/>
        </p:nvSpPr>
        <p:spPr>
          <a:xfrm>
            <a:off x="850900" y="32512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03" name="p04a_t"/>
          <p:cNvSpPr txBox="1"/>
          <p:nvPr/>
        </p:nvSpPr>
        <p:spPr>
          <a:xfrm>
            <a:off x="850900" y="35509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观展选品</a:t>
            </a:r>
          </a:p>
        </p:txBody>
      </p:sp>
      <p:sp>
        <p:nvSpPr>
          <p:cNvPr id="1104" name="p04a_b"/>
          <p:cNvSpPr txBox="1"/>
          <p:nvPr/>
        </p:nvSpPr>
        <p:spPr>
          <a:xfrm>
            <a:off x="850900" y="3935730"/>
            <a:ext cx="19558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看六块展板，补“五位一体”缺的那一块。</a:t>
            </a:r>
          </a:p>
        </p:txBody>
      </p:sp>
      <p:sp>
        <p:nvSpPr>
          <p:cNvPr id="1105" name="p04b_bg"/>
          <p:cNvSpPr/>
          <p:nvPr/>
        </p:nvSpPr>
        <p:spPr>
          <a:xfrm>
            <a:off x="3162300" y="3048000"/>
            <a:ext cx="24003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106" name="p04b_bar"/>
          <p:cNvSpPr/>
          <p:nvPr/>
        </p:nvSpPr>
        <p:spPr>
          <a:xfrm>
            <a:off x="3162300" y="3175000"/>
            <a:ext cx="38100" cy="1651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7" name="p04b_k"/>
          <p:cNvSpPr txBox="1"/>
          <p:nvPr/>
        </p:nvSpPr>
        <p:spPr>
          <a:xfrm>
            <a:off x="3403600" y="32512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08" name="p04b_t"/>
          <p:cNvSpPr txBox="1"/>
          <p:nvPr/>
        </p:nvSpPr>
        <p:spPr>
          <a:xfrm>
            <a:off x="3403600" y="35509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撰写解说</a:t>
            </a:r>
          </a:p>
        </p:txBody>
      </p:sp>
      <p:sp>
        <p:nvSpPr>
          <p:cNvPr id="1109" name="p04b_b"/>
          <p:cNvSpPr txBox="1"/>
          <p:nvPr/>
        </p:nvSpPr>
        <p:spPr>
          <a:xfrm>
            <a:off x="3403600" y="3935730"/>
            <a:ext cx="19558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用四步解码法，把现象追成原因。</a:t>
            </a:r>
          </a:p>
        </p:txBody>
      </p:sp>
      <p:sp>
        <p:nvSpPr>
          <p:cNvPr id="1110" name="p04c_bg"/>
          <p:cNvSpPr/>
          <p:nvPr/>
        </p:nvSpPr>
        <p:spPr>
          <a:xfrm>
            <a:off x="5715000" y="3048000"/>
            <a:ext cx="24003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111" name="p04c_bar"/>
          <p:cNvSpPr/>
          <p:nvPr/>
        </p:nvSpPr>
        <p:spPr>
          <a:xfrm>
            <a:off x="5715000" y="3175000"/>
            <a:ext cx="38100" cy="1651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2" name="p04c_k"/>
          <p:cNvSpPr txBox="1"/>
          <p:nvPr/>
        </p:nvSpPr>
        <p:spPr>
          <a:xfrm>
            <a:off x="5956300" y="3251200"/>
            <a:ext cx="1955800" cy="248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113" name="p04c_t"/>
          <p:cNvSpPr txBox="1"/>
          <p:nvPr/>
        </p:nvSpPr>
        <p:spPr>
          <a:xfrm>
            <a:off x="5956300" y="355092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拓展策展</a:t>
            </a:r>
          </a:p>
        </p:txBody>
      </p:sp>
      <p:sp>
        <p:nvSpPr>
          <p:cNvPr id="1114" name="p04c_b"/>
          <p:cNvSpPr txBox="1"/>
          <p:nvPr/>
        </p:nvSpPr>
        <p:spPr>
          <a:xfrm>
            <a:off x="5956300" y="3935730"/>
            <a:ext cx="19558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走进盐池，为家乡设计一场研学。</a:t>
            </a:r>
          </a:p>
        </p:txBody>
      </p:sp>
    </p:spTree>
  </p:cSld>
  <p:transition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6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单元导览</a:t>
            </a:r>
          </a:p>
        </p:txBody>
      </p:sp>
      <p:sp>
        <p:nvSpPr>
          <p:cNvPr id="1117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118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情境：学校要办一个“新时代”展</a:t>
            </a:r>
          </a:p>
        </p:txBody>
      </p:sp>
      <p:cxnSp>
        <p:nvCxnSpPr>
          <p:cNvPr id="1119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120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121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122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3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124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06 / 45</a:t>
            </a:r>
          </a:p>
        </p:txBody>
      </p:sp>
      <p:sp>
        <p:nvSpPr>
          <p:cNvPr id="1125" name="p05q_bg"/>
          <p:cNvSpPr/>
          <p:nvPr/>
        </p:nvSpPr>
        <p:spPr>
          <a:xfrm>
            <a:off x="609600" y="1879600"/>
            <a:ext cx="7518400" cy="199771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126" name="p05q_bar"/>
          <p:cNvSpPr/>
          <p:nvPr/>
        </p:nvSpPr>
        <p:spPr>
          <a:xfrm>
            <a:off x="609600" y="1879600"/>
            <a:ext cx="50800" cy="199771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7" name="p05q_t"/>
          <p:cNvSpPr txBox="1"/>
          <p:nvPr/>
        </p:nvSpPr>
        <p:spPr>
          <a:xfrm>
            <a:off x="889000" y="2108200"/>
            <a:ext cx="7010400" cy="11658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>
                <a:solidFill>
                  <a:srgbClr val="17242E"/>
                </a:solidFill>
                <a:latin typeface="宋体"/>
                <a:ea typeface="宋体"/>
              </a:rPr>
              <a:t>学校以“感悟新时代，解码新成就”为主题举办展览。同学们广泛搜集资料，制作了六块展板；但布展时发现，展板只覆盖了部分领域，解说词也还没写。</a:t>
            </a:r>
          </a:p>
        </p:txBody>
      </p:sp>
      <p:sp>
        <p:nvSpPr>
          <p:cNvPr id="1128" name="p05q_c"/>
          <p:cNvSpPr txBox="1"/>
          <p:nvPr/>
        </p:nvSpPr>
        <p:spPr>
          <a:xfrm>
            <a:off x="889000" y="3401060"/>
            <a:ext cx="7010400" cy="2476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——校园策展邀请函</a:t>
            </a:r>
          </a:p>
        </p:txBody>
      </p:sp>
      <p:sp>
        <p:nvSpPr>
          <p:cNvPr id="1129" name="p05b0_d"/>
          <p:cNvSpPr/>
          <p:nvPr/>
        </p:nvSpPr>
        <p:spPr>
          <a:xfrm>
            <a:off x="609600" y="4191254"/>
            <a:ext cx="76200" cy="7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0" name="p05b0_l"/>
          <p:cNvSpPr txBox="1"/>
          <p:nvPr/>
        </p:nvSpPr>
        <p:spPr>
          <a:xfrm>
            <a:off x="787400" y="4105910"/>
            <a:ext cx="52019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131" name="p05b0_t"/>
          <p:cNvSpPr txBox="1"/>
          <p:nvPr/>
        </p:nvSpPr>
        <p:spPr>
          <a:xfrm>
            <a:off x="1409192" y="4105910"/>
            <a:ext cx="671880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六块展板，覆盖经济、政治、文化、社会、生态的部分领域。</a:t>
            </a:r>
          </a:p>
        </p:txBody>
      </p:sp>
      <p:sp>
        <p:nvSpPr>
          <p:cNvPr id="1132" name="p05b1_d"/>
          <p:cNvSpPr/>
          <p:nvPr/>
        </p:nvSpPr>
        <p:spPr>
          <a:xfrm>
            <a:off x="609600" y="4658614"/>
            <a:ext cx="76200" cy="7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3" name="p05b1_l"/>
          <p:cNvSpPr txBox="1"/>
          <p:nvPr/>
        </p:nvSpPr>
        <p:spPr>
          <a:xfrm>
            <a:off x="787400" y="457327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缺什么</a:t>
            </a:r>
          </a:p>
        </p:txBody>
      </p:sp>
      <p:sp>
        <p:nvSpPr>
          <p:cNvPr id="1134" name="p05b1_t"/>
          <p:cNvSpPr txBox="1"/>
          <p:nvPr/>
        </p:nvSpPr>
        <p:spPr>
          <a:xfrm>
            <a:off x="1618488" y="457327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“五位一体”没有铺满，展板之间的逻辑没有说清。</a:t>
            </a:r>
          </a:p>
        </p:txBody>
      </p:sp>
      <p:sp>
        <p:nvSpPr>
          <p:cNvPr id="1135" name="p05b2_d"/>
          <p:cNvSpPr/>
          <p:nvPr/>
        </p:nvSpPr>
        <p:spPr>
          <a:xfrm>
            <a:off x="609600" y="5125974"/>
            <a:ext cx="76200" cy="76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6" name="p05b2_l"/>
          <p:cNvSpPr txBox="1"/>
          <p:nvPr/>
        </p:nvSpPr>
        <p:spPr>
          <a:xfrm>
            <a:off x="787400" y="504063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要什么</a:t>
            </a:r>
          </a:p>
        </p:txBody>
      </p:sp>
      <p:sp>
        <p:nvSpPr>
          <p:cNvPr id="1137" name="p05b2_t"/>
          <p:cNvSpPr txBox="1"/>
          <p:nvPr/>
        </p:nvSpPr>
        <p:spPr>
          <a:xfrm>
            <a:off x="1618488" y="504063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补一块展板，写一段解说，再做一场家乡研学。</a:t>
            </a:r>
          </a:p>
        </p:txBody>
      </p:sp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op_sq"/>
          <p:cNvSpPr/>
          <p:nvPr/>
        </p:nvSpPr>
        <p:spPr>
          <a:xfrm>
            <a:off x="609600" y="6096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9" name="op_tag"/>
          <p:cNvSpPr txBox="1"/>
          <p:nvPr/>
        </p:nvSpPr>
        <p:spPr>
          <a:xfrm>
            <a:off x="762000" y="5588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9C9D4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140" name="op_core"/>
          <p:cNvSpPr txBox="1"/>
          <p:nvPr/>
        </p:nvSpPr>
        <p:spPr>
          <a:xfrm>
            <a:off x="5130800" y="5588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B9C9D4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141" name="op_n"/>
          <p:cNvSpPr txBox="1"/>
          <p:nvPr/>
        </p:nvSpPr>
        <p:spPr>
          <a:xfrm>
            <a:off x="609600" y="1219200"/>
            <a:ext cx="3302000" cy="165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0400" b="1">
                <a:solidFill>
                  <a:srgbClr val="4E7FA6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42" name="op_t"/>
          <p:cNvSpPr txBox="1"/>
          <p:nvPr/>
        </p:nvSpPr>
        <p:spPr>
          <a:xfrm>
            <a:off x="609600" y="2997200"/>
            <a:ext cx="751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观展选品：先看见，再判断</a:t>
            </a:r>
          </a:p>
        </p:txBody>
      </p:sp>
      <p:cxnSp>
        <p:nvCxnSpPr>
          <p:cNvPr id="1143" name="op_r"/>
          <p:cNvCxnSpPr/>
          <p:nvPr/>
        </p:nvCxnSpPr>
        <p:spPr>
          <a:xfrm>
            <a:off x="609600" y="3784600"/>
            <a:ext cx="1270000" cy="0"/>
          </a:xfrm>
          <a:prstGeom prst="straightConnector1">
            <a:avLst/>
          </a:prstGeom>
          <a:ln w="38100">
            <a:solidFill>
              <a:srgbClr val="2E6E8F"/>
            </a:solidFill>
          </a:ln>
        </p:spPr>
      </p:cxnSp>
      <p:sp>
        <p:nvSpPr>
          <p:cNvPr id="1144" name="op_l"/>
          <p:cNvSpPr txBox="1"/>
          <p:nvPr/>
        </p:nvSpPr>
        <p:spPr>
          <a:xfrm>
            <a:off x="609600" y="3987800"/>
            <a:ext cx="7518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>
                <a:solidFill>
                  <a:srgbClr val="B9C9D4"/>
                </a:solidFill>
                <a:latin typeface="微软雅黑"/>
                <a:ea typeface="微软雅黑"/>
              </a:rPr>
              <a:t>三选一：补一块展板 · 说清一条逻辑 · 挑一件代表展品</a:t>
            </a:r>
          </a:p>
        </p:txBody>
      </p:sp>
      <p:sp>
        <p:nvSpPr>
          <p:cNvPr id="1145" name="op_b0_d"/>
          <p:cNvSpPr/>
          <p:nvPr/>
        </p:nvSpPr>
        <p:spPr>
          <a:xfrm>
            <a:off x="609600" y="442874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6" name="op_b0_l"/>
          <p:cNvSpPr txBox="1"/>
          <p:nvPr/>
        </p:nvSpPr>
        <p:spPr>
          <a:xfrm>
            <a:off x="787400" y="4343400"/>
            <a:ext cx="31089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看</a:t>
            </a:r>
          </a:p>
        </p:txBody>
      </p:sp>
      <p:sp>
        <p:nvSpPr>
          <p:cNvPr id="1147" name="op_b0_t"/>
          <p:cNvSpPr txBox="1"/>
          <p:nvPr/>
        </p:nvSpPr>
        <p:spPr>
          <a:xfrm>
            <a:off x="1199896" y="4343400"/>
            <a:ext cx="692810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六块展板各属哪个领域？</a:t>
            </a:r>
          </a:p>
        </p:txBody>
      </p:sp>
      <p:sp>
        <p:nvSpPr>
          <p:cNvPr id="1148" name="op_b1_d"/>
          <p:cNvSpPr/>
          <p:nvPr/>
        </p:nvSpPr>
        <p:spPr>
          <a:xfrm>
            <a:off x="609600" y="489610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9" name="op_b1_l"/>
          <p:cNvSpPr txBox="1"/>
          <p:nvPr/>
        </p:nvSpPr>
        <p:spPr>
          <a:xfrm>
            <a:off x="787400" y="4810760"/>
            <a:ext cx="31089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找</a:t>
            </a:r>
          </a:p>
        </p:txBody>
      </p:sp>
      <p:sp>
        <p:nvSpPr>
          <p:cNvPr id="1150" name="op_b1_t"/>
          <p:cNvSpPr txBox="1"/>
          <p:nvPr/>
        </p:nvSpPr>
        <p:spPr>
          <a:xfrm>
            <a:off x="1199896" y="4810760"/>
            <a:ext cx="692810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哪一块最单薄？找出证据补上。</a:t>
            </a:r>
          </a:p>
        </p:txBody>
      </p:sp>
      <p:sp>
        <p:nvSpPr>
          <p:cNvPr id="1151" name="op_b2_d"/>
          <p:cNvSpPr/>
          <p:nvPr/>
        </p:nvSpPr>
        <p:spPr>
          <a:xfrm>
            <a:off x="609600" y="536346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2" name="op_b2_l"/>
          <p:cNvSpPr txBox="1"/>
          <p:nvPr/>
        </p:nvSpPr>
        <p:spPr>
          <a:xfrm>
            <a:off x="787400" y="5278120"/>
            <a:ext cx="31089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判</a:t>
            </a:r>
          </a:p>
        </p:txBody>
      </p:sp>
      <p:sp>
        <p:nvSpPr>
          <p:cNvPr id="1153" name="op_b2_t"/>
          <p:cNvSpPr txBox="1"/>
          <p:nvPr/>
        </p:nvSpPr>
        <p:spPr>
          <a:xfrm>
            <a:off x="1199896" y="5278120"/>
            <a:ext cx="692810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只留一块，你留哪块？说清理由。</a:t>
            </a:r>
          </a:p>
        </p:txBody>
      </p:sp>
      <p:cxnSp>
        <p:nvCxnSpPr>
          <p:cNvPr id="115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B9C9D4"/>
            </a:solidFill>
            <a:prstDash val="dash"/>
          </a:ln>
        </p:spPr>
      </p:cxnSp>
      <p:sp>
        <p:nvSpPr>
          <p:cNvPr id="115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15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07 / 45</a:t>
            </a:r>
          </a:p>
        </p:txBody>
      </p:sp>
    </p:spTree>
  </p:cSld>
  <p:transition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9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160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161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展板一 · 科技：把“上天入地”做成日常</a:t>
            </a:r>
          </a:p>
        </p:txBody>
      </p:sp>
      <p:cxnSp>
        <p:nvCxnSpPr>
          <p:cNvPr id="1162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163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16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16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16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08 / 45</a:t>
            </a:r>
          </a:p>
        </p:txBody>
      </p:sp>
      <p:sp>
        <p:nvSpPr>
          <p:cNvPr id="1168" name="p07i_bg"/>
          <p:cNvSpPr/>
          <p:nvPr/>
        </p:nvSpPr>
        <p:spPr>
          <a:xfrm>
            <a:off x="609600" y="1879600"/>
            <a:ext cx="3810000" cy="3120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169" name="p07i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3606800" cy="2362200"/>
          </a:xfrm>
          <a:prstGeom prst="rect">
            <a:avLst/>
          </a:prstGeom>
        </p:spPr>
      </p:pic>
      <p:sp>
        <p:nvSpPr>
          <p:cNvPr id="1170" name="p07i_cp"/>
          <p:cNvSpPr txBox="1"/>
          <p:nvPr/>
        </p:nvSpPr>
        <p:spPr>
          <a:xfrm>
            <a:off x="723900" y="4419600"/>
            <a:ext cx="3581400" cy="4787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我国空间站组合体在轨飞行　图片来源：人民日报</a:t>
            </a:r>
          </a:p>
        </p:txBody>
      </p:sp>
      <p:sp>
        <p:nvSpPr>
          <p:cNvPr id="1171" name="p07c_bg"/>
          <p:cNvSpPr/>
          <p:nvPr/>
        </p:nvSpPr>
        <p:spPr>
          <a:xfrm>
            <a:off x="4572000" y="1879600"/>
            <a:ext cx="3556000" cy="3120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172" name="p07c_bar"/>
          <p:cNvSpPr/>
          <p:nvPr/>
        </p:nvSpPr>
        <p:spPr>
          <a:xfrm>
            <a:off x="4572000" y="2006600"/>
            <a:ext cx="38100" cy="286639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3" name="p07c_b"/>
          <p:cNvSpPr txBox="1"/>
          <p:nvPr/>
        </p:nvSpPr>
        <p:spPr>
          <a:xfrm>
            <a:off x="4813300" y="2082800"/>
            <a:ext cx="3111500" cy="157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浩瀚太空，我国空间站已开启长期有人驻留模式；远程医疗、智慧物流等新业态蓬勃发展；工业互联网与人工智能融合，为新型工业化注入动力。</a:t>
            </a:r>
          </a:p>
        </p:txBody>
      </p:sp>
    </p:spTree>
  </p:cSld>
  <p:transition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5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176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177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展板二 · 交通：一张网，改变中国</a:t>
            </a:r>
          </a:p>
        </p:txBody>
      </p:sp>
      <p:cxnSp>
        <p:nvCxnSpPr>
          <p:cNvPr id="1178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179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180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181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2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183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09 / 45</a:t>
            </a:r>
          </a:p>
        </p:txBody>
      </p:sp>
      <p:sp>
        <p:nvSpPr>
          <p:cNvPr id="1184" name="p08i0_bg"/>
          <p:cNvSpPr/>
          <p:nvPr/>
        </p:nvSpPr>
        <p:spPr>
          <a:xfrm>
            <a:off x="609600" y="1879600"/>
            <a:ext cx="2400300" cy="1737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185" name="p08i0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2197100" cy="1219200"/>
          </a:xfrm>
          <a:prstGeom prst="rect">
            <a:avLst/>
          </a:prstGeom>
        </p:spPr>
      </p:pic>
      <p:sp>
        <p:nvSpPr>
          <p:cNvPr id="1186" name="p08i0_cp"/>
          <p:cNvSpPr txBox="1"/>
          <p:nvPr/>
        </p:nvSpPr>
        <p:spPr>
          <a:xfrm>
            <a:off x="723900" y="3276600"/>
            <a:ext cx="2171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中国路</a:t>
            </a:r>
          </a:p>
        </p:txBody>
      </p:sp>
      <p:sp>
        <p:nvSpPr>
          <p:cNvPr id="1187" name="p08i1_bg"/>
          <p:cNvSpPr/>
          <p:nvPr/>
        </p:nvSpPr>
        <p:spPr>
          <a:xfrm>
            <a:off x="3162300" y="1879600"/>
            <a:ext cx="2400300" cy="1737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188" name="p08i1_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00" y="1981200"/>
            <a:ext cx="2197100" cy="1219200"/>
          </a:xfrm>
          <a:prstGeom prst="rect">
            <a:avLst/>
          </a:prstGeom>
        </p:spPr>
      </p:pic>
      <p:sp>
        <p:nvSpPr>
          <p:cNvPr id="1189" name="p08i1_cp"/>
          <p:cNvSpPr txBox="1"/>
          <p:nvPr/>
        </p:nvSpPr>
        <p:spPr>
          <a:xfrm>
            <a:off x="3276600" y="3276600"/>
            <a:ext cx="2171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平陆运河</a:t>
            </a:r>
          </a:p>
        </p:txBody>
      </p:sp>
      <p:sp>
        <p:nvSpPr>
          <p:cNvPr id="1190" name="p08i2_bg"/>
          <p:cNvSpPr/>
          <p:nvPr/>
        </p:nvSpPr>
        <p:spPr>
          <a:xfrm>
            <a:off x="5715000" y="1879600"/>
            <a:ext cx="2400300" cy="1737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191" name="p08i2_i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00" y="1981200"/>
            <a:ext cx="2197100" cy="1219200"/>
          </a:xfrm>
          <a:prstGeom prst="rect">
            <a:avLst/>
          </a:prstGeom>
        </p:spPr>
      </p:pic>
      <p:sp>
        <p:nvSpPr>
          <p:cNvPr id="1192" name="p08i2_cp"/>
          <p:cNvSpPr txBox="1"/>
          <p:nvPr/>
        </p:nvSpPr>
        <p:spPr>
          <a:xfrm>
            <a:off x="5829300" y="3276600"/>
            <a:ext cx="2171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中国港</a:t>
            </a:r>
          </a:p>
        </p:txBody>
      </p:sp>
      <p:sp>
        <p:nvSpPr>
          <p:cNvPr id="1193" name="p08b0_d"/>
          <p:cNvSpPr/>
          <p:nvPr/>
        </p:nvSpPr>
        <p:spPr>
          <a:xfrm>
            <a:off x="609600" y="384454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4" name="p08b0_l"/>
          <p:cNvSpPr txBox="1"/>
          <p:nvPr/>
        </p:nvSpPr>
        <p:spPr>
          <a:xfrm>
            <a:off x="787400" y="375920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看中国路</a:t>
            </a:r>
          </a:p>
        </p:txBody>
      </p:sp>
      <p:sp>
        <p:nvSpPr>
          <p:cNvPr id="1195" name="p08b0_t"/>
          <p:cNvSpPr txBox="1"/>
          <p:nvPr/>
        </p:nvSpPr>
        <p:spPr>
          <a:xfrm>
            <a:off x="1827784" y="3759200"/>
            <a:ext cx="630021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高铁营业里程突破 5 万公里。</a:t>
            </a:r>
          </a:p>
        </p:txBody>
      </p:sp>
      <p:sp>
        <p:nvSpPr>
          <p:cNvPr id="1196" name="p08b1_d"/>
          <p:cNvSpPr/>
          <p:nvPr/>
        </p:nvSpPr>
        <p:spPr>
          <a:xfrm>
            <a:off x="609600" y="426110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7" name="p08b1_l"/>
          <p:cNvSpPr txBox="1"/>
          <p:nvPr/>
        </p:nvSpPr>
        <p:spPr>
          <a:xfrm>
            <a:off x="787400" y="4175760"/>
            <a:ext cx="114808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看中国运河</a:t>
            </a:r>
          </a:p>
        </p:txBody>
      </p:sp>
      <p:sp>
        <p:nvSpPr>
          <p:cNvPr id="1198" name="p08b1_t"/>
          <p:cNvSpPr txBox="1"/>
          <p:nvPr/>
        </p:nvSpPr>
        <p:spPr>
          <a:xfrm>
            <a:off x="2037080" y="4175760"/>
            <a:ext cx="609092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平陆运河是第一条通江达海的大运河。</a:t>
            </a:r>
          </a:p>
        </p:txBody>
      </p:sp>
      <p:sp>
        <p:nvSpPr>
          <p:cNvPr id="1199" name="p08b2_d"/>
          <p:cNvSpPr/>
          <p:nvPr/>
        </p:nvSpPr>
        <p:spPr>
          <a:xfrm>
            <a:off x="609600" y="467766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0" name="p08b2_l"/>
          <p:cNvSpPr txBox="1"/>
          <p:nvPr/>
        </p:nvSpPr>
        <p:spPr>
          <a:xfrm>
            <a:off x="787400" y="459232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看中国港</a:t>
            </a:r>
          </a:p>
        </p:txBody>
      </p:sp>
      <p:sp>
        <p:nvSpPr>
          <p:cNvPr id="1201" name="p08b2_t"/>
          <p:cNvSpPr txBox="1"/>
          <p:nvPr/>
        </p:nvSpPr>
        <p:spPr>
          <a:xfrm>
            <a:off x="1827784" y="4592320"/>
            <a:ext cx="630021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货物吞吐量全球前十港口中，中国占八席。</a:t>
            </a:r>
          </a:p>
        </p:txBody>
      </p:sp>
      <p:sp>
        <p:nvSpPr>
          <p:cNvPr id="1202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数据来源：人民日报、人民网（截至 2025 年底）</a:t>
            </a:r>
          </a:p>
        </p:txBody>
      </p:sp>
    </p:spTree>
  </p:cSld>
  <p:transition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20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20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展板三 · 平安：最有安全感的国家之一</a:t>
            </a:r>
          </a:p>
        </p:txBody>
      </p:sp>
      <p:cxnSp>
        <p:nvCxnSpPr>
          <p:cNvPr id="120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20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20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21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21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10 / 45</a:t>
            </a:r>
          </a:p>
        </p:txBody>
      </p:sp>
      <p:sp>
        <p:nvSpPr>
          <p:cNvPr id="1213" name="p09k_bg"/>
          <p:cNvSpPr/>
          <p:nvPr/>
        </p:nvSpPr>
        <p:spPr>
          <a:xfrm>
            <a:off x="609600" y="1879600"/>
            <a:ext cx="2540000" cy="13315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14" name="p09k_bar"/>
          <p:cNvSpPr/>
          <p:nvPr/>
        </p:nvSpPr>
        <p:spPr>
          <a:xfrm>
            <a:off x="609600" y="1879600"/>
            <a:ext cx="2540000" cy="381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5" name="p09k_n"/>
          <p:cNvSpPr txBox="1"/>
          <p:nvPr/>
        </p:nvSpPr>
        <p:spPr>
          <a:xfrm>
            <a:off x="736600" y="2133600"/>
            <a:ext cx="2286000" cy="584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3800" b="1">
                <a:solidFill>
                  <a:srgbClr val="2E6E8F"/>
                </a:solidFill>
                <a:latin typeface="微软雅黑"/>
                <a:ea typeface="微软雅黑"/>
              </a:rPr>
              <a:t>98.23%</a:t>
            </a:r>
          </a:p>
        </p:txBody>
      </p:sp>
      <p:sp>
        <p:nvSpPr>
          <p:cNvPr id="1216" name="p09k_l"/>
          <p:cNvSpPr txBox="1"/>
          <p:nvPr/>
        </p:nvSpPr>
        <p:spPr>
          <a:xfrm>
            <a:off x="736600" y="2768600"/>
            <a:ext cx="22860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群众安全感（连续 6 年）</a:t>
            </a:r>
          </a:p>
        </p:txBody>
      </p:sp>
      <p:sp>
        <p:nvSpPr>
          <p:cNvPr id="1217" name="p09c_bg"/>
          <p:cNvSpPr/>
          <p:nvPr/>
        </p:nvSpPr>
        <p:spPr>
          <a:xfrm>
            <a:off x="3302000" y="1879600"/>
            <a:ext cx="4826000" cy="135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18" name="p09c_bar"/>
          <p:cNvSpPr/>
          <p:nvPr/>
        </p:nvSpPr>
        <p:spPr>
          <a:xfrm>
            <a:off x="3302000" y="2006600"/>
            <a:ext cx="38100" cy="109728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9" name="p09c_b"/>
          <p:cNvSpPr txBox="1"/>
          <p:nvPr/>
        </p:nvSpPr>
        <p:spPr>
          <a:xfrm>
            <a:off x="3543300" y="2082800"/>
            <a:ext cx="4381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随着平安中国建设深入推进，我国成为世界上最有安全感的国家之一，也是世界上命案发生率最低的国家之一。</a:t>
            </a:r>
          </a:p>
        </p:txBody>
      </p:sp>
      <p:sp>
        <p:nvSpPr>
          <p:cNvPr id="1220" name="p09i_bg"/>
          <p:cNvSpPr/>
          <p:nvPr/>
        </p:nvSpPr>
        <p:spPr>
          <a:xfrm>
            <a:off x="609600" y="3479800"/>
            <a:ext cx="3810000" cy="20681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21" name="p09i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581400"/>
            <a:ext cx="3606800" cy="1549400"/>
          </a:xfrm>
          <a:prstGeom prst="rect">
            <a:avLst/>
          </a:prstGeom>
        </p:spPr>
      </p:pic>
      <p:sp>
        <p:nvSpPr>
          <p:cNvPr id="1222" name="p09i_cp"/>
          <p:cNvSpPr txBox="1"/>
          <p:nvPr/>
        </p:nvSpPr>
        <p:spPr>
          <a:xfrm>
            <a:off x="723900" y="5207000"/>
            <a:ext cx="35814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图片来源：人民网</a:t>
            </a:r>
          </a:p>
        </p:txBody>
      </p:sp>
      <p:sp>
        <p:nvSpPr>
          <p:cNvPr id="1223" name="p09d_bg"/>
          <p:cNvSpPr/>
          <p:nvPr/>
        </p:nvSpPr>
        <p:spPr>
          <a:xfrm>
            <a:off x="4572000" y="3479800"/>
            <a:ext cx="3556000" cy="1549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24" name="p09d_bar"/>
          <p:cNvSpPr/>
          <p:nvPr/>
        </p:nvSpPr>
        <p:spPr>
          <a:xfrm>
            <a:off x="4572000" y="3606800"/>
            <a:ext cx="38100" cy="12954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5" name="p09d_b"/>
          <p:cNvSpPr txBox="1"/>
          <p:nvPr/>
        </p:nvSpPr>
        <p:spPr>
          <a:xfrm>
            <a:off x="4813300" y="3683000"/>
            <a:ext cx="3111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安全感不是抽象概念，它是夜里敢一个人走回家，是手机丢了还能找回来。</a:t>
            </a:r>
          </a:p>
        </p:txBody>
      </p:sp>
    </p:spTree>
  </p:cSld>
  <p:transition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7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228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229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展板四 · 民主法治：把民意接进立法</a:t>
            </a:r>
          </a:p>
        </p:txBody>
      </p:sp>
      <p:cxnSp>
        <p:nvCxnSpPr>
          <p:cNvPr id="1230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231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232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233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4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235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11 / 45</a:t>
            </a:r>
          </a:p>
        </p:txBody>
      </p:sp>
      <p:sp>
        <p:nvSpPr>
          <p:cNvPr id="1236" name="p10ia_bg"/>
          <p:cNvSpPr/>
          <p:nvPr/>
        </p:nvSpPr>
        <p:spPr>
          <a:xfrm>
            <a:off x="609600" y="1879600"/>
            <a:ext cx="3683000" cy="15855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37" name="p10ia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3479800" cy="1066800"/>
          </a:xfrm>
          <a:prstGeom prst="rect">
            <a:avLst/>
          </a:prstGeom>
        </p:spPr>
      </p:pic>
      <p:sp>
        <p:nvSpPr>
          <p:cNvPr id="1238" name="p10ia_cp"/>
          <p:cNvSpPr txBox="1"/>
          <p:nvPr/>
        </p:nvSpPr>
        <p:spPr>
          <a:xfrm>
            <a:off x="723900" y="3124200"/>
            <a:ext cx="34544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基层立法联系点</a:t>
            </a:r>
          </a:p>
        </p:txBody>
      </p:sp>
      <p:sp>
        <p:nvSpPr>
          <p:cNvPr id="1239" name="p10ib_bg"/>
          <p:cNvSpPr/>
          <p:nvPr/>
        </p:nvSpPr>
        <p:spPr>
          <a:xfrm>
            <a:off x="4445000" y="1879600"/>
            <a:ext cx="3683000" cy="15855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40" name="p10ib_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1981200"/>
            <a:ext cx="3479800" cy="1066800"/>
          </a:xfrm>
          <a:prstGeom prst="rect">
            <a:avLst/>
          </a:prstGeom>
        </p:spPr>
      </p:pic>
      <p:sp>
        <p:nvSpPr>
          <p:cNvPr id="1241" name="p10ib_cp"/>
          <p:cNvSpPr txBox="1"/>
          <p:nvPr/>
        </p:nvSpPr>
        <p:spPr>
          <a:xfrm>
            <a:off x="4559300" y="3124200"/>
            <a:ext cx="34544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《生态环境法典》</a:t>
            </a:r>
          </a:p>
        </p:txBody>
      </p:sp>
      <p:sp>
        <p:nvSpPr>
          <p:cNvPr id="1242" name="p10b0_d"/>
          <p:cNvSpPr/>
          <p:nvPr/>
        </p:nvSpPr>
        <p:spPr>
          <a:xfrm>
            <a:off x="609600" y="369214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3" name="p10b0_l"/>
          <p:cNvSpPr txBox="1"/>
          <p:nvPr/>
        </p:nvSpPr>
        <p:spPr>
          <a:xfrm>
            <a:off x="787400" y="3606800"/>
            <a:ext cx="156667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全过程人民民主</a:t>
            </a:r>
          </a:p>
        </p:txBody>
      </p:sp>
      <p:sp>
        <p:nvSpPr>
          <p:cNvPr id="1244" name="p10b0_t"/>
          <p:cNvSpPr txBox="1"/>
          <p:nvPr/>
        </p:nvSpPr>
        <p:spPr>
          <a:xfrm>
            <a:off x="2455672" y="3606800"/>
            <a:ext cx="567232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民意从基层直达国家立法机关。</a:t>
            </a:r>
          </a:p>
        </p:txBody>
      </p:sp>
      <p:sp>
        <p:nvSpPr>
          <p:cNvPr id="1245" name="p10b1_d"/>
          <p:cNvSpPr/>
          <p:nvPr/>
        </p:nvSpPr>
        <p:spPr>
          <a:xfrm>
            <a:off x="609600" y="410870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6" name="p10b1_l"/>
          <p:cNvSpPr txBox="1"/>
          <p:nvPr/>
        </p:nvSpPr>
        <p:spPr>
          <a:xfrm>
            <a:off x="787400" y="4023360"/>
            <a:ext cx="135737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生态环境法典</a:t>
            </a:r>
          </a:p>
        </p:txBody>
      </p:sp>
      <p:sp>
        <p:nvSpPr>
          <p:cNvPr id="1247" name="p10b1_t"/>
          <p:cNvSpPr txBox="1"/>
          <p:nvPr/>
        </p:nvSpPr>
        <p:spPr>
          <a:xfrm>
            <a:off x="2246376" y="4023360"/>
            <a:ext cx="588162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以法治护航美丽中国建设。</a:t>
            </a:r>
          </a:p>
        </p:txBody>
      </p:sp>
      <p:sp>
        <p:nvSpPr>
          <p:cNvPr id="1248" name="p10b2_d"/>
          <p:cNvSpPr/>
          <p:nvPr/>
        </p:nvSpPr>
        <p:spPr>
          <a:xfrm>
            <a:off x="609600" y="4525264"/>
            <a:ext cx="76200" cy="76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9" name="p10b2_l"/>
          <p:cNvSpPr txBox="1"/>
          <p:nvPr/>
        </p:nvSpPr>
        <p:spPr>
          <a:xfrm>
            <a:off x="787400" y="4439920"/>
            <a:ext cx="156667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基层立法联系点</a:t>
            </a:r>
          </a:p>
        </p:txBody>
      </p:sp>
      <p:sp>
        <p:nvSpPr>
          <p:cNvPr id="1250" name="p10b2_t"/>
          <p:cNvSpPr txBox="1"/>
          <p:nvPr/>
        </p:nvSpPr>
        <p:spPr>
          <a:xfrm>
            <a:off x="2455672" y="4439920"/>
            <a:ext cx="567232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让“家门口的意见”写进法律条文。</a:t>
            </a:r>
          </a:p>
        </p:txBody>
      </p:sp>
      <p:sp>
        <p:nvSpPr>
          <p:cNvPr id="1251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图片来源：人民网、人民日报</a:t>
            </a:r>
          </a:p>
        </p:txBody>
      </p:sp>
    </p:spTree>
  </p:cSld>
  <p:transition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3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254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255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展板五 · 文化：让传统“活”在今天</a:t>
            </a:r>
          </a:p>
        </p:txBody>
      </p:sp>
      <p:cxnSp>
        <p:nvCxnSpPr>
          <p:cNvPr id="1256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257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258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259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0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261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12 / 45</a:t>
            </a:r>
          </a:p>
        </p:txBody>
      </p:sp>
      <p:sp>
        <p:nvSpPr>
          <p:cNvPr id="1262" name="p11i0_bg"/>
          <p:cNvSpPr/>
          <p:nvPr/>
        </p:nvSpPr>
        <p:spPr>
          <a:xfrm>
            <a:off x="609600" y="1879600"/>
            <a:ext cx="1765300" cy="2245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63" name="p11i0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1562100" cy="1727200"/>
          </a:xfrm>
          <a:prstGeom prst="rect">
            <a:avLst/>
          </a:prstGeom>
        </p:spPr>
      </p:pic>
      <p:sp>
        <p:nvSpPr>
          <p:cNvPr id="1264" name="p11i0_cp"/>
          <p:cNvSpPr txBox="1"/>
          <p:nvPr/>
        </p:nvSpPr>
        <p:spPr>
          <a:xfrm>
            <a:off x="723900" y="3784600"/>
            <a:ext cx="1536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三星堆</a:t>
            </a:r>
          </a:p>
        </p:txBody>
      </p:sp>
      <p:sp>
        <p:nvSpPr>
          <p:cNvPr id="1265" name="p11i1_bg"/>
          <p:cNvSpPr/>
          <p:nvPr/>
        </p:nvSpPr>
        <p:spPr>
          <a:xfrm>
            <a:off x="2527300" y="1879600"/>
            <a:ext cx="1765300" cy="2245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66" name="p11i1_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981200"/>
            <a:ext cx="1562100" cy="1727200"/>
          </a:xfrm>
          <a:prstGeom prst="rect">
            <a:avLst/>
          </a:prstGeom>
        </p:spPr>
      </p:pic>
      <p:sp>
        <p:nvSpPr>
          <p:cNvPr id="1267" name="p11i1_cp"/>
          <p:cNvSpPr txBox="1"/>
          <p:nvPr/>
        </p:nvSpPr>
        <p:spPr>
          <a:xfrm>
            <a:off x="2641600" y="3784600"/>
            <a:ext cx="1536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良渚</a:t>
            </a:r>
          </a:p>
        </p:txBody>
      </p:sp>
      <p:sp>
        <p:nvSpPr>
          <p:cNvPr id="1268" name="p11i2_bg"/>
          <p:cNvSpPr/>
          <p:nvPr/>
        </p:nvSpPr>
        <p:spPr>
          <a:xfrm>
            <a:off x="4445000" y="1879600"/>
            <a:ext cx="1765300" cy="2245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69" name="p11i2_i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600" y="1981200"/>
            <a:ext cx="1562100" cy="1727200"/>
          </a:xfrm>
          <a:prstGeom prst="rect">
            <a:avLst/>
          </a:prstGeom>
        </p:spPr>
      </p:pic>
      <p:sp>
        <p:nvSpPr>
          <p:cNvPr id="1270" name="p11i2_cp"/>
          <p:cNvSpPr txBox="1"/>
          <p:nvPr/>
        </p:nvSpPr>
        <p:spPr>
          <a:xfrm>
            <a:off x="4559300" y="3784600"/>
            <a:ext cx="1536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国家版本馆</a:t>
            </a:r>
          </a:p>
        </p:txBody>
      </p:sp>
      <p:sp>
        <p:nvSpPr>
          <p:cNvPr id="1271" name="p11i3_bg"/>
          <p:cNvSpPr/>
          <p:nvPr/>
        </p:nvSpPr>
        <p:spPr>
          <a:xfrm>
            <a:off x="6362700" y="1879600"/>
            <a:ext cx="1765300" cy="2245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72" name="p11i3_i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300" y="1981200"/>
            <a:ext cx="1562100" cy="1727200"/>
          </a:xfrm>
          <a:prstGeom prst="rect">
            <a:avLst/>
          </a:prstGeom>
        </p:spPr>
      </p:pic>
      <p:sp>
        <p:nvSpPr>
          <p:cNvPr id="1273" name="p11i3_cp"/>
          <p:cNvSpPr txBox="1"/>
          <p:nvPr/>
        </p:nvSpPr>
        <p:spPr>
          <a:xfrm>
            <a:off x="6477000" y="3784600"/>
            <a:ext cx="15367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《只此青绿》</a:t>
            </a:r>
          </a:p>
        </p:txBody>
      </p:sp>
      <p:sp>
        <p:nvSpPr>
          <p:cNvPr id="1274" name="p11c_bg"/>
          <p:cNvSpPr/>
          <p:nvPr/>
        </p:nvSpPr>
        <p:spPr>
          <a:xfrm>
            <a:off x="609600" y="4368800"/>
            <a:ext cx="7518400" cy="14211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75" name="p11c_bar"/>
          <p:cNvSpPr/>
          <p:nvPr/>
        </p:nvSpPr>
        <p:spPr>
          <a:xfrm>
            <a:off x="609600" y="4495800"/>
            <a:ext cx="38100" cy="116713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6" name="p11c_t"/>
          <p:cNvSpPr txBox="1"/>
          <p:nvPr/>
        </p:nvSpPr>
        <p:spPr>
          <a:xfrm>
            <a:off x="850900" y="45720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让传统“活”在今天</a:t>
            </a:r>
          </a:p>
        </p:txBody>
      </p:sp>
      <p:sp>
        <p:nvSpPr>
          <p:cNvPr id="1277" name="p11c_b"/>
          <p:cNvSpPr txBox="1"/>
          <p:nvPr/>
        </p:nvSpPr>
        <p:spPr>
          <a:xfrm>
            <a:off x="850900" y="4956810"/>
            <a:ext cx="70739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传承弘扬中华优秀传统文化，推动创造性转化、创新性发展——文物不再只是“被保护”，而是被看见、被使用、被喜欢。</a:t>
            </a:r>
          </a:p>
        </p:txBody>
      </p:sp>
      <p:sp>
        <p:nvSpPr>
          <p:cNvPr id="1278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图片来源：新华社</a:t>
            </a:r>
          </a:p>
        </p:txBody>
      </p:sp>
    </p:spTree>
  </p:cSld>
  <p:transition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0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281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282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展板六 · 江河：一条江的十年</a:t>
            </a:r>
          </a:p>
        </p:txBody>
      </p:sp>
      <p:cxnSp>
        <p:nvCxnSpPr>
          <p:cNvPr id="1283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284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285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286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7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288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13 / 45</a:t>
            </a:r>
          </a:p>
        </p:txBody>
      </p:sp>
      <p:sp>
        <p:nvSpPr>
          <p:cNvPr id="1289" name="p12k_bg"/>
          <p:cNvSpPr/>
          <p:nvPr/>
        </p:nvSpPr>
        <p:spPr>
          <a:xfrm>
            <a:off x="609600" y="1879600"/>
            <a:ext cx="2540000" cy="15709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90" name="p12k_bar"/>
          <p:cNvSpPr/>
          <p:nvPr/>
        </p:nvSpPr>
        <p:spPr>
          <a:xfrm>
            <a:off x="609600" y="1879600"/>
            <a:ext cx="2540000" cy="381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1" name="p12k_n"/>
          <p:cNvSpPr txBox="1"/>
          <p:nvPr/>
        </p:nvSpPr>
        <p:spPr>
          <a:xfrm>
            <a:off x="736600" y="2133600"/>
            <a:ext cx="2286000" cy="584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3800" b="1">
                <a:solidFill>
                  <a:srgbClr val="1C6B60"/>
                </a:solidFill>
                <a:latin typeface="微软雅黑"/>
                <a:ea typeface="微软雅黑"/>
              </a:rPr>
              <a:t>96.5%</a:t>
            </a:r>
          </a:p>
        </p:txBody>
      </p:sp>
      <p:sp>
        <p:nvSpPr>
          <p:cNvPr id="1292" name="p12k_l"/>
          <p:cNvSpPr txBox="1"/>
          <p:nvPr/>
        </p:nvSpPr>
        <p:spPr>
          <a:xfrm>
            <a:off x="736600" y="2768600"/>
            <a:ext cx="2286000" cy="4787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长江经济带优良水质断面（2025 年）</a:t>
            </a:r>
          </a:p>
        </p:txBody>
      </p:sp>
      <p:sp>
        <p:nvSpPr>
          <p:cNvPr id="1293" name="p12c_bg"/>
          <p:cNvSpPr/>
          <p:nvPr/>
        </p:nvSpPr>
        <p:spPr>
          <a:xfrm>
            <a:off x="3302000" y="1879600"/>
            <a:ext cx="4826000" cy="135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294" name="p12c_bar"/>
          <p:cNvSpPr/>
          <p:nvPr/>
        </p:nvSpPr>
        <p:spPr>
          <a:xfrm>
            <a:off x="3302000" y="2006600"/>
            <a:ext cx="38100" cy="109728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5" name="p12c_b"/>
          <p:cNvSpPr txBox="1"/>
          <p:nvPr/>
        </p:nvSpPr>
        <p:spPr>
          <a:xfrm>
            <a:off x="3543300" y="2082800"/>
            <a:ext cx="4381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“共抓大保护，不搞大开发。”十年间，长江经济带优良水质断面比例从 67% 提升到 96.5%。</a:t>
            </a:r>
          </a:p>
        </p:txBody>
      </p:sp>
      <p:sp>
        <p:nvSpPr>
          <p:cNvPr id="1296" name="p12i_bg"/>
          <p:cNvSpPr/>
          <p:nvPr/>
        </p:nvSpPr>
        <p:spPr>
          <a:xfrm>
            <a:off x="609600" y="3479800"/>
            <a:ext cx="3810000" cy="20681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297" name="p12i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581400"/>
            <a:ext cx="3606800" cy="1549400"/>
          </a:xfrm>
          <a:prstGeom prst="rect">
            <a:avLst/>
          </a:prstGeom>
        </p:spPr>
      </p:pic>
      <p:sp>
        <p:nvSpPr>
          <p:cNvPr id="1298" name="p12i_cp"/>
          <p:cNvSpPr txBox="1"/>
          <p:nvPr/>
        </p:nvSpPr>
        <p:spPr>
          <a:xfrm>
            <a:off x="723900" y="5207000"/>
            <a:ext cx="35814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黄河“几字弯”　图片来源：人民日报</a:t>
            </a:r>
          </a:p>
        </p:txBody>
      </p:sp>
      <p:sp>
        <p:nvSpPr>
          <p:cNvPr id="1299" name="p12d_bg"/>
          <p:cNvSpPr/>
          <p:nvPr/>
        </p:nvSpPr>
        <p:spPr>
          <a:xfrm>
            <a:off x="4572000" y="3479800"/>
            <a:ext cx="3556000" cy="1549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00" name="p12d_bar"/>
          <p:cNvSpPr/>
          <p:nvPr/>
        </p:nvSpPr>
        <p:spPr>
          <a:xfrm>
            <a:off x="4572000" y="3606800"/>
            <a:ext cx="38100" cy="12954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1" name="p12d_b"/>
          <p:cNvSpPr txBox="1"/>
          <p:nvPr/>
        </p:nvSpPr>
        <p:spPr>
          <a:xfrm>
            <a:off x="4813300" y="3683000"/>
            <a:ext cx="3111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“让黄河成为造福人民的幸福河。”打好“几字弯”攻坚战，一体推进山水林田湖草沙治理。</a:t>
            </a:r>
          </a:p>
        </p:txBody>
      </p:sp>
    </p:spTree>
  </p:cSld>
  <p:transition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3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304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305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六块展板，正好是“五位一体”</a:t>
            </a:r>
          </a:p>
        </p:txBody>
      </p:sp>
      <p:cxnSp>
        <p:nvCxnSpPr>
          <p:cNvPr id="1306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307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308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309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0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311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14 / 45</a:t>
            </a:r>
          </a:p>
        </p:txBody>
      </p:sp>
      <p:sp>
        <p:nvSpPr>
          <p:cNvPr id="1312" name="p13l_bg"/>
          <p:cNvSpPr/>
          <p:nvPr/>
        </p:nvSpPr>
        <p:spPr>
          <a:xfrm>
            <a:off x="609600" y="1879600"/>
            <a:ext cx="7518400" cy="86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13" name="p13l_bar"/>
          <p:cNvSpPr/>
          <p:nvPr/>
        </p:nvSpPr>
        <p:spPr>
          <a:xfrm>
            <a:off x="609600" y="1879600"/>
            <a:ext cx="38100" cy="8636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4" name="p13l_t"/>
          <p:cNvSpPr txBox="1"/>
          <p:nvPr/>
        </p:nvSpPr>
        <p:spPr>
          <a:xfrm>
            <a:off x="800100" y="2006600"/>
            <a:ext cx="7175500" cy="609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展板不是六张照片，是“五位一体”总体布局的六个落点——经济两块，其余各一块。</a:t>
            </a:r>
          </a:p>
        </p:txBody>
      </p:sp>
      <p:sp>
        <p:nvSpPr>
          <p:cNvPr id="1315" name="p13b0_bg"/>
          <p:cNvSpPr/>
          <p:nvPr/>
        </p:nvSpPr>
        <p:spPr>
          <a:xfrm>
            <a:off x="609600" y="2946400"/>
            <a:ext cx="1397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16" name="p13b0_top"/>
          <p:cNvSpPr/>
          <p:nvPr/>
        </p:nvSpPr>
        <p:spPr>
          <a:xfrm>
            <a:off x="609600" y="2946400"/>
            <a:ext cx="139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7" name="p13b0_k"/>
          <p:cNvSpPr txBox="1"/>
          <p:nvPr/>
        </p:nvSpPr>
        <p:spPr>
          <a:xfrm>
            <a:off x="723900" y="3149600"/>
            <a:ext cx="1168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经济建设</a:t>
            </a:r>
          </a:p>
        </p:txBody>
      </p:sp>
      <p:sp>
        <p:nvSpPr>
          <p:cNvPr id="1318" name="p13b0_v"/>
          <p:cNvSpPr txBox="1"/>
          <p:nvPr/>
        </p:nvSpPr>
        <p:spPr>
          <a:xfrm>
            <a:off x="723900" y="3556000"/>
            <a:ext cx="116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科技发展</a:t>
            </a:r>
          </a:p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交通基建</a:t>
            </a:r>
          </a:p>
        </p:txBody>
      </p:sp>
      <p:sp>
        <p:nvSpPr>
          <p:cNvPr id="1319" name="p13b0_n"/>
          <p:cNvSpPr txBox="1"/>
          <p:nvPr/>
        </p:nvSpPr>
        <p:spPr>
          <a:xfrm>
            <a:off x="723900" y="4394200"/>
            <a:ext cx="116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3B4B57"/>
                </a:solidFill>
                <a:latin typeface="微软雅黑"/>
                <a:ea typeface="微软雅黑"/>
              </a:rPr>
              <a:t>第 1 块</a:t>
            </a:r>
          </a:p>
        </p:txBody>
      </p:sp>
      <p:sp>
        <p:nvSpPr>
          <p:cNvPr id="1320" name="p13b1_bg"/>
          <p:cNvSpPr/>
          <p:nvPr/>
        </p:nvSpPr>
        <p:spPr>
          <a:xfrm>
            <a:off x="2133600" y="2946400"/>
            <a:ext cx="1397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21" name="p13b1_top"/>
          <p:cNvSpPr/>
          <p:nvPr/>
        </p:nvSpPr>
        <p:spPr>
          <a:xfrm>
            <a:off x="2133600" y="2946400"/>
            <a:ext cx="1397000" cy="508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2" name="p13b1_k"/>
          <p:cNvSpPr txBox="1"/>
          <p:nvPr/>
        </p:nvSpPr>
        <p:spPr>
          <a:xfrm>
            <a:off x="2247900" y="3149600"/>
            <a:ext cx="1168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政治建设</a:t>
            </a:r>
          </a:p>
        </p:txBody>
      </p:sp>
      <p:sp>
        <p:nvSpPr>
          <p:cNvPr id="1323" name="p13b1_v"/>
          <p:cNvSpPr txBox="1"/>
          <p:nvPr/>
        </p:nvSpPr>
        <p:spPr>
          <a:xfrm>
            <a:off x="2247900" y="3556000"/>
            <a:ext cx="116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民主法治</a:t>
            </a:r>
          </a:p>
        </p:txBody>
      </p:sp>
      <p:sp>
        <p:nvSpPr>
          <p:cNvPr id="1324" name="p13b1_n"/>
          <p:cNvSpPr txBox="1"/>
          <p:nvPr/>
        </p:nvSpPr>
        <p:spPr>
          <a:xfrm>
            <a:off x="2247900" y="4394200"/>
            <a:ext cx="116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3B4B57"/>
                </a:solidFill>
                <a:latin typeface="微软雅黑"/>
                <a:ea typeface="微软雅黑"/>
              </a:rPr>
              <a:t>第 2 块</a:t>
            </a:r>
          </a:p>
        </p:txBody>
      </p:sp>
      <p:sp>
        <p:nvSpPr>
          <p:cNvPr id="1325" name="p13b2_bg"/>
          <p:cNvSpPr/>
          <p:nvPr/>
        </p:nvSpPr>
        <p:spPr>
          <a:xfrm>
            <a:off x="3657600" y="2946400"/>
            <a:ext cx="1397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26" name="p13b2_top"/>
          <p:cNvSpPr/>
          <p:nvPr/>
        </p:nvSpPr>
        <p:spPr>
          <a:xfrm>
            <a:off x="3657600" y="2946400"/>
            <a:ext cx="139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7" name="p13b2_k"/>
          <p:cNvSpPr txBox="1"/>
          <p:nvPr/>
        </p:nvSpPr>
        <p:spPr>
          <a:xfrm>
            <a:off x="3771900" y="3149600"/>
            <a:ext cx="1168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文化建设</a:t>
            </a:r>
          </a:p>
        </p:txBody>
      </p:sp>
      <p:sp>
        <p:nvSpPr>
          <p:cNvPr id="1328" name="p13b2_v"/>
          <p:cNvSpPr txBox="1"/>
          <p:nvPr/>
        </p:nvSpPr>
        <p:spPr>
          <a:xfrm>
            <a:off x="3771900" y="3556000"/>
            <a:ext cx="116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文化传承</a:t>
            </a:r>
          </a:p>
        </p:txBody>
      </p:sp>
      <p:sp>
        <p:nvSpPr>
          <p:cNvPr id="1329" name="p13b2_n"/>
          <p:cNvSpPr txBox="1"/>
          <p:nvPr/>
        </p:nvSpPr>
        <p:spPr>
          <a:xfrm>
            <a:off x="3771900" y="4394200"/>
            <a:ext cx="116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3B4B57"/>
                </a:solidFill>
                <a:latin typeface="微软雅黑"/>
                <a:ea typeface="微软雅黑"/>
              </a:rPr>
              <a:t>第 3 块</a:t>
            </a:r>
          </a:p>
        </p:txBody>
      </p:sp>
      <p:sp>
        <p:nvSpPr>
          <p:cNvPr id="1330" name="p13b3_bg"/>
          <p:cNvSpPr/>
          <p:nvPr/>
        </p:nvSpPr>
        <p:spPr>
          <a:xfrm>
            <a:off x="5181600" y="2946400"/>
            <a:ext cx="1397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31" name="p13b3_top"/>
          <p:cNvSpPr/>
          <p:nvPr/>
        </p:nvSpPr>
        <p:spPr>
          <a:xfrm>
            <a:off x="5181600" y="2946400"/>
            <a:ext cx="139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2" name="p13b3_k"/>
          <p:cNvSpPr txBox="1"/>
          <p:nvPr/>
        </p:nvSpPr>
        <p:spPr>
          <a:xfrm>
            <a:off x="5295900" y="3149600"/>
            <a:ext cx="1168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社会建设</a:t>
            </a:r>
          </a:p>
        </p:txBody>
      </p:sp>
      <p:sp>
        <p:nvSpPr>
          <p:cNvPr id="1333" name="p13b3_v"/>
          <p:cNvSpPr txBox="1"/>
          <p:nvPr/>
        </p:nvSpPr>
        <p:spPr>
          <a:xfrm>
            <a:off x="5295900" y="3556000"/>
            <a:ext cx="116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平安中国</a:t>
            </a:r>
          </a:p>
        </p:txBody>
      </p:sp>
      <p:sp>
        <p:nvSpPr>
          <p:cNvPr id="1334" name="p13b3_n"/>
          <p:cNvSpPr txBox="1"/>
          <p:nvPr/>
        </p:nvSpPr>
        <p:spPr>
          <a:xfrm>
            <a:off x="5295900" y="4394200"/>
            <a:ext cx="116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3B4B57"/>
                </a:solidFill>
                <a:latin typeface="微软雅黑"/>
                <a:ea typeface="微软雅黑"/>
              </a:rPr>
              <a:t>第 4 块</a:t>
            </a:r>
          </a:p>
        </p:txBody>
      </p:sp>
      <p:sp>
        <p:nvSpPr>
          <p:cNvPr id="1335" name="p13b4_bg"/>
          <p:cNvSpPr/>
          <p:nvPr/>
        </p:nvSpPr>
        <p:spPr>
          <a:xfrm>
            <a:off x="6705600" y="2946400"/>
            <a:ext cx="1397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36" name="p13b4_top"/>
          <p:cNvSpPr/>
          <p:nvPr/>
        </p:nvSpPr>
        <p:spPr>
          <a:xfrm>
            <a:off x="6705600" y="2946400"/>
            <a:ext cx="139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7" name="p13b4_k"/>
          <p:cNvSpPr txBox="1"/>
          <p:nvPr/>
        </p:nvSpPr>
        <p:spPr>
          <a:xfrm>
            <a:off x="6819900" y="3149600"/>
            <a:ext cx="1168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生态文明建设</a:t>
            </a:r>
          </a:p>
        </p:txBody>
      </p:sp>
      <p:sp>
        <p:nvSpPr>
          <p:cNvPr id="1338" name="p13b4_v"/>
          <p:cNvSpPr txBox="1"/>
          <p:nvPr/>
        </p:nvSpPr>
        <p:spPr>
          <a:xfrm>
            <a:off x="6819900" y="3556000"/>
            <a:ext cx="116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江河战略</a:t>
            </a:r>
          </a:p>
        </p:txBody>
      </p:sp>
      <p:sp>
        <p:nvSpPr>
          <p:cNvPr id="1339" name="p13b4_n"/>
          <p:cNvSpPr txBox="1"/>
          <p:nvPr/>
        </p:nvSpPr>
        <p:spPr>
          <a:xfrm>
            <a:off x="6819900" y="4394200"/>
            <a:ext cx="116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200">
                <a:solidFill>
                  <a:srgbClr val="3B4B57"/>
                </a:solidFill>
                <a:latin typeface="微软雅黑"/>
                <a:ea typeface="微软雅黑"/>
              </a:rPr>
              <a:t>第 5、6 块</a:t>
            </a:r>
          </a:p>
        </p:txBody>
      </p:sp>
      <p:sp>
        <p:nvSpPr>
          <p:cNvPr id="1340" name="p13ask_bg"/>
          <p:cNvSpPr/>
          <p:nvPr/>
        </p:nvSpPr>
        <p:spPr>
          <a:xfrm>
            <a:off x="609600" y="5003800"/>
            <a:ext cx="7518400" cy="609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52F"/>
            </a:solidFill>
          </a:ln>
        </p:spPr>
        <p:txBody>
          <a:bodyPr rtlCol="0" anchor="ctr"/>
          <a:lstStyle/>
          <a:p/>
        </p:txBody>
      </p:sp>
      <p:sp>
        <p:nvSpPr>
          <p:cNvPr id="1341" name="p13ask_t"/>
          <p:cNvSpPr txBox="1"/>
          <p:nvPr/>
        </p:nvSpPr>
        <p:spPr>
          <a:xfrm>
            <a:off x="812800" y="5156200"/>
            <a:ext cx="711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 b="1">
                <a:solidFill>
                  <a:srgbClr val="B4552F"/>
                </a:solidFill>
                <a:latin typeface="微软雅黑"/>
                <a:ea typeface="微软雅黑"/>
              </a:rPr>
              <a:t>？　还有一块没被看见——请你补上，这就是本环节的任务。</a:t>
            </a:r>
          </a:p>
        </p:txBody>
      </p:sp>
      <p:sp>
        <p:nvSpPr>
          <p:cNvPr id="1342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六块展板对应“五位一体”五个方面：经济两块，其余各一块。</a:t>
            </a:r>
          </a:p>
        </p:txBody>
      </p:sp>
    </p:spTree>
  </p:cSld>
  <p:transition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34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34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动手：补一块展板，说一句理由</a:t>
            </a:r>
          </a:p>
        </p:txBody>
      </p:sp>
      <p:cxnSp>
        <p:nvCxnSpPr>
          <p:cNvPr id="134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34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34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35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35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15 / 45</a:t>
            </a:r>
          </a:p>
        </p:txBody>
      </p:sp>
      <p:sp>
        <p:nvSpPr>
          <p:cNvPr id="1353" name="p14c0_bg"/>
          <p:cNvSpPr/>
          <p:nvPr/>
        </p:nvSpPr>
        <p:spPr>
          <a:xfrm>
            <a:off x="609600" y="187960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54" name="p14c0_bar"/>
          <p:cNvSpPr/>
          <p:nvPr/>
        </p:nvSpPr>
        <p:spPr>
          <a:xfrm>
            <a:off x="609600" y="2006600"/>
            <a:ext cx="38100" cy="85217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5" name="p14c0_t"/>
          <p:cNvSpPr txBox="1"/>
          <p:nvPr/>
        </p:nvSpPr>
        <p:spPr>
          <a:xfrm>
            <a:off x="850900" y="20828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第一步 · 归位</a:t>
            </a:r>
          </a:p>
        </p:txBody>
      </p:sp>
      <p:sp>
        <p:nvSpPr>
          <p:cNvPr id="1356" name="p14c0_b"/>
          <p:cNvSpPr txBox="1"/>
          <p:nvPr/>
        </p:nvSpPr>
        <p:spPr>
          <a:xfrm>
            <a:off x="850900" y="246761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六块展板分别属于哪个建设领域？用一句话说清依据。</a:t>
            </a:r>
          </a:p>
        </p:txBody>
      </p:sp>
      <p:sp>
        <p:nvSpPr>
          <p:cNvPr id="1357" name="p14c1_bg"/>
          <p:cNvSpPr/>
          <p:nvPr/>
        </p:nvSpPr>
        <p:spPr>
          <a:xfrm>
            <a:off x="609600" y="313817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58" name="p14c1_bar"/>
          <p:cNvSpPr/>
          <p:nvPr/>
        </p:nvSpPr>
        <p:spPr>
          <a:xfrm>
            <a:off x="609600" y="3265170"/>
            <a:ext cx="38100" cy="85217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9" name="p14c1_t"/>
          <p:cNvSpPr txBox="1"/>
          <p:nvPr/>
        </p:nvSpPr>
        <p:spPr>
          <a:xfrm>
            <a:off x="850900" y="334137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第二步 · 找薄</a:t>
            </a:r>
          </a:p>
        </p:txBody>
      </p:sp>
      <p:sp>
        <p:nvSpPr>
          <p:cNvPr id="1360" name="p14c1_b"/>
          <p:cNvSpPr txBox="1"/>
          <p:nvPr/>
        </p:nvSpPr>
        <p:spPr>
          <a:xfrm>
            <a:off x="850900" y="372618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六块都铺满了，哪一块的说服力最弱？缺的是什么证据？</a:t>
            </a:r>
          </a:p>
        </p:txBody>
      </p:sp>
      <p:sp>
        <p:nvSpPr>
          <p:cNvPr id="1361" name="p14c2_bg"/>
          <p:cNvSpPr/>
          <p:nvPr/>
        </p:nvSpPr>
        <p:spPr>
          <a:xfrm>
            <a:off x="609600" y="439674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62" name="p14c2_bar"/>
          <p:cNvSpPr/>
          <p:nvPr/>
        </p:nvSpPr>
        <p:spPr>
          <a:xfrm>
            <a:off x="609600" y="4523740"/>
            <a:ext cx="38100" cy="85217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3" name="p14c2_t"/>
          <p:cNvSpPr txBox="1"/>
          <p:nvPr/>
        </p:nvSpPr>
        <p:spPr>
          <a:xfrm>
            <a:off x="850900" y="459994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第三步 · 选品</a:t>
            </a:r>
          </a:p>
        </p:txBody>
      </p:sp>
      <p:sp>
        <p:nvSpPr>
          <p:cNvPr id="1364" name="p14c2_b"/>
          <p:cNvSpPr txBox="1"/>
          <p:nvPr/>
        </p:nvSpPr>
        <p:spPr>
          <a:xfrm>
            <a:off x="850900" y="498475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如果要为这块展板选一件展品，你选什么？它凭什么代表新时代？</a:t>
            </a:r>
          </a:p>
        </p:txBody>
      </p:sp>
      <p:sp>
        <p:nvSpPr>
          <p:cNvPr id="1365" name="p14q_bg"/>
          <p:cNvSpPr/>
          <p:nvPr/>
        </p:nvSpPr>
        <p:spPr>
          <a:xfrm>
            <a:off x="609600" y="5706110"/>
            <a:ext cx="7518400" cy="520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366" name="p14q_bar"/>
          <p:cNvSpPr/>
          <p:nvPr/>
        </p:nvSpPr>
        <p:spPr>
          <a:xfrm>
            <a:off x="609600" y="5706110"/>
            <a:ext cx="38100" cy="5207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7" name="p14q_t"/>
          <p:cNvSpPr txBox="1"/>
          <p:nvPr/>
        </p:nvSpPr>
        <p:spPr>
          <a:xfrm>
            <a:off x="800100" y="5833110"/>
            <a:ext cx="7175500" cy="2667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7242E"/>
                </a:solidFill>
                <a:latin typeface="微软雅黑"/>
                <a:ea typeface="微软雅黑"/>
              </a:rPr>
              <a:t>评价标准：证据是否可靠 · 归位是否准确 · 理由是否说到了“为什么”。</a:t>
            </a:r>
          </a:p>
        </p:txBody>
      </p:sp>
    </p:spTree>
  </p:cSld>
  <p:transition spd="slow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9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2E6E8F"/>
                </a:solidFill>
                <a:latin typeface="微软雅黑"/>
                <a:ea typeface="微软雅黑"/>
              </a:rPr>
              <a:t>环节一 · 观展选品</a:t>
            </a:r>
          </a:p>
        </p:txBody>
      </p:sp>
      <p:sp>
        <p:nvSpPr>
          <p:cNvPr id="1370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</a:t>
            </a:r>
          </a:p>
        </p:txBody>
      </p:sp>
      <p:sp>
        <p:nvSpPr>
          <p:cNvPr id="1371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重点整合：把“看见”收成“判据”</a:t>
            </a:r>
          </a:p>
        </p:txBody>
      </p:sp>
      <p:cxnSp>
        <p:nvCxnSpPr>
          <p:cNvPr id="1372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373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2E6E8F"/>
            </a:solidFill>
          </a:ln>
        </p:spPr>
      </p:cxnSp>
      <p:cxnSp>
        <p:nvCxnSpPr>
          <p:cNvPr id="137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37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37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16 / 45</a:t>
            </a:r>
          </a:p>
        </p:txBody>
      </p:sp>
      <p:sp>
        <p:nvSpPr>
          <p:cNvPr id="1378" name="p14b_n0"/>
          <p:cNvSpPr txBox="1"/>
          <p:nvPr/>
        </p:nvSpPr>
        <p:spPr>
          <a:xfrm>
            <a:off x="609600" y="1930400"/>
            <a:ext cx="381000" cy="457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2E6E8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379" name="p14b_t0"/>
          <p:cNvSpPr txBox="1"/>
          <p:nvPr/>
        </p:nvSpPr>
        <p:spPr>
          <a:xfrm>
            <a:off x="1041400" y="1955800"/>
            <a:ext cx="70866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六块展板凭什么代表新时代</a:t>
            </a:r>
          </a:p>
        </p:txBody>
      </p:sp>
      <p:sp>
        <p:nvSpPr>
          <p:cNvPr id="1380" name="p14b_b0"/>
          <p:cNvSpPr txBox="1"/>
          <p:nvPr/>
        </p:nvSpPr>
        <p:spPr>
          <a:xfrm>
            <a:off x="1041400" y="2387600"/>
            <a:ext cx="7086600" cy="533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它们分别落在“五位一体”的五个方面，且都带可核实的数字与来源。</a:t>
            </a:r>
          </a:p>
        </p:txBody>
      </p:sp>
      <p:sp>
        <p:nvSpPr>
          <p:cNvPr id="1381" name="p14b_n1"/>
          <p:cNvSpPr txBox="1"/>
          <p:nvPr/>
        </p:nvSpPr>
        <p:spPr>
          <a:xfrm>
            <a:off x="609600" y="2997200"/>
            <a:ext cx="381000" cy="457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2E6E8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382" name="p14b_t1"/>
          <p:cNvSpPr txBox="1"/>
          <p:nvPr/>
        </p:nvSpPr>
        <p:spPr>
          <a:xfrm>
            <a:off x="1041400" y="3022600"/>
            <a:ext cx="70866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选一件展品，凭什么？</a:t>
            </a:r>
          </a:p>
        </p:txBody>
      </p:sp>
      <p:sp>
        <p:nvSpPr>
          <p:cNvPr id="1383" name="p14b_b1"/>
          <p:cNvSpPr txBox="1"/>
          <p:nvPr/>
        </p:nvSpPr>
        <p:spPr>
          <a:xfrm>
            <a:off x="1041400" y="3454400"/>
            <a:ext cx="7086600" cy="533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三条判据：落到具体领域、有可核实数据、能说清“变了什么”。</a:t>
            </a:r>
          </a:p>
        </p:txBody>
      </p:sp>
      <p:sp>
        <p:nvSpPr>
          <p:cNvPr id="1384" name="p14b_n2"/>
          <p:cNvSpPr txBox="1"/>
          <p:nvPr/>
        </p:nvSpPr>
        <p:spPr>
          <a:xfrm>
            <a:off x="609600" y="4064000"/>
            <a:ext cx="381000" cy="457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200" b="1">
                <a:solidFill>
                  <a:srgbClr val="2E6E8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385" name="p14b_t2"/>
          <p:cNvSpPr txBox="1"/>
          <p:nvPr/>
        </p:nvSpPr>
        <p:spPr>
          <a:xfrm>
            <a:off x="1041400" y="4089400"/>
            <a:ext cx="70866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一块展板的说服力从哪来</a:t>
            </a:r>
          </a:p>
        </p:txBody>
      </p:sp>
      <p:sp>
        <p:nvSpPr>
          <p:cNvPr id="1386" name="p14b_b2"/>
          <p:cNvSpPr txBox="1"/>
          <p:nvPr/>
        </p:nvSpPr>
        <p:spPr>
          <a:xfrm>
            <a:off x="1041400" y="4521200"/>
            <a:ext cx="7086600" cy="533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事实（数据）＋ 机制（为什么变）＋ 价值（对谁好），缺一条就只是图片。</a:t>
            </a:r>
          </a:p>
        </p:txBody>
      </p:sp>
      <p:sp>
        <p:nvSpPr>
          <p:cNvPr id="1387" name="p14b_x"/>
          <p:cNvSpPr txBox="1"/>
          <p:nvPr/>
        </p:nvSpPr>
        <p:spPr>
          <a:xfrm>
            <a:off x="609600" y="5232400"/>
            <a:ext cx="7518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 b="1">
                <a:solidFill>
                  <a:srgbClr val="2E6E8F"/>
                </a:solidFill>
                <a:latin typeface="微软雅黑"/>
                <a:ea typeface="微软雅黑"/>
              </a:rPr>
              <a:t>这三条判据，带到环节二——解说词写不下去时，回头看它们。</a:t>
            </a:r>
          </a:p>
        </p:txBody>
      </p:sp>
    </p:spTree>
  </p:cSld>
  <p:transition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op_sq"/>
          <p:cNvSpPr/>
          <p:nvPr/>
        </p:nvSpPr>
        <p:spPr>
          <a:xfrm>
            <a:off x="609600" y="6096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9" name="op_tag"/>
          <p:cNvSpPr txBox="1"/>
          <p:nvPr/>
        </p:nvSpPr>
        <p:spPr>
          <a:xfrm>
            <a:off x="762000" y="5588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9C9D4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390" name="op_core"/>
          <p:cNvSpPr txBox="1"/>
          <p:nvPr/>
        </p:nvSpPr>
        <p:spPr>
          <a:xfrm>
            <a:off x="5130800" y="5588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B9C9D4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391" name="op_n"/>
          <p:cNvSpPr txBox="1"/>
          <p:nvPr/>
        </p:nvSpPr>
        <p:spPr>
          <a:xfrm>
            <a:off x="609600" y="1219200"/>
            <a:ext cx="3302000" cy="165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0400" b="1">
                <a:solidFill>
                  <a:srgbClr val="C97B5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92" name="op_t"/>
          <p:cNvSpPr txBox="1"/>
          <p:nvPr/>
        </p:nvSpPr>
        <p:spPr>
          <a:xfrm>
            <a:off x="609600" y="2997200"/>
            <a:ext cx="751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撰写解说：把现象追成原因</a:t>
            </a:r>
          </a:p>
        </p:txBody>
      </p:sp>
      <p:cxnSp>
        <p:nvCxnSpPr>
          <p:cNvPr id="1393" name="op_r"/>
          <p:cNvCxnSpPr/>
          <p:nvPr/>
        </p:nvCxnSpPr>
        <p:spPr>
          <a:xfrm>
            <a:off x="609600" y="3784600"/>
            <a:ext cx="1270000" cy="0"/>
          </a:xfrm>
          <a:prstGeom prst="straightConnector1">
            <a:avLst/>
          </a:prstGeom>
          <a:ln w="38100">
            <a:solidFill>
              <a:srgbClr val="B4552F"/>
            </a:solidFill>
          </a:ln>
        </p:spPr>
      </p:cxnSp>
      <p:sp>
        <p:nvSpPr>
          <p:cNvPr id="1394" name="op_l"/>
          <p:cNvSpPr txBox="1"/>
          <p:nvPr/>
        </p:nvSpPr>
        <p:spPr>
          <a:xfrm>
            <a:off x="609600" y="3987800"/>
            <a:ext cx="7518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>
                <a:solidFill>
                  <a:srgbClr val="B9C9D4"/>
                </a:solidFill>
                <a:latin typeface="微软雅黑"/>
                <a:ea typeface="微软雅黑"/>
              </a:rPr>
              <a:t>解说词不是复述成绩，是回答三个“为什么”。</a:t>
            </a:r>
          </a:p>
        </p:txBody>
      </p:sp>
      <p:sp>
        <p:nvSpPr>
          <p:cNvPr id="1395" name="op_b0_d"/>
          <p:cNvSpPr/>
          <p:nvPr/>
        </p:nvSpPr>
        <p:spPr>
          <a:xfrm>
            <a:off x="609600" y="4428744"/>
            <a:ext cx="76200" cy="76200"/>
          </a:xfrm>
          <a:prstGeom prst="rect">
            <a:avLst/>
          </a:prstGeom>
          <a:solidFill>
            <a:srgbClr val="D9A5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6" name="op_b0_l"/>
          <p:cNvSpPr txBox="1"/>
          <p:nvPr/>
        </p:nvSpPr>
        <p:spPr>
          <a:xfrm>
            <a:off x="787400" y="434340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变了吗</a:t>
            </a:r>
          </a:p>
        </p:txBody>
      </p:sp>
      <p:sp>
        <p:nvSpPr>
          <p:cNvPr id="1397" name="op_b0_t"/>
          <p:cNvSpPr txBox="1"/>
          <p:nvPr/>
        </p:nvSpPr>
        <p:spPr>
          <a:xfrm>
            <a:off x="1618488" y="434340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用两个数字说清变化。</a:t>
            </a:r>
          </a:p>
        </p:txBody>
      </p:sp>
      <p:sp>
        <p:nvSpPr>
          <p:cNvPr id="1398" name="op_b1_d"/>
          <p:cNvSpPr/>
          <p:nvPr/>
        </p:nvSpPr>
        <p:spPr>
          <a:xfrm>
            <a:off x="609600" y="4896104"/>
            <a:ext cx="76200" cy="76200"/>
          </a:xfrm>
          <a:prstGeom prst="rect">
            <a:avLst/>
          </a:prstGeom>
          <a:solidFill>
            <a:srgbClr val="D9A5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9" name="op_b1_l"/>
          <p:cNvSpPr txBox="1"/>
          <p:nvPr/>
        </p:nvSpPr>
        <p:spPr>
          <a:xfrm>
            <a:off x="787400" y="481076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为什么变</a:t>
            </a:r>
          </a:p>
        </p:txBody>
      </p:sp>
      <p:sp>
        <p:nvSpPr>
          <p:cNvPr id="1400" name="op_b1_t"/>
          <p:cNvSpPr txBox="1"/>
          <p:nvPr/>
        </p:nvSpPr>
        <p:spPr>
          <a:xfrm>
            <a:off x="1827784" y="4810760"/>
            <a:ext cx="630021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用四步法把原因一条条追出来。</a:t>
            </a:r>
          </a:p>
        </p:txBody>
      </p:sp>
      <p:sp>
        <p:nvSpPr>
          <p:cNvPr id="1401" name="op_b2_d"/>
          <p:cNvSpPr/>
          <p:nvPr/>
        </p:nvSpPr>
        <p:spPr>
          <a:xfrm>
            <a:off x="609600" y="5363464"/>
            <a:ext cx="76200" cy="76200"/>
          </a:xfrm>
          <a:prstGeom prst="rect">
            <a:avLst/>
          </a:prstGeom>
          <a:solidFill>
            <a:srgbClr val="D9A5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2" name="op_b2_l"/>
          <p:cNvSpPr txBox="1"/>
          <p:nvPr/>
        </p:nvSpPr>
        <p:spPr>
          <a:xfrm>
            <a:off x="787400" y="527812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凭什么说</a:t>
            </a:r>
          </a:p>
        </p:txBody>
      </p:sp>
      <p:sp>
        <p:nvSpPr>
          <p:cNvPr id="1403" name="op_b2_t"/>
          <p:cNvSpPr txBox="1"/>
          <p:nvPr/>
        </p:nvSpPr>
        <p:spPr>
          <a:xfrm>
            <a:off x="1827784" y="5278120"/>
            <a:ext cx="630021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每条原因都要有事实撑着。</a:t>
            </a:r>
          </a:p>
        </p:txBody>
      </p:sp>
      <p:cxnSp>
        <p:nvCxnSpPr>
          <p:cNvPr id="140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B9C9D4"/>
            </a:solidFill>
            <a:prstDash val="dash"/>
          </a:ln>
        </p:spPr>
      </p:cxnSp>
      <p:sp>
        <p:nvSpPr>
          <p:cNvPr id="140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40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17 / 45</a:t>
            </a:r>
          </a:p>
        </p:txBody>
      </p:sp>
    </p:spTree>
  </p:cSld>
  <p:transition>
    <p:fade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9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410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411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黄河之变：从 226 天，到 27 年</a:t>
            </a:r>
          </a:p>
        </p:txBody>
      </p:sp>
      <p:cxnSp>
        <p:nvCxnSpPr>
          <p:cNvPr id="1412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413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41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41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41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18 / 45</a:t>
            </a:r>
          </a:p>
        </p:txBody>
      </p:sp>
      <p:sp>
        <p:nvSpPr>
          <p:cNvPr id="1418" name="p16a_bg"/>
          <p:cNvSpPr/>
          <p:nvPr/>
        </p:nvSpPr>
        <p:spPr>
          <a:xfrm>
            <a:off x="609600" y="1879600"/>
            <a:ext cx="2540000" cy="13315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19" name="p16a_bar"/>
          <p:cNvSpPr/>
          <p:nvPr/>
        </p:nvSpPr>
        <p:spPr>
          <a:xfrm>
            <a:off x="609600" y="1879600"/>
            <a:ext cx="2540000" cy="381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0" name="p16a_n"/>
          <p:cNvSpPr txBox="1"/>
          <p:nvPr/>
        </p:nvSpPr>
        <p:spPr>
          <a:xfrm>
            <a:off x="736600" y="2133600"/>
            <a:ext cx="2286000" cy="584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3800" b="1">
                <a:solidFill>
                  <a:srgbClr val="B4552F"/>
                </a:solidFill>
                <a:latin typeface="微软雅黑"/>
                <a:ea typeface="微软雅黑"/>
              </a:rPr>
              <a:t>226 天</a:t>
            </a:r>
          </a:p>
        </p:txBody>
      </p:sp>
      <p:sp>
        <p:nvSpPr>
          <p:cNvPr id="1421" name="p16a_l"/>
          <p:cNvSpPr txBox="1"/>
          <p:nvPr/>
        </p:nvSpPr>
        <p:spPr>
          <a:xfrm>
            <a:off x="736600" y="2768600"/>
            <a:ext cx="22860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1997 年利津断面断流天数</a:t>
            </a:r>
          </a:p>
        </p:txBody>
      </p:sp>
      <p:sp>
        <p:nvSpPr>
          <p:cNvPr id="1422" name="p16b_bg"/>
          <p:cNvSpPr/>
          <p:nvPr/>
        </p:nvSpPr>
        <p:spPr>
          <a:xfrm>
            <a:off x="3302000" y="1879600"/>
            <a:ext cx="2540000" cy="13315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23" name="p16b_bar"/>
          <p:cNvSpPr/>
          <p:nvPr/>
        </p:nvSpPr>
        <p:spPr>
          <a:xfrm>
            <a:off x="3302000" y="1879600"/>
            <a:ext cx="2540000" cy="381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4" name="p16b_n"/>
          <p:cNvSpPr txBox="1"/>
          <p:nvPr/>
        </p:nvSpPr>
        <p:spPr>
          <a:xfrm>
            <a:off x="3429000" y="2133600"/>
            <a:ext cx="2286000" cy="584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3800" b="1">
                <a:solidFill>
                  <a:srgbClr val="1C6B60"/>
                </a:solidFill>
                <a:latin typeface="微软雅黑"/>
                <a:ea typeface="微软雅黑"/>
              </a:rPr>
              <a:t>27 年</a:t>
            </a:r>
          </a:p>
        </p:txBody>
      </p:sp>
      <p:sp>
        <p:nvSpPr>
          <p:cNvPr id="1425" name="p16b_l"/>
          <p:cNvSpPr txBox="1"/>
          <p:nvPr/>
        </p:nvSpPr>
        <p:spPr>
          <a:xfrm>
            <a:off x="3429000" y="2768600"/>
            <a:ext cx="22860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自 1999 年起连续不断流</a:t>
            </a:r>
          </a:p>
        </p:txBody>
      </p:sp>
      <p:sp>
        <p:nvSpPr>
          <p:cNvPr id="1426" name="p16c_bg"/>
          <p:cNvSpPr/>
          <p:nvPr/>
        </p:nvSpPr>
        <p:spPr>
          <a:xfrm>
            <a:off x="5994400" y="1879600"/>
            <a:ext cx="2133600" cy="1351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27" name="p16c_bar"/>
          <p:cNvSpPr/>
          <p:nvPr/>
        </p:nvSpPr>
        <p:spPr>
          <a:xfrm>
            <a:off x="5994400" y="2006600"/>
            <a:ext cx="38100" cy="109728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8" name="p16c_b"/>
          <p:cNvSpPr txBox="1"/>
          <p:nvPr/>
        </p:nvSpPr>
        <p:spPr>
          <a:xfrm>
            <a:off x="6235700" y="2082800"/>
            <a:ext cx="16891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1972—1999 年，28 年间黄河有 22 年断流。</a:t>
            </a:r>
          </a:p>
        </p:txBody>
      </p:sp>
      <p:pic>
        <p:nvPicPr>
          <p:cNvPr id="1429" name="p16t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76600"/>
            <a:ext cx="7518400" cy="965200"/>
          </a:xfrm>
          <a:prstGeom prst="rect">
            <a:avLst/>
          </a:prstGeom>
        </p:spPr>
      </p:pic>
      <p:sp>
        <p:nvSpPr>
          <p:cNvPr id="1430" name="p16q_bg"/>
          <p:cNvSpPr/>
          <p:nvPr/>
        </p:nvSpPr>
        <p:spPr>
          <a:xfrm>
            <a:off x="609600" y="4445000"/>
            <a:ext cx="7518400" cy="121920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31" name="p16q_bar"/>
          <p:cNvSpPr/>
          <p:nvPr/>
        </p:nvSpPr>
        <p:spPr>
          <a:xfrm>
            <a:off x="609600" y="4445000"/>
            <a:ext cx="50800" cy="1219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2" name="p16q_t"/>
          <p:cNvSpPr txBox="1"/>
          <p:nvPr/>
        </p:nvSpPr>
        <p:spPr>
          <a:xfrm>
            <a:off x="889000" y="4648200"/>
            <a:ext cx="69596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000" b="1">
                <a:solidFill>
                  <a:srgbClr val="17242E"/>
                </a:solidFill>
                <a:latin typeface="微软雅黑"/>
                <a:ea typeface="微软雅黑"/>
              </a:rPr>
              <a:t>从 226 天断流，到连续 27 年不断流——究竟是什么原因，让这条河变了？</a:t>
            </a:r>
          </a:p>
        </p:txBody>
      </p:sp>
    </p:spTree>
  </p:cSld>
  <p:transition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43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43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变化不是一件事，是五件事同时发生</a:t>
            </a:r>
          </a:p>
        </p:txBody>
      </p:sp>
      <p:cxnSp>
        <p:nvCxnSpPr>
          <p:cNvPr id="143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43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43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44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4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44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19 / 45</a:t>
            </a:r>
          </a:p>
        </p:txBody>
      </p:sp>
      <p:sp>
        <p:nvSpPr>
          <p:cNvPr id="1443" name="p17map_bg"/>
          <p:cNvSpPr/>
          <p:nvPr/>
        </p:nvSpPr>
        <p:spPr>
          <a:xfrm>
            <a:off x="609600" y="1879600"/>
            <a:ext cx="3454400" cy="31349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444" name="p17map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3251200" cy="2616200"/>
          </a:xfrm>
          <a:prstGeom prst="rect">
            <a:avLst/>
          </a:prstGeom>
        </p:spPr>
      </p:pic>
      <p:sp>
        <p:nvSpPr>
          <p:cNvPr id="1445" name="p17map_cp"/>
          <p:cNvSpPr txBox="1"/>
          <p:nvPr/>
        </p:nvSpPr>
        <p:spPr>
          <a:xfrm>
            <a:off x="723900" y="4673600"/>
            <a:ext cx="32258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黄河干流走向 · 示意图</a:t>
            </a:r>
          </a:p>
        </p:txBody>
      </p:sp>
      <p:sp>
        <p:nvSpPr>
          <p:cNvPr id="1446" name="p17n0"/>
          <p:cNvSpPr txBox="1"/>
          <p:nvPr/>
        </p:nvSpPr>
        <p:spPr>
          <a:xfrm>
            <a:off x="4343400" y="1930400"/>
            <a:ext cx="279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2E6E8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47" name="p17t0"/>
          <p:cNvSpPr txBox="1"/>
          <p:nvPr/>
        </p:nvSpPr>
        <p:spPr>
          <a:xfrm>
            <a:off x="4648200" y="1930400"/>
            <a:ext cx="3479800" cy="330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水量统一调度</a:t>
            </a:r>
          </a:p>
        </p:txBody>
      </p:sp>
      <p:sp>
        <p:nvSpPr>
          <p:cNvPr id="1448" name="p17d0"/>
          <p:cNvSpPr txBox="1"/>
          <p:nvPr/>
        </p:nvSpPr>
        <p:spPr>
          <a:xfrm>
            <a:off x="4648200" y="2260600"/>
            <a:ext cx="34798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全河统筹分配，守住生态流量</a:t>
            </a:r>
          </a:p>
        </p:txBody>
      </p:sp>
      <p:cxnSp>
        <p:nvCxnSpPr>
          <p:cNvPr id="1449" name="p17ln1"/>
          <p:cNvCxnSpPr/>
          <p:nvPr/>
        </p:nvCxnSpPr>
        <p:spPr>
          <a:xfrm>
            <a:off x="4343400" y="2540000"/>
            <a:ext cx="37846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sp>
        <p:nvSpPr>
          <p:cNvPr id="1450" name="p17n1"/>
          <p:cNvSpPr txBox="1"/>
          <p:nvPr/>
        </p:nvSpPr>
        <p:spPr>
          <a:xfrm>
            <a:off x="4343400" y="2641600"/>
            <a:ext cx="279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2E6E8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51" name="p17t1"/>
          <p:cNvSpPr txBox="1"/>
          <p:nvPr/>
        </p:nvSpPr>
        <p:spPr>
          <a:xfrm>
            <a:off x="4648200" y="2641600"/>
            <a:ext cx="3479800" cy="330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九省（区）协同治污</a:t>
            </a:r>
          </a:p>
        </p:txBody>
      </p:sp>
      <p:sp>
        <p:nvSpPr>
          <p:cNvPr id="1452" name="p17d1"/>
          <p:cNvSpPr txBox="1"/>
          <p:nvPr/>
        </p:nvSpPr>
        <p:spPr>
          <a:xfrm>
            <a:off x="4648200" y="2971800"/>
            <a:ext cx="34798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上下游联防，流域水质稳步提升</a:t>
            </a:r>
          </a:p>
        </p:txBody>
      </p:sp>
      <p:cxnSp>
        <p:nvCxnSpPr>
          <p:cNvPr id="1453" name="p17ln2"/>
          <p:cNvCxnSpPr/>
          <p:nvPr/>
        </p:nvCxnSpPr>
        <p:spPr>
          <a:xfrm>
            <a:off x="4343400" y="3251200"/>
            <a:ext cx="37846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sp>
        <p:nvSpPr>
          <p:cNvPr id="1454" name="p17n2"/>
          <p:cNvSpPr txBox="1"/>
          <p:nvPr/>
        </p:nvSpPr>
        <p:spPr>
          <a:xfrm>
            <a:off x="4343400" y="3352800"/>
            <a:ext cx="279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2E6E8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455" name="p17t2"/>
          <p:cNvSpPr txBox="1"/>
          <p:nvPr/>
        </p:nvSpPr>
        <p:spPr>
          <a:xfrm>
            <a:off x="4648200" y="3352800"/>
            <a:ext cx="3479800" cy="330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生态补水</a:t>
            </a:r>
          </a:p>
        </p:txBody>
      </p:sp>
      <p:sp>
        <p:nvSpPr>
          <p:cNvPr id="1456" name="p17d2"/>
          <p:cNvSpPr txBox="1"/>
          <p:nvPr/>
        </p:nvSpPr>
        <p:spPr>
          <a:xfrm>
            <a:off x="4648200" y="3683000"/>
            <a:ext cx="34798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向河口、湿地补水，修复河流健康</a:t>
            </a:r>
          </a:p>
        </p:txBody>
      </p:sp>
      <p:cxnSp>
        <p:nvCxnSpPr>
          <p:cNvPr id="1457" name="p17ln3"/>
          <p:cNvCxnSpPr/>
          <p:nvPr/>
        </p:nvCxnSpPr>
        <p:spPr>
          <a:xfrm>
            <a:off x="4343400" y="3962400"/>
            <a:ext cx="37846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sp>
        <p:nvSpPr>
          <p:cNvPr id="1458" name="p17n3"/>
          <p:cNvSpPr txBox="1"/>
          <p:nvPr/>
        </p:nvSpPr>
        <p:spPr>
          <a:xfrm>
            <a:off x="4343400" y="4064000"/>
            <a:ext cx="279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2E6E8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459" name="p17t3"/>
          <p:cNvSpPr txBox="1"/>
          <p:nvPr/>
        </p:nvSpPr>
        <p:spPr>
          <a:xfrm>
            <a:off x="4648200" y="4064000"/>
            <a:ext cx="3479800" cy="330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水土流失治理</a:t>
            </a:r>
          </a:p>
        </p:txBody>
      </p:sp>
      <p:sp>
        <p:nvSpPr>
          <p:cNvPr id="1460" name="p17d3"/>
          <p:cNvSpPr txBox="1"/>
          <p:nvPr/>
        </p:nvSpPr>
        <p:spPr>
          <a:xfrm>
            <a:off x="4648200" y="4394200"/>
            <a:ext cx="34798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黄土高原植被修复，面积与强度双降</a:t>
            </a:r>
          </a:p>
        </p:txBody>
      </p:sp>
      <p:cxnSp>
        <p:nvCxnSpPr>
          <p:cNvPr id="1461" name="p17ln4"/>
          <p:cNvCxnSpPr/>
          <p:nvPr/>
        </p:nvCxnSpPr>
        <p:spPr>
          <a:xfrm>
            <a:off x="4343400" y="4673600"/>
            <a:ext cx="37846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sp>
        <p:nvSpPr>
          <p:cNvPr id="1462" name="p17n4"/>
          <p:cNvSpPr txBox="1"/>
          <p:nvPr/>
        </p:nvSpPr>
        <p:spPr>
          <a:xfrm>
            <a:off x="4343400" y="4775200"/>
            <a:ext cx="279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2E6E8F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463" name="p17t4"/>
          <p:cNvSpPr txBox="1"/>
          <p:nvPr/>
        </p:nvSpPr>
        <p:spPr>
          <a:xfrm>
            <a:off x="4648200" y="4775200"/>
            <a:ext cx="3479800" cy="330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《黄河保护法》护航</a:t>
            </a:r>
          </a:p>
        </p:txBody>
      </p:sp>
      <p:sp>
        <p:nvSpPr>
          <p:cNvPr id="1464" name="p17d4"/>
          <p:cNvSpPr txBox="1"/>
          <p:nvPr/>
        </p:nvSpPr>
        <p:spPr>
          <a:xfrm>
            <a:off x="4648200" y="5105400"/>
            <a:ext cx="34798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把制度固化为法律，法治保障长治久安</a:t>
            </a:r>
          </a:p>
        </p:txBody>
      </p:sp>
      <p:sp>
        <p:nvSpPr>
          <p:cNvPr id="1465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资料来源：水利部黄河水利委员会公开报道、《中华人民共和国黄河保护法》</a:t>
            </a:r>
          </a:p>
        </p:txBody>
      </p:sp>
    </p:spTree>
  </p:cSld>
  <p:transition>
    <p:fade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7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468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469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思维工具：四步解码法</a:t>
            </a:r>
          </a:p>
        </p:txBody>
      </p:sp>
      <p:cxnSp>
        <p:nvCxnSpPr>
          <p:cNvPr id="1470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471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472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473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4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475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20 / 45</a:t>
            </a:r>
          </a:p>
        </p:txBody>
      </p:sp>
      <p:sp>
        <p:nvSpPr>
          <p:cNvPr id="1476" name="p18l_bg"/>
          <p:cNvSpPr/>
          <p:nvPr/>
        </p:nvSpPr>
        <p:spPr>
          <a:xfrm>
            <a:off x="609600" y="18796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77" name="p18l_bar"/>
          <p:cNvSpPr/>
          <p:nvPr/>
        </p:nvSpPr>
        <p:spPr>
          <a:xfrm>
            <a:off x="609600" y="18796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8" name="p18l_t"/>
          <p:cNvSpPr txBox="1"/>
          <p:nvPr/>
        </p:nvSpPr>
        <p:spPr>
          <a:xfrm>
            <a:off x="800100" y="20066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不背结论，先学会怎么问。</a:t>
            </a:r>
          </a:p>
        </p:txBody>
      </p:sp>
      <p:sp>
        <p:nvSpPr>
          <p:cNvPr id="1479" name="p18a_bg"/>
          <p:cNvSpPr/>
          <p:nvPr/>
        </p:nvSpPr>
        <p:spPr>
          <a:xfrm>
            <a:off x="609600" y="2692400"/>
            <a:ext cx="16891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80" name="p18a_bar"/>
          <p:cNvSpPr/>
          <p:nvPr/>
        </p:nvSpPr>
        <p:spPr>
          <a:xfrm>
            <a:off x="609600" y="2819400"/>
            <a:ext cx="38100" cy="11684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1" name="p18a_t"/>
          <p:cNvSpPr txBox="1"/>
          <p:nvPr/>
        </p:nvSpPr>
        <p:spPr>
          <a:xfrm>
            <a:off x="850900" y="2895600"/>
            <a:ext cx="1244600" cy="2743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① 问机制</a:t>
            </a:r>
          </a:p>
        </p:txBody>
      </p:sp>
      <p:sp>
        <p:nvSpPr>
          <p:cNvPr id="1482" name="p18a_b"/>
          <p:cNvSpPr txBox="1"/>
          <p:nvPr/>
        </p:nvSpPr>
        <p:spPr>
          <a:xfrm>
            <a:off x="850900" y="3246120"/>
            <a:ext cx="1244600" cy="5511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它靠什么运转？</a:t>
            </a:r>
          </a:p>
        </p:txBody>
      </p:sp>
      <p:cxnSp>
        <p:nvCxnSpPr>
          <p:cNvPr id="1483" name="p18ar0"/>
          <p:cNvCxnSpPr/>
          <p:nvPr/>
        </p:nvCxnSpPr>
        <p:spPr>
          <a:xfrm>
            <a:off x="2311400" y="3403600"/>
            <a:ext cx="228600" cy="0"/>
          </a:xfrm>
          <a:prstGeom prst="straightConnector1">
            <a:avLst/>
          </a:prstGeom>
          <a:ln w="19050">
            <a:solidFill>
              <a:srgbClr val="D3D7D6"/>
            </a:solidFill>
            <a:tailEnd type="triangle" w="med" len="med"/>
          </a:ln>
        </p:spPr>
      </p:cxnSp>
      <p:sp>
        <p:nvSpPr>
          <p:cNvPr id="1484" name="p18b_bg"/>
          <p:cNvSpPr/>
          <p:nvPr/>
        </p:nvSpPr>
        <p:spPr>
          <a:xfrm>
            <a:off x="2552700" y="2692400"/>
            <a:ext cx="16891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85" name="p18b_bar"/>
          <p:cNvSpPr/>
          <p:nvPr/>
        </p:nvSpPr>
        <p:spPr>
          <a:xfrm>
            <a:off x="2552700" y="2819400"/>
            <a:ext cx="38100" cy="11684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6" name="p18b_t"/>
          <p:cNvSpPr txBox="1"/>
          <p:nvPr/>
        </p:nvSpPr>
        <p:spPr>
          <a:xfrm>
            <a:off x="2794000" y="2895600"/>
            <a:ext cx="1244600" cy="2743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② 反证</a:t>
            </a:r>
          </a:p>
        </p:txBody>
      </p:sp>
      <p:sp>
        <p:nvSpPr>
          <p:cNvPr id="1487" name="p18b_b"/>
          <p:cNvSpPr txBox="1"/>
          <p:nvPr/>
        </p:nvSpPr>
        <p:spPr>
          <a:xfrm>
            <a:off x="2794000" y="3246120"/>
            <a:ext cx="1244600" cy="5511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没它，会怎样？</a:t>
            </a:r>
          </a:p>
        </p:txBody>
      </p:sp>
      <p:cxnSp>
        <p:nvCxnSpPr>
          <p:cNvPr id="1488" name="p18ar1"/>
          <p:cNvCxnSpPr/>
          <p:nvPr/>
        </p:nvCxnSpPr>
        <p:spPr>
          <a:xfrm>
            <a:off x="4254500" y="3403600"/>
            <a:ext cx="228600" cy="0"/>
          </a:xfrm>
          <a:prstGeom prst="straightConnector1">
            <a:avLst/>
          </a:prstGeom>
          <a:ln w="19050">
            <a:solidFill>
              <a:srgbClr val="D3D7D6"/>
            </a:solidFill>
            <a:tailEnd type="triangle" w="med" len="med"/>
          </a:ln>
        </p:spPr>
      </p:cxnSp>
      <p:sp>
        <p:nvSpPr>
          <p:cNvPr id="1489" name="p18c_bg"/>
          <p:cNvSpPr/>
          <p:nvPr/>
        </p:nvSpPr>
        <p:spPr>
          <a:xfrm>
            <a:off x="4495800" y="2692400"/>
            <a:ext cx="16891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90" name="p18c_bar"/>
          <p:cNvSpPr/>
          <p:nvPr/>
        </p:nvSpPr>
        <p:spPr>
          <a:xfrm>
            <a:off x="4495800" y="2819400"/>
            <a:ext cx="38100" cy="11684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91" name="p18c_t"/>
          <p:cNvSpPr txBox="1"/>
          <p:nvPr/>
        </p:nvSpPr>
        <p:spPr>
          <a:xfrm>
            <a:off x="4737100" y="2895600"/>
            <a:ext cx="1244600" cy="2743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③ 比较</a:t>
            </a:r>
          </a:p>
        </p:txBody>
      </p:sp>
      <p:sp>
        <p:nvSpPr>
          <p:cNvPr id="1492" name="p18c_b"/>
          <p:cNvSpPr txBox="1"/>
          <p:nvPr/>
        </p:nvSpPr>
        <p:spPr>
          <a:xfrm>
            <a:off x="4737100" y="3246120"/>
            <a:ext cx="1244600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谁做到了？</a:t>
            </a:r>
          </a:p>
        </p:txBody>
      </p:sp>
      <p:cxnSp>
        <p:nvCxnSpPr>
          <p:cNvPr id="1493" name="p18ar2"/>
          <p:cNvCxnSpPr/>
          <p:nvPr/>
        </p:nvCxnSpPr>
        <p:spPr>
          <a:xfrm>
            <a:off x="6197600" y="3403600"/>
            <a:ext cx="228600" cy="0"/>
          </a:xfrm>
          <a:prstGeom prst="straightConnector1">
            <a:avLst/>
          </a:prstGeom>
          <a:ln w="19050">
            <a:solidFill>
              <a:srgbClr val="D3D7D6"/>
            </a:solidFill>
            <a:tailEnd type="triangle" w="med" len="med"/>
          </a:ln>
        </p:spPr>
      </p:cxnSp>
      <p:sp>
        <p:nvSpPr>
          <p:cNvPr id="1494" name="p18d_bg"/>
          <p:cNvSpPr/>
          <p:nvPr/>
        </p:nvSpPr>
        <p:spPr>
          <a:xfrm>
            <a:off x="6438900" y="2692400"/>
            <a:ext cx="1689100" cy="142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95" name="p18d_bar"/>
          <p:cNvSpPr/>
          <p:nvPr/>
        </p:nvSpPr>
        <p:spPr>
          <a:xfrm>
            <a:off x="6438900" y="2819400"/>
            <a:ext cx="38100" cy="11684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96" name="p18d_t"/>
          <p:cNvSpPr txBox="1"/>
          <p:nvPr/>
        </p:nvSpPr>
        <p:spPr>
          <a:xfrm>
            <a:off x="6680200" y="2895600"/>
            <a:ext cx="1244600" cy="2743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④ 归纳</a:t>
            </a:r>
          </a:p>
        </p:txBody>
      </p:sp>
      <p:sp>
        <p:nvSpPr>
          <p:cNvPr id="1497" name="p18d_b"/>
          <p:cNvSpPr txBox="1"/>
          <p:nvPr/>
        </p:nvSpPr>
        <p:spPr>
          <a:xfrm>
            <a:off x="6680200" y="3246120"/>
            <a:ext cx="1244600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共性是什么？</a:t>
            </a:r>
          </a:p>
        </p:txBody>
      </p:sp>
      <p:sp>
        <p:nvSpPr>
          <p:cNvPr id="1498" name="p18e_bg"/>
          <p:cNvSpPr/>
          <p:nvPr/>
        </p:nvSpPr>
        <p:spPr>
          <a:xfrm>
            <a:off x="609600" y="4394200"/>
            <a:ext cx="7518400" cy="81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499" name="p18e_bar"/>
          <p:cNvSpPr/>
          <p:nvPr/>
        </p:nvSpPr>
        <p:spPr>
          <a:xfrm>
            <a:off x="609600" y="45212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0" name="p18e_b"/>
          <p:cNvSpPr txBox="1"/>
          <p:nvPr/>
        </p:nvSpPr>
        <p:spPr>
          <a:xfrm>
            <a:off x="850900" y="459740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四步走完，得到的是“可命名的原因”，而不是“感觉很重要”。</a:t>
            </a:r>
          </a:p>
        </p:txBody>
      </p:sp>
    </p:spTree>
  </p:cSld>
  <p:transition>
    <p:fade/>
  </p:transition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2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503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504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四步法，用在这条河上</a:t>
            </a:r>
          </a:p>
        </p:txBody>
      </p:sp>
      <p:cxnSp>
        <p:nvCxnSpPr>
          <p:cNvPr id="1505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506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507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508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9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510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21 / 45</a:t>
            </a:r>
          </a:p>
        </p:txBody>
      </p:sp>
      <p:sp>
        <p:nvSpPr>
          <p:cNvPr id="1511" name="p19c0_bg"/>
          <p:cNvSpPr/>
          <p:nvPr/>
        </p:nvSpPr>
        <p:spPr>
          <a:xfrm>
            <a:off x="609600" y="1879600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12" name="p19c0_bar"/>
          <p:cNvSpPr/>
          <p:nvPr/>
        </p:nvSpPr>
        <p:spPr>
          <a:xfrm>
            <a:off x="609600" y="2006600"/>
            <a:ext cx="38100" cy="680085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3" name="p19c0_t"/>
          <p:cNvSpPr txBox="1"/>
          <p:nvPr/>
        </p:nvSpPr>
        <p:spPr>
          <a:xfrm>
            <a:off x="774700" y="2006600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① 问机制</a:t>
            </a:r>
          </a:p>
        </p:txBody>
      </p:sp>
      <p:sp>
        <p:nvSpPr>
          <p:cNvPr id="1514" name="p19c0_b"/>
          <p:cNvSpPr txBox="1"/>
          <p:nvPr/>
        </p:nvSpPr>
        <p:spPr>
          <a:xfrm>
            <a:off x="774700" y="2391410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过去按需取水、无统一调度，下游只能断流。</a:t>
            </a:r>
          </a:p>
        </p:txBody>
      </p:sp>
      <p:sp>
        <p:nvSpPr>
          <p:cNvPr id="1515" name="p19c1_bg"/>
          <p:cNvSpPr/>
          <p:nvPr/>
        </p:nvSpPr>
        <p:spPr>
          <a:xfrm>
            <a:off x="609600" y="2889885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16" name="p19c1_bar"/>
          <p:cNvSpPr/>
          <p:nvPr/>
        </p:nvSpPr>
        <p:spPr>
          <a:xfrm>
            <a:off x="609600" y="3016885"/>
            <a:ext cx="38100" cy="680085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7" name="p19c1_t"/>
          <p:cNvSpPr txBox="1"/>
          <p:nvPr/>
        </p:nvSpPr>
        <p:spPr>
          <a:xfrm>
            <a:off x="774700" y="3016885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② 反证</a:t>
            </a:r>
          </a:p>
        </p:txBody>
      </p:sp>
      <p:sp>
        <p:nvSpPr>
          <p:cNvPr id="1518" name="p19c1_b"/>
          <p:cNvSpPr txBox="1"/>
          <p:nvPr/>
        </p:nvSpPr>
        <p:spPr>
          <a:xfrm>
            <a:off x="774700" y="3401695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继续不调度，利津断面仍会年年断流。</a:t>
            </a:r>
          </a:p>
        </p:txBody>
      </p:sp>
      <p:sp>
        <p:nvSpPr>
          <p:cNvPr id="1519" name="p19c2_bg"/>
          <p:cNvSpPr/>
          <p:nvPr/>
        </p:nvSpPr>
        <p:spPr>
          <a:xfrm>
            <a:off x="609600" y="3900170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20" name="p19c2_bar"/>
          <p:cNvSpPr/>
          <p:nvPr/>
        </p:nvSpPr>
        <p:spPr>
          <a:xfrm>
            <a:off x="609600" y="4027170"/>
            <a:ext cx="38100" cy="680085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1" name="p19c2_t"/>
          <p:cNvSpPr txBox="1"/>
          <p:nvPr/>
        </p:nvSpPr>
        <p:spPr>
          <a:xfrm>
            <a:off x="774700" y="4027170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③ 比较</a:t>
            </a:r>
          </a:p>
        </p:txBody>
      </p:sp>
      <p:sp>
        <p:nvSpPr>
          <p:cNvPr id="1522" name="p19c2_b"/>
          <p:cNvSpPr txBox="1"/>
          <p:nvPr/>
        </p:nvSpPr>
        <p:spPr>
          <a:xfrm>
            <a:off x="774700" y="4411980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统一调度后连续 27 年不断流——分配是关键。</a:t>
            </a:r>
          </a:p>
        </p:txBody>
      </p:sp>
      <p:sp>
        <p:nvSpPr>
          <p:cNvPr id="1523" name="p19c3_bg"/>
          <p:cNvSpPr/>
          <p:nvPr/>
        </p:nvSpPr>
        <p:spPr>
          <a:xfrm>
            <a:off x="609600" y="4910455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24" name="p19c3_bar"/>
          <p:cNvSpPr/>
          <p:nvPr/>
        </p:nvSpPr>
        <p:spPr>
          <a:xfrm>
            <a:off x="609600" y="5037455"/>
            <a:ext cx="38100" cy="680085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5" name="p19c3_t"/>
          <p:cNvSpPr txBox="1"/>
          <p:nvPr/>
        </p:nvSpPr>
        <p:spPr>
          <a:xfrm>
            <a:off x="774700" y="5037455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④ 归纳</a:t>
            </a:r>
          </a:p>
        </p:txBody>
      </p:sp>
      <p:sp>
        <p:nvSpPr>
          <p:cNvPr id="1526" name="p19c3_b"/>
          <p:cNvSpPr txBox="1"/>
          <p:nvPr/>
        </p:nvSpPr>
        <p:spPr>
          <a:xfrm>
            <a:off x="774700" y="5422265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把水当公共资源统一配置，而非各自取用。</a:t>
            </a:r>
          </a:p>
        </p:txBody>
      </p:sp>
      <p:sp>
        <p:nvSpPr>
          <p:cNvPr id="1527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结论要能被事实检验：每一条原因，都要能指回一个具体做法。</a:t>
            </a:r>
          </a:p>
        </p:txBody>
      </p:sp>
    </p:spTree>
  </p:cSld>
  <p:transition>
    <p:fade/>
  </p:transition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9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530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531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四条原因：成就背后是可以命名的</a:t>
            </a:r>
          </a:p>
        </p:txBody>
      </p:sp>
      <p:cxnSp>
        <p:nvCxnSpPr>
          <p:cNvPr id="1532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533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534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535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36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537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22 / 45</a:t>
            </a:r>
          </a:p>
        </p:txBody>
      </p:sp>
      <p:sp>
        <p:nvSpPr>
          <p:cNvPr id="1538" name="p20a_bg"/>
          <p:cNvSpPr/>
          <p:nvPr/>
        </p:nvSpPr>
        <p:spPr>
          <a:xfrm>
            <a:off x="609600" y="1879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39" name="p20a_bar"/>
          <p:cNvSpPr/>
          <p:nvPr/>
        </p:nvSpPr>
        <p:spPr>
          <a:xfrm>
            <a:off x="609600" y="2006600"/>
            <a:ext cx="38100" cy="1473200"/>
          </a:xfrm>
          <a:prstGeom prst="rect">
            <a:avLst/>
          </a:prstGeom>
          <a:solidFill>
            <a:srgbClr val="2E6E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0" name="p20a_t"/>
          <p:cNvSpPr txBox="1"/>
          <p:nvPr/>
        </p:nvSpPr>
        <p:spPr>
          <a:xfrm>
            <a:off x="8509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科学指引</a:t>
            </a:r>
          </a:p>
        </p:txBody>
      </p:sp>
      <p:sp>
        <p:nvSpPr>
          <p:cNvPr id="1541" name="p20a_b"/>
          <p:cNvSpPr txBox="1"/>
          <p:nvPr/>
        </p:nvSpPr>
        <p:spPr>
          <a:xfrm>
            <a:off x="850900" y="2467610"/>
            <a:ext cx="32385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以科学理论判断形势、确定方向。</a:t>
            </a:r>
          </a:p>
        </p:txBody>
      </p:sp>
      <p:sp>
        <p:nvSpPr>
          <p:cNvPr id="1542" name="p20b_bg"/>
          <p:cNvSpPr/>
          <p:nvPr/>
        </p:nvSpPr>
        <p:spPr>
          <a:xfrm>
            <a:off x="4445000" y="1879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43" name="p20b_bar"/>
          <p:cNvSpPr/>
          <p:nvPr/>
        </p:nvSpPr>
        <p:spPr>
          <a:xfrm>
            <a:off x="4445000" y="2006600"/>
            <a:ext cx="38100" cy="147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4" name="p20b_t"/>
          <p:cNvSpPr txBox="1"/>
          <p:nvPr/>
        </p:nvSpPr>
        <p:spPr>
          <a:xfrm>
            <a:off x="46863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党的领导</a:t>
            </a:r>
          </a:p>
        </p:txBody>
      </p:sp>
      <p:sp>
        <p:nvSpPr>
          <p:cNvPr id="1545" name="p20b_b"/>
          <p:cNvSpPr txBox="1"/>
          <p:nvPr/>
        </p:nvSpPr>
        <p:spPr>
          <a:xfrm>
            <a:off x="4686300" y="2467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总揽全局、协调各方，一张蓝图干到底。</a:t>
            </a:r>
          </a:p>
        </p:txBody>
      </p:sp>
      <p:sp>
        <p:nvSpPr>
          <p:cNvPr id="1546" name="p20c_bg"/>
          <p:cNvSpPr/>
          <p:nvPr/>
        </p:nvSpPr>
        <p:spPr>
          <a:xfrm>
            <a:off x="609600" y="3784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47" name="p20c_bar"/>
          <p:cNvSpPr/>
          <p:nvPr/>
        </p:nvSpPr>
        <p:spPr>
          <a:xfrm>
            <a:off x="609600" y="3911600"/>
            <a:ext cx="38100" cy="14732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8" name="p20c_t"/>
          <p:cNvSpPr txBox="1"/>
          <p:nvPr/>
        </p:nvSpPr>
        <p:spPr>
          <a:xfrm>
            <a:off x="850900" y="3987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制度优势</a:t>
            </a:r>
          </a:p>
        </p:txBody>
      </p:sp>
      <p:sp>
        <p:nvSpPr>
          <p:cNvPr id="1549" name="p20c_b"/>
          <p:cNvSpPr txBox="1"/>
          <p:nvPr/>
        </p:nvSpPr>
        <p:spPr>
          <a:xfrm>
            <a:off x="850900" y="4372610"/>
            <a:ext cx="32385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集中力量办大事，跨区域跨部门协同。</a:t>
            </a:r>
          </a:p>
        </p:txBody>
      </p:sp>
      <p:sp>
        <p:nvSpPr>
          <p:cNvPr id="1550" name="p20d_bg"/>
          <p:cNvSpPr/>
          <p:nvPr/>
        </p:nvSpPr>
        <p:spPr>
          <a:xfrm>
            <a:off x="4445000" y="3784600"/>
            <a:ext cx="3683000" cy="172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51" name="p20d_bar"/>
          <p:cNvSpPr/>
          <p:nvPr/>
        </p:nvSpPr>
        <p:spPr>
          <a:xfrm>
            <a:off x="4445000" y="3911600"/>
            <a:ext cx="38100" cy="147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2" name="p20d_t"/>
          <p:cNvSpPr txBox="1"/>
          <p:nvPr/>
        </p:nvSpPr>
        <p:spPr>
          <a:xfrm>
            <a:off x="4686300" y="3987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以人民为中心</a:t>
            </a:r>
          </a:p>
        </p:txBody>
      </p:sp>
      <p:sp>
        <p:nvSpPr>
          <p:cNvPr id="1553" name="p20d_b"/>
          <p:cNvSpPr txBox="1"/>
          <p:nvPr/>
        </p:nvSpPr>
        <p:spPr>
          <a:xfrm>
            <a:off x="4686300" y="4372610"/>
            <a:ext cx="32385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为了人、依靠人，成果由人共享。</a:t>
            </a:r>
          </a:p>
        </p:txBody>
      </p:sp>
    </p:spTree>
  </p:cSld>
  <p:transition>
    <p:fade/>
  </p:transition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5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556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557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解说词脚手架：三段话，说清一件事</a:t>
            </a:r>
          </a:p>
        </p:txBody>
      </p:sp>
      <p:cxnSp>
        <p:nvCxnSpPr>
          <p:cNvPr id="1558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559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560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561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62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563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23 / 45</a:t>
            </a:r>
          </a:p>
        </p:txBody>
      </p:sp>
      <p:sp>
        <p:nvSpPr>
          <p:cNvPr id="1564" name="p21c0_bg"/>
          <p:cNvSpPr/>
          <p:nvPr/>
        </p:nvSpPr>
        <p:spPr>
          <a:xfrm>
            <a:off x="609600" y="187960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65" name="p21c0_bar"/>
          <p:cNvSpPr/>
          <p:nvPr/>
        </p:nvSpPr>
        <p:spPr>
          <a:xfrm>
            <a:off x="609600" y="2006600"/>
            <a:ext cx="38100" cy="85217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66" name="p21c0_t"/>
          <p:cNvSpPr txBox="1"/>
          <p:nvPr/>
        </p:nvSpPr>
        <p:spPr>
          <a:xfrm>
            <a:off x="850900" y="20828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第一段 · 摆事实</a:t>
            </a:r>
          </a:p>
        </p:txBody>
      </p:sp>
      <p:sp>
        <p:nvSpPr>
          <p:cNvPr id="1567" name="p21c0_b"/>
          <p:cNvSpPr txBox="1"/>
          <p:nvPr/>
        </p:nvSpPr>
        <p:spPr>
          <a:xfrm>
            <a:off x="850900" y="246761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“过去……如今……”——用两个数字对比，把变化说清楚。</a:t>
            </a:r>
          </a:p>
        </p:txBody>
      </p:sp>
      <p:sp>
        <p:nvSpPr>
          <p:cNvPr id="1568" name="p21c1_bg"/>
          <p:cNvSpPr/>
          <p:nvPr/>
        </p:nvSpPr>
        <p:spPr>
          <a:xfrm>
            <a:off x="609600" y="313817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69" name="p21c1_bar"/>
          <p:cNvSpPr/>
          <p:nvPr/>
        </p:nvSpPr>
        <p:spPr>
          <a:xfrm>
            <a:off x="609600" y="3265170"/>
            <a:ext cx="38100" cy="85217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0" name="p21c1_t"/>
          <p:cNvSpPr txBox="1"/>
          <p:nvPr/>
        </p:nvSpPr>
        <p:spPr>
          <a:xfrm>
            <a:off x="850900" y="334137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第二段 · 追原因</a:t>
            </a:r>
          </a:p>
        </p:txBody>
      </p:sp>
      <p:sp>
        <p:nvSpPr>
          <p:cNvPr id="1571" name="p21c1_b"/>
          <p:cNvSpPr txBox="1"/>
          <p:nvPr/>
        </p:nvSpPr>
        <p:spPr>
          <a:xfrm>
            <a:off x="850900" y="372618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“之所以……是因为……”——至少说出两条，各配一个事实。</a:t>
            </a:r>
          </a:p>
        </p:txBody>
      </p:sp>
      <p:sp>
        <p:nvSpPr>
          <p:cNvPr id="1572" name="p21c2_bg"/>
          <p:cNvSpPr/>
          <p:nvPr/>
        </p:nvSpPr>
        <p:spPr>
          <a:xfrm>
            <a:off x="609600" y="4396740"/>
            <a:ext cx="7518400" cy="110617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73" name="p21c2_bar"/>
          <p:cNvSpPr/>
          <p:nvPr/>
        </p:nvSpPr>
        <p:spPr>
          <a:xfrm>
            <a:off x="609600" y="4523740"/>
            <a:ext cx="38100" cy="85217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4" name="p21c2_t"/>
          <p:cNvSpPr txBox="1"/>
          <p:nvPr/>
        </p:nvSpPr>
        <p:spPr>
          <a:xfrm>
            <a:off x="850900" y="459994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第三段 · 讲启示</a:t>
            </a:r>
          </a:p>
        </p:txBody>
      </p:sp>
      <p:sp>
        <p:nvSpPr>
          <p:cNvPr id="1575" name="p21c2_b"/>
          <p:cNvSpPr txBox="1"/>
          <p:nvPr/>
        </p:nvSpPr>
        <p:spPr>
          <a:xfrm>
            <a:off x="850900" y="498475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“这告诉我们……”——把原因与“五位一体”连起来。</a:t>
            </a:r>
          </a:p>
        </p:txBody>
      </p:sp>
      <p:sp>
        <p:nvSpPr>
          <p:cNvPr id="1576" name="p21n_bg"/>
          <p:cNvSpPr/>
          <p:nvPr/>
        </p:nvSpPr>
        <p:spPr>
          <a:xfrm>
            <a:off x="609600" y="5706110"/>
            <a:ext cx="7518400" cy="520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77" name="p21n_bar"/>
          <p:cNvSpPr/>
          <p:nvPr/>
        </p:nvSpPr>
        <p:spPr>
          <a:xfrm>
            <a:off x="609600" y="5706110"/>
            <a:ext cx="38100" cy="5207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8" name="p21n_t"/>
          <p:cNvSpPr txBox="1"/>
          <p:nvPr/>
        </p:nvSpPr>
        <p:spPr>
          <a:xfrm>
            <a:off x="800100" y="5833110"/>
            <a:ext cx="7175500" cy="2667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17242E"/>
                </a:solidFill>
                <a:latin typeface="微软雅黑"/>
                <a:ea typeface="微软雅黑"/>
              </a:rPr>
              <a:t>要求：不超过 120 字；每条原因后必须跟一个事实；不许出现“很重要”“非常大”。</a:t>
            </a:r>
          </a:p>
        </p:txBody>
      </p:sp>
    </p:spTree>
  </p:cSld>
  <p:transition spd="slow">
    <p:fade/>
  </p:transition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80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581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582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一段可以照着改的解说词</a:t>
            </a:r>
          </a:p>
        </p:txBody>
      </p:sp>
      <p:cxnSp>
        <p:nvCxnSpPr>
          <p:cNvPr id="1583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584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585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586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87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588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24 / 45</a:t>
            </a:r>
          </a:p>
        </p:txBody>
      </p:sp>
      <p:sp>
        <p:nvSpPr>
          <p:cNvPr id="1589" name="p22q_bg"/>
          <p:cNvSpPr/>
          <p:nvPr/>
        </p:nvSpPr>
        <p:spPr>
          <a:xfrm>
            <a:off x="609600" y="1879600"/>
            <a:ext cx="7518400" cy="229997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590" name="p22q_bar"/>
          <p:cNvSpPr/>
          <p:nvPr/>
        </p:nvSpPr>
        <p:spPr>
          <a:xfrm>
            <a:off x="609600" y="1879600"/>
            <a:ext cx="50800" cy="229997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1" name="p22q_t"/>
          <p:cNvSpPr txBox="1"/>
          <p:nvPr/>
        </p:nvSpPr>
        <p:spPr>
          <a:xfrm>
            <a:off x="889000" y="2108200"/>
            <a:ext cx="7010400" cy="14681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>
                <a:solidFill>
                  <a:srgbClr val="17242E"/>
                </a:solidFill>
                <a:latin typeface="宋体"/>
                <a:ea typeface="宋体"/>
              </a:rPr>
              <a:t>1997 年，黄河利津断面断流 226 天；如今，这条河已连续 27 年不断流。之所以能变，一是 1999 年起全河水量统一调度，二是九省（区）协同治污、向湿地补水。这告诉我们：治理一条河，靠的是一套能统筹的制度。</a:t>
            </a:r>
          </a:p>
        </p:txBody>
      </p:sp>
      <p:sp>
        <p:nvSpPr>
          <p:cNvPr id="1592" name="p22q_c"/>
          <p:cNvSpPr txBox="1"/>
          <p:nvPr/>
        </p:nvSpPr>
        <p:spPr>
          <a:xfrm>
            <a:off x="889000" y="3703320"/>
            <a:ext cx="7010400" cy="2476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——学生习作（示例，可仿写）</a:t>
            </a:r>
          </a:p>
        </p:txBody>
      </p:sp>
      <p:sp>
        <p:nvSpPr>
          <p:cNvPr id="1593" name="p22b0_d"/>
          <p:cNvSpPr/>
          <p:nvPr/>
        </p:nvSpPr>
        <p:spPr>
          <a:xfrm>
            <a:off x="609600" y="4457446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4" name="p22b0_l"/>
          <p:cNvSpPr txBox="1"/>
          <p:nvPr/>
        </p:nvSpPr>
        <p:spPr>
          <a:xfrm>
            <a:off x="787400" y="4382770"/>
            <a:ext cx="651002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有对比</a:t>
            </a:r>
          </a:p>
        </p:txBody>
      </p:sp>
      <p:sp>
        <p:nvSpPr>
          <p:cNvPr id="1595" name="p22b0_t"/>
          <p:cNvSpPr txBox="1"/>
          <p:nvPr/>
        </p:nvSpPr>
        <p:spPr>
          <a:xfrm>
            <a:off x="1540002" y="4382770"/>
            <a:ext cx="6587998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两个数字放在一句话里。</a:t>
            </a:r>
          </a:p>
        </p:txBody>
      </p:sp>
      <p:sp>
        <p:nvSpPr>
          <p:cNvPr id="1596" name="p22b1_d"/>
          <p:cNvSpPr/>
          <p:nvPr/>
        </p:nvSpPr>
        <p:spPr>
          <a:xfrm>
            <a:off x="609600" y="4834636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7" name="p22b1_l"/>
          <p:cNvSpPr txBox="1"/>
          <p:nvPr/>
        </p:nvSpPr>
        <p:spPr>
          <a:xfrm>
            <a:off x="787400" y="4759960"/>
            <a:ext cx="651002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有原因</a:t>
            </a:r>
          </a:p>
        </p:txBody>
      </p:sp>
      <p:sp>
        <p:nvSpPr>
          <p:cNvPr id="1598" name="p22b1_t"/>
          <p:cNvSpPr txBox="1"/>
          <p:nvPr/>
        </p:nvSpPr>
        <p:spPr>
          <a:xfrm>
            <a:off x="1540002" y="4759960"/>
            <a:ext cx="6587998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两条原因，各带一个事实。</a:t>
            </a:r>
          </a:p>
        </p:txBody>
      </p:sp>
      <p:sp>
        <p:nvSpPr>
          <p:cNvPr id="1599" name="p22b2_d"/>
          <p:cNvSpPr/>
          <p:nvPr/>
        </p:nvSpPr>
        <p:spPr>
          <a:xfrm>
            <a:off x="609600" y="5211826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00" name="p22b2_l"/>
          <p:cNvSpPr txBox="1"/>
          <p:nvPr/>
        </p:nvSpPr>
        <p:spPr>
          <a:xfrm>
            <a:off x="787400" y="5137150"/>
            <a:ext cx="651002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有升华</a:t>
            </a:r>
          </a:p>
        </p:txBody>
      </p:sp>
      <p:sp>
        <p:nvSpPr>
          <p:cNvPr id="1601" name="p22b2_t"/>
          <p:cNvSpPr txBox="1"/>
          <p:nvPr/>
        </p:nvSpPr>
        <p:spPr>
          <a:xfrm>
            <a:off x="1540002" y="5137150"/>
            <a:ext cx="6587998" cy="27559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落到“制度”，不喊口号。</a:t>
            </a:r>
          </a:p>
        </p:txBody>
      </p:sp>
    </p:spTree>
  </p:cSld>
  <p:transition>
    <p:fade/>
  </p:transition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03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4552F"/>
                </a:solidFill>
                <a:latin typeface="微软雅黑"/>
                <a:ea typeface="微软雅黑"/>
              </a:rPr>
              <a:t>环节二 · 撰写解说</a:t>
            </a:r>
          </a:p>
        </p:txBody>
      </p:sp>
      <p:sp>
        <p:nvSpPr>
          <p:cNvPr id="1604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健全人格</a:t>
            </a:r>
          </a:p>
        </p:txBody>
      </p:sp>
      <p:sp>
        <p:nvSpPr>
          <p:cNvPr id="1605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重点整合：四条原因，迁移回六块展板</a:t>
            </a:r>
          </a:p>
        </p:txBody>
      </p:sp>
      <p:cxnSp>
        <p:nvCxnSpPr>
          <p:cNvPr id="1606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607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B4552F"/>
            </a:solidFill>
          </a:ln>
        </p:spPr>
      </p:cxnSp>
      <p:cxnSp>
        <p:nvCxnSpPr>
          <p:cNvPr id="1608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609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0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611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25 / 45</a:t>
            </a:r>
          </a:p>
        </p:txBody>
      </p:sp>
      <p:sp>
        <p:nvSpPr>
          <p:cNvPr id="1612" name="p22b0_bg"/>
          <p:cNvSpPr/>
          <p:nvPr/>
        </p:nvSpPr>
        <p:spPr>
          <a:xfrm>
            <a:off x="609600" y="1930400"/>
            <a:ext cx="36576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13" name="p22b0_bar"/>
          <p:cNvSpPr/>
          <p:nvPr/>
        </p:nvSpPr>
        <p:spPr>
          <a:xfrm>
            <a:off x="609600" y="2057400"/>
            <a:ext cx="38100" cy="2286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4" name="p22b0_t"/>
          <p:cNvSpPr txBox="1"/>
          <p:nvPr/>
        </p:nvSpPr>
        <p:spPr>
          <a:xfrm>
            <a:off x="850900" y="2133600"/>
            <a:ext cx="3213100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空间站长期驻留</a:t>
            </a:r>
          </a:p>
        </p:txBody>
      </p:sp>
      <p:sp>
        <p:nvSpPr>
          <p:cNvPr id="1615" name="p22b0_b"/>
          <p:cNvSpPr txBox="1"/>
          <p:nvPr/>
        </p:nvSpPr>
        <p:spPr>
          <a:xfrm>
            <a:off x="850900" y="2501265"/>
            <a:ext cx="3213100" cy="125984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党的领导：新型举国体制把航天工程立为国家任务；</a:t>
            </a:r>
          </a:p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制度优势：集中力量办大事，跨部门、跨单位协同攻关。</a:t>
            </a:r>
          </a:p>
        </p:txBody>
      </p:sp>
      <p:sp>
        <p:nvSpPr>
          <p:cNvPr id="1616" name="p22b1_bg"/>
          <p:cNvSpPr/>
          <p:nvPr/>
        </p:nvSpPr>
        <p:spPr>
          <a:xfrm>
            <a:off x="4470400" y="1930400"/>
            <a:ext cx="36576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17" name="p22b1_bar"/>
          <p:cNvSpPr/>
          <p:nvPr/>
        </p:nvSpPr>
        <p:spPr>
          <a:xfrm>
            <a:off x="4470400" y="2057400"/>
            <a:ext cx="38100" cy="2286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8" name="p22b1_t"/>
          <p:cNvSpPr txBox="1"/>
          <p:nvPr/>
        </p:nvSpPr>
        <p:spPr>
          <a:xfrm>
            <a:off x="4711700" y="2133600"/>
            <a:ext cx="3213100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安全感 98.23%</a:t>
            </a:r>
          </a:p>
        </p:txBody>
      </p:sp>
      <p:sp>
        <p:nvSpPr>
          <p:cNvPr id="1619" name="p22b1_b"/>
          <p:cNvSpPr txBox="1"/>
          <p:nvPr/>
        </p:nvSpPr>
        <p:spPr>
          <a:xfrm>
            <a:off x="4711700" y="2501265"/>
            <a:ext cx="3213100" cy="125984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以人民为中心：平安中国建设把群众感受当作标尺；</a:t>
            </a:r>
          </a:p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制度优势：基层治理网格化，矛盾在社区就化解。</a:t>
            </a:r>
          </a:p>
        </p:txBody>
      </p:sp>
      <p:sp>
        <p:nvSpPr>
          <p:cNvPr id="1620" name="p22b_x"/>
          <p:cNvSpPr txBox="1"/>
          <p:nvPr/>
        </p:nvSpPr>
        <p:spPr>
          <a:xfrm>
            <a:off x="609600" y="4673600"/>
            <a:ext cx="7518400" cy="736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000" b="1">
                <a:solidFill>
                  <a:srgbClr val="B4552F"/>
                </a:solidFill>
                <a:latin typeface="微软雅黑"/>
                <a:ea typeface="微软雅黑"/>
              </a:rPr>
              <a:t>同一套原因，能解释不同的成就——这才叫“解码”，不是背四条结论。</a:t>
            </a:r>
          </a:p>
        </p:txBody>
      </p:sp>
    </p:spTree>
  </p:cSld>
  <p:transition>
    <p:fade/>
  </p:transition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op_sq"/>
          <p:cNvSpPr/>
          <p:nvPr/>
        </p:nvSpPr>
        <p:spPr>
          <a:xfrm>
            <a:off x="609600" y="6096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22" name="op_tag"/>
          <p:cNvSpPr txBox="1"/>
          <p:nvPr/>
        </p:nvSpPr>
        <p:spPr>
          <a:xfrm>
            <a:off x="762000" y="5588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B9C9D4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623" name="op_core"/>
          <p:cNvSpPr txBox="1"/>
          <p:nvPr/>
        </p:nvSpPr>
        <p:spPr>
          <a:xfrm>
            <a:off x="5130800" y="5588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B9C9D4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624" name="op_n"/>
          <p:cNvSpPr txBox="1"/>
          <p:nvPr/>
        </p:nvSpPr>
        <p:spPr>
          <a:xfrm>
            <a:off x="609600" y="1219200"/>
            <a:ext cx="3302000" cy="165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0400" b="1">
                <a:solidFill>
                  <a:srgbClr val="4F9E9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25" name="op_t"/>
          <p:cNvSpPr txBox="1"/>
          <p:nvPr/>
        </p:nvSpPr>
        <p:spPr>
          <a:xfrm>
            <a:off x="609600" y="2997200"/>
            <a:ext cx="7518400" cy="660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3000" b="1">
                <a:solidFill>
                  <a:srgbClr val="FFFFFF"/>
                </a:solidFill>
                <a:latin typeface="微软雅黑"/>
                <a:ea typeface="微软雅黑"/>
              </a:rPr>
              <a:t>拓展策展：去盐池，做一场研学</a:t>
            </a:r>
          </a:p>
        </p:txBody>
      </p:sp>
      <p:cxnSp>
        <p:nvCxnSpPr>
          <p:cNvPr id="1626" name="op_r"/>
          <p:cNvCxnSpPr/>
          <p:nvPr/>
        </p:nvCxnSpPr>
        <p:spPr>
          <a:xfrm>
            <a:off x="609600" y="3784600"/>
            <a:ext cx="1270000" cy="0"/>
          </a:xfrm>
          <a:prstGeom prst="straightConnector1">
            <a:avLst/>
          </a:prstGeom>
          <a:ln w="38100">
            <a:solidFill>
              <a:srgbClr val="1C6B60"/>
            </a:solidFill>
          </a:ln>
        </p:spPr>
      </p:cxnSp>
      <p:sp>
        <p:nvSpPr>
          <p:cNvPr id="1627" name="op_l"/>
          <p:cNvSpPr txBox="1"/>
          <p:nvPr/>
        </p:nvSpPr>
        <p:spPr>
          <a:xfrm>
            <a:off x="609600" y="3987800"/>
            <a:ext cx="75184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>
                <a:solidFill>
                  <a:srgbClr val="B9C9D4"/>
                </a:solidFill>
                <a:latin typeface="微软雅黑"/>
                <a:ea typeface="微软雅黑"/>
              </a:rPr>
              <a:t>从“看别人的成就”，到“查自己家乡的变化”。</a:t>
            </a:r>
          </a:p>
        </p:txBody>
      </p:sp>
      <p:sp>
        <p:nvSpPr>
          <p:cNvPr id="1628" name="op_b0_d"/>
          <p:cNvSpPr/>
          <p:nvPr/>
        </p:nvSpPr>
        <p:spPr>
          <a:xfrm>
            <a:off x="609600" y="4428744"/>
            <a:ext cx="76200" cy="76200"/>
          </a:xfrm>
          <a:prstGeom prst="rect">
            <a:avLst/>
          </a:prstGeom>
          <a:solidFill>
            <a:srgbClr val="7FC0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29" name="op_b0_l"/>
          <p:cNvSpPr txBox="1"/>
          <p:nvPr/>
        </p:nvSpPr>
        <p:spPr>
          <a:xfrm>
            <a:off x="787400" y="434340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去哪里</a:t>
            </a:r>
          </a:p>
        </p:txBody>
      </p:sp>
      <p:sp>
        <p:nvSpPr>
          <p:cNvPr id="1630" name="op_b0_t"/>
          <p:cNvSpPr txBox="1"/>
          <p:nvPr/>
        </p:nvSpPr>
        <p:spPr>
          <a:xfrm>
            <a:off x="1618488" y="434340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运城盐池——从工业矿区转向保护性湿地。</a:t>
            </a:r>
          </a:p>
        </p:txBody>
      </p:sp>
      <p:sp>
        <p:nvSpPr>
          <p:cNvPr id="1631" name="op_b1_d"/>
          <p:cNvSpPr/>
          <p:nvPr/>
        </p:nvSpPr>
        <p:spPr>
          <a:xfrm>
            <a:off x="609600" y="4896104"/>
            <a:ext cx="76200" cy="76200"/>
          </a:xfrm>
          <a:prstGeom prst="rect">
            <a:avLst/>
          </a:prstGeom>
          <a:solidFill>
            <a:srgbClr val="7FC0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2" name="op_b1_l"/>
          <p:cNvSpPr txBox="1"/>
          <p:nvPr/>
        </p:nvSpPr>
        <p:spPr>
          <a:xfrm>
            <a:off x="787400" y="481076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做什么</a:t>
            </a:r>
          </a:p>
        </p:txBody>
      </p:sp>
      <p:sp>
        <p:nvSpPr>
          <p:cNvPr id="1633" name="op_b1_t"/>
          <p:cNvSpPr txBox="1"/>
          <p:nvPr/>
        </p:nvSpPr>
        <p:spPr>
          <a:xfrm>
            <a:off x="1618488" y="481076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分组调研，写一份《家乡发展调研报告》。</a:t>
            </a:r>
          </a:p>
        </p:txBody>
      </p:sp>
      <p:sp>
        <p:nvSpPr>
          <p:cNvPr id="1634" name="op_b2_d"/>
          <p:cNvSpPr/>
          <p:nvPr/>
        </p:nvSpPr>
        <p:spPr>
          <a:xfrm>
            <a:off x="609600" y="5363464"/>
            <a:ext cx="76200" cy="76200"/>
          </a:xfrm>
          <a:prstGeom prst="rect">
            <a:avLst/>
          </a:prstGeom>
          <a:solidFill>
            <a:srgbClr val="7FC0B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5" name="op_b2_l"/>
          <p:cNvSpPr txBox="1"/>
          <p:nvPr/>
        </p:nvSpPr>
        <p:spPr>
          <a:xfrm>
            <a:off x="787400" y="5278120"/>
            <a:ext cx="729488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EAF0F4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1636" name="op_b2_t"/>
          <p:cNvSpPr txBox="1"/>
          <p:nvPr/>
        </p:nvSpPr>
        <p:spPr>
          <a:xfrm>
            <a:off x="1618488" y="5278120"/>
            <a:ext cx="6509512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成就离我们不远，就在家乡的湖水里。</a:t>
            </a:r>
          </a:p>
        </p:txBody>
      </p:sp>
      <p:cxnSp>
        <p:nvCxnSpPr>
          <p:cNvPr id="1637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B9C9D4"/>
            </a:solidFill>
            <a:prstDash val="dash"/>
          </a:ln>
        </p:spPr>
      </p:cxnSp>
      <p:sp>
        <p:nvSpPr>
          <p:cNvPr id="1638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9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640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B9C9D4"/>
                </a:solidFill>
                <a:latin typeface="微软雅黑"/>
                <a:ea typeface="微软雅黑"/>
              </a:rPr>
              <a:t>26 / 45</a:t>
            </a:r>
          </a:p>
        </p:txBody>
      </p:sp>
    </p:spTree>
  </p:cSld>
  <p:transition>
    <p:fade/>
  </p:transition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42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643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644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盐池之变：从工业矿区，到城郊湿地</a:t>
            </a:r>
          </a:p>
        </p:txBody>
      </p:sp>
      <p:cxnSp>
        <p:nvCxnSpPr>
          <p:cNvPr id="1645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646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647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648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49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650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27 / 45</a:t>
            </a:r>
          </a:p>
        </p:txBody>
      </p:sp>
      <p:sp>
        <p:nvSpPr>
          <p:cNvPr id="1651" name="p24i_bg"/>
          <p:cNvSpPr/>
          <p:nvPr/>
        </p:nvSpPr>
        <p:spPr>
          <a:xfrm>
            <a:off x="609600" y="1879600"/>
            <a:ext cx="3810000" cy="24237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652" name="p24i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981200"/>
            <a:ext cx="3606800" cy="1905000"/>
          </a:xfrm>
          <a:prstGeom prst="rect">
            <a:avLst/>
          </a:prstGeom>
        </p:spPr>
      </p:pic>
      <p:sp>
        <p:nvSpPr>
          <p:cNvPr id="1653" name="p24i_cp"/>
          <p:cNvSpPr txBox="1"/>
          <p:nvPr/>
        </p:nvSpPr>
        <p:spPr>
          <a:xfrm>
            <a:off x="723900" y="3962400"/>
            <a:ext cx="35814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运城盐池　图片来源：人民日报</a:t>
            </a:r>
          </a:p>
        </p:txBody>
      </p:sp>
      <p:sp>
        <p:nvSpPr>
          <p:cNvPr id="1654" name="p24c_bg"/>
          <p:cNvSpPr/>
          <p:nvPr/>
        </p:nvSpPr>
        <p:spPr>
          <a:xfrm>
            <a:off x="4572000" y="1879600"/>
            <a:ext cx="3556000" cy="24237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55" name="p24c_bar"/>
          <p:cNvSpPr/>
          <p:nvPr/>
        </p:nvSpPr>
        <p:spPr>
          <a:xfrm>
            <a:off x="4572000" y="2006600"/>
            <a:ext cx="38100" cy="2169795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6" name="p24c_b"/>
          <p:cNvSpPr txBox="1"/>
          <p:nvPr/>
        </p:nvSpPr>
        <p:spPr>
          <a:xfrm>
            <a:off x="4813300" y="2082800"/>
            <a:ext cx="3111500" cy="157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运城盐池有 4000 余年采盐史。2020 年起停止工业采盐、实施退盐还湖，由工业矿区逐步转为以保护为主的城郊湿地，兼顾科普与有限游览。</a:t>
            </a:r>
          </a:p>
        </p:txBody>
      </p:sp>
      <p:sp>
        <p:nvSpPr>
          <p:cNvPr id="1657" name="p24d_bg"/>
          <p:cNvSpPr/>
          <p:nvPr/>
        </p:nvSpPr>
        <p:spPr>
          <a:xfrm>
            <a:off x="609600" y="4506595"/>
            <a:ext cx="7518400" cy="86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58" name="p24d_bar"/>
          <p:cNvSpPr/>
          <p:nvPr/>
        </p:nvSpPr>
        <p:spPr>
          <a:xfrm>
            <a:off x="609600" y="4506595"/>
            <a:ext cx="38100" cy="8636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9" name="p24d_t"/>
          <p:cNvSpPr txBox="1"/>
          <p:nvPr/>
        </p:nvSpPr>
        <p:spPr>
          <a:xfrm>
            <a:off x="800100" y="4633595"/>
            <a:ext cx="7175500" cy="609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“十四五”以来，当地实施 27 个生态修复项目，投入 25.2 亿元，修复堤埝 119.77 公里。</a:t>
            </a:r>
          </a:p>
        </p:txBody>
      </p:sp>
      <p:sp>
        <p:nvSpPr>
          <p:cNvPr id="1660" name="src_note"/>
          <p:cNvSpPr txBox="1"/>
          <p:nvPr/>
        </p:nvSpPr>
        <p:spPr>
          <a:xfrm>
            <a:off x="609600" y="5497195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数据来源：据公开报道（“十四五”以来）；盐池采盐史为叙述性表述，学界多称 4000 余年。</a:t>
            </a:r>
          </a:p>
        </p:txBody>
      </p:sp>
    </p:spTree>
  </p:cSld>
  <p:transition>
    <p:fade/>
  </p:transition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2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663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664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变的不只是环境，还有它的用法</a:t>
            </a:r>
          </a:p>
        </p:txBody>
      </p:sp>
      <p:cxnSp>
        <p:nvCxnSpPr>
          <p:cNvPr id="1665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666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667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668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9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670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28 / 45</a:t>
            </a:r>
          </a:p>
        </p:txBody>
      </p:sp>
      <p:sp>
        <p:nvSpPr>
          <p:cNvPr id="1671" name="p25a_bg"/>
          <p:cNvSpPr/>
          <p:nvPr/>
        </p:nvSpPr>
        <p:spPr>
          <a:xfrm>
            <a:off x="609600" y="1879600"/>
            <a:ext cx="3683000" cy="248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72" name="p25a_bar"/>
          <p:cNvSpPr/>
          <p:nvPr/>
        </p:nvSpPr>
        <p:spPr>
          <a:xfrm>
            <a:off x="609600" y="2006600"/>
            <a:ext cx="38100" cy="2235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73" name="p25a_t"/>
          <p:cNvSpPr txBox="1"/>
          <p:nvPr/>
        </p:nvSpPr>
        <p:spPr>
          <a:xfrm>
            <a:off x="8509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文化之变 · 盐韵新生</a:t>
            </a:r>
          </a:p>
        </p:txBody>
      </p:sp>
      <p:sp>
        <p:nvSpPr>
          <p:cNvPr id="1674" name="p25a_b"/>
          <p:cNvSpPr txBox="1"/>
          <p:nvPr/>
        </p:nvSpPr>
        <p:spPr>
          <a:xfrm>
            <a:off x="850900" y="2467610"/>
            <a:ext cx="3238500" cy="125984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晒盐技艺（运城盐池晒盐技艺）列入国家级非遗；池盐博物馆建成开放。退盐还湖后，技艺由生产转为展示与传承。</a:t>
            </a:r>
          </a:p>
        </p:txBody>
      </p:sp>
      <p:sp>
        <p:nvSpPr>
          <p:cNvPr id="1675" name="p25b_bg"/>
          <p:cNvSpPr/>
          <p:nvPr/>
        </p:nvSpPr>
        <p:spPr>
          <a:xfrm>
            <a:off x="4445000" y="1879600"/>
            <a:ext cx="3683000" cy="248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76" name="p25b_bar"/>
          <p:cNvSpPr/>
          <p:nvPr/>
        </p:nvSpPr>
        <p:spPr>
          <a:xfrm>
            <a:off x="4445000" y="2006600"/>
            <a:ext cx="38100" cy="22352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77" name="p25b_t"/>
          <p:cNvSpPr txBox="1"/>
          <p:nvPr/>
        </p:nvSpPr>
        <p:spPr>
          <a:xfrm>
            <a:off x="46863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生态之变 · 退盐还湖</a:t>
            </a:r>
          </a:p>
        </p:txBody>
      </p:sp>
      <p:sp>
        <p:nvSpPr>
          <p:cNvPr id="1678" name="p25b_b"/>
          <p:cNvSpPr txBox="1"/>
          <p:nvPr/>
        </p:nvSpPr>
        <p:spPr>
          <a:xfrm>
            <a:off x="4686300" y="2467610"/>
            <a:ext cx="3238500" cy="125984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停止工业采盐，实施生态修复：水系连通、湿地恢复、堤埝修整。恢复的是湿地功能，而不是“原来的样子”。</a:t>
            </a:r>
          </a:p>
        </p:txBody>
      </p:sp>
      <p:pic>
        <p:nvPicPr>
          <p:cNvPr id="1679" name="p25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21200"/>
            <a:ext cx="7518400" cy="1117600"/>
          </a:xfrm>
          <a:prstGeom prst="rect">
            <a:avLst/>
          </a:prstGeom>
        </p:spPr>
      </p:pic>
    </p:spTree>
  </p:cSld>
  <p:transition>
    <p:fade/>
  </p:transition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81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682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683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研学任务：四步，从看到写</a:t>
            </a:r>
          </a:p>
        </p:txBody>
      </p:sp>
      <p:cxnSp>
        <p:nvCxnSpPr>
          <p:cNvPr id="1684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685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686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687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88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689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29 / 45</a:t>
            </a:r>
          </a:p>
        </p:txBody>
      </p:sp>
      <p:sp>
        <p:nvSpPr>
          <p:cNvPr id="1690" name="p26c0_bg"/>
          <p:cNvSpPr/>
          <p:nvPr/>
        </p:nvSpPr>
        <p:spPr>
          <a:xfrm>
            <a:off x="609600" y="1879600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91" name="p26c0_bar"/>
          <p:cNvSpPr/>
          <p:nvPr/>
        </p:nvSpPr>
        <p:spPr>
          <a:xfrm>
            <a:off x="609600" y="2006600"/>
            <a:ext cx="38100" cy="680085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2" name="p26c0_t"/>
          <p:cNvSpPr txBox="1"/>
          <p:nvPr/>
        </p:nvSpPr>
        <p:spPr>
          <a:xfrm>
            <a:off x="774700" y="2006600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先搜集</a:t>
            </a:r>
          </a:p>
        </p:txBody>
      </p:sp>
      <p:sp>
        <p:nvSpPr>
          <p:cNvPr id="1693" name="p26c0_b"/>
          <p:cNvSpPr txBox="1"/>
          <p:nvPr/>
        </p:nvSpPr>
        <p:spPr>
          <a:xfrm>
            <a:off x="774700" y="2391410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查资料，了解家乡这些年的变化。</a:t>
            </a:r>
          </a:p>
        </p:txBody>
      </p:sp>
      <p:sp>
        <p:nvSpPr>
          <p:cNvPr id="1694" name="p26c1_bg"/>
          <p:cNvSpPr/>
          <p:nvPr/>
        </p:nvSpPr>
        <p:spPr>
          <a:xfrm>
            <a:off x="609600" y="2889885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95" name="p26c1_bar"/>
          <p:cNvSpPr/>
          <p:nvPr/>
        </p:nvSpPr>
        <p:spPr>
          <a:xfrm>
            <a:off x="609600" y="3016885"/>
            <a:ext cx="38100" cy="680085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6" name="p26c1_t"/>
          <p:cNvSpPr txBox="1"/>
          <p:nvPr/>
        </p:nvSpPr>
        <p:spPr>
          <a:xfrm>
            <a:off x="774700" y="3016885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再规划</a:t>
            </a:r>
          </a:p>
        </p:txBody>
      </p:sp>
      <p:sp>
        <p:nvSpPr>
          <p:cNvPr id="1697" name="p26c1_b"/>
          <p:cNvSpPr txBox="1"/>
          <p:nvPr/>
        </p:nvSpPr>
        <p:spPr>
          <a:xfrm>
            <a:off x="774700" y="3401695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分组拟方案，明确目的、对象、方式与分工。</a:t>
            </a:r>
          </a:p>
        </p:txBody>
      </p:sp>
      <p:sp>
        <p:nvSpPr>
          <p:cNvPr id="1698" name="p26c2_bg"/>
          <p:cNvSpPr/>
          <p:nvPr/>
        </p:nvSpPr>
        <p:spPr>
          <a:xfrm>
            <a:off x="609600" y="3900170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699" name="p26c2_bar"/>
          <p:cNvSpPr/>
          <p:nvPr/>
        </p:nvSpPr>
        <p:spPr>
          <a:xfrm>
            <a:off x="609600" y="4027170"/>
            <a:ext cx="38100" cy="680085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0" name="p26c2_t"/>
          <p:cNvSpPr txBox="1"/>
          <p:nvPr/>
        </p:nvSpPr>
        <p:spPr>
          <a:xfrm>
            <a:off x="774700" y="4027170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去现场</a:t>
            </a:r>
          </a:p>
        </p:txBody>
      </p:sp>
      <p:sp>
        <p:nvSpPr>
          <p:cNvPr id="1701" name="p26c2_b"/>
          <p:cNvSpPr txBox="1"/>
          <p:nvPr/>
        </p:nvSpPr>
        <p:spPr>
          <a:xfrm>
            <a:off x="774700" y="4411980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走访调研，看“变了什么”“还差什么”，做好记录。</a:t>
            </a:r>
          </a:p>
        </p:txBody>
      </p:sp>
      <p:sp>
        <p:nvSpPr>
          <p:cNvPr id="1702" name="p26c3_bg"/>
          <p:cNvSpPr/>
          <p:nvPr/>
        </p:nvSpPr>
        <p:spPr>
          <a:xfrm>
            <a:off x="609600" y="4910455"/>
            <a:ext cx="7518400" cy="9340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03" name="p26c3_bar"/>
          <p:cNvSpPr/>
          <p:nvPr/>
        </p:nvSpPr>
        <p:spPr>
          <a:xfrm>
            <a:off x="609600" y="5037455"/>
            <a:ext cx="38100" cy="680085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4" name="p26c3_t"/>
          <p:cNvSpPr txBox="1"/>
          <p:nvPr/>
        </p:nvSpPr>
        <p:spPr>
          <a:xfrm>
            <a:off x="774700" y="5037455"/>
            <a:ext cx="72263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做整理</a:t>
            </a:r>
          </a:p>
        </p:txBody>
      </p:sp>
      <p:sp>
        <p:nvSpPr>
          <p:cNvPr id="1705" name="p26c3_b"/>
          <p:cNvSpPr txBox="1"/>
          <p:nvPr/>
        </p:nvSpPr>
        <p:spPr>
          <a:xfrm>
            <a:off x="774700" y="5422265"/>
            <a:ext cx="7226300" cy="29527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整理分析，提出有依据的对策，写成报告。</a:t>
            </a:r>
          </a:p>
        </p:txBody>
      </p:sp>
      <p:sp>
        <p:nvSpPr>
          <p:cNvPr id="1706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安全提示：外出调研须有教师或家长陪同，文明走访、尊重隐私。</a:t>
            </a:r>
          </a:p>
        </p:txBody>
      </p:sp>
    </p:spTree>
  </p:cSld>
  <p:transition>
    <p:fade/>
  </p:transition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8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709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710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调研方案：一张表填清楚</a:t>
            </a:r>
          </a:p>
        </p:txBody>
      </p:sp>
      <p:cxnSp>
        <p:nvCxnSpPr>
          <p:cNvPr id="1711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712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713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714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15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716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30 / 45</a:t>
            </a:r>
          </a:p>
        </p:txBody>
      </p:sp>
      <p:graphicFrame>
        <p:nvGraphicFramePr>
          <p:cNvPr id="1717" name="p27t"/>
          <p:cNvGraphicFramePr/>
          <p:nvPr/>
        </p:nvGraphicFramePr>
        <p:xfrm>
          <a:off x="609600" y="1879600"/>
          <a:ext cx="7518400" cy="381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6133"/>
                <a:gridCol w="2506133"/>
                <a:gridCol w="2506133"/>
              </a:tblGrid>
              <a:tr h="423333"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232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要素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填写指引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我们组的方案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方案名称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有主题感，能体现“盐池之变”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调研目的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想弄清一个什么问题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调研方向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生态 / 文化 / 经济（可多选）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调研对象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管护人员、周边居民、游客、文旅部门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调研方式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现场访谈 / 实地观察 / 查阅公开数据 / 拍照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成果形式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《家乡发展调研报告》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23333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分工安排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资料员 / 记录员 / 汇报员 / 质疑员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</a:tbl>
          </a:graphicData>
        </a:graphic>
      </p:graphicFrame>
      <p:sp>
        <p:nvSpPr>
          <p:cNvPr id="1718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课堂用表，可直接印发为学习任务单。</a:t>
            </a:r>
          </a:p>
        </p:txBody>
      </p:sp>
    </p:spTree>
  </p:cSld>
  <p:transition>
    <p:fade/>
  </p:transition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20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721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722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调研报告：七个部分，缺一项都不完整</a:t>
            </a:r>
          </a:p>
        </p:txBody>
      </p:sp>
      <p:cxnSp>
        <p:nvCxnSpPr>
          <p:cNvPr id="1723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724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725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726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27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728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31 / 45</a:t>
            </a:r>
          </a:p>
        </p:txBody>
      </p:sp>
      <p:sp>
        <p:nvSpPr>
          <p:cNvPr id="1729" name="p28r0_bg"/>
          <p:cNvSpPr/>
          <p:nvPr/>
        </p:nvSpPr>
        <p:spPr>
          <a:xfrm>
            <a:off x="609600" y="18796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30" name="p28r0_k"/>
          <p:cNvSpPr/>
          <p:nvPr/>
        </p:nvSpPr>
        <p:spPr>
          <a:xfrm>
            <a:off x="609600" y="18796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1" name="p28r0_t"/>
          <p:cNvSpPr txBox="1"/>
          <p:nvPr/>
        </p:nvSpPr>
        <p:spPr>
          <a:xfrm>
            <a:off x="812800" y="19812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一、方案摘要</a:t>
            </a:r>
          </a:p>
        </p:txBody>
      </p:sp>
      <p:sp>
        <p:nvSpPr>
          <p:cNvPr id="1732" name="p28r0_v"/>
          <p:cNvSpPr txBox="1"/>
          <p:nvPr/>
        </p:nvSpPr>
        <p:spPr>
          <a:xfrm>
            <a:off x="2616200" y="19812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目的、对象、内容、方式。</a:t>
            </a:r>
          </a:p>
        </p:txBody>
      </p:sp>
      <p:sp>
        <p:nvSpPr>
          <p:cNvPr id="1733" name="p28r1_bg"/>
          <p:cNvSpPr/>
          <p:nvPr/>
        </p:nvSpPr>
        <p:spPr>
          <a:xfrm>
            <a:off x="609600" y="24384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34" name="p28r1_k"/>
          <p:cNvSpPr/>
          <p:nvPr/>
        </p:nvSpPr>
        <p:spPr>
          <a:xfrm>
            <a:off x="609600" y="24384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5" name="p28r1_t"/>
          <p:cNvSpPr txBox="1"/>
          <p:nvPr/>
        </p:nvSpPr>
        <p:spPr>
          <a:xfrm>
            <a:off x="812800" y="25400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二、调研过程</a:t>
            </a:r>
          </a:p>
        </p:txBody>
      </p:sp>
      <p:sp>
        <p:nvSpPr>
          <p:cNvPr id="1736" name="p28r1_v"/>
          <p:cNvSpPr txBox="1"/>
          <p:nvPr/>
        </p:nvSpPr>
        <p:spPr>
          <a:xfrm>
            <a:off x="2616200" y="25400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时间、路线、走访对象与记录。</a:t>
            </a:r>
          </a:p>
        </p:txBody>
      </p:sp>
      <p:sp>
        <p:nvSpPr>
          <p:cNvPr id="1737" name="p28r2_bg"/>
          <p:cNvSpPr/>
          <p:nvPr/>
        </p:nvSpPr>
        <p:spPr>
          <a:xfrm>
            <a:off x="609600" y="29972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38" name="p28r2_k"/>
          <p:cNvSpPr/>
          <p:nvPr/>
        </p:nvSpPr>
        <p:spPr>
          <a:xfrm>
            <a:off x="609600" y="29972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9" name="p28r2_t"/>
          <p:cNvSpPr txBox="1"/>
          <p:nvPr/>
        </p:nvSpPr>
        <p:spPr>
          <a:xfrm>
            <a:off x="812800" y="30988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三、变化事实</a:t>
            </a:r>
          </a:p>
        </p:txBody>
      </p:sp>
      <p:sp>
        <p:nvSpPr>
          <p:cNvPr id="1740" name="p28r2_v"/>
          <p:cNvSpPr txBox="1"/>
          <p:nvPr/>
        </p:nvSpPr>
        <p:spPr>
          <a:xfrm>
            <a:off x="2616200" y="30988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用事实与数据说清“变了什么”。</a:t>
            </a:r>
          </a:p>
        </p:txBody>
      </p:sp>
      <p:sp>
        <p:nvSpPr>
          <p:cNvPr id="1741" name="p28r3_bg"/>
          <p:cNvSpPr/>
          <p:nvPr/>
        </p:nvSpPr>
        <p:spPr>
          <a:xfrm>
            <a:off x="609600" y="35560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42" name="p28r3_k"/>
          <p:cNvSpPr/>
          <p:nvPr/>
        </p:nvSpPr>
        <p:spPr>
          <a:xfrm>
            <a:off x="609600" y="35560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3" name="p28r3_t"/>
          <p:cNvSpPr txBox="1"/>
          <p:nvPr/>
        </p:nvSpPr>
        <p:spPr>
          <a:xfrm>
            <a:off x="812800" y="36576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四、存在问题</a:t>
            </a:r>
          </a:p>
        </p:txBody>
      </p:sp>
      <p:sp>
        <p:nvSpPr>
          <p:cNvPr id="1744" name="p28r3_v"/>
          <p:cNvSpPr txBox="1"/>
          <p:nvPr/>
        </p:nvSpPr>
        <p:spPr>
          <a:xfrm>
            <a:off x="2616200" y="36576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真实短板，须有现场证据。</a:t>
            </a:r>
          </a:p>
        </p:txBody>
      </p:sp>
      <p:sp>
        <p:nvSpPr>
          <p:cNvPr id="1745" name="p28r4_bg"/>
          <p:cNvSpPr/>
          <p:nvPr/>
        </p:nvSpPr>
        <p:spPr>
          <a:xfrm>
            <a:off x="609600" y="41148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46" name="p28r4_k"/>
          <p:cNvSpPr/>
          <p:nvPr/>
        </p:nvSpPr>
        <p:spPr>
          <a:xfrm>
            <a:off x="609600" y="41148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7" name="p28r4_t"/>
          <p:cNvSpPr txBox="1"/>
          <p:nvPr/>
        </p:nvSpPr>
        <p:spPr>
          <a:xfrm>
            <a:off x="812800" y="42164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五、对策建议</a:t>
            </a:r>
          </a:p>
        </p:txBody>
      </p:sp>
      <p:sp>
        <p:nvSpPr>
          <p:cNvPr id="1748" name="p28r4_v"/>
          <p:cNvSpPr txBox="1"/>
          <p:nvPr/>
        </p:nvSpPr>
        <p:spPr>
          <a:xfrm>
            <a:off x="2616200" y="42164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有问题依据、有理论支撑、有可行做法。</a:t>
            </a:r>
          </a:p>
        </p:txBody>
      </p:sp>
      <p:sp>
        <p:nvSpPr>
          <p:cNvPr id="1749" name="p28r5_bg"/>
          <p:cNvSpPr/>
          <p:nvPr/>
        </p:nvSpPr>
        <p:spPr>
          <a:xfrm>
            <a:off x="609600" y="46736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50" name="p28r5_k"/>
          <p:cNvSpPr/>
          <p:nvPr/>
        </p:nvSpPr>
        <p:spPr>
          <a:xfrm>
            <a:off x="609600" y="46736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51" name="p28r5_t"/>
          <p:cNvSpPr txBox="1"/>
          <p:nvPr/>
        </p:nvSpPr>
        <p:spPr>
          <a:xfrm>
            <a:off x="812800" y="47752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六、小组感悟</a:t>
            </a:r>
          </a:p>
        </p:txBody>
      </p:sp>
      <p:sp>
        <p:nvSpPr>
          <p:cNvPr id="1752" name="p28r5_v"/>
          <p:cNvSpPr txBox="1"/>
          <p:nvPr/>
        </p:nvSpPr>
        <p:spPr>
          <a:xfrm>
            <a:off x="2616200" y="47752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家乡之变让我们懂得了什么。</a:t>
            </a:r>
          </a:p>
        </p:txBody>
      </p:sp>
      <p:sp>
        <p:nvSpPr>
          <p:cNvPr id="1753" name="p28r6_bg"/>
          <p:cNvSpPr/>
          <p:nvPr/>
        </p:nvSpPr>
        <p:spPr>
          <a:xfrm>
            <a:off x="609600" y="5232400"/>
            <a:ext cx="751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54" name="p28r6_k"/>
          <p:cNvSpPr/>
          <p:nvPr/>
        </p:nvSpPr>
        <p:spPr>
          <a:xfrm>
            <a:off x="609600" y="5232400"/>
            <a:ext cx="50800" cy="457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55" name="p28r6_t"/>
          <p:cNvSpPr txBox="1"/>
          <p:nvPr/>
        </p:nvSpPr>
        <p:spPr>
          <a:xfrm>
            <a:off x="812800" y="5334000"/>
            <a:ext cx="16764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7242E"/>
                </a:solidFill>
                <a:latin typeface="微软雅黑"/>
                <a:ea typeface="微软雅黑"/>
              </a:rPr>
              <a:t>七、附录</a:t>
            </a:r>
          </a:p>
        </p:txBody>
      </p:sp>
      <p:sp>
        <p:nvSpPr>
          <p:cNvPr id="1756" name="p28r6_v"/>
          <p:cNvSpPr txBox="1"/>
          <p:nvPr/>
        </p:nvSpPr>
        <p:spPr>
          <a:xfrm>
            <a:off x="2616200" y="5334000"/>
            <a:ext cx="533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照片、访谈记录、资料来源清单。</a:t>
            </a:r>
          </a:p>
        </p:txBody>
      </p:sp>
    </p:spTree>
  </p:cSld>
  <p:transition>
    <p:fade/>
  </p:transition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58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759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760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研学提示：四条底线</a:t>
            </a:r>
          </a:p>
        </p:txBody>
      </p:sp>
      <p:cxnSp>
        <p:nvCxnSpPr>
          <p:cNvPr id="1761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762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763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764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65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766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32 / 45</a:t>
            </a:r>
          </a:p>
        </p:txBody>
      </p:sp>
      <p:sp>
        <p:nvSpPr>
          <p:cNvPr id="1767" name="p29b0_d"/>
          <p:cNvSpPr/>
          <p:nvPr/>
        </p:nvSpPr>
        <p:spPr>
          <a:xfrm>
            <a:off x="609600" y="2015744"/>
            <a:ext cx="76200" cy="76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68" name="p29b0_l"/>
          <p:cNvSpPr txBox="1"/>
          <p:nvPr/>
        </p:nvSpPr>
        <p:spPr>
          <a:xfrm>
            <a:off x="787400" y="193040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紧扣主题</a:t>
            </a:r>
          </a:p>
        </p:txBody>
      </p:sp>
      <p:sp>
        <p:nvSpPr>
          <p:cNvPr id="1769" name="p29b0_t"/>
          <p:cNvSpPr txBox="1"/>
          <p:nvPr/>
        </p:nvSpPr>
        <p:spPr>
          <a:xfrm>
            <a:off x="1827784" y="1930400"/>
            <a:ext cx="2591816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围绕调研主题，不做无关采访。</a:t>
            </a:r>
          </a:p>
        </p:txBody>
      </p:sp>
      <p:sp>
        <p:nvSpPr>
          <p:cNvPr id="1770" name="p29b1_d"/>
          <p:cNvSpPr/>
          <p:nvPr/>
        </p:nvSpPr>
        <p:spPr>
          <a:xfrm>
            <a:off x="609600" y="2823464"/>
            <a:ext cx="76200" cy="76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1" name="p29b1_l"/>
          <p:cNvSpPr txBox="1"/>
          <p:nvPr/>
        </p:nvSpPr>
        <p:spPr>
          <a:xfrm>
            <a:off x="787400" y="273812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安全文明</a:t>
            </a:r>
          </a:p>
        </p:txBody>
      </p:sp>
      <p:sp>
        <p:nvSpPr>
          <p:cNvPr id="1772" name="p29b1_t"/>
          <p:cNvSpPr txBox="1"/>
          <p:nvPr/>
        </p:nvSpPr>
        <p:spPr>
          <a:xfrm>
            <a:off x="1827784" y="2738120"/>
            <a:ext cx="2591816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结伴而行，文明走访，礼貌访谈。</a:t>
            </a:r>
          </a:p>
        </p:txBody>
      </p:sp>
      <p:sp>
        <p:nvSpPr>
          <p:cNvPr id="1773" name="p29b2_d"/>
          <p:cNvSpPr/>
          <p:nvPr/>
        </p:nvSpPr>
        <p:spPr>
          <a:xfrm>
            <a:off x="609600" y="3631184"/>
            <a:ext cx="76200" cy="76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4" name="p29b2_l"/>
          <p:cNvSpPr txBox="1"/>
          <p:nvPr/>
        </p:nvSpPr>
        <p:spPr>
          <a:xfrm>
            <a:off x="787400" y="354584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团队协作</a:t>
            </a:r>
          </a:p>
        </p:txBody>
      </p:sp>
      <p:sp>
        <p:nvSpPr>
          <p:cNvPr id="1775" name="p29b2_t"/>
          <p:cNvSpPr txBox="1"/>
          <p:nvPr/>
        </p:nvSpPr>
        <p:spPr>
          <a:xfrm>
            <a:off x="1827784" y="3545840"/>
            <a:ext cx="259181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分工明确，互相补位。</a:t>
            </a:r>
          </a:p>
        </p:txBody>
      </p:sp>
      <p:sp>
        <p:nvSpPr>
          <p:cNvPr id="1776" name="p29b3_d"/>
          <p:cNvSpPr/>
          <p:nvPr/>
        </p:nvSpPr>
        <p:spPr>
          <a:xfrm>
            <a:off x="609600" y="4123944"/>
            <a:ext cx="76200" cy="76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7" name="p29b3_l"/>
          <p:cNvSpPr txBox="1"/>
          <p:nvPr/>
        </p:nvSpPr>
        <p:spPr>
          <a:xfrm>
            <a:off x="787400" y="4038600"/>
            <a:ext cx="93878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实事求是</a:t>
            </a:r>
          </a:p>
        </p:txBody>
      </p:sp>
      <p:sp>
        <p:nvSpPr>
          <p:cNvPr id="1778" name="p29b3_t"/>
          <p:cNvSpPr txBox="1"/>
          <p:nvPr/>
        </p:nvSpPr>
        <p:spPr>
          <a:xfrm>
            <a:off x="1827784" y="4038600"/>
            <a:ext cx="2591816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不编数据，不摆拍，尊重对方隐私。</a:t>
            </a:r>
          </a:p>
        </p:txBody>
      </p:sp>
      <p:sp>
        <p:nvSpPr>
          <p:cNvPr id="1779" name="p29i_bg"/>
          <p:cNvSpPr/>
          <p:nvPr/>
        </p:nvSpPr>
        <p:spPr>
          <a:xfrm>
            <a:off x="4673600" y="1879600"/>
            <a:ext cx="3454400" cy="24237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pic>
        <p:nvPicPr>
          <p:cNvPr id="1780" name="p29i_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1981200"/>
            <a:ext cx="3251200" cy="1905000"/>
          </a:xfrm>
          <a:prstGeom prst="rect">
            <a:avLst/>
          </a:prstGeom>
        </p:spPr>
      </p:pic>
      <p:sp>
        <p:nvSpPr>
          <p:cNvPr id="1781" name="p29i_cp"/>
          <p:cNvSpPr txBox="1"/>
          <p:nvPr/>
        </p:nvSpPr>
        <p:spPr>
          <a:xfrm>
            <a:off x="4787900" y="3962400"/>
            <a:ext cx="3225800" cy="23939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研学走访　图片来源：人民日报</a:t>
            </a:r>
          </a:p>
        </p:txBody>
      </p:sp>
      <p:sp>
        <p:nvSpPr>
          <p:cNvPr id="1782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记录工具：手机拍照 + 手写笔记，回来当天整理。</a:t>
            </a:r>
          </a:p>
        </p:txBody>
      </p:sp>
    </p:spTree>
  </p:cSld>
  <p:transition>
    <p:fade/>
  </p:transition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8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78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78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思辨：这件事，和我们有关吗？</a:t>
            </a:r>
          </a:p>
        </p:txBody>
      </p:sp>
      <p:cxnSp>
        <p:nvCxnSpPr>
          <p:cNvPr id="178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78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78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79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9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79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33 / 45</a:t>
            </a:r>
          </a:p>
        </p:txBody>
      </p:sp>
      <p:sp>
        <p:nvSpPr>
          <p:cNvPr id="1793" name="p30_bg"/>
          <p:cNvSpPr/>
          <p:nvPr/>
        </p:nvSpPr>
        <p:spPr>
          <a:xfrm>
            <a:off x="609600" y="1981200"/>
            <a:ext cx="7518400" cy="190500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794" name="p30_bar"/>
          <p:cNvSpPr/>
          <p:nvPr/>
        </p:nvSpPr>
        <p:spPr>
          <a:xfrm>
            <a:off x="609600" y="1981200"/>
            <a:ext cx="63500" cy="1905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95" name="p30_q"/>
          <p:cNvSpPr txBox="1"/>
          <p:nvPr/>
        </p:nvSpPr>
        <p:spPr>
          <a:xfrm>
            <a:off x="939800" y="2260600"/>
            <a:ext cx="6858000" cy="1346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600" b="1">
                <a:solidFill>
                  <a:srgbClr val="17242E"/>
                </a:solidFill>
                <a:latin typeface="微软雅黑"/>
                <a:ea typeface="微软雅黑"/>
              </a:rPr>
              <a:t>盐池保护、家乡建设，是政府的事，和我们中学生无关。</a:t>
            </a:r>
          </a:p>
        </p:txBody>
      </p:sp>
      <p:sp>
        <p:nvSpPr>
          <p:cNvPr id="1796" name="p30b0_d"/>
          <p:cNvSpPr/>
          <p:nvPr/>
        </p:nvSpPr>
        <p:spPr>
          <a:xfrm>
            <a:off x="609600" y="427634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97" name="p30b0_l"/>
          <p:cNvSpPr txBox="1"/>
          <p:nvPr/>
        </p:nvSpPr>
        <p:spPr>
          <a:xfrm>
            <a:off x="787400" y="4191000"/>
            <a:ext cx="198526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先别急着说“不对”</a:t>
            </a:r>
          </a:p>
        </p:txBody>
      </p:sp>
      <p:sp>
        <p:nvSpPr>
          <p:cNvPr id="1798" name="p30b0_t"/>
          <p:cNvSpPr txBox="1"/>
          <p:nvPr/>
        </p:nvSpPr>
        <p:spPr>
          <a:xfrm>
            <a:off x="2874264" y="4191000"/>
            <a:ext cx="525373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想一想：这个说法里，哪一部分是真的？</a:t>
            </a:r>
          </a:p>
        </p:txBody>
      </p:sp>
      <p:sp>
        <p:nvSpPr>
          <p:cNvPr id="1799" name="p30b1_d"/>
          <p:cNvSpPr/>
          <p:nvPr/>
        </p:nvSpPr>
        <p:spPr>
          <a:xfrm>
            <a:off x="609600" y="474370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00" name="p30b1_l"/>
          <p:cNvSpPr txBox="1"/>
          <p:nvPr/>
        </p:nvSpPr>
        <p:spPr>
          <a:xfrm>
            <a:off x="787400" y="4658360"/>
            <a:ext cx="1357376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再找它的漏洞</a:t>
            </a:r>
          </a:p>
        </p:txBody>
      </p:sp>
      <p:sp>
        <p:nvSpPr>
          <p:cNvPr id="1801" name="p30b1_t"/>
          <p:cNvSpPr txBox="1"/>
          <p:nvPr/>
        </p:nvSpPr>
        <p:spPr>
          <a:xfrm>
            <a:off x="2246376" y="4658360"/>
            <a:ext cx="5881624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“有关”与“无关”之间，缺了哪一环？</a:t>
            </a:r>
          </a:p>
        </p:txBody>
      </p:sp>
      <p:sp>
        <p:nvSpPr>
          <p:cNvPr id="1802" name="p30b2_d"/>
          <p:cNvSpPr/>
          <p:nvPr/>
        </p:nvSpPr>
        <p:spPr>
          <a:xfrm>
            <a:off x="609600" y="521106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03" name="p30b2_l"/>
          <p:cNvSpPr txBox="1"/>
          <p:nvPr/>
        </p:nvSpPr>
        <p:spPr>
          <a:xfrm>
            <a:off x="787400" y="5125720"/>
            <a:ext cx="114808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给一个理由</a:t>
            </a:r>
          </a:p>
        </p:txBody>
      </p:sp>
      <p:sp>
        <p:nvSpPr>
          <p:cNvPr id="1804" name="p30b2_t"/>
          <p:cNvSpPr txBox="1"/>
          <p:nvPr/>
        </p:nvSpPr>
        <p:spPr>
          <a:xfrm>
            <a:off x="2037080" y="5125720"/>
            <a:ext cx="609092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用今天学到的“原因”，而不是用态度来回答。</a:t>
            </a:r>
          </a:p>
        </p:txBody>
      </p:sp>
    </p:spTree>
  </p:cSld>
  <p:transition>
    <p:fade/>
  </p:transition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06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807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808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不是旁观者，而是答卷人</a:t>
            </a:r>
          </a:p>
        </p:txBody>
      </p:sp>
      <p:cxnSp>
        <p:nvCxnSpPr>
          <p:cNvPr id="1809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810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811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812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13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814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34 / 45</a:t>
            </a:r>
          </a:p>
        </p:txBody>
      </p:sp>
      <p:sp>
        <p:nvSpPr>
          <p:cNvPr id="1815" name="p31a_bg"/>
          <p:cNvSpPr/>
          <p:nvPr/>
        </p:nvSpPr>
        <p:spPr>
          <a:xfrm>
            <a:off x="609600" y="1879600"/>
            <a:ext cx="24003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16" name="p31a_bar"/>
          <p:cNvSpPr/>
          <p:nvPr/>
        </p:nvSpPr>
        <p:spPr>
          <a:xfrm>
            <a:off x="609600" y="2006600"/>
            <a:ext cx="38100" cy="1651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17" name="p31a_t"/>
          <p:cNvSpPr txBox="1"/>
          <p:nvPr/>
        </p:nvSpPr>
        <p:spPr>
          <a:xfrm>
            <a:off x="850900" y="208280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做宣传员</a:t>
            </a:r>
          </a:p>
        </p:txBody>
      </p:sp>
      <p:sp>
        <p:nvSpPr>
          <p:cNvPr id="1818" name="p31a_b"/>
          <p:cNvSpPr txBox="1"/>
          <p:nvPr/>
        </p:nvSpPr>
        <p:spPr>
          <a:xfrm>
            <a:off x="850900" y="2467610"/>
            <a:ext cx="1955800" cy="5905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了解盐池历史，把家乡的故事讲清楚。</a:t>
            </a:r>
          </a:p>
        </p:txBody>
      </p:sp>
      <p:sp>
        <p:nvSpPr>
          <p:cNvPr id="1819" name="p31b_bg"/>
          <p:cNvSpPr/>
          <p:nvPr/>
        </p:nvSpPr>
        <p:spPr>
          <a:xfrm>
            <a:off x="3162300" y="1879600"/>
            <a:ext cx="24003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20" name="p31b_bar"/>
          <p:cNvSpPr/>
          <p:nvPr/>
        </p:nvSpPr>
        <p:spPr>
          <a:xfrm>
            <a:off x="3162300" y="2006600"/>
            <a:ext cx="38100" cy="1651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1" name="p31b_t"/>
          <p:cNvSpPr txBox="1"/>
          <p:nvPr/>
        </p:nvSpPr>
        <p:spPr>
          <a:xfrm>
            <a:off x="3403600" y="208280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做践行者</a:t>
            </a:r>
          </a:p>
        </p:txBody>
      </p:sp>
      <p:sp>
        <p:nvSpPr>
          <p:cNvPr id="1822" name="p31b_b"/>
          <p:cNvSpPr txBox="1"/>
          <p:nvPr/>
        </p:nvSpPr>
        <p:spPr>
          <a:xfrm>
            <a:off x="3403600" y="2467610"/>
            <a:ext cx="1955800" cy="5905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从小事做起，守护身边的绿水青山。</a:t>
            </a:r>
          </a:p>
        </p:txBody>
      </p:sp>
      <p:sp>
        <p:nvSpPr>
          <p:cNvPr id="1823" name="p31c_bg"/>
          <p:cNvSpPr/>
          <p:nvPr/>
        </p:nvSpPr>
        <p:spPr>
          <a:xfrm>
            <a:off x="5715000" y="1879600"/>
            <a:ext cx="24003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24" name="p31c_bar"/>
          <p:cNvSpPr/>
          <p:nvPr/>
        </p:nvSpPr>
        <p:spPr>
          <a:xfrm>
            <a:off x="5715000" y="2006600"/>
            <a:ext cx="38100" cy="16510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5" name="p31c_t"/>
          <p:cNvSpPr txBox="1"/>
          <p:nvPr/>
        </p:nvSpPr>
        <p:spPr>
          <a:xfrm>
            <a:off x="5956300" y="2082800"/>
            <a:ext cx="19558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做建设者</a:t>
            </a:r>
          </a:p>
        </p:txBody>
      </p:sp>
      <p:sp>
        <p:nvSpPr>
          <p:cNvPr id="1826" name="p31c_b"/>
          <p:cNvSpPr txBox="1"/>
          <p:nvPr/>
        </p:nvSpPr>
        <p:spPr>
          <a:xfrm>
            <a:off x="5956300" y="2467610"/>
            <a:ext cx="1955800" cy="5905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学好本领，将来为家乡发展出力。</a:t>
            </a:r>
          </a:p>
        </p:txBody>
      </p:sp>
      <p:sp>
        <p:nvSpPr>
          <p:cNvPr id="1827" name="p31n_bg"/>
          <p:cNvSpPr/>
          <p:nvPr/>
        </p:nvSpPr>
        <p:spPr>
          <a:xfrm>
            <a:off x="609600" y="40640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28" name="p31n_bar"/>
          <p:cNvSpPr/>
          <p:nvPr/>
        </p:nvSpPr>
        <p:spPr>
          <a:xfrm>
            <a:off x="609600" y="4064000"/>
            <a:ext cx="38100" cy="558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9" name="p31n_t"/>
          <p:cNvSpPr txBox="1"/>
          <p:nvPr/>
        </p:nvSpPr>
        <p:spPr>
          <a:xfrm>
            <a:off x="800100" y="41910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回答不是表态，是行动：这个学期，你打算为家乡做哪一件具体的事？</a:t>
            </a:r>
          </a:p>
        </p:txBody>
      </p:sp>
    </p:spTree>
  </p:cSld>
  <p:transition>
    <p:fade/>
  </p:transition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31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1C6B60"/>
                </a:solidFill>
                <a:latin typeface="微软雅黑"/>
                <a:ea typeface="微软雅黑"/>
              </a:rPr>
              <a:t>环节三 · 拓展策展</a:t>
            </a:r>
          </a:p>
        </p:txBody>
      </p:sp>
      <p:sp>
        <p:nvSpPr>
          <p:cNvPr id="1832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责任意识 · 法治观念</a:t>
            </a:r>
          </a:p>
        </p:txBody>
      </p:sp>
      <p:sp>
        <p:nvSpPr>
          <p:cNvPr id="1833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重点整合：“有关”不是态度，是能力</a:t>
            </a:r>
          </a:p>
        </p:txBody>
      </p:sp>
      <p:cxnSp>
        <p:nvCxnSpPr>
          <p:cNvPr id="1834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835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1C6B60"/>
            </a:solidFill>
          </a:ln>
        </p:spPr>
      </p:cxnSp>
      <p:cxnSp>
        <p:nvCxnSpPr>
          <p:cNvPr id="1836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837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38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839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35 / 45</a:t>
            </a:r>
          </a:p>
        </p:txBody>
      </p:sp>
      <p:sp>
        <p:nvSpPr>
          <p:cNvPr id="1840" name="p31b0_bg"/>
          <p:cNvSpPr/>
          <p:nvPr/>
        </p:nvSpPr>
        <p:spPr>
          <a:xfrm>
            <a:off x="609600" y="1930400"/>
            <a:ext cx="2370709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41" name="p31b0_bar"/>
          <p:cNvSpPr/>
          <p:nvPr/>
        </p:nvSpPr>
        <p:spPr>
          <a:xfrm>
            <a:off x="609600" y="2057400"/>
            <a:ext cx="38100" cy="2159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42" name="p31b0_t"/>
          <p:cNvSpPr txBox="1"/>
          <p:nvPr/>
        </p:nvSpPr>
        <p:spPr>
          <a:xfrm>
            <a:off x="850900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知道</a:t>
            </a:r>
          </a:p>
        </p:txBody>
      </p:sp>
      <p:sp>
        <p:nvSpPr>
          <p:cNvPr id="1843" name="p31b0_b"/>
          <p:cNvSpPr txBox="1"/>
          <p:nvPr/>
        </p:nvSpPr>
        <p:spPr>
          <a:xfrm>
            <a:off x="850900" y="2501265"/>
            <a:ext cx="1926209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盐池在哪里、变了什么、为什么变——事实与原因说得清。</a:t>
            </a:r>
          </a:p>
        </p:txBody>
      </p:sp>
      <p:sp>
        <p:nvSpPr>
          <p:cNvPr id="1844" name="p31b1_bg"/>
          <p:cNvSpPr/>
          <p:nvPr/>
        </p:nvSpPr>
        <p:spPr>
          <a:xfrm>
            <a:off x="3183509" y="1930400"/>
            <a:ext cx="2370709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45" name="p31b1_bar"/>
          <p:cNvSpPr/>
          <p:nvPr/>
        </p:nvSpPr>
        <p:spPr>
          <a:xfrm>
            <a:off x="3183509" y="2057400"/>
            <a:ext cx="38100" cy="2159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46" name="p31b1_t"/>
          <p:cNvSpPr txBox="1"/>
          <p:nvPr/>
        </p:nvSpPr>
        <p:spPr>
          <a:xfrm>
            <a:off x="3424809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能做</a:t>
            </a:r>
          </a:p>
        </p:txBody>
      </p:sp>
      <p:sp>
        <p:nvSpPr>
          <p:cNvPr id="1847" name="p31b1_b"/>
          <p:cNvSpPr txBox="1"/>
          <p:nvPr/>
        </p:nvSpPr>
        <p:spPr>
          <a:xfrm>
            <a:off x="3424809" y="2501265"/>
            <a:ext cx="1926209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写一份报告、提一条对策——有方法，不是只有感想。</a:t>
            </a:r>
          </a:p>
        </p:txBody>
      </p:sp>
      <p:sp>
        <p:nvSpPr>
          <p:cNvPr id="1848" name="p31b2_bg"/>
          <p:cNvSpPr/>
          <p:nvPr/>
        </p:nvSpPr>
        <p:spPr>
          <a:xfrm>
            <a:off x="5757291" y="1930400"/>
            <a:ext cx="2370709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49" name="p31b2_bar"/>
          <p:cNvSpPr/>
          <p:nvPr/>
        </p:nvSpPr>
        <p:spPr>
          <a:xfrm>
            <a:off x="5757291" y="2057400"/>
            <a:ext cx="38100" cy="2159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50" name="p31b2_t"/>
          <p:cNvSpPr txBox="1"/>
          <p:nvPr/>
        </p:nvSpPr>
        <p:spPr>
          <a:xfrm>
            <a:off x="5998591" y="2133600"/>
            <a:ext cx="1926209" cy="291465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700" b="1">
                <a:solidFill>
                  <a:srgbClr val="17242E"/>
                </a:solidFill>
                <a:latin typeface="微软雅黑"/>
                <a:ea typeface="微软雅黑"/>
              </a:rPr>
              <a:t>愿做</a:t>
            </a:r>
          </a:p>
        </p:txBody>
      </p:sp>
      <p:sp>
        <p:nvSpPr>
          <p:cNvPr id="1851" name="p31b2_b"/>
          <p:cNvSpPr txBox="1"/>
          <p:nvPr/>
        </p:nvSpPr>
        <p:spPr>
          <a:xfrm>
            <a:off x="5998591" y="2501265"/>
            <a:ext cx="1926209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把家乡放进自己的未来——这是选择，不是口号。</a:t>
            </a:r>
          </a:p>
        </p:txBody>
      </p:sp>
      <p:sp>
        <p:nvSpPr>
          <p:cNvPr id="1852" name="p31b_x"/>
          <p:cNvSpPr txBox="1"/>
          <p:nvPr/>
        </p:nvSpPr>
        <p:spPr>
          <a:xfrm>
            <a:off x="609600" y="4622800"/>
            <a:ext cx="7518400" cy="7112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000" b="1">
                <a:solidFill>
                  <a:srgbClr val="1C6B60"/>
                </a:solidFill>
                <a:latin typeface="微软雅黑"/>
                <a:ea typeface="微软雅黑"/>
              </a:rPr>
              <a:t>从“旁观者”到“答卷人”，中间隔着的不是热情，是方法。</a:t>
            </a:r>
          </a:p>
        </p:txBody>
      </p:sp>
    </p:spTree>
  </p:cSld>
  <p:transition spd="slow">
    <p:fade/>
  </p:transition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5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85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85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课堂练习（一）</a:t>
            </a:r>
          </a:p>
        </p:txBody>
      </p:sp>
      <p:cxnSp>
        <p:nvCxnSpPr>
          <p:cNvPr id="185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85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85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86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86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36 / 45</a:t>
            </a:r>
          </a:p>
        </p:txBody>
      </p:sp>
      <p:sp>
        <p:nvSpPr>
          <p:cNvPr id="1863" name="q36_s_bg"/>
          <p:cNvSpPr/>
          <p:nvPr/>
        </p:nvSpPr>
        <p:spPr>
          <a:xfrm>
            <a:off x="609600" y="1879600"/>
            <a:ext cx="7518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64" name="q36_s_bar"/>
          <p:cNvSpPr/>
          <p:nvPr/>
        </p:nvSpPr>
        <p:spPr>
          <a:xfrm>
            <a:off x="609600" y="2006600"/>
            <a:ext cx="38100" cy="889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5" name="q36_s_t"/>
          <p:cNvSpPr txBox="1"/>
          <p:nvPr/>
        </p:nvSpPr>
        <p:spPr>
          <a:xfrm>
            <a:off x="850900" y="20828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单项选择题</a:t>
            </a:r>
          </a:p>
        </p:txBody>
      </p:sp>
      <p:sp>
        <p:nvSpPr>
          <p:cNvPr id="1866" name="q36_s_b"/>
          <p:cNvSpPr txBox="1"/>
          <p:nvPr/>
        </p:nvSpPr>
        <p:spPr>
          <a:xfrm>
            <a:off x="850900" y="246761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我国发展新的历史方位是</a:t>
            </a:r>
          </a:p>
        </p:txBody>
      </p:sp>
      <p:sp>
        <p:nvSpPr>
          <p:cNvPr id="1867" name="q36_o0_bg"/>
          <p:cNvSpPr/>
          <p:nvPr/>
        </p:nvSpPr>
        <p:spPr>
          <a:xfrm>
            <a:off x="609600" y="32004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68" name="q36_o0_bar"/>
          <p:cNvSpPr/>
          <p:nvPr/>
        </p:nvSpPr>
        <p:spPr>
          <a:xfrm>
            <a:off x="609600" y="32004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9" name="q36_o0_t"/>
          <p:cNvSpPr txBox="1"/>
          <p:nvPr/>
        </p:nvSpPr>
        <p:spPr>
          <a:xfrm>
            <a:off x="800100" y="33274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A. 仍处于社会主义初级阶段</a:t>
            </a:r>
          </a:p>
        </p:txBody>
      </p:sp>
      <p:sp>
        <p:nvSpPr>
          <p:cNvPr id="1870" name="q36_o1_bg"/>
          <p:cNvSpPr/>
          <p:nvPr/>
        </p:nvSpPr>
        <p:spPr>
          <a:xfrm>
            <a:off x="609600" y="38608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71" name="q36_o1_bar"/>
          <p:cNvSpPr/>
          <p:nvPr/>
        </p:nvSpPr>
        <p:spPr>
          <a:xfrm>
            <a:off x="609600" y="38608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72" name="q36_o1_t"/>
          <p:cNvSpPr txBox="1"/>
          <p:nvPr/>
        </p:nvSpPr>
        <p:spPr>
          <a:xfrm>
            <a:off x="800100" y="39878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B. 中国特色社会主义进入新时代</a:t>
            </a:r>
          </a:p>
        </p:txBody>
      </p:sp>
      <p:sp>
        <p:nvSpPr>
          <p:cNvPr id="1873" name="q36_o2_bg"/>
          <p:cNvSpPr/>
          <p:nvPr/>
        </p:nvSpPr>
        <p:spPr>
          <a:xfrm>
            <a:off x="609600" y="45212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74" name="q36_o2_bar"/>
          <p:cNvSpPr/>
          <p:nvPr/>
        </p:nvSpPr>
        <p:spPr>
          <a:xfrm>
            <a:off x="609600" y="45212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75" name="q36_o2_t"/>
          <p:cNvSpPr txBox="1"/>
          <p:nvPr/>
        </p:nvSpPr>
        <p:spPr>
          <a:xfrm>
            <a:off x="800100" y="46482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C. 全面建成小康社会</a:t>
            </a:r>
          </a:p>
        </p:txBody>
      </p:sp>
      <p:sp>
        <p:nvSpPr>
          <p:cNvPr id="1876" name="q36_o3_bg"/>
          <p:cNvSpPr/>
          <p:nvPr/>
        </p:nvSpPr>
        <p:spPr>
          <a:xfrm>
            <a:off x="609600" y="51816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77" name="q36_o3_bar"/>
          <p:cNvSpPr/>
          <p:nvPr/>
        </p:nvSpPr>
        <p:spPr>
          <a:xfrm>
            <a:off x="609600" y="51816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78" name="q36_o3_t"/>
          <p:cNvSpPr txBox="1"/>
          <p:nvPr/>
        </p:nvSpPr>
        <p:spPr>
          <a:xfrm>
            <a:off x="800100" y="53086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D. 基本实现社会主义现代化</a:t>
            </a:r>
          </a:p>
        </p:txBody>
      </p:sp>
    </p:spTree>
  </p:cSld>
  <p:transition>
    <p:fade/>
  </p:transition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80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881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882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课堂练习（二）</a:t>
            </a:r>
          </a:p>
        </p:txBody>
      </p:sp>
      <p:cxnSp>
        <p:nvCxnSpPr>
          <p:cNvPr id="1883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884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885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886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87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888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37 / 45</a:t>
            </a:r>
          </a:p>
        </p:txBody>
      </p:sp>
      <p:sp>
        <p:nvSpPr>
          <p:cNvPr id="1889" name="q37_s_bg"/>
          <p:cNvSpPr/>
          <p:nvPr/>
        </p:nvSpPr>
        <p:spPr>
          <a:xfrm>
            <a:off x="609600" y="1879600"/>
            <a:ext cx="7518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90" name="q37_s_bar"/>
          <p:cNvSpPr/>
          <p:nvPr/>
        </p:nvSpPr>
        <p:spPr>
          <a:xfrm>
            <a:off x="609600" y="2006600"/>
            <a:ext cx="38100" cy="889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1" name="q37_s_t"/>
          <p:cNvSpPr txBox="1"/>
          <p:nvPr/>
        </p:nvSpPr>
        <p:spPr>
          <a:xfrm>
            <a:off x="850900" y="20828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单项选择题</a:t>
            </a:r>
          </a:p>
        </p:txBody>
      </p:sp>
      <p:sp>
        <p:nvSpPr>
          <p:cNvPr id="1892" name="q37_s_b"/>
          <p:cNvSpPr txBox="1"/>
          <p:nvPr/>
        </p:nvSpPr>
        <p:spPr>
          <a:xfrm>
            <a:off x="850900" y="246761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黄河实现连续 27 年不断流，主要得益于</a:t>
            </a:r>
          </a:p>
        </p:txBody>
      </p:sp>
      <p:sp>
        <p:nvSpPr>
          <p:cNvPr id="1893" name="q37_o0_bg"/>
          <p:cNvSpPr/>
          <p:nvPr/>
        </p:nvSpPr>
        <p:spPr>
          <a:xfrm>
            <a:off x="609600" y="32004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94" name="q37_o0_bar"/>
          <p:cNvSpPr/>
          <p:nvPr/>
        </p:nvSpPr>
        <p:spPr>
          <a:xfrm>
            <a:off x="609600" y="32004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5" name="q37_o0_t"/>
          <p:cNvSpPr txBox="1"/>
          <p:nvPr/>
        </p:nvSpPr>
        <p:spPr>
          <a:xfrm>
            <a:off x="800100" y="33274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A. 上游降水显著增加</a:t>
            </a:r>
          </a:p>
        </p:txBody>
      </p:sp>
      <p:sp>
        <p:nvSpPr>
          <p:cNvPr id="1896" name="q37_o1_bg"/>
          <p:cNvSpPr/>
          <p:nvPr/>
        </p:nvSpPr>
        <p:spPr>
          <a:xfrm>
            <a:off x="609600" y="38608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897" name="q37_o1_bar"/>
          <p:cNvSpPr/>
          <p:nvPr/>
        </p:nvSpPr>
        <p:spPr>
          <a:xfrm>
            <a:off x="609600" y="38608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8" name="q37_o1_t"/>
          <p:cNvSpPr txBox="1"/>
          <p:nvPr/>
        </p:nvSpPr>
        <p:spPr>
          <a:xfrm>
            <a:off x="800100" y="39878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B. 全河水量统一调度与流域协同治理</a:t>
            </a:r>
          </a:p>
        </p:txBody>
      </p:sp>
      <p:sp>
        <p:nvSpPr>
          <p:cNvPr id="1899" name="q37_o2_bg"/>
          <p:cNvSpPr/>
          <p:nvPr/>
        </p:nvSpPr>
        <p:spPr>
          <a:xfrm>
            <a:off x="609600" y="45212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00" name="q37_o2_bar"/>
          <p:cNvSpPr/>
          <p:nvPr/>
        </p:nvSpPr>
        <p:spPr>
          <a:xfrm>
            <a:off x="609600" y="45212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1" name="q37_o2_t"/>
          <p:cNvSpPr txBox="1"/>
          <p:nvPr/>
        </p:nvSpPr>
        <p:spPr>
          <a:xfrm>
            <a:off x="800100" y="46482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C. 下游农业用水大幅减少</a:t>
            </a:r>
          </a:p>
        </p:txBody>
      </p:sp>
      <p:sp>
        <p:nvSpPr>
          <p:cNvPr id="1902" name="q37_o3_bg"/>
          <p:cNvSpPr/>
          <p:nvPr/>
        </p:nvSpPr>
        <p:spPr>
          <a:xfrm>
            <a:off x="609600" y="51816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03" name="q37_o3_bar"/>
          <p:cNvSpPr/>
          <p:nvPr/>
        </p:nvSpPr>
        <p:spPr>
          <a:xfrm>
            <a:off x="609600" y="51816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4" name="q37_o3_t"/>
          <p:cNvSpPr txBox="1"/>
          <p:nvPr/>
        </p:nvSpPr>
        <p:spPr>
          <a:xfrm>
            <a:off x="800100" y="53086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D. 河道自然改道</a:t>
            </a:r>
          </a:p>
        </p:txBody>
      </p:sp>
    </p:spTree>
  </p:cSld>
  <p:transition>
    <p:fade/>
  </p:transition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6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907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908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课堂练习（三）</a:t>
            </a:r>
          </a:p>
        </p:txBody>
      </p:sp>
      <p:cxnSp>
        <p:nvCxnSpPr>
          <p:cNvPr id="1909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910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911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912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13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914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38 / 45</a:t>
            </a:r>
          </a:p>
        </p:txBody>
      </p:sp>
      <p:sp>
        <p:nvSpPr>
          <p:cNvPr id="1915" name="q38_s_bg"/>
          <p:cNvSpPr/>
          <p:nvPr/>
        </p:nvSpPr>
        <p:spPr>
          <a:xfrm>
            <a:off x="609600" y="1879600"/>
            <a:ext cx="7518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16" name="q38_s_bar"/>
          <p:cNvSpPr/>
          <p:nvPr/>
        </p:nvSpPr>
        <p:spPr>
          <a:xfrm>
            <a:off x="609600" y="2006600"/>
            <a:ext cx="38100" cy="8890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17" name="q38_s_t"/>
          <p:cNvSpPr txBox="1"/>
          <p:nvPr/>
        </p:nvSpPr>
        <p:spPr>
          <a:xfrm>
            <a:off x="850900" y="2082800"/>
            <a:ext cx="70739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单项选择题</a:t>
            </a:r>
          </a:p>
        </p:txBody>
      </p:sp>
      <p:sp>
        <p:nvSpPr>
          <p:cNvPr id="1918" name="q38_s_b"/>
          <p:cNvSpPr txBox="1"/>
          <p:nvPr/>
        </p:nvSpPr>
        <p:spPr>
          <a:xfrm>
            <a:off x="850900" y="2467610"/>
            <a:ext cx="7073900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六块展板中，“交通基建”属于“五位一体”中的</a:t>
            </a:r>
          </a:p>
        </p:txBody>
      </p:sp>
      <p:sp>
        <p:nvSpPr>
          <p:cNvPr id="1919" name="q38_o0_bg"/>
          <p:cNvSpPr/>
          <p:nvPr/>
        </p:nvSpPr>
        <p:spPr>
          <a:xfrm>
            <a:off x="609600" y="32004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20" name="q38_o0_bar"/>
          <p:cNvSpPr/>
          <p:nvPr/>
        </p:nvSpPr>
        <p:spPr>
          <a:xfrm>
            <a:off x="609600" y="32004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21" name="q38_o0_t"/>
          <p:cNvSpPr txBox="1"/>
          <p:nvPr/>
        </p:nvSpPr>
        <p:spPr>
          <a:xfrm>
            <a:off x="800100" y="33274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A. 经济建设</a:t>
            </a:r>
          </a:p>
        </p:txBody>
      </p:sp>
      <p:sp>
        <p:nvSpPr>
          <p:cNvPr id="1922" name="q38_o1_bg"/>
          <p:cNvSpPr/>
          <p:nvPr/>
        </p:nvSpPr>
        <p:spPr>
          <a:xfrm>
            <a:off x="609600" y="38608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23" name="q38_o1_bar"/>
          <p:cNvSpPr/>
          <p:nvPr/>
        </p:nvSpPr>
        <p:spPr>
          <a:xfrm>
            <a:off x="609600" y="38608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24" name="q38_o1_t"/>
          <p:cNvSpPr txBox="1"/>
          <p:nvPr/>
        </p:nvSpPr>
        <p:spPr>
          <a:xfrm>
            <a:off x="800100" y="39878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B. 政治建设</a:t>
            </a:r>
          </a:p>
        </p:txBody>
      </p:sp>
      <p:sp>
        <p:nvSpPr>
          <p:cNvPr id="1925" name="q38_o2_bg"/>
          <p:cNvSpPr/>
          <p:nvPr/>
        </p:nvSpPr>
        <p:spPr>
          <a:xfrm>
            <a:off x="609600" y="45212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26" name="q38_o2_bar"/>
          <p:cNvSpPr/>
          <p:nvPr/>
        </p:nvSpPr>
        <p:spPr>
          <a:xfrm>
            <a:off x="609600" y="45212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27" name="q38_o2_t"/>
          <p:cNvSpPr txBox="1"/>
          <p:nvPr/>
        </p:nvSpPr>
        <p:spPr>
          <a:xfrm>
            <a:off x="800100" y="46482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C. 文化建设</a:t>
            </a:r>
          </a:p>
        </p:txBody>
      </p:sp>
      <p:sp>
        <p:nvSpPr>
          <p:cNvPr id="1928" name="q38_o3_bg"/>
          <p:cNvSpPr/>
          <p:nvPr/>
        </p:nvSpPr>
        <p:spPr>
          <a:xfrm>
            <a:off x="609600" y="51816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29" name="q38_o3_bar"/>
          <p:cNvSpPr/>
          <p:nvPr/>
        </p:nvSpPr>
        <p:spPr>
          <a:xfrm>
            <a:off x="609600" y="5181600"/>
            <a:ext cx="38100" cy="5588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30" name="q38_o3_t"/>
          <p:cNvSpPr txBox="1"/>
          <p:nvPr/>
        </p:nvSpPr>
        <p:spPr>
          <a:xfrm>
            <a:off x="800100" y="53086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D. 社会建设</a:t>
            </a:r>
          </a:p>
        </p:txBody>
      </p:sp>
    </p:spTree>
  </p:cSld>
  <p:transition>
    <p:fade/>
  </p:transition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32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933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934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课堂练习（五）· 材料分析</a:t>
            </a:r>
          </a:p>
        </p:txBody>
      </p:sp>
      <p:cxnSp>
        <p:nvCxnSpPr>
          <p:cNvPr id="1935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936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937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938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39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940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39 / 45</a:t>
            </a:r>
          </a:p>
        </p:txBody>
      </p:sp>
      <p:sp>
        <p:nvSpPr>
          <p:cNvPr id="1941" name="p40m_bg"/>
          <p:cNvSpPr/>
          <p:nvPr/>
        </p:nvSpPr>
        <p:spPr>
          <a:xfrm>
            <a:off x="609600" y="1879600"/>
            <a:ext cx="7518400" cy="186817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42" name="p40m_bar"/>
          <p:cNvSpPr/>
          <p:nvPr/>
        </p:nvSpPr>
        <p:spPr>
          <a:xfrm>
            <a:off x="609600" y="1879600"/>
            <a:ext cx="50800" cy="186817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43" name="p40m_t"/>
          <p:cNvSpPr txBox="1"/>
          <p:nvPr/>
        </p:nvSpPr>
        <p:spPr>
          <a:xfrm>
            <a:off x="889000" y="2108200"/>
            <a:ext cx="7010400" cy="10363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宋体"/>
                <a:ea typeface="宋体"/>
              </a:rPr>
              <a:t>1972—1999 年，黄河有 22 年断流，1997 年利津断面断流 226 天。1999 年 3 月 1 日起实施全河水量统一调度；截至 2026 年 8 月，已连续 27 年不断流。</a:t>
            </a:r>
          </a:p>
        </p:txBody>
      </p:sp>
      <p:sp>
        <p:nvSpPr>
          <p:cNvPr id="1944" name="p40m_c"/>
          <p:cNvSpPr txBox="1"/>
          <p:nvPr/>
        </p:nvSpPr>
        <p:spPr>
          <a:xfrm>
            <a:off x="889000" y="3271520"/>
            <a:ext cx="7010400" cy="2476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材料</a:t>
            </a:r>
          </a:p>
        </p:txBody>
      </p:sp>
      <p:sp>
        <p:nvSpPr>
          <p:cNvPr id="1945" name="p40q0_d"/>
          <p:cNvSpPr/>
          <p:nvPr/>
        </p:nvSpPr>
        <p:spPr>
          <a:xfrm>
            <a:off x="609600" y="403631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46" name="p40q0_l"/>
          <p:cNvSpPr txBox="1"/>
          <p:nvPr/>
        </p:nvSpPr>
        <p:spPr>
          <a:xfrm>
            <a:off x="787400" y="3950970"/>
            <a:ext cx="453263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(1)</a:t>
            </a:r>
          </a:p>
        </p:txBody>
      </p:sp>
      <p:sp>
        <p:nvSpPr>
          <p:cNvPr id="1947" name="p40q0_t"/>
          <p:cNvSpPr txBox="1"/>
          <p:nvPr/>
        </p:nvSpPr>
        <p:spPr>
          <a:xfrm>
            <a:off x="1342263" y="3950970"/>
            <a:ext cx="6785737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用两个数字概括黄河的变化。</a:t>
            </a:r>
          </a:p>
        </p:txBody>
      </p:sp>
      <p:sp>
        <p:nvSpPr>
          <p:cNvPr id="1948" name="p40q1_d"/>
          <p:cNvSpPr/>
          <p:nvPr/>
        </p:nvSpPr>
        <p:spPr>
          <a:xfrm>
            <a:off x="609600" y="447827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49" name="p40q1_l"/>
          <p:cNvSpPr txBox="1"/>
          <p:nvPr/>
        </p:nvSpPr>
        <p:spPr>
          <a:xfrm>
            <a:off x="787400" y="4392930"/>
            <a:ext cx="453263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(2)</a:t>
            </a:r>
          </a:p>
        </p:txBody>
      </p:sp>
      <p:sp>
        <p:nvSpPr>
          <p:cNvPr id="1950" name="p40q1_t"/>
          <p:cNvSpPr txBox="1"/>
          <p:nvPr/>
        </p:nvSpPr>
        <p:spPr>
          <a:xfrm>
            <a:off x="1342263" y="4392930"/>
            <a:ext cx="6785737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运用四步解码法，说明“统一调度”为什么是关键。</a:t>
            </a:r>
          </a:p>
        </p:txBody>
      </p:sp>
      <p:sp>
        <p:nvSpPr>
          <p:cNvPr id="1951" name="p40q2_d"/>
          <p:cNvSpPr/>
          <p:nvPr/>
        </p:nvSpPr>
        <p:spPr>
          <a:xfrm>
            <a:off x="609600" y="4920234"/>
            <a:ext cx="76200" cy="7620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52" name="p40q2_l"/>
          <p:cNvSpPr txBox="1"/>
          <p:nvPr/>
        </p:nvSpPr>
        <p:spPr>
          <a:xfrm>
            <a:off x="787400" y="4834890"/>
            <a:ext cx="453263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17242E"/>
                </a:solidFill>
                <a:latin typeface="微软雅黑"/>
                <a:ea typeface="微软雅黑"/>
              </a:rPr>
              <a:t>(3)</a:t>
            </a:r>
          </a:p>
        </p:txBody>
      </p:sp>
      <p:sp>
        <p:nvSpPr>
          <p:cNvPr id="1953" name="p40q2_t"/>
          <p:cNvSpPr txBox="1"/>
          <p:nvPr/>
        </p:nvSpPr>
        <p:spPr>
          <a:xfrm>
            <a:off x="1342263" y="4834890"/>
            <a:ext cx="6785737" cy="3149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这对我们参与家乡建设有什么启示？</a:t>
            </a:r>
          </a:p>
        </p:txBody>
      </p:sp>
    </p:spTree>
  </p:cSld>
  <p:transition>
    <p:fade/>
  </p:transition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55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956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957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参考答案与评分要点</a:t>
            </a:r>
          </a:p>
        </p:txBody>
      </p:sp>
      <p:cxnSp>
        <p:nvCxnSpPr>
          <p:cNvPr id="1958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959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960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961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62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963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40 / 45</a:t>
            </a:r>
          </a:p>
        </p:txBody>
      </p:sp>
      <p:sp>
        <p:nvSpPr>
          <p:cNvPr id="1964" name="p42a_bg"/>
          <p:cNvSpPr/>
          <p:nvPr/>
        </p:nvSpPr>
        <p:spPr>
          <a:xfrm>
            <a:off x="609600" y="1879600"/>
            <a:ext cx="3683000" cy="23660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65" name="p42a_bar"/>
          <p:cNvSpPr/>
          <p:nvPr/>
        </p:nvSpPr>
        <p:spPr>
          <a:xfrm>
            <a:off x="609600" y="2006600"/>
            <a:ext cx="38100" cy="211201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66" name="p42a_t"/>
          <p:cNvSpPr txBox="1"/>
          <p:nvPr/>
        </p:nvSpPr>
        <p:spPr>
          <a:xfrm>
            <a:off x="8509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选择题</a:t>
            </a:r>
          </a:p>
        </p:txBody>
      </p:sp>
      <p:sp>
        <p:nvSpPr>
          <p:cNvPr id="1967" name="p42a_b"/>
          <p:cNvSpPr txBox="1"/>
          <p:nvPr/>
        </p:nvSpPr>
        <p:spPr>
          <a:xfrm>
            <a:off x="850900" y="2467610"/>
            <a:ext cx="3238500" cy="157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（一）B　（二）B</a:t>
            </a:r>
          </a:p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（三）A　（四）A</a:t>
            </a:r>
          </a:p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/>
            </a:r>
          </a:p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评分要点：每小题 2 分，多选、错选不得分。</a:t>
            </a:r>
          </a:p>
        </p:txBody>
      </p:sp>
      <p:sp>
        <p:nvSpPr>
          <p:cNvPr id="1968" name="p42b_bg"/>
          <p:cNvSpPr/>
          <p:nvPr/>
        </p:nvSpPr>
        <p:spPr>
          <a:xfrm>
            <a:off x="4445000" y="1879600"/>
            <a:ext cx="3683000" cy="25628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69" name="p42b_bar"/>
          <p:cNvSpPr/>
          <p:nvPr/>
        </p:nvSpPr>
        <p:spPr>
          <a:xfrm>
            <a:off x="4445000" y="2006600"/>
            <a:ext cx="38100" cy="230886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70" name="p42b_t"/>
          <p:cNvSpPr txBox="1"/>
          <p:nvPr/>
        </p:nvSpPr>
        <p:spPr>
          <a:xfrm>
            <a:off x="46863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材料题（要点式）</a:t>
            </a:r>
          </a:p>
        </p:txBody>
      </p:sp>
      <p:sp>
        <p:nvSpPr>
          <p:cNvPr id="1971" name="p42b_b"/>
          <p:cNvSpPr txBox="1"/>
          <p:nvPr/>
        </p:nvSpPr>
        <p:spPr>
          <a:xfrm>
            <a:off x="4686300" y="2467610"/>
            <a:ext cx="3238500" cy="17716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（五）① 226 天→27 年；② 问机制：按需取水无统筹；反证：不调度仍断流；③ 落到“制度与协同”。</a:t>
            </a:r>
          </a:p>
          <a:p>
            <a:pPr algn="l" lvl="0"/>
            <a:r>
              <a:rPr lang="zh-CN" sz="1500">
                <a:solidFill>
                  <a:srgbClr val="3B4B57"/>
                </a:solidFill>
                <a:latin typeface="微软雅黑"/>
                <a:ea typeface="微软雅黑"/>
              </a:rPr>
              <a:t>（六）① 文化之变与生态之变；② 经济、社会、生态三方面；③ 具体、可做、能坚持。</a:t>
            </a:r>
          </a:p>
        </p:txBody>
      </p:sp>
      <p:sp>
        <p:nvSpPr>
          <p:cNvPr id="1972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评分建议：观点＋事实各 1 分，只表态不给分。</a:t>
            </a:r>
          </a:p>
        </p:txBody>
      </p:sp>
    </p:spTree>
  </p:cSld>
  <p:transition>
    <p:fade/>
  </p:transition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7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97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97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课后延伸：两层作业，任选其一</a:t>
            </a:r>
          </a:p>
        </p:txBody>
      </p:sp>
      <p:cxnSp>
        <p:nvCxnSpPr>
          <p:cNvPr id="197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97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197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198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8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198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41 / 45</a:t>
            </a:r>
          </a:p>
        </p:txBody>
      </p:sp>
      <p:sp>
        <p:nvSpPr>
          <p:cNvPr id="1983" name="p32a_bg"/>
          <p:cNvSpPr/>
          <p:nvPr/>
        </p:nvSpPr>
        <p:spPr>
          <a:xfrm>
            <a:off x="609600" y="1879600"/>
            <a:ext cx="3683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84" name="p32a_bar"/>
          <p:cNvSpPr/>
          <p:nvPr/>
        </p:nvSpPr>
        <p:spPr>
          <a:xfrm>
            <a:off x="609600" y="2006600"/>
            <a:ext cx="38100" cy="19050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85" name="p32a_t"/>
          <p:cNvSpPr txBox="1"/>
          <p:nvPr/>
        </p:nvSpPr>
        <p:spPr>
          <a:xfrm>
            <a:off x="8509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A 层 · 实地研学</a:t>
            </a:r>
          </a:p>
        </p:txBody>
      </p:sp>
      <p:sp>
        <p:nvSpPr>
          <p:cNvPr id="1986" name="p32a_b"/>
          <p:cNvSpPr txBox="1"/>
          <p:nvPr/>
        </p:nvSpPr>
        <p:spPr>
          <a:xfrm>
            <a:off x="850900" y="2467610"/>
            <a:ext cx="3238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以小组为单位完成一次盐池走访，产出《家乡发展调研报告》（含七个部分）。</a:t>
            </a:r>
          </a:p>
        </p:txBody>
      </p:sp>
      <p:sp>
        <p:nvSpPr>
          <p:cNvPr id="1987" name="p32b_bg"/>
          <p:cNvSpPr/>
          <p:nvPr/>
        </p:nvSpPr>
        <p:spPr>
          <a:xfrm>
            <a:off x="4445000" y="1879600"/>
            <a:ext cx="3683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88" name="p32b_bar"/>
          <p:cNvSpPr/>
          <p:nvPr/>
        </p:nvSpPr>
        <p:spPr>
          <a:xfrm>
            <a:off x="4445000" y="2006600"/>
            <a:ext cx="38100" cy="19050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89" name="p32b_t"/>
          <p:cNvSpPr txBox="1"/>
          <p:nvPr/>
        </p:nvSpPr>
        <p:spPr>
          <a:xfrm>
            <a:off x="4686300" y="2082800"/>
            <a:ext cx="3238500" cy="3086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800" b="1">
                <a:solidFill>
                  <a:srgbClr val="17242E"/>
                </a:solidFill>
                <a:latin typeface="微软雅黑"/>
                <a:ea typeface="微软雅黑"/>
              </a:rPr>
              <a:t>B 层 · 线上小报</a:t>
            </a:r>
          </a:p>
        </p:txBody>
      </p:sp>
      <p:sp>
        <p:nvSpPr>
          <p:cNvPr id="1990" name="p32b_b"/>
          <p:cNvSpPr txBox="1"/>
          <p:nvPr/>
        </p:nvSpPr>
        <p:spPr>
          <a:xfrm>
            <a:off x="4686300" y="2467610"/>
            <a:ext cx="3238500" cy="94488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围绕“盐池之变”，制作一份图文小报或 3 分钟短视频，须标注资料来源。</a:t>
            </a:r>
          </a:p>
        </p:txBody>
      </p:sp>
      <p:sp>
        <p:nvSpPr>
          <p:cNvPr id="1991" name="p32n_bg"/>
          <p:cNvSpPr/>
          <p:nvPr/>
        </p:nvSpPr>
        <p:spPr>
          <a:xfrm>
            <a:off x="609600" y="4267200"/>
            <a:ext cx="7518400" cy="55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1992" name="p32n_bar"/>
          <p:cNvSpPr/>
          <p:nvPr/>
        </p:nvSpPr>
        <p:spPr>
          <a:xfrm>
            <a:off x="609600" y="4267200"/>
            <a:ext cx="38100" cy="558800"/>
          </a:xfrm>
          <a:prstGeom prst="rect">
            <a:avLst/>
          </a:prstGeom>
          <a:solidFill>
            <a:srgbClr val="1C6B6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93" name="p32n_t"/>
          <p:cNvSpPr txBox="1"/>
          <p:nvPr/>
        </p:nvSpPr>
        <p:spPr>
          <a:xfrm>
            <a:off x="800100" y="4394200"/>
            <a:ext cx="71755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17242E"/>
                </a:solidFill>
                <a:latin typeface="微软雅黑"/>
                <a:ea typeface="微软雅黑"/>
              </a:rPr>
              <a:t>共同要求：事实有出处，数据有年份，结论不喊口号。</a:t>
            </a:r>
          </a:p>
        </p:txBody>
      </p:sp>
    </p:spTree>
  </p:cSld>
  <p:transition>
    <p:fade/>
  </p:transition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95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1996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1997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活动评价量表：怎么算做得好</a:t>
            </a:r>
          </a:p>
        </p:txBody>
      </p:sp>
      <p:cxnSp>
        <p:nvCxnSpPr>
          <p:cNvPr id="1998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1999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2000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2001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02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2003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42 / 45</a:t>
            </a:r>
          </a:p>
        </p:txBody>
      </p:sp>
      <p:graphicFrame>
        <p:nvGraphicFramePr>
          <p:cNvPr id="2004" name="p33t"/>
          <p:cNvGraphicFramePr/>
          <p:nvPr/>
        </p:nvGraphicFramePr>
        <p:xfrm>
          <a:off x="609600" y="1879600"/>
          <a:ext cx="7518400" cy="3403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</a:tblGrid>
              <a:tr h="486228"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1">
                          <a:solidFill>
                            <a:srgbClr val="1F2937"/>
                          </a:solidFill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评价维度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评价标准（★三级）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自评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互评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师评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资料与准备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素材真实、分类清晰（★★★）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合作与参与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主动承担、协作到位（★★★）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展板与解说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主题鲜明、解说规范（★★★）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研学与探究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观察深入、分析有据（★★★）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  <a:tr h="486228"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展示与反思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>表达流畅、感悟具体（★★★）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1F2937"/>
                          </a:solidFill>
                        </a:rPr>
                        <a:t/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  <a:marL l="45720" r="45720" t="22860" b="22860"/>
                  </a:tcPr>
                </a:tc>
              </a:tr>
            </a:tbl>
          </a:graphicData>
        </a:graphic>
      </p:graphicFrame>
      <p:sp>
        <p:nvSpPr>
          <p:cNvPr id="2005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使用说明：自评→互评→师评，三级权重由任课教师确定。</a:t>
            </a:r>
          </a:p>
        </p:txBody>
      </p:sp>
    </p:spTree>
  </p:cSld>
  <p:transition>
    <p:fade/>
  </p:transition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07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2008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2009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课堂小结：一条线，把四十分钟串起来</a:t>
            </a:r>
          </a:p>
        </p:txBody>
      </p:sp>
      <p:cxnSp>
        <p:nvCxnSpPr>
          <p:cNvPr id="2010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2011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2012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2013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14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2015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43 / 45</a:t>
            </a:r>
          </a:p>
        </p:txBody>
      </p:sp>
      <p:sp>
        <p:nvSpPr>
          <p:cNvPr id="2016" name="p34r0_bg"/>
          <p:cNvSpPr/>
          <p:nvPr/>
        </p:nvSpPr>
        <p:spPr>
          <a:xfrm>
            <a:off x="609600" y="1879600"/>
            <a:ext cx="75184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17" name="p34r0_k"/>
          <p:cNvSpPr/>
          <p:nvPr/>
        </p:nvSpPr>
        <p:spPr>
          <a:xfrm>
            <a:off x="609600" y="1879600"/>
            <a:ext cx="50800" cy="584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18" name="p34r0_t"/>
          <p:cNvSpPr txBox="1"/>
          <p:nvPr/>
        </p:nvSpPr>
        <p:spPr>
          <a:xfrm>
            <a:off x="812800" y="2032000"/>
            <a:ext cx="12192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0E2A47"/>
                </a:solidFill>
                <a:latin typeface="微软雅黑"/>
                <a:ea typeface="微软雅黑"/>
              </a:rPr>
              <a:t>看见</a:t>
            </a:r>
          </a:p>
        </p:txBody>
      </p:sp>
      <p:sp>
        <p:nvSpPr>
          <p:cNvPr id="2019" name="p34r0_v"/>
          <p:cNvSpPr txBox="1"/>
          <p:nvPr/>
        </p:nvSpPr>
        <p:spPr>
          <a:xfrm>
            <a:off x="2209800" y="2032000"/>
            <a:ext cx="5740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六块展板，是“五位一体”的六个落点。</a:t>
            </a:r>
          </a:p>
        </p:txBody>
      </p:sp>
      <p:sp>
        <p:nvSpPr>
          <p:cNvPr id="2020" name="p34r1_bg"/>
          <p:cNvSpPr/>
          <p:nvPr/>
        </p:nvSpPr>
        <p:spPr>
          <a:xfrm>
            <a:off x="609600" y="2565400"/>
            <a:ext cx="75184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21" name="p34r1_k"/>
          <p:cNvSpPr/>
          <p:nvPr/>
        </p:nvSpPr>
        <p:spPr>
          <a:xfrm>
            <a:off x="609600" y="2565400"/>
            <a:ext cx="50800" cy="584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22" name="p34r1_t"/>
          <p:cNvSpPr txBox="1"/>
          <p:nvPr/>
        </p:nvSpPr>
        <p:spPr>
          <a:xfrm>
            <a:off x="812800" y="2717800"/>
            <a:ext cx="12192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0E2A47"/>
                </a:solidFill>
                <a:latin typeface="微软雅黑"/>
                <a:ea typeface="微软雅黑"/>
              </a:rPr>
              <a:t>追问</a:t>
            </a:r>
          </a:p>
        </p:txBody>
      </p:sp>
      <p:sp>
        <p:nvSpPr>
          <p:cNvPr id="2023" name="p34r1_v"/>
          <p:cNvSpPr txBox="1"/>
          <p:nvPr/>
        </p:nvSpPr>
        <p:spPr>
          <a:xfrm>
            <a:off x="2209800" y="2717800"/>
            <a:ext cx="5740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226 天到 27 年，靠的是统一调度与制度。</a:t>
            </a:r>
          </a:p>
        </p:txBody>
      </p:sp>
      <p:sp>
        <p:nvSpPr>
          <p:cNvPr id="2024" name="p34r2_bg"/>
          <p:cNvSpPr/>
          <p:nvPr/>
        </p:nvSpPr>
        <p:spPr>
          <a:xfrm>
            <a:off x="609600" y="3251200"/>
            <a:ext cx="75184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25" name="p34r2_k"/>
          <p:cNvSpPr/>
          <p:nvPr/>
        </p:nvSpPr>
        <p:spPr>
          <a:xfrm>
            <a:off x="609600" y="3251200"/>
            <a:ext cx="50800" cy="584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26" name="p34r2_t"/>
          <p:cNvSpPr txBox="1"/>
          <p:nvPr/>
        </p:nvSpPr>
        <p:spPr>
          <a:xfrm>
            <a:off x="812800" y="3403600"/>
            <a:ext cx="12192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0E2A47"/>
                </a:solidFill>
                <a:latin typeface="微软雅黑"/>
                <a:ea typeface="微软雅黑"/>
              </a:rPr>
              <a:t>落地</a:t>
            </a:r>
          </a:p>
        </p:txBody>
      </p:sp>
      <p:sp>
        <p:nvSpPr>
          <p:cNvPr id="2027" name="p34r2_v"/>
          <p:cNvSpPr txBox="1"/>
          <p:nvPr/>
        </p:nvSpPr>
        <p:spPr>
          <a:xfrm>
            <a:off x="2209800" y="3403600"/>
            <a:ext cx="5740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盐池之变，就在家乡，就在我们脚下。</a:t>
            </a:r>
          </a:p>
        </p:txBody>
      </p:sp>
      <p:sp>
        <p:nvSpPr>
          <p:cNvPr id="2028" name="p34r3_bg"/>
          <p:cNvSpPr/>
          <p:nvPr/>
        </p:nvSpPr>
        <p:spPr>
          <a:xfrm>
            <a:off x="609600" y="3937000"/>
            <a:ext cx="75184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29" name="p34r3_k"/>
          <p:cNvSpPr/>
          <p:nvPr/>
        </p:nvSpPr>
        <p:spPr>
          <a:xfrm>
            <a:off x="609600" y="3937000"/>
            <a:ext cx="50800" cy="584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30" name="p34r3_t"/>
          <p:cNvSpPr txBox="1"/>
          <p:nvPr/>
        </p:nvSpPr>
        <p:spPr>
          <a:xfrm>
            <a:off x="812800" y="4089400"/>
            <a:ext cx="12192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 b="1">
                <a:solidFill>
                  <a:srgbClr val="0E2A47"/>
                </a:solidFill>
                <a:latin typeface="微软雅黑"/>
                <a:ea typeface="微软雅黑"/>
              </a:rPr>
              <a:t>回答</a:t>
            </a:r>
          </a:p>
        </p:txBody>
      </p:sp>
      <p:sp>
        <p:nvSpPr>
          <p:cNvPr id="2031" name="p34r3_v"/>
          <p:cNvSpPr txBox="1"/>
          <p:nvPr/>
        </p:nvSpPr>
        <p:spPr>
          <a:xfrm>
            <a:off x="2209800" y="4089400"/>
            <a:ext cx="57404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不是旁观者，而是答卷人。</a:t>
            </a:r>
          </a:p>
        </p:txBody>
      </p:sp>
      <p:sp>
        <p:nvSpPr>
          <p:cNvPr id="2032" name="src_note"/>
          <p:cNvSpPr txBox="1"/>
          <p:nvPr/>
        </p:nvSpPr>
        <p:spPr>
          <a:xfrm>
            <a:off x="609600" y="5867400"/>
            <a:ext cx="75184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回扣总议题：成就何以铸就？青年何以担当？</a:t>
            </a:r>
          </a:p>
        </p:txBody>
      </p:sp>
    </p:spTree>
  </p:cSld>
  <p:transition>
    <p:fade/>
  </p:transition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hd_sq"/>
          <p:cNvSpPr/>
          <p:nvPr/>
        </p:nvSpPr>
        <p:spPr>
          <a:xfrm>
            <a:off x="609600" y="711200"/>
            <a:ext cx="50800" cy="203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34" name="hd_tag"/>
          <p:cNvSpPr txBox="1"/>
          <p:nvPr/>
        </p:nvSpPr>
        <p:spPr>
          <a:xfrm>
            <a:off x="762000" y="660400"/>
            <a:ext cx="3810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 b="1">
                <a:solidFill>
                  <a:srgbClr val="0E2A47"/>
                </a:solidFill>
                <a:latin typeface="微软雅黑"/>
                <a:ea typeface="微软雅黑"/>
              </a:rPr>
              <a:t>收束 · 我们的答卷</a:t>
            </a:r>
          </a:p>
        </p:txBody>
      </p:sp>
      <p:sp>
        <p:nvSpPr>
          <p:cNvPr id="2035" name="hd_core"/>
          <p:cNvSpPr txBox="1"/>
          <p:nvPr/>
        </p:nvSpPr>
        <p:spPr>
          <a:xfrm>
            <a:off x="5130800" y="660400"/>
            <a:ext cx="29972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r" lvl="0"/>
            <a:r>
              <a:rPr lang="zh-CN" sz="1400">
                <a:solidFill>
                  <a:srgbClr val="3B4B57"/>
                </a:solidFill>
                <a:latin typeface="微软雅黑"/>
                <a:ea typeface="微软雅黑"/>
              </a:rPr>
              <a:t>核心素养 · 政治认同 · 责任意识</a:t>
            </a:r>
          </a:p>
        </p:txBody>
      </p:sp>
      <p:sp>
        <p:nvSpPr>
          <p:cNvPr id="2036" name="hd_tt"/>
          <p:cNvSpPr txBox="1"/>
          <p:nvPr/>
        </p:nvSpPr>
        <p:spPr>
          <a:xfrm>
            <a:off x="609600" y="990600"/>
            <a:ext cx="7518400" cy="508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800" b="1">
                <a:solidFill>
                  <a:srgbClr val="17242E"/>
                </a:solidFill>
                <a:latin typeface="微软雅黑"/>
                <a:ea typeface="微软雅黑"/>
              </a:rPr>
              <a:t>我们的青春答卷</a:t>
            </a:r>
          </a:p>
        </p:txBody>
      </p:sp>
      <p:cxnSp>
        <p:nvCxnSpPr>
          <p:cNvPr id="2037" name="hd_ru"/>
          <p:cNvCxnSpPr/>
          <p:nvPr/>
        </p:nvCxnSpPr>
        <p:spPr>
          <a:xfrm>
            <a:off x="609600" y="1625600"/>
            <a:ext cx="7518400" cy="0"/>
          </a:xfrm>
          <a:prstGeom prst="straightConnector1">
            <a:avLst/>
          </a:prstGeom>
          <a:ln w="12700">
            <a:solidFill>
              <a:srgbClr val="D3D7D6"/>
            </a:solidFill>
          </a:ln>
        </p:spPr>
      </p:cxnSp>
      <p:cxnSp>
        <p:nvCxnSpPr>
          <p:cNvPr id="2038" name="hd_ac"/>
          <p:cNvCxnSpPr/>
          <p:nvPr/>
        </p:nvCxnSpPr>
        <p:spPr>
          <a:xfrm>
            <a:off x="609600" y="1625600"/>
            <a:ext cx="812800" cy="0"/>
          </a:xfrm>
          <a:prstGeom prst="straightConnector1">
            <a:avLst/>
          </a:prstGeom>
          <a:ln w="25400">
            <a:solidFill>
              <a:srgbClr val="0E2A47"/>
            </a:solidFill>
          </a:ln>
        </p:spPr>
      </p:cxnSp>
      <p:cxnSp>
        <p:nvCxnSpPr>
          <p:cNvPr id="2039" name="rb_rule"/>
          <p:cNvCxnSpPr/>
          <p:nvPr/>
        </p:nvCxnSpPr>
        <p:spPr>
          <a:xfrm>
            <a:off x="8229600" y="1219200"/>
            <a:ext cx="0" cy="4648200"/>
          </a:xfrm>
          <a:prstGeom prst="straightConnector1">
            <a:avLst/>
          </a:prstGeom>
          <a:ln w="12700">
            <a:solidFill>
              <a:srgbClr val="D9D6CB"/>
            </a:solidFill>
            <a:prstDash val="dash"/>
          </a:ln>
        </p:spPr>
      </p:cxnSp>
      <p:sp>
        <p:nvSpPr>
          <p:cNvPr id="2040" name="rb_mark"/>
          <p:cNvSpPr/>
          <p:nvPr/>
        </p:nvSpPr>
        <p:spPr>
          <a:xfrm>
            <a:off x="8216900" y="1219200"/>
            <a:ext cx="127000" cy="50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41" name="rb_vt"/>
          <p:cNvSpPr txBox="1"/>
          <p:nvPr/>
        </p:nvSpPr>
        <p:spPr>
          <a:xfrm>
            <a:off x="8407400" y="1422400"/>
            <a:ext cx="279400" cy="2667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第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二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单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元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 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进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入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新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时</a:t>
            </a:r>
          </a:p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代</a:t>
            </a:r>
          </a:p>
        </p:txBody>
      </p:sp>
      <p:sp>
        <p:nvSpPr>
          <p:cNvPr id="2042" name="rb_num"/>
          <p:cNvSpPr txBox="1"/>
          <p:nvPr/>
        </p:nvSpPr>
        <p:spPr>
          <a:xfrm>
            <a:off x="8407400" y="5080000"/>
            <a:ext cx="762000" cy="3048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44 / 45</a:t>
            </a:r>
          </a:p>
        </p:txBody>
      </p:sp>
      <p:sp>
        <p:nvSpPr>
          <p:cNvPr id="2043" name="p35q_bg"/>
          <p:cNvSpPr/>
          <p:nvPr/>
        </p:nvSpPr>
        <p:spPr>
          <a:xfrm>
            <a:off x="609600" y="1981200"/>
            <a:ext cx="7518400" cy="1350010"/>
          </a:xfrm>
          <a:prstGeom prst="roundRect">
            <a:avLst>
              <a:gd name="adj" fmla="val 8000"/>
            </a:avLst>
          </a:prstGeom>
          <a:solidFill>
            <a:srgbClr val="FBF8F0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44" name="p35q_bar"/>
          <p:cNvSpPr/>
          <p:nvPr/>
        </p:nvSpPr>
        <p:spPr>
          <a:xfrm>
            <a:off x="609600" y="1981200"/>
            <a:ext cx="50800" cy="135001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45" name="p35q_t"/>
          <p:cNvSpPr txBox="1"/>
          <p:nvPr/>
        </p:nvSpPr>
        <p:spPr>
          <a:xfrm>
            <a:off x="889000" y="2209800"/>
            <a:ext cx="7010400" cy="5181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400">
                <a:solidFill>
                  <a:srgbClr val="17242E"/>
                </a:solidFill>
                <a:latin typeface="宋体"/>
                <a:ea typeface="宋体"/>
              </a:rPr>
              <a:t>以青春见证中国腾飞，用成长助推家乡发展。</a:t>
            </a:r>
          </a:p>
        </p:txBody>
      </p:sp>
      <p:sp>
        <p:nvSpPr>
          <p:cNvPr id="2046" name="p35q_c"/>
          <p:cNvSpPr txBox="1"/>
          <p:nvPr/>
        </p:nvSpPr>
        <p:spPr>
          <a:xfrm>
            <a:off x="889000" y="2854960"/>
            <a:ext cx="7010400" cy="24765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300">
                <a:solidFill>
                  <a:srgbClr val="3B4B57"/>
                </a:solidFill>
                <a:latin typeface="微软雅黑"/>
                <a:ea typeface="微软雅黑"/>
              </a:rPr>
              <a:t>——本单元结课语</a:t>
            </a:r>
          </a:p>
        </p:txBody>
      </p:sp>
      <p:sp>
        <p:nvSpPr>
          <p:cNvPr id="2047" name="p35c_bg"/>
          <p:cNvSpPr/>
          <p:nvPr/>
        </p:nvSpPr>
        <p:spPr>
          <a:xfrm>
            <a:off x="609600" y="3636010"/>
            <a:ext cx="75184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7D6"/>
            </a:solidFill>
          </a:ln>
        </p:spPr>
        <p:txBody>
          <a:bodyPr rtlCol="0" anchor="ctr"/>
          <a:lstStyle/>
          <a:p/>
        </p:txBody>
      </p:sp>
      <p:sp>
        <p:nvSpPr>
          <p:cNvPr id="2048" name="p35c_bar"/>
          <p:cNvSpPr/>
          <p:nvPr/>
        </p:nvSpPr>
        <p:spPr>
          <a:xfrm>
            <a:off x="609600" y="3763010"/>
            <a:ext cx="38100" cy="1143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49" name="p35c_b"/>
          <p:cNvSpPr txBox="1"/>
          <p:nvPr/>
        </p:nvSpPr>
        <p:spPr>
          <a:xfrm>
            <a:off x="850900" y="3839210"/>
            <a:ext cx="7073900" cy="62992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3B4B57"/>
                </a:solidFill>
                <a:latin typeface="微软雅黑"/>
                <a:ea typeface="微软雅黑"/>
              </a:rPr>
              <a:t>四十年前，我们的父辈用汗水改变家乡；今天，轮到我们用知识和眼光，把家乡的变化看明白、说明白、接着做下去。</a:t>
            </a:r>
          </a:p>
        </p:txBody>
      </p:sp>
    </p:spTree>
  </p:cSld>
  <p:transition spd="slow">
    <p:fade/>
  </p:transition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d_m"/>
          <p:cNvSpPr/>
          <p:nvPr/>
        </p:nvSpPr>
        <p:spPr>
          <a:xfrm>
            <a:off x="609600" y="1524000"/>
            <a:ext cx="50800" cy="203200"/>
          </a:xfrm>
          <a:prstGeom prst="rect">
            <a:avLst/>
          </a:prstGeom>
          <a:solidFill>
            <a:srgbClr val="A8812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51" name="ed_tag"/>
          <p:cNvSpPr txBox="1"/>
          <p:nvPr/>
        </p:nvSpPr>
        <p:spPr>
          <a:xfrm>
            <a:off x="762000" y="1473200"/>
            <a:ext cx="660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B9C9D4"/>
                </a:solidFill>
                <a:latin typeface="微软雅黑"/>
                <a:ea typeface="微软雅黑"/>
              </a:rPr>
              <a:t>第二单元 进入新时代 · 单元思考与行动</a:t>
            </a:r>
          </a:p>
        </p:txBody>
      </p:sp>
      <p:sp>
        <p:nvSpPr>
          <p:cNvPr id="2052" name="ed_t"/>
          <p:cNvSpPr txBox="1"/>
          <p:nvPr/>
        </p:nvSpPr>
        <p:spPr>
          <a:xfrm>
            <a:off x="609600" y="2235200"/>
            <a:ext cx="7518400" cy="762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40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cxnSp>
        <p:nvCxnSpPr>
          <p:cNvPr id="2053" name="ed_r"/>
          <p:cNvCxnSpPr/>
          <p:nvPr/>
        </p:nvCxnSpPr>
        <p:spPr>
          <a:xfrm>
            <a:off x="609600" y="3200400"/>
            <a:ext cx="1930400" cy="0"/>
          </a:xfrm>
          <a:prstGeom prst="straightConnector1">
            <a:avLst/>
          </a:prstGeom>
          <a:ln w="25400">
            <a:solidFill>
              <a:srgbClr val="A8812F"/>
            </a:solidFill>
          </a:ln>
        </p:spPr>
      </p:cxnSp>
      <p:sp>
        <p:nvSpPr>
          <p:cNvPr id="2054" name="ed_s"/>
          <p:cNvSpPr txBox="1"/>
          <p:nvPr/>
        </p:nvSpPr>
        <p:spPr>
          <a:xfrm>
            <a:off x="609600" y="3479800"/>
            <a:ext cx="75184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000">
                <a:solidFill>
                  <a:srgbClr val="B9C9D4"/>
                </a:solidFill>
                <a:latin typeface="微软雅黑"/>
                <a:ea typeface="微软雅黑"/>
              </a:rPr>
              <a:t>成就何以铸就，青年何以担当？</a:t>
            </a:r>
          </a:p>
        </p:txBody>
      </p:sp>
      <p:sp>
        <p:nvSpPr>
          <p:cNvPr id="2055" name="ed_m2"/>
          <p:cNvSpPr txBox="1"/>
          <p:nvPr/>
        </p:nvSpPr>
        <p:spPr>
          <a:xfrm>
            <a:off x="609600" y="4191000"/>
            <a:ext cx="7518400" cy="1016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主讲人：张紫璇</a:t>
            </a:r>
          </a:p>
          <a:p>
            <a:pPr algn="l" lvl="0"/>
            <a:r>
              <a:rPr lang="zh-CN" sz="1600">
                <a:solidFill>
                  <a:srgbClr val="B9C9D4"/>
                </a:solidFill>
                <a:latin typeface="微软雅黑"/>
                <a:ea typeface="微软雅黑"/>
              </a:rPr>
              <a:t>运城市盐湖区北城初级中学</a:t>
            </a:r>
          </a:p>
        </p:txBody>
      </p:sp>
    </p:spTree>
  </p:cSld>
  <p:transition>
    <p:fade/>
  </p:transition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45</Slides>
</Properties>
</file>

<file path=docProps/core.xml><?xml version="1.0" encoding="utf-8"?>
<cp:coreProperties xmlns:cp="http://schemas.openxmlformats.org/package/2006/metadata/core-properties" xmlns:dc="http://purl.org/dc/elements/1.1/">
  <dc:title>第二单元 进入新时代 · 单元思考与行动</dc:title>
  <dc:creator>dsh-ppt-studio</dc:creator>
  <cp:lastModifiedBy>dsh-ppt-studio</cp:lastModifiedBy>
  <dcterms:created xmlns:dcterms="http://purl.org/dc/terms/" xmlns:xsi="http://www.w3.org/2001/XMLSchema-instance" xsi:type="dcterms:W3CDTF">2026-10-17T07:06:24.481Z</dcterms:created>
  <dcterms:modified xmlns:dcterms="http://purl.org/dc/terms/" xmlns:xsi="http://www.w3.org/2001/XMLSchema-instance" xsi:type="dcterms:W3CDTF">2026-10-17T07:06:24.481Z</dcterms:modified>
</cp:coreProperties>
</file>